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64" r:id="rId2"/>
    <p:sldMasterId id="2147483668" r:id="rId3"/>
  </p:sldMasterIdLst>
  <p:notesMasterIdLst>
    <p:notesMasterId r:id="rId14"/>
  </p:notesMasterIdLst>
  <p:sldIdLst>
    <p:sldId id="313" r:id="rId4"/>
    <p:sldId id="714" r:id="rId5"/>
    <p:sldId id="715" r:id="rId6"/>
    <p:sldId id="591" r:id="rId7"/>
    <p:sldId id="717" r:id="rId8"/>
    <p:sldId id="592" r:id="rId9"/>
    <p:sldId id="348" r:id="rId10"/>
    <p:sldId id="277" r:id="rId11"/>
    <p:sldId id="716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7419" autoAdjust="0"/>
  </p:normalViewPr>
  <p:slideViewPr>
    <p:cSldViewPr snapToGrid="0">
      <p:cViewPr varScale="1">
        <p:scale>
          <a:sx n="121" d="100"/>
          <a:sy n="121" d="100"/>
        </p:scale>
        <p:origin x="7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94595-DBBF-4323-A70A-CBE3C6DAB9A5}" type="datetimeFigureOut">
              <a:rPr lang="zh-CN" altLang="en-US" smtClean="0"/>
              <a:t>2026/9/23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8B5C1-4BE6-400A-95F0-AFE49893DA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344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1</a:t>
            </a:r>
            <a:r>
              <a:rPr lang="zh-CN" altLang="en-US"/>
              <a:t>、护城河策略体现：如编排</a:t>
            </a:r>
            <a:r>
              <a:rPr lang="en-US" altLang="zh-CN"/>
              <a:t>/</a:t>
            </a:r>
            <a:r>
              <a:rPr lang="zh-CN" altLang="en-US"/>
              <a:t>调度等如何跟鲲鹏绑定</a:t>
            </a:r>
          </a:p>
          <a:p>
            <a:r>
              <a:rPr lang="en-US" altLang="zh-CN"/>
              <a:t>2</a:t>
            </a:r>
            <a:r>
              <a:rPr lang="zh-CN" altLang="en-US"/>
              <a:t>、调用算子加速框架高阶算法-如</a:t>
            </a:r>
            <a:r>
              <a:rPr lang="en-US" altLang="zh-CN"/>
              <a:t>python</a:t>
            </a:r>
            <a:r>
              <a:rPr lang="zh-CN" altLang="en-US"/>
              <a:t>系统库优化，技术点间形成耦合关系）——傅晟</a:t>
            </a:r>
          </a:p>
          <a:p>
            <a:r>
              <a:rPr lang="en-US" altLang="zh-CN"/>
              <a:t>3</a:t>
            </a:r>
            <a:r>
              <a:rPr lang="zh-CN" altLang="en-US"/>
              <a:t>、性能</a:t>
            </a:r>
            <a:r>
              <a:rPr lang="en-US" altLang="zh-CN"/>
              <a:t>930 </a:t>
            </a:r>
            <a:r>
              <a:rPr lang="zh-CN" altLang="en-US"/>
              <a:t>叠加</a:t>
            </a:r>
            <a:r>
              <a:rPr lang="en-US" altLang="zh-CN"/>
              <a:t>5%</a:t>
            </a:r>
            <a:r>
              <a:rPr lang="zh-CN" altLang="en-US"/>
              <a:t>，最终</a:t>
            </a:r>
            <a:r>
              <a:rPr lang="en-US" altLang="zh-CN"/>
              <a:t>15</a:t>
            </a:r>
            <a:r>
              <a:rPr lang="zh-CN" altLang="en-US"/>
              <a:t>+</a:t>
            </a:r>
            <a:r>
              <a:rPr lang="en-US" altLang="zh-CN"/>
              <a:t>5</a:t>
            </a:r>
            <a:r>
              <a:rPr lang="zh-CN" altLang="en-US"/>
              <a:t>跟</a:t>
            </a:r>
            <a:r>
              <a:rPr lang="en-US" altLang="zh-CN"/>
              <a:t>30%</a:t>
            </a:r>
            <a:r>
              <a:rPr lang="zh-CN" altLang="en-US"/>
              <a:t>对不上？</a:t>
            </a:r>
          </a:p>
          <a:p>
            <a:r>
              <a:rPr lang="en-US" altLang="zh-CN"/>
              <a:t>4</a:t>
            </a:r>
            <a:r>
              <a:rPr lang="zh-CN" altLang="en-US"/>
              <a:t>、图中数字三，</a:t>
            </a:r>
            <a:r>
              <a:rPr lang="en-US" altLang="zh-CN"/>
              <a:t>python</a:t>
            </a:r>
            <a:r>
              <a:rPr lang="zh-CN" altLang="en-US"/>
              <a:t>通用优化技术，直接调用国军的算子加速框架，体现出来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kern="120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文本归一化优化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https://onebox.huawei.com/v/cc484663fd2c94aed4a92907c35f32dc</a:t>
            </a:r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416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2660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547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865242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7610" indent="0" algn="ctr">
              <a:buNone/>
              <a:defRPr sz="2339"/>
            </a:lvl3pPr>
            <a:lvl4pPr marL="1781097" indent="0" algn="ctr">
              <a:buNone/>
              <a:defRPr sz="2079"/>
            </a:lvl4pPr>
            <a:lvl5pPr marL="2374585" indent="0" algn="ctr">
              <a:buNone/>
              <a:defRPr sz="2079"/>
            </a:lvl5pPr>
            <a:lvl6pPr marL="2968072" indent="0" algn="ctr">
              <a:buNone/>
              <a:defRPr sz="2079"/>
            </a:lvl6pPr>
            <a:lvl7pPr marL="3562195" indent="0" algn="ctr">
              <a:buNone/>
              <a:defRPr sz="2079"/>
            </a:lvl7pPr>
            <a:lvl8pPr marL="4155682" indent="0" algn="ctr">
              <a:buNone/>
              <a:defRPr sz="2079"/>
            </a:lvl8pPr>
            <a:lvl9pPr marL="4749170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8" y="1512876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633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287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111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287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4pPr>
            <a:lvl5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44947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103234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799">
                <a:ea typeface="宋体" panose="02010600030101010101" pitchFamily="2" charset="-122"/>
              </a:defRPr>
            </a:lvl1pPr>
          </a:lstStyle>
          <a:p>
            <a:r>
              <a:rPr lang="de-DE" altLang="zh-CN">
                <a:solidFill>
                  <a:prstClr val="black"/>
                </a:solidFill>
              </a:rPr>
              <a:t>Page </a:t>
            </a:r>
            <a:fld id="{6E1E0CB0-37E2-4DA7-98F9-4AD6B50AA12C}" type="slidenum">
              <a:rPr lang="de-DE" altLang="zh-CN">
                <a:solidFill>
                  <a:prstClr val="black"/>
                </a:solidFill>
              </a:rPr>
              <a:pPr/>
              <a:t>‹#›</a:t>
            </a:fld>
            <a:endParaRPr lang="en-GB" altLang="zh-CN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296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4"/>
            </a:lvl2pPr>
            <a:lvl3pPr marL="1186975" indent="0" algn="ctr">
              <a:buNone/>
              <a:defRPr sz="2334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7438" indent="0" algn="ctr">
              <a:buNone/>
              <a:defRPr sz="2079"/>
            </a:lvl6pPr>
            <a:lvl7pPr marL="3560290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89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652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476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652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4pPr>
            <a:lvl5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7696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49" y="1402065"/>
            <a:ext cx="3919503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8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013428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tif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tif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0" y="6356939"/>
            <a:ext cx="1462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227" y="6402807"/>
            <a:ext cx="628911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5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5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2" y="2625390"/>
            <a:ext cx="1962556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03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061" indent="-297061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549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48403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2077524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67164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E886C4A9-2C5E-EC44-8D62-420DF3BE0B9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869" y="6325091"/>
            <a:ext cx="1270304" cy="275024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2171E79-11D3-8648-9BEA-3C7660378BC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0" y="2625392"/>
            <a:ext cx="1962557" cy="4233515"/>
            <a:chOff x="5343883" y="-48857"/>
            <a:chExt cx="3263588" cy="7037279"/>
          </a:xfrm>
        </p:grpSpPr>
        <p:sp>
          <p:nvSpPr>
            <p:cNvPr id="69" name="矩形 13">
              <a:extLst>
                <a:ext uri="{FF2B5EF4-FFF2-40B4-BE49-F238E27FC236}">
                  <a16:creationId xmlns:a16="http://schemas.microsoft.com/office/drawing/2014/main" id="{2056A118-9F13-2644-8C4D-19B83F915923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70" name="文本框 15">
              <a:extLst>
                <a:ext uri="{FF2B5EF4-FFF2-40B4-BE49-F238E27FC236}">
                  <a16:creationId xmlns:a16="http://schemas.microsoft.com/office/drawing/2014/main" id="{B22FD20B-FED1-F14A-B606-EFB600078EA5}"/>
                </a:ext>
              </a:extLst>
            </p:cNvPr>
            <p:cNvSpPr txBox="1"/>
            <p:nvPr userDrawn="1"/>
          </p:nvSpPr>
          <p:spPr>
            <a:xfrm>
              <a:off x="5352721" y="1694497"/>
              <a:ext cx="1636699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Secondary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1" name="矩形 13">
              <a:extLst>
                <a:ext uri="{FF2B5EF4-FFF2-40B4-BE49-F238E27FC236}">
                  <a16:creationId xmlns:a16="http://schemas.microsoft.com/office/drawing/2014/main" id="{1BDF5E4A-1867-8E41-834A-BEF7F7DBCA4B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72" name="矩形 13">
              <a:extLst>
                <a:ext uri="{FF2B5EF4-FFF2-40B4-BE49-F238E27FC236}">
                  <a16:creationId xmlns:a16="http://schemas.microsoft.com/office/drawing/2014/main" id="{C1206869-819B-184C-810B-151F92C62236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73" name="矩形 13">
              <a:extLst>
                <a:ext uri="{FF2B5EF4-FFF2-40B4-BE49-F238E27FC236}">
                  <a16:creationId xmlns:a16="http://schemas.microsoft.com/office/drawing/2014/main" id="{7532BB58-5C8F-B442-A115-B92066928429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74" name="矩形 13">
              <a:extLst>
                <a:ext uri="{FF2B5EF4-FFF2-40B4-BE49-F238E27FC236}">
                  <a16:creationId xmlns:a16="http://schemas.microsoft.com/office/drawing/2014/main" id="{19E144E8-C437-8E49-8068-D750BCB2B2F7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75" name="矩形 13">
              <a:extLst>
                <a:ext uri="{FF2B5EF4-FFF2-40B4-BE49-F238E27FC236}">
                  <a16:creationId xmlns:a16="http://schemas.microsoft.com/office/drawing/2014/main" id="{F707D190-CC54-CA46-946B-8609C53E3CB9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76" name="矩形 13">
              <a:extLst>
                <a:ext uri="{FF2B5EF4-FFF2-40B4-BE49-F238E27FC236}">
                  <a16:creationId xmlns:a16="http://schemas.microsoft.com/office/drawing/2014/main" id="{CA69D07A-4CB1-1C44-95EB-D5DD16C88C16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77" name="文本框 15">
              <a:extLst>
                <a:ext uri="{FF2B5EF4-FFF2-40B4-BE49-F238E27FC236}">
                  <a16:creationId xmlns:a16="http://schemas.microsoft.com/office/drawing/2014/main" id="{14051C33-7D8E-ED4E-A31B-8FAA52C8EDA5}"/>
                </a:ext>
              </a:extLst>
            </p:cNvPr>
            <p:cNvSpPr txBox="1"/>
            <p:nvPr userDrawn="1"/>
          </p:nvSpPr>
          <p:spPr>
            <a:xfrm>
              <a:off x="5343883" y="-48857"/>
              <a:ext cx="1358295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Corporate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8" name="矩形 13">
              <a:extLst>
                <a:ext uri="{FF2B5EF4-FFF2-40B4-BE49-F238E27FC236}">
                  <a16:creationId xmlns:a16="http://schemas.microsoft.com/office/drawing/2014/main" id="{697139C8-6378-7346-AA26-3DE355486404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79" name="矩形 13">
              <a:extLst>
                <a:ext uri="{FF2B5EF4-FFF2-40B4-BE49-F238E27FC236}">
                  <a16:creationId xmlns:a16="http://schemas.microsoft.com/office/drawing/2014/main" id="{F79CD551-CACB-A749-9460-B80C1456F4E8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80" name="矩形 13">
              <a:extLst>
                <a:ext uri="{FF2B5EF4-FFF2-40B4-BE49-F238E27FC236}">
                  <a16:creationId xmlns:a16="http://schemas.microsoft.com/office/drawing/2014/main" id="{659202D4-1C13-564B-AD21-AF809769236B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81" name="矩形 13">
              <a:extLst>
                <a:ext uri="{FF2B5EF4-FFF2-40B4-BE49-F238E27FC236}">
                  <a16:creationId xmlns:a16="http://schemas.microsoft.com/office/drawing/2014/main" id="{1D14C75E-3EEE-FA4D-8DA3-70B2C56F286F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82" name="矩形 13">
              <a:extLst>
                <a:ext uri="{FF2B5EF4-FFF2-40B4-BE49-F238E27FC236}">
                  <a16:creationId xmlns:a16="http://schemas.microsoft.com/office/drawing/2014/main" id="{9844BDEE-1453-9A40-B91C-2C526D59737B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83" name="矩形 13">
              <a:extLst>
                <a:ext uri="{FF2B5EF4-FFF2-40B4-BE49-F238E27FC236}">
                  <a16:creationId xmlns:a16="http://schemas.microsoft.com/office/drawing/2014/main" id="{533D13E9-5244-8E4F-9513-C00748CDDDF9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84" name="矩形 13">
              <a:extLst>
                <a:ext uri="{FF2B5EF4-FFF2-40B4-BE49-F238E27FC236}">
                  <a16:creationId xmlns:a16="http://schemas.microsoft.com/office/drawing/2014/main" id="{4EBE9DBF-E87C-4F4D-BBB1-81632C549613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85" name="矩形 13">
              <a:extLst>
                <a:ext uri="{FF2B5EF4-FFF2-40B4-BE49-F238E27FC236}">
                  <a16:creationId xmlns:a16="http://schemas.microsoft.com/office/drawing/2014/main" id="{422FC2B2-7928-F442-949E-D722F3DC9D01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86" name="矩形 13">
              <a:extLst>
                <a:ext uri="{FF2B5EF4-FFF2-40B4-BE49-F238E27FC236}">
                  <a16:creationId xmlns:a16="http://schemas.microsoft.com/office/drawing/2014/main" id="{5F38502B-99C0-4640-9E8D-7247A3238E22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87" name="矩形 13">
              <a:extLst>
                <a:ext uri="{FF2B5EF4-FFF2-40B4-BE49-F238E27FC236}">
                  <a16:creationId xmlns:a16="http://schemas.microsoft.com/office/drawing/2014/main" id="{1399EB62-5216-324F-B66C-AD6ED0004D51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88" name="矩形 13">
              <a:extLst>
                <a:ext uri="{FF2B5EF4-FFF2-40B4-BE49-F238E27FC236}">
                  <a16:creationId xmlns:a16="http://schemas.microsoft.com/office/drawing/2014/main" id="{DEDE780A-8050-FD48-B661-39532349131D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9BDB304C-5E40-9647-A3EF-75D9BFFB7E5B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0" name="矩形 13">
              <a:extLst>
                <a:ext uri="{FF2B5EF4-FFF2-40B4-BE49-F238E27FC236}">
                  <a16:creationId xmlns:a16="http://schemas.microsoft.com/office/drawing/2014/main" id="{EC3A6DD7-CCD1-0C4F-B8D4-3D01C9FFC289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FC3F3193-22C2-A847-A957-DFCCDA9D1D88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851DFAF5-0D1C-C64A-87B5-B0C9497BA3EB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57EB9D15-6C1C-8340-A5D0-43B865B5951C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2B29D96D-3B3D-B944-92CB-FE0973E33810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35D234AC-C1A2-7248-94C0-BB95C4DFE743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2C241EB7-09A9-7E40-9241-F2D47E53E1FF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97" name="矩形 13">
              <a:extLst>
                <a:ext uri="{FF2B5EF4-FFF2-40B4-BE49-F238E27FC236}">
                  <a16:creationId xmlns:a16="http://schemas.microsoft.com/office/drawing/2014/main" id="{63833C81-CC87-004C-AE5E-CB387B992636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77A96C4C-F3F3-484A-95BE-7E52C33A2FE2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66F0E6F8-F4D3-1B44-BB6D-F328A6CEA0C9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EEFEFB0D-48AF-8147-BDEB-B01E99ED82A7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3F7C47B0-D4EF-7047-9B96-1169C593055C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26A0A468-A37D-824A-8DA2-0B437212E07E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0E79B3A-2E5F-ED4F-AA3D-00B685B18CA9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32D85E93-C860-B646-A67C-3D2FDCC07E8E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D9E271D3-C782-EA4B-B477-613B5CE7B0DA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3F3501FC-1CA1-714F-BF48-934C859FA443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55D4E001-16C8-3749-9816-95BDA789806E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77AD797E-A6D4-8148-B9A9-59A0D242F0FA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23874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0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13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</p:sldLayoutIdLst>
  <p:hf hdr="0" ftr="0" dt="0"/>
  <p:txStyles>
    <p:titleStyle>
      <a:lvl1pPr algn="l" defTabSz="1187204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01" indent="-296801" algn="l" defTabSz="1187204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0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00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609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211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481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41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018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5620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03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204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80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41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012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615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21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882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27" y="1467870"/>
            <a:ext cx="3982676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6241" y="2794960"/>
            <a:ext cx="3223909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4157" y="1631849"/>
            <a:ext cx="3476343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9"/>
              </a:lnSpc>
              <a:spcBef>
                <a:spcPts val="0"/>
              </a:spcBef>
            </a:pP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4557" y="2106124"/>
            <a:ext cx="348047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0562" y="5237566"/>
            <a:ext cx="1874868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921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4998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488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code.com/xuanwu/Daft/tree/research/wl_arm_crc_hash" TargetMode="External"/><Relationship Id="rId3" Type="http://schemas.openxmlformats.org/officeDocument/2006/relationships/hyperlink" Target="https://gitcode.com/xuanwu/Daft/pull/57" TargetMode="External"/><Relationship Id="rId7" Type="http://schemas.openxmlformats.org/officeDocument/2006/relationships/hyperlink" Target="https://gitcode.com/xuanwu/Daft/tree/research/wl_sve_gather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code.com/stone31415/Daft/commit/581fc8bb0d25f94d777064bd9b81506185f71f99?ref=codex_passthrough_isolated" TargetMode="External"/><Relationship Id="rId5" Type="http://schemas.openxmlformats.org/officeDocument/2006/relationships/hyperlink" Target="https://gitcode.com/xuanwu/Daft/pull/58" TargetMode="External"/><Relationship Id="rId4" Type="http://schemas.openxmlformats.org/officeDocument/2006/relationships/hyperlink" Target="https://gitcode.com/xuanwu/Daft/pull/59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993012"/>
          </a:xfrm>
        </p:spPr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变更说明</a:t>
            </a:r>
          </a:p>
        </p:txBody>
      </p:sp>
      <p:graphicFrame>
        <p:nvGraphicFramePr>
          <p:cNvPr id="13" name="Group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562649"/>
              </p:ext>
            </p:extLst>
          </p:nvPr>
        </p:nvGraphicFramePr>
        <p:xfrm>
          <a:off x="728890" y="1342807"/>
          <a:ext cx="10782882" cy="5092957"/>
        </p:xfrm>
        <a:graphic>
          <a:graphicData uri="http://schemas.openxmlformats.org/drawingml/2006/table">
            <a:tbl>
              <a:tblPr/>
              <a:tblGrid>
                <a:gridCol w="3199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9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7821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变更说明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变更原因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实施责任人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决策建议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744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影响已经评估，影响项目组内部可控制。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本变更已经与应用项目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进行沟通，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项目同意本变更。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张三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TMT/SPDT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</a:t>
                      </a:r>
                      <a:endParaRPr kumimoji="0" lang="en-US" altLang="zh-CN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多进程降争用，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热点路径向量化优化点，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JIT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编译优化从多模态算子加速库中变更到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运行时中实现。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运行时优化点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CRC32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鲲鹏硬件加速和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编译前端优化，新增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logical plan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多进程对当前场景优化有限，解释器内向量化泛用性较低，方案变更为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内以插件形式实现。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从用户使用、泛化性等角度适合将能力沉淀在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运行时：经过穿刺分析，优化点在当前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以 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为主要任务的应用场景中，这些优化点的提升不在热点路径上。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变更影响已经评估，范围可控，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优化目标不变，总工作量减少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人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月，项目</a:t>
                      </a:r>
                      <a:r>
                        <a:rPr kumimoji="0" lang="zh-CN" altLang="en-US" sz="12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内工作量不变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周永哲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隋致远</a:t>
                      </a: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sng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sng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728890" y="982586"/>
            <a:ext cx="8277167" cy="215360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sz="1399" i="1" kern="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说明：当项目目标、范围发生重大变更，里程碑计划改变时，对变更进行说明。</a:t>
            </a:r>
            <a:endParaRPr lang="en-US" altLang="zh-CN" sz="1399" i="1" kern="0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6" name="矩形 15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3544445" y="130726"/>
            <a:ext cx="2137658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799" b="1" dirty="0">
                <a:solidFill>
                  <a:srgbClr val="221815"/>
                </a:solidFill>
              </a:rPr>
              <a:t>张巍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副标题 1"/>
          <p:cNvSpPr txBox="1"/>
          <p:nvPr/>
        </p:nvSpPr>
        <p:spPr>
          <a:xfrm>
            <a:off x="313153" y="219762"/>
            <a:ext cx="11374068" cy="470377"/>
          </a:xfrm>
          <a:prstGeom prst="rect">
            <a:avLst/>
          </a:prstGeom>
        </p:spPr>
        <p:txBody>
          <a:bodyPr anchor="ctr">
            <a:noAutofit/>
          </a:bodyPr>
          <a:lstStyle>
            <a:lvl1pPr marL="297180" indent="-297180" algn="l" defTabSz="1188085" rtl="0" eaLnBrk="1" latinLnBrk="0" hangingPunct="1">
              <a:lnSpc>
                <a:spcPct val="90000"/>
              </a:lnSpc>
              <a:spcBef>
                <a:spcPts val="1300"/>
              </a:spcBef>
              <a:buFont typeface="Arial" panose="020B0604020202020204" pitchFamily="34" charset="0"/>
              <a:buChar char="•"/>
              <a:defRPr sz="36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090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31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8463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7835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67271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186975">
              <a:lnSpc>
                <a:spcPct val="120000"/>
              </a:lnSpc>
              <a:spcBef>
                <a:spcPts val="1299"/>
              </a:spcBef>
              <a:buNone/>
              <a:defRPr/>
            </a:pP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r>
              <a:rPr lang="en-US" altLang="zh-CN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基于插件提升特定领域</a:t>
            </a:r>
            <a:r>
              <a:rPr lang="en-US" altLang="zh-CN" sz="1999" b="1" dirty="0" err="1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CPython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JIT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性能，端到端提升至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1.10x</a:t>
            </a: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3" name="矩形 92">
            <a:extLst>
              <a:ext uri="{FF2B5EF4-FFF2-40B4-BE49-F238E27FC236}">
                <a16:creationId xmlns:a16="http://schemas.microsoft.com/office/drawing/2014/main" id="{421E4ACE-2940-4AA6-8C9D-8997A25946E2}"/>
              </a:ext>
            </a:extLst>
          </p:cNvPr>
          <p:cNvSpPr/>
          <p:nvPr/>
        </p:nvSpPr>
        <p:spPr>
          <a:xfrm>
            <a:off x="-13685" y="1980680"/>
            <a:ext cx="12204892" cy="43878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CinderX</a:t>
            </a:r>
            <a:r>
              <a:rPr kumimoji="0" lang="en-US" altLang="zh-CN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for 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KunPeng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openeuler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开源）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CCAF287-390D-46C6-8CAE-CEC281137FCF}"/>
              </a:ext>
            </a:extLst>
          </p:cNvPr>
          <p:cNvSpPr/>
          <p:nvPr/>
        </p:nvSpPr>
        <p:spPr>
          <a:xfrm>
            <a:off x="3914281" y="693739"/>
            <a:ext cx="3333253" cy="104251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5" name="Text 4">
            <a:extLst>
              <a:ext uri="{FF2B5EF4-FFF2-40B4-BE49-F238E27FC236}">
                <a16:creationId xmlns:a16="http://schemas.microsoft.com/office/drawing/2014/main" id="{816070D6-D377-4E3D-A14C-E9A3BAC19F85}"/>
              </a:ext>
            </a:extLst>
          </p:cNvPr>
          <p:cNvSpPr/>
          <p:nvPr/>
        </p:nvSpPr>
        <p:spPr>
          <a:xfrm>
            <a:off x="3904928" y="769834"/>
            <a:ext cx="3400240" cy="2285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官方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Microsoft YaHei"/>
              <a:ea typeface="宋体" charset="-122"/>
              <a:cs typeface="+mn-cs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8B43A0B1-518B-478F-96D1-321CEA08F3C0}"/>
              </a:ext>
            </a:extLst>
          </p:cNvPr>
          <p:cNvSpPr/>
          <p:nvPr/>
        </p:nvSpPr>
        <p:spPr>
          <a:xfrm>
            <a:off x="4113305" y="1130265"/>
            <a:ext cx="1122444" cy="526061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解释执行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E3416A0-A526-484D-83A5-6DBBD608DE4F}"/>
              </a:ext>
            </a:extLst>
          </p:cNvPr>
          <p:cNvSpPr/>
          <p:nvPr/>
        </p:nvSpPr>
        <p:spPr>
          <a:xfrm>
            <a:off x="5421353" y="1130265"/>
            <a:ext cx="1698211" cy="532400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JIT：Copy-and-Patch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11827"/>
              </a:solidFill>
              <a:effectLst/>
              <a:uLnTx/>
              <a:uFillTx/>
              <a:latin typeface="Microsoft YaHei" pitchFamily="34" charset="0"/>
              <a:ea typeface="Microsoft YaHei" pitchFamily="34" charset="-122"/>
              <a:cs typeface="+mn-cs"/>
            </a:endParaRP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3.14</a:t>
            </a: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版本新增</a:t>
            </a: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偏轻量模板化生成机器码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9CEEC6B-C06E-4958-A07B-31DF72C580FB}"/>
              </a:ext>
            </a:extLst>
          </p:cNvPr>
          <p:cNvSpPr/>
          <p:nvPr/>
        </p:nvSpPr>
        <p:spPr>
          <a:xfrm>
            <a:off x="1085734" y="2642399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B2C2983-68B1-443E-A9C4-8B9DEE961CEA}"/>
              </a:ext>
            </a:extLst>
          </p:cNvPr>
          <p:cNvSpPr/>
          <p:nvPr/>
        </p:nvSpPr>
        <p:spPr>
          <a:xfrm>
            <a:off x="1343032" y="2943324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D175E59B-9147-4372-93AC-33E662EE71AC}"/>
              </a:ext>
            </a:extLst>
          </p:cNvPr>
          <p:cNvGrpSpPr/>
          <p:nvPr/>
        </p:nvGrpSpPr>
        <p:grpSpPr>
          <a:xfrm>
            <a:off x="23701" y="2363522"/>
            <a:ext cx="7690346" cy="4270296"/>
            <a:chOff x="-264449" y="2125639"/>
            <a:chExt cx="7693350" cy="4271964"/>
          </a:xfrm>
        </p:grpSpPr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A5DCDE5C-32C1-4ABD-A774-8CD6B458CC92}"/>
                </a:ext>
              </a:extLst>
            </p:cNvPr>
            <p:cNvSpPr/>
            <p:nvPr/>
          </p:nvSpPr>
          <p:spPr>
            <a:xfrm>
              <a:off x="-264449" y="2125639"/>
              <a:ext cx="7693350" cy="363030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通用场景（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7F0000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已构筑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）</a:t>
              </a: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7AA60FB6-AC8C-485A-B20B-19FF27E2283D}"/>
                </a:ext>
              </a:extLst>
            </p:cNvPr>
            <p:cNvSpPr/>
            <p:nvPr/>
          </p:nvSpPr>
          <p:spPr>
            <a:xfrm>
              <a:off x="5467532" y="5942401"/>
              <a:ext cx="1742586" cy="45520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  <a:t>ARM</a:t>
              </a:r>
              <a:b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</a:b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（优先支持）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F27C56A5-A6DF-4044-9FD5-DFF406B3A13C}"/>
                </a:ext>
              </a:extLst>
            </p:cNvPr>
            <p:cNvSpPr/>
            <p:nvPr/>
          </p:nvSpPr>
          <p:spPr>
            <a:xfrm>
              <a:off x="-88417" y="2600851"/>
              <a:ext cx="7298535" cy="1174096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JIT</a:t>
              </a: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分层优化路径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DBA71980-DBF1-46C9-A0DB-816E639A0B4E}"/>
                </a:ext>
              </a:extLst>
            </p:cNvPr>
            <p:cNvSpPr/>
            <p:nvPr/>
          </p:nvSpPr>
          <p:spPr>
            <a:xfrm>
              <a:off x="111057" y="2923243"/>
              <a:ext cx="1673796" cy="62261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HIR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Python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语义中间表示）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8C67DAB3-2F84-4061-B468-FCAFF7A6C174}"/>
                </a:ext>
              </a:extLst>
            </p:cNvPr>
            <p:cNvSpPr/>
            <p:nvPr/>
          </p:nvSpPr>
          <p:spPr>
            <a:xfrm>
              <a:off x="2214936" y="2923244"/>
              <a:ext cx="1930024" cy="634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LIR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（指令集架构相关中间表示）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05FCFD9E-0209-4B2A-A1F8-9A0319E1265B}"/>
                </a:ext>
              </a:extLst>
            </p:cNvPr>
            <p:cNvSpPr/>
            <p:nvPr/>
          </p:nvSpPr>
          <p:spPr>
            <a:xfrm>
              <a:off x="4690471" y="2930618"/>
              <a:ext cx="1182748" cy="6152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Codegen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后端生成）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5A737441-281B-473B-AAA6-577136BE0B39}"/>
                </a:ext>
              </a:extLst>
            </p:cNvPr>
            <p:cNvSpPr/>
            <p:nvPr/>
          </p:nvSpPr>
          <p:spPr>
            <a:xfrm>
              <a:off x="1969797" y="3664894"/>
              <a:ext cx="2340589" cy="236181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Code Borrow</a:t>
              </a: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 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09" name="矩形 108">
            <a:extLst>
              <a:ext uri="{FF2B5EF4-FFF2-40B4-BE49-F238E27FC236}">
                <a16:creationId xmlns:a16="http://schemas.microsoft.com/office/drawing/2014/main" id="{1659E517-7B6F-43E4-BA9B-FB8CF84F8F92}"/>
              </a:ext>
            </a:extLst>
          </p:cNvPr>
          <p:cNvSpPr/>
          <p:nvPr/>
        </p:nvSpPr>
        <p:spPr>
          <a:xfrm>
            <a:off x="3904928" y="6183921"/>
            <a:ext cx="1741906" cy="455024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  X86 </a:t>
            </a:r>
            <a:b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</a:b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（不主动支持）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E3F42EB8-2AFD-4734-B730-BE7CAAC02EC9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>
            <a:off x="2072205" y="3472002"/>
            <a:ext cx="429915" cy="5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5F1C9983-4387-4E6B-BF33-EC798BCD5B5C}"/>
              </a:ext>
            </a:extLst>
          </p:cNvPr>
          <p:cNvCxnSpPr>
            <a:cxnSpLocks/>
            <a:stCxn id="105" idx="3"/>
            <a:endCxn id="106" idx="1"/>
          </p:cNvCxnSpPr>
          <p:nvPr/>
        </p:nvCxnSpPr>
        <p:spPr>
          <a:xfrm flipV="1">
            <a:off x="4431391" y="3475685"/>
            <a:ext cx="545298" cy="2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862F663C-E5E2-4744-88BC-C60F340AB19D}"/>
              </a:ext>
            </a:extLst>
          </p:cNvPr>
          <p:cNvSpPr/>
          <p:nvPr/>
        </p:nvSpPr>
        <p:spPr>
          <a:xfrm>
            <a:off x="99933" y="4408570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软件优化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AE817A6-B7A7-477B-A1CD-623BEFB50E89}"/>
              </a:ext>
            </a:extLst>
          </p:cNvPr>
          <p:cNvGrpSpPr/>
          <p:nvPr/>
        </p:nvGrpSpPr>
        <p:grpSpPr>
          <a:xfrm>
            <a:off x="199667" y="4753552"/>
            <a:ext cx="1537249" cy="1051409"/>
            <a:chOff x="4369882" y="4874857"/>
            <a:chExt cx="1537849" cy="1051820"/>
          </a:xfrm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502D463A-C8E1-4C6A-886C-DD8624F35609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X86 / ARM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同等收益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4A5B7F98-FAB6-4034-92E8-78C9F71622C3}"/>
                </a:ext>
              </a:extLst>
            </p:cNvPr>
            <p:cNvSpPr/>
            <p:nvPr/>
          </p:nvSpPr>
          <p:spPr>
            <a:xfrm>
              <a:off x="4475223" y="5169110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类方法调用特化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E419854-426D-4401-BDA0-9E46E2A70E45}"/>
                </a:ext>
              </a:extLst>
            </p:cNvPr>
            <p:cNvSpPr/>
            <p:nvPr/>
          </p:nvSpPr>
          <p:spPr>
            <a:xfrm>
              <a:off x="4469211" y="5570486"/>
              <a:ext cx="1268439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slot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属性访问特化</a:t>
              </a: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71F503DD-93CC-40A5-B200-4336F0E3E22D}"/>
                </a:ext>
              </a:extLst>
            </p:cNvPr>
            <p:cNvSpPr/>
            <p:nvPr/>
          </p:nvSpPr>
          <p:spPr>
            <a:xfrm>
              <a:off x="5239236" y="5074831"/>
              <a:ext cx="668495" cy="149827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2%/0%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↑</a:t>
              </a:r>
              <a:endPara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8" name="矩形 117">
            <a:extLst>
              <a:ext uri="{FF2B5EF4-FFF2-40B4-BE49-F238E27FC236}">
                <a16:creationId xmlns:a16="http://schemas.microsoft.com/office/drawing/2014/main" id="{9770E80F-F459-4856-8ED8-42F50866692A}"/>
              </a:ext>
            </a:extLst>
          </p:cNvPr>
          <p:cNvSpPr/>
          <p:nvPr/>
        </p:nvSpPr>
        <p:spPr>
          <a:xfrm>
            <a:off x="1068389" y="5368976"/>
            <a:ext cx="668234" cy="135087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2%/0% </a:t>
            </a:r>
            <a:r>
              <a:rPr kumimoji="0" lang="zh-CN" alt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↑</a:t>
            </a:r>
            <a:endParaRPr kumimoji="0" lang="en-US" altLang="zh-CN" sz="8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21F53E72-C783-4D56-984E-E1A41B66C6A4}"/>
              </a:ext>
            </a:extLst>
          </p:cNvPr>
          <p:cNvGrpSpPr/>
          <p:nvPr/>
        </p:nvGrpSpPr>
        <p:grpSpPr>
          <a:xfrm>
            <a:off x="1840735" y="4756570"/>
            <a:ext cx="1688161" cy="1048393"/>
            <a:chOff x="1290002" y="1227614"/>
            <a:chExt cx="1688820" cy="1048803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ACD01E3D-7F76-414E-A590-6F1FEDC6CB4A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4334A392-2204-4C16-AA12-CEC519BDACF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ARM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收益大</a:t>
                </a: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0E0BE962-B1BD-4EA4-A72B-91C980D41DED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浮点装箱延迟重建</a:t>
                </a: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30A9CD4B-75E2-46B6-8DFF-FDF038CDF9C7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20797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表达式内联</a:t>
                </a:r>
              </a:p>
            </p:txBody>
          </p:sp>
        </p:grp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7EC53D25-58A8-4930-BA4B-4153BB454D18}"/>
                </a:ext>
              </a:extLst>
            </p:cNvPr>
            <p:cNvSpPr/>
            <p:nvPr/>
          </p:nvSpPr>
          <p:spPr>
            <a:xfrm>
              <a:off x="2166224" y="1438834"/>
              <a:ext cx="808310" cy="148608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3.5%/3%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4CC0B8BD-4F94-4017-AB00-030595E97309}"/>
                </a:ext>
              </a:extLst>
            </p:cNvPr>
            <p:cNvSpPr/>
            <p:nvPr/>
          </p:nvSpPr>
          <p:spPr>
            <a:xfrm>
              <a:off x="2170512" y="1844150"/>
              <a:ext cx="808310" cy="125471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0.5%/0.5%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sp>
        <p:nvSpPr>
          <p:cNvPr id="126" name="矩形 125">
            <a:extLst>
              <a:ext uri="{FF2B5EF4-FFF2-40B4-BE49-F238E27FC236}">
                <a16:creationId xmlns:a16="http://schemas.microsoft.com/office/drawing/2014/main" id="{D7B25FB3-1457-4365-B5CE-8417C8692A97}"/>
              </a:ext>
            </a:extLst>
          </p:cNvPr>
          <p:cNvSpPr/>
          <p:nvPr/>
        </p:nvSpPr>
        <p:spPr>
          <a:xfrm>
            <a:off x="3897730" y="4420205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软硬结合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kumimoji="0" lang="zh-CN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重点发力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：利用鲲鹏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/ARM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长板）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0CC14437-9A5E-4199-BA64-DF3AC3A9B1E6}"/>
              </a:ext>
            </a:extLst>
          </p:cNvPr>
          <p:cNvGrpSpPr/>
          <p:nvPr/>
        </p:nvGrpSpPr>
        <p:grpSpPr>
          <a:xfrm>
            <a:off x="3997461" y="4765186"/>
            <a:ext cx="1530126" cy="1051409"/>
            <a:chOff x="4369882" y="4874857"/>
            <a:chExt cx="1530724" cy="1051820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0EB0F914-E3EA-4652-8CE9-5C2E931ED423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65E0DA52-FF40-46C9-95E0-68D223BF99CD}"/>
                </a:ext>
              </a:extLst>
            </p:cNvPr>
            <p:cNvSpPr/>
            <p:nvPr/>
          </p:nvSpPr>
          <p:spPr>
            <a:xfrm>
              <a:off x="4477617" y="5237701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AArch64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指令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25C2A569-B568-4445-9688-D7D0E3412EAE}"/>
                </a:ext>
              </a:extLst>
            </p:cNvPr>
            <p:cNvSpPr/>
            <p:nvPr/>
          </p:nvSpPr>
          <p:spPr>
            <a:xfrm>
              <a:off x="4472830" y="5624004"/>
              <a:ext cx="1345088" cy="241454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SIMD 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（发力中）</a:t>
              </a: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5848ECE9-A8B2-42C0-ADB2-123F144F68D7}"/>
                </a:ext>
              </a:extLst>
            </p:cNvPr>
            <p:cNvSpPr/>
            <p:nvPr/>
          </p:nvSpPr>
          <p:spPr>
            <a:xfrm>
              <a:off x="5232111" y="5123797"/>
              <a:ext cx="668495" cy="149827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5%/5%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06A8160-8B23-4F9B-B4A6-33F31EA2759F}"/>
              </a:ext>
            </a:extLst>
          </p:cNvPr>
          <p:cNvGrpSpPr/>
          <p:nvPr/>
        </p:nvGrpSpPr>
        <p:grpSpPr>
          <a:xfrm>
            <a:off x="5638532" y="4768205"/>
            <a:ext cx="1636125" cy="1048393"/>
            <a:chOff x="1290002" y="1227614"/>
            <a:chExt cx="1636764" cy="1048803"/>
          </a:xfrm>
        </p:grpSpPr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29BA2DB1-E9E6-4197-B86A-78E7CCB2EA74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CB2D5A92-9279-4FA7-B565-85F88FD9C9E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DDCFE0BB-DE85-4514-8581-F1D5961C21A4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寄存器亲和</a:t>
                </a:r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9E8F5B4-CAD1-4CEE-8825-917B1B30B6B4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97059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函调调用</a:t>
                </a: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-&gt;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机器码</a:t>
                </a:r>
              </a:p>
            </p:txBody>
          </p:sp>
        </p:grp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EBDCE1-A792-4A2E-9B46-370E9CE852AE}"/>
                </a:ext>
              </a:extLst>
            </p:cNvPr>
            <p:cNvSpPr/>
            <p:nvPr/>
          </p:nvSpPr>
          <p:spPr>
            <a:xfrm>
              <a:off x="2166224" y="1438833"/>
              <a:ext cx="760542" cy="15617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1%/1%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DA802D73-4B17-4FA0-A9A0-2A103151164C}"/>
              </a:ext>
            </a:extLst>
          </p:cNvPr>
          <p:cNvCxnSpPr>
            <a:stCxn id="105" idx="2"/>
            <a:endCxn id="112" idx="0"/>
          </p:cNvCxnSpPr>
          <p:nvPr/>
        </p:nvCxnSpPr>
        <p:spPr>
          <a:xfrm flipH="1">
            <a:off x="1930513" y="3795124"/>
            <a:ext cx="1536243" cy="613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2AC83827-64A8-43ED-9C9E-87157A74F88B}"/>
              </a:ext>
            </a:extLst>
          </p:cNvPr>
          <p:cNvCxnSpPr>
            <a:cxnSpLocks/>
          </p:cNvCxnSpPr>
          <p:nvPr/>
        </p:nvCxnSpPr>
        <p:spPr>
          <a:xfrm>
            <a:off x="3476860" y="3798722"/>
            <a:ext cx="2193495" cy="609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4CA99273-15CD-48CE-B502-546C9D19D883}"/>
              </a:ext>
            </a:extLst>
          </p:cNvPr>
          <p:cNvCxnSpPr>
            <a:endCxn id="112" idx="0"/>
          </p:cNvCxnSpPr>
          <p:nvPr/>
        </p:nvCxnSpPr>
        <p:spPr>
          <a:xfrm>
            <a:off x="1237948" y="3846928"/>
            <a:ext cx="692564" cy="561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21568FD3-E36A-4F6D-A534-651CC22ED848}"/>
              </a:ext>
            </a:extLst>
          </p:cNvPr>
          <p:cNvCxnSpPr>
            <a:endCxn id="126" idx="0"/>
          </p:cNvCxnSpPr>
          <p:nvPr/>
        </p:nvCxnSpPr>
        <p:spPr>
          <a:xfrm>
            <a:off x="5638532" y="3798725"/>
            <a:ext cx="89775" cy="62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EC4336FF-70B3-4C5A-A74A-401096490E54}"/>
              </a:ext>
            </a:extLst>
          </p:cNvPr>
          <p:cNvSpPr/>
          <p:nvPr/>
        </p:nvSpPr>
        <p:spPr>
          <a:xfrm>
            <a:off x="4566424" y="1760205"/>
            <a:ext cx="1223561" cy="247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官方扩展插件</a:t>
            </a:r>
          </a:p>
        </p:txBody>
      </p: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2867303E-F1D9-4374-B665-1D13724584C1}"/>
              </a:ext>
            </a:extLst>
          </p:cNvPr>
          <p:cNvCxnSpPr>
            <a:cxnSpLocks/>
            <a:stCxn id="94" idx="2"/>
            <a:endCxn id="101" idx="0"/>
          </p:cNvCxnSpPr>
          <p:nvPr/>
        </p:nvCxnSpPr>
        <p:spPr>
          <a:xfrm flipH="1">
            <a:off x="3868874" y="1736253"/>
            <a:ext cx="1712034" cy="62726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F541E3DD-969B-423B-9936-BB0C6622EA10}"/>
              </a:ext>
            </a:extLst>
          </p:cNvPr>
          <p:cNvSpPr/>
          <p:nvPr/>
        </p:nvSpPr>
        <p:spPr>
          <a:xfrm>
            <a:off x="8182023" y="2363522"/>
            <a:ext cx="3720409" cy="362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BA17151-4810-47E2-979E-9316C868AD6C}"/>
              </a:ext>
            </a:extLst>
          </p:cNvPr>
          <p:cNvSpPr txBox="1"/>
          <p:nvPr/>
        </p:nvSpPr>
        <p:spPr>
          <a:xfrm>
            <a:off x="7746018" y="3899289"/>
            <a:ext cx="475994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插件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1CBA49A2-DA60-4CCB-B270-95CB6F53E06E}"/>
              </a:ext>
            </a:extLst>
          </p:cNvPr>
          <p:cNvSpPr/>
          <p:nvPr/>
        </p:nvSpPr>
        <p:spPr>
          <a:xfrm>
            <a:off x="8361239" y="4492863"/>
            <a:ext cx="3356473" cy="1173638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其余场景扩展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未来规划新增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9A04C674-6041-4A5B-B166-9AE126BB35BD}"/>
              </a:ext>
            </a:extLst>
          </p:cNvPr>
          <p:cNvSpPr/>
          <p:nvPr/>
        </p:nvSpPr>
        <p:spPr>
          <a:xfrm>
            <a:off x="8361239" y="2820792"/>
            <a:ext cx="3356473" cy="123313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AI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数据工程场景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lang="zh-CN" altLang="en-US" sz="1399" b="1" kern="0">
                <a:solidFill>
                  <a:srgbClr val="7F0000"/>
                </a:solidFill>
                <a:latin typeface=" 微软雅黑"/>
                <a:ea typeface="Microsoft YaHei" pitchFamily="34" charset="-122"/>
              </a:rPr>
              <a:t>本期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5407ED0-6EAB-4B8E-A059-469BAC0B3D32}"/>
              </a:ext>
            </a:extLst>
          </p:cNvPr>
          <p:cNvSpPr/>
          <p:nvPr/>
        </p:nvSpPr>
        <p:spPr>
          <a:xfrm>
            <a:off x="8665993" y="4879091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机头场景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算子下发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4ADD8A58-A857-4FEB-817F-63310C833BDD}"/>
              </a:ext>
            </a:extLst>
          </p:cNvPr>
          <p:cNvSpPr/>
          <p:nvPr/>
        </p:nvSpPr>
        <p:spPr>
          <a:xfrm>
            <a:off x="8065748" y="2254208"/>
            <a:ext cx="3952960" cy="381569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A55CA72-33B6-4C30-A17E-9820CD8E97E6}"/>
              </a:ext>
            </a:extLst>
          </p:cNvPr>
          <p:cNvSpPr/>
          <p:nvPr/>
        </p:nvSpPr>
        <p:spPr>
          <a:xfrm>
            <a:off x="10179691" y="4885300"/>
            <a:ext cx="118228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F080C4A5-EA9D-4263-97EF-FFACF26EECC5}"/>
              </a:ext>
            </a:extLst>
          </p:cNvPr>
          <p:cNvSpPr txBox="1"/>
          <p:nvPr/>
        </p:nvSpPr>
        <p:spPr>
          <a:xfrm>
            <a:off x="8818886" y="2390068"/>
            <a:ext cx="2707957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扩展场景</a:t>
            </a:r>
            <a:endParaRPr kumimoji="0" lang="zh-CN" altLang="en-US" sz="1399" b="1" i="0" u="none" strike="noStrike" kern="0" cap="none" spc="0" normalizeH="0" baseline="0" noProof="0" dirty="0">
              <a:ln>
                <a:noFill/>
              </a:ln>
              <a:solidFill>
                <a:srgbClr val="0D1321"/>
              </a:solidFill>
              <a:effectLst/>
              <a:uLnTx/>
              <a:uFillTx/>
              <a:latin typeface=" 微软雅黑"/>
              <a:ea typeface="Microsoft YaHei" pitchFamily="34" charset="-122"/>
              <a:cs typeface="+mn-cs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02C604E-DCE1-42DB-8C1B-8031490221E3}"/>
              </a:ext>
            </a:extLst>
          </p:cNvPr>
          <p:cNvSpPr txBox="1"/>
          <p:nvPr/>
        </p:nvSpPr>
        <p:spPr>
          <a:xfrm>
            <a:off x="8284795" y="924412"/>
            <a:ext cx="3432917" cy="9229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扩展点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1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、识别是否值得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JIT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（代价评估）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2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、扩展的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的优化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PASS </a:t>
            </a: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4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codegen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向量化生成</a:t>
            </a:r>
          </a:p>
        </p:txBody>
      </p:sp>
      <p:sp>
        <p:nvSpPr>
          <p:cNvPr id="10" name="箭头: 左 9">
            <a:extLst>
              <a:ext uri="{FF2B5EF4-FFF2-40B4-BE49-F238E27FC236}">
                <a16:creationId xmlns:a16="http://schemas.microsoft.com/office/drawing/2014/main" id="{019FE0D6-80A4-45A8-B46C-3A881740FA93}"/>
              </a:ext>
            </a:extLst>
          </p:cNvPr>
          <p:cNvSpPr/>
          <p:nvPr/>
        </p:nvSpPr>
        <p:spPr>
          <a:xfrm>
            <a:off x="7714047" y="4074809"/>
            <a:ext cx="351700" cy="281940"/>
          </a:xfrm>
          <a:prstGeom prst="lef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A66F91C8-0261-4DE6-A256-B30CB3299E75}"/>
              </a:ext>
            </a:extLst>
          </p:cNvPr>
          <p:cNvSpPr/>
          <p:nvPr/>
        </p:nvSpPr>
        <p:spPr>
          <a:xfrm>
            <a:off x="9470660" y="3209929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插件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标题 1"/>
          <p:cNvSpPr txBox="1"/>
          <p:nvPr/>
        </p:nvSpPr>
        <p:spPr>
          <a:xfrm>
            <a:off x="354193" y="320569"/>
            <a:ext cx="11672251" cy="509746"/>
          </a:xfrm>
          <a:ln>
            <a:noFill/>
            <a:prstDash val="dash"/>
          </a:ln>
        </p:spPr>
        <p:txBody>
          <a:bodyPr lIns="0" tIns="0" rIns="0" bIns="0" anchor="ctr">
            <a:noAutofit/>
          </a:bodyPr>
          <a:lstStyle>
            <a:defPPr>
              <a:defRPr lang="zh-CN"/>
            </a:defPPr>
            <a:lvl1pPr defTabSz="914400">
              <a:spcBef>
                <a:spcPct val="0"/>
              </a:spcBef>
              <a:defRPr sz="2800" b="1">
                <a:solidFill>
                  <a:srgbClr val="990000"/>
                </a:solidFill>
                <a:latin typeface="+mn-ea"/>
                <a:cs typeface="Arial" panose="020B0604020202020204" pitchFamily="34" charset="0"/>
              </a:defRPr>
            </a:lvl1pPr>
          </a:lstStyle>
          <a:p>
            <a:pPr defTabSz="1186975">
              <a:lnSpc>
                <a:spcPct val="120000"/>
              </a:lnSpc>
              <a:spcBef>
                <a:spcPts val="1299"/>
              </a:spcBef>
              <a:defRPr/>
            </a:pPr>
            <a:r>
              <a:rPr lang="zh-CN" altLang="en-US" sz="2399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技术点进展</a:t>
            </a:r>
            <a:r>
              <a:rPr lang="zh-CN" altLang="en-US" sz="23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穿刺，文本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1.87x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 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1.4x</a:t>
            </a:r>
            <a:endParaRPr lang="zh-CN" altLang="zh-CN" sz="1000" dirty="0">
              <a:solidFill>
                <a:srgbClr val="40404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Rounded Rectangle 85">
            <a:extLst>
              <a:ext uri="{FF2B5EF4-FFF2-40B4-BE49-F238E27FC236}">
                <a16:creationId xmlns:a16="http://schemas.microsoft.com/office/drawing/2014/main" id="{3FECC8CE-DC6D-44D8-9129-36851D87A05C}"/>
              </a:ext>
            </a:extLst>
          </p:cNvPr>
          <p:cNvSpPr/>
          <p:nvPr/>
        </p:nvSpPr>
        <p:spPr bwMode="auto">
          <a:xfrm>
            <a:off x="354193" y="1457309"/>
            <a:ext cx="746633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1218078">
              <a:spcAft>
                <a:spcPts val="600"/>
              </a:spcAft>
              <a:defRPr/>
            </a:pPr>
            <a:endParaRPr lang="zh-CN" altLang="en-US" sz="1399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33" name="矩形 187">
            <a:extLst>
              <a:ext uri="{FF2B5EF4-FFF2-40B4-BE49-F238E27FC236}">
                <a16:creationId xmlns:a16="http://schemas.microsoft.com/office/drawing/2014/main" id="{2B953953-A63E-4341-BC65-BACE0D2B2F8E}"/>
              </a:ext>
            </a:extLst>
          </p:cNvPr>
          <p:cNvSpPr/>
          <p:nvPr/>
        </p:nvSpPr>
        <p:spPr>
          <a:xfrm>
            <a:off x="2803242" y="1298552"/>
            <a:ext cx="3014025" cy="307648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2765">
              <a:defRPr/>
            </a:pP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关键技术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：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Typed JIT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（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16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人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/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月）</a:t>
            </a:r>
            <a:endParaRPr lang="en-US" altLang="zh-CN" sz="1399" b="1" dirty="0">
              <a:solidFill>
                <a:srgbClr val="C00000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027A875-4BC6-489C-BFB0-8B63A653ABDA}"/>
              </a:ext>
            </a:extLst>
          </p:cNvPr>
          <p:cNvSpPr txBox="1"/>
          <p:nvPr/>
        </p:nvSpPr>
        <p:spPr>
          <a:xfrm>
            <a:off x="403719" y="1616508"/>
            <a:ext cx="7513060" cy="891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循环类型特化：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将逐字符遍历、分类、计数和阈值判断编译为类型明确的循环，减少动态类型检查和通用</a:t>
            </a:r>
            <a: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操作开销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不可变查表优化：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将固定标点映射转为不可变查找表，避免每行重新创建标点字典和调用通用转换逻辑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字符串处理特化：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将可识别的空白归一化逻辑编译为字符分类、有限状态转换和专用字符串构造，减少通用正则处理开销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6A0A5CB7-11BB-4C00-9408-AE7DEA1C9F65}"/>
              </a:ext>
            </a:extLst>
          </p:cNvPr>
          <p:cNvGrpSpPr/>
          <p:nvPr/>
        </p:nvGrpSpPr>
        <p:grpSpPr>
          <a:xfrm>
            <a:off x="354194" y="2724802"/>
            <a:ext cx="7466332" cy="1344912"/>
            <a:chOff x="5383363" y="3234415"/>
            <a:chExt cx="6467719" cy="1345438"/>
          </a:xfrm>
        </p:grpSpPr>
        <p:sp>
          <p:nvSpPr>
            <p:cNvPr id="39" name="Rounded Rectangle 85">
              <a:extLst>
                <a:ext uri="{FF2B5EF4-FFF2-40B4-BE49-F238E27FC236}">
                  <a16:creationId xmlns:a16="http://schemas.microsoft.com/office/drawing/2014/main" id="{F1B80228-2D92-4FAC-8C4D-84827FFE8D0F}"/>
                </a:ext>
              </a:extLst>
            </p:cNvPr>
            <p:cNvSpPr/>
            <p:nvPr/>
          </p:nvSpPr>
          <p:spPr bwMode="auto">
            <a:xfrm>
              <a:off x="5383363" y="3394120"/>
              <a:ext cx="6467719" cy="997298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0" name="矩形 187">
              <a:extLst>
                <a:ext uri="{FF2B5EF4-FFF2-40B4-BE49-F238E27FC236}">
                  <a16:creationId xmlns:a16="http://schemas.microsoft.com/office/drawing/2014/main" id="{6057F3CE-E5A5-436E-84BF-C76B4E1310FF}"/>
                </a:ext>
              </a:extLst>
            </p:cNvPr>
            <p:cNvSpPr/>
            <p:nvPr/>
          </p:nvSpPr>
          <p:spPr>
            <a:xfrm>
              <a:off x="7360438" y="3234415"/>
              <a:ext cx="3146158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：框架表达式下沉（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A14B68F-FBA5-4B06-9430-B56E1CD42105}"/>
                </a:ext>
              </a:extLst>
            </p:cNvPr>
            <p:cNvSpPr txBox="1"/>
            <p:nvPr/>
          </p:nvSpPr>
          <p:spPr>
            <a:xfrm>
              <a:off x="5407426" y="3525306"/>
              <a:ext cx="6376959" cy="10545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正则清洗下沉：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HTML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、链接、版权文本清洗转换为原生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regexp_replace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，消除逐行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UDF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调用和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re.sub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字符串变换下沉：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将标点替换、空白归一化转换为原生替换与裁剪表达式，交给框架处理整列字符串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过滤与统计下沉：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将长度判断、启发式语言评分转换为长度、字符计数、比较等表达式，减少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列表、字典及评分循环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AA47F9C8-4C34-44B6-8545-B74C1A4A2636}"/>
              </a:ext>
            </a:extLst>
          </p:cNvPr>
          <p:cNvGrpSpPr/>
          <p:nvPr/>
        </p:nvGrpSpPr>
        <p:grpSpPr>
          <a:xfrm>
            <a:off x="354193" y="4236185"/>
            <a:ext cx="7466332" cy="1532956"/>
            <a:chOff x="5383363" y="4709801"/>
            <a:chExt cx="6467718" cy="1533555"/>
          </a:xfrm>
        </p:grpSpPr>
        <p:sp>
          <p:nvSpPr>
            <p:cNvPr id="43" name="Rounded Rectangle 85">
              <a:extLst>
                <a:ext uri="{FF2B5EF4-FFF2-40B4-BE49-F238E27FC236}">
                  <a16:creationId xmlns:a16="http://schemas.microsoft.com/office/drawing/2014/main" id="{9BFCBB3F-8624-46A7-B424-15B2C57A4B91}"/>
                </a:ext>
              </a:extLst>
            </p:cNvPr>
            <p:cNvSpPr/>
            <p:nvPr/>
          </p:nvSpPr>
          <p:spPr bwMode="auto">
            <a:xfrm>
              <a:off x="5383363" y="4850949"/>
              <a:ext cx="6467718" cy="1392407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6" name="矩形 187">
              <a:extLst>
                <a:ext uri="{FF2B5EF4-FFF2-40B4-BE49-F238E27FC236}">
                  <a16:creationId xmlns:a16="http://schemas.microsoft.com/office/drawing/2014/main" id="{AC681294-C3B1-48B3-9FF8-231795E0E45A}"/>
                </a:ext>
              </a:extLst>
            </p:cNvPr>
            <p:cNvSpPr/>
            <p:nvPr/>
          </p:nvSpPr>
          <p:spPr>
            <a:xfrm>
              <a:off x="7335905" y="4709801"/>
              <a:ext cx="3420829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3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Guarded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批量执行（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8E9CC05-566D-40D0-A066-B497A71EB19F}"/>
                </a:ext>
              </a:extLst>
            </p:cNvPr>
            <p:cNvSpPr txBox="1"/>
            <p:nvPr/>
          </p:nvSpPr>
          <p:spPr>
            <a:xfrm>
              <a:off x="5383363" y="4960635"/>
              <a:ext cx="6294899" cy="1216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en-US" altLang="zh-CN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批入口与编译批循环：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一次接收整批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数据，通过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CinderX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编译的批循环执行，摊薄逐行调用、包装和数据转换成本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守卫结果缓存：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在输入及依赖满足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guard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条件时，复用重复输入对应的结果，减少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索引查询、业务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JSON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构造等重复工作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字典去重与结果重建：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对适用批次先提取唯一输入，仅计算唯一值，再通过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 take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恢复完整结果列，进一步减少计算量和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对象物化</a:t>
              </a:r>
              <a:endPara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箭头: 右 3">
            <a:extLst>
              <a:ext uri="{FF2B5EF4-FFF2-40B4-BE49-F238E27FC236}">
                <a16:creationId xmlns:a16="http://schemas.microsoft.com/office/drawing/2014/main" id="{003F4684-0C6F-4A5B-AD0F-1A8931FADDB2}"/>
              </a:ext>
            </a:extLst>
          </p:cNvPr>
          <p:cNvSpPr/>
          <p:nvPr/>
        </p:nvSpPr>
        <p:spPr>
          <a:xfrm>
            <a:off x="8013881" y="1733742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8" name="Rounded Rectangle 85">
            <a:extLst>
              <a:ext uri="{FF2B5EF4-FFF2-40B4-BE49-F238E27FC236}">
                <a16:creationId xmlns:a16="http://schemas.microsoft.com/office/drawing/2014/main" id="{75C73469-D067-4D3A-89CB-60CA6BAE66A4}"/>
              </a:ext>
            </a:extLst>
          </p:cNvPr>
          <p:cNvSpPr/>
          <p:nvPr/>
        </p:nvSpPr>
        <p:spPr bwMode="auto">
          <a:xfrm>
            <a:off x="9016410" y="1451845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1.28x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49" name="箭头: 右 48">
            <a:extLst>
              <a:ext uri="{FF2B5EF4-FFF2-40B4-BE49-F238E27FC236}">
                <a16:creationId xmlns:a16="http://schemas.microsoft.com/office/drawing/2014/main" id="{ECA72DE3-DBC8-4509-9F3E-9B3D561018BB}"/>
              </a:ext>
            </a:extLst>
          </p:cNvPr>
          <p:cNvSpPr/>
          <p:nvPr/>
        </p:nvSpPr>
        <p:spPr>
          <a:xfrm>
            <a:off x="8013881" y="4837657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0" name="Rounded Rectangle 85">
            <a:extLst>
              <a:ext uri="{FF2B5EF4-FFF2-40B4-BE49-F238E27FC236}">
                <a16:creationId xmlns:a16="http://schemas.microsoft.com/office/drawing/2014/main" id="{102321EE-F705-4015-8B1F-99B25051214B}"/>
              </a:ext>
            </a:extLst>
          </p:cNvPr>
          <p:cNvSpPr/>
          <p:nvPr/>
        </p:nvSpPr>
        <p:spPr bwMode="auto">
          <a:xfrm>
            <a:off x="9016410" y="4555760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nuScenes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AD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1.44x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37AF5D98-FE74-4CFA-9B53-A3582680F92D}"/>
              </a:ext>
            </a:extLst>
          </p:cNvPr>
          <p:cNvSpPr/>
          <p:nvPr/>
        </p:nvSpPr>
        <p:spPr>
          <a:xfrm>
            <a:off x="8013881" y="3150233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2" name="Rounded Rectangle 85">
            <a:extLst>
              <a:ext uri="{FF2B5EF4-FFF2-40B4-BE49-F238E27FC236}">
                <a16:creationId xmlns:a16="http://schemas.microsoft.com/office/drawing/2014/main" id="{222443CF-E185-449F-AC0E-F729C739F82D}"/>
              </a:ext>
            </a:extLst>
          </p:cNvPr>
          <p:cNvSpPr/>
          <p:nvPr/>
        </p:nvSpPr>
        <p:spPr bwMode="auto">
          <a:xfrm>
            <a:off x="9016410" y="2868336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2.37x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59860" y="386715"/>
            <a:ext cx="10736446" cy="521703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C00000"/>
                </a:solidFill>
              </a:rPr>
              <a:t>Rust </a:t>
            </a:r>
            <a:r>
              <a:rPr lang="zh-CN" altLang="en-US" dirty="0">
                <a:solidFill>
                  <a:srgbClr val="C00000"/>
                </a:solidFill>
              </a:rPr>
              <a:t>编译器</a:t>
            </a:r>
            <a:r>
              <a:rPr lang="en-US" altLang="zh-CN" dirty="0">
                <a:solidFill>
                  <a:srgbClr val="C00000"/>
                </a:solidFill>
              </a:rPr>
              <a:t>/</a:t>
            </a:r>
            <a:r>
              <a:rPr lang="zh-CN" altLang="en-US" dirty="0">
                <a:solidFill>
                  <a:srgbClr val="C00000"/>
                </a:solidFill>
              </a:rPr>
              <a:t>语言性能优化技术点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2" name="矩形 11"/>
          <p:cNvSpPr/>
          <p:nvPr/>
        </p:nvSpPr>
        <p:spPr>
          <a:xfrm>
            <a:off x="5175620" y="130726"/>
            <a:ext cx="2892491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zh-CN" altLang="en-US" sz="1799" b="1" dirty="0">
                <a:solidFill>
                  <a:srgbClr val="221815"/>
                </a:solidFill>
                <a:latin typeface="Calibri"/>
                <a:ea typeface="等线" panose="02010600030101010101" pitchFamily="2" charset="-122"/>
              </a:rPr>
              <a:t>隋致远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083A27-A996-4F70-AFB5-612249155C76}"/>
              </a:ext>
            </a:extLst>
          </p:cNvPr>
          <p:cNvGrpSpPr/>
          <p:nvPr/>
        </p:nvGrpSpPr>
        <p:grpSpPr>
          <a:xfrm>
            <a:off x="6290673" y="2035054"/>
            <a:ext cx="5443330" cy="636904"/>
            <a:chOff x="5496864" y="2224224"/>
            <a:chExt cx="5445456" cy="637153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34A565B-C7E8-4B4F-9861-538547FD0134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498B1E8C-D8F8-4C47-94A9-1DDCADF9835E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>
                <a:extLst>
                  <a:ext uri="{FF2B5EF4-FFF2-40B4-BE49-F238E27FC236}">
                    <a16:creationId xmlns:a16="http://schemas.microsoft.com/office/drawing/2014/main" id="{DF49D79D-D13B-4695-AE4E-F752542C5F7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2E6A7621-C169-434F-A304-A0F84D56EEB1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F3889025-5173-4656-91CA-A658F718FC29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>
                <a:extLst>
                  <a:ext uri="{FF2B5EF4-FFF2-40B4-BE49-F238E27FC236}">
                    <a16:creationId xmlns:a16="http://schemas.microsoft.com/office/drawing/2014/main" id="{E7E01BF8-6062-4ED7-A08C-ED0BC4B6E390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1A993B8-74BA-4225-9EFA-84D7EE4EA711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DA3FDEEC-2D95-42B3-9975-C3C54EB4C8AF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>
                <a:extLst>
                  <a:ext uri="{FF2B5EF4-FFF2-40B4-BE49-F238E27FC236}">
                    <a16:creationId xmlns:a16="http://schemas.microsoft.com/office/drawing/2014/main" id="{3877764A-8C60-4AB7-B320-94DC8E9676C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4C292E54-B458-41AA-AE47-A37342EE48E6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>
              <a:extLst>
                <a:ext uri="{FF2B5EF4-FFF2-40B4-BE49-F238E27FC236}">
                  <a16:creationId xmlns:a16="http://schemas.microsoft.com/office/drawing/2014/main" id="{CD7DE16F-0ACA-457E-904F-EF377AF923C1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554F5679-3A50-4A93-A9D9-D1448114C870}"/>
              </a:ext>
            </a:extLst>
          </p:cNvPr>
          <p:cNvGrpSpPr/>
          <p:nvPr/>
        </p:nvGrpSpPr>
        <p:grpSpPr>
          <a:xfrm>
            <a:off x="7148892" y="2861309"/>
            <a:ext cx="1453556" cy="530767"/>
            <a:chOff x="8161910" y="5016248"/>
            <a:chExt cx="2196000" cy="54000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A37938B-8A25-4FDA-AC94-706B36D2FA98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4034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>
              <a:extLst>
                <a:ext uri="{FF2B5EF4-FFF2-40B4-BE49-F238E27FC236}">
                  <a16:creationId xmlns:a16="http://schemas.microsoft.com/office/drawing/2014/main" id="{9781EEEC-83DA-4AF1-8236-B785096EB612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1BCC86B9-E9F3-483B-AAC3-818181DA04DF}"/>
              </a:ext>
            </a:extLst>
          </p:cNvPr>
          <p:cNvGrpSpPr/>
          <p:nvPr/>
        </p:nvGrpSpPr>
        <p:grpSpPr>
          <a:xfrm>
            <a:off x="8676444" y="2865465"/>
            <a:ext cx="1453556" cy="530767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805A5523-7F0E-41DB-A0B0-E078095B3C6C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>
              <a:extLst>
                <a:ext uri="{FF2B5EF4-FFF2-40B4-BE49-F238E27FC236}">
                  <a16:creationId xmlns:a16="http://schemas.microsoft.com/office/drawing/2014/main" id="{D77ED6DC-A15A-40F1-99AA-D405DAA0C7BE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D85EF827-0354-4FDC-8A8C-861AFF114C8C}"/>
              </a:ext>
            </a:extLst>
          </p:cNvPr>
          <p:cNvSpPr/>
          <p:nvPr/>
        </p:nvSpPr>
        <p:spPr>
          <a:xfrm>
            <a:off x="7106237" y="2808241"/>
            <a:ext cx="3086468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37D0A95E-F0F6-48AD-AB4D-E434BFE47542}"/>
              </a:ext>
            </a:extLst>
          </p:cNvPr>
          <p:cNvSpPr/>
          <p:nvPr/>
        </p:nvSpPr>
        <p:spPr>
          <a:xfrm>
            <a:off x="6290673" y="2806518"/>
            <a:ext cx="743826" cy="636904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F01254-9A84-4737-A62B-5369E7968815}"/>
              </a:ext>
            </a:extLst>
          </p:cNvPr>
          <p:cNvGrpSpPr/>
          <p:nvPr/>
        </p:nvGrpSpPr>
        <p:grpSpPr>
          <a:xfrm>
            <a:off x="6290674" y="3653240"/>
            <a:ext cx="5446717" cy="636903"/>
            <a:chOff x="5496864" y="3705878"/>
            <a:chExt cx="5448845" cy="637152"/>
          </a:xfrm>
        </p:grpSpPr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0F79FCD9-2D4F-4A55-86CD-492DF80EBED7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AA6DF089-9E2A-4AFB-B90A-362929E071CB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>
                <a:extLst>
                  <a:ext uri="{FF2B5EF4-FFF2-40B4-BE49-F238E27FC236}">
                    <a16:creationId xmlns:a16="http://schemas.microsoft.com/office/drawing/2014/main" id="{CC4CBC7D-4BD6-4D36-9FD2-6D84708E7EC6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66BBCD3-9577-4080-819B-1830936216B3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7BC661C-6B5B-4F50-954A-423793D3BEB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>
                <a:extLst>
                  <a:ext uri="{FF2B5EF4-FFF2-40B4-BE49-F238E27FC236}">
                    <a16:creationId xmlns:a16="http://schemas.microsoft.com/office/drawing/2014/main" id="{A82C98ED-7DB4-4744-B2B0-48F2FCDBB968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7EEC9BE-6FAD-489B-B6E3-8AF1A462EC5F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>
              <a:extLst>
                <a:ext uri="{FF2B5EF4-FFF2-40B4-BE49-F238E27FC236}">
                  <a16:creationId xmlns:a16="http://schemas.microsoft.com/office/drawing/2014/main" id="{3E2CDFE3-04BE-480D-9B22-433C596C0509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61C6038-C584-46BE-9D1B-48EEF4E0CE5D}"/>
              </a:ext>
            </a:extLst>
          </p:cNvPr>
          <p:cNvGrpSpPr/>
          <p:nvPr/>
        </p:nvGrpSpPr>
        <p:grpSpPr>
          <a:xfrm>
            <a:off x="6290674" y="4547975"/>
            <a:ext cx="5446715" cy="1257053"/>
            <a:chOff x="5496864" y="4493016"/>
            <a:chExt cx="5448843" cy="125754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641D9-FD15-49B4-A6FF-23676D9C482A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>
                <a:extLst>
                  <a:ext uri="{FF2B5EF4-FFF2-40B4-BE49-F238E27FC236}">
                    <a16:creationId xmlns:a16="http://schemas.microsoft.com/office/drawing/2014/main" id="{D245B11C-3085-492C-B842-6D6D55888883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>
                <a:extLst>
                  <a:ext uri="{FF2B5EF4-FFF2-40B4-BE49-F238E27FC236}">
                    <a16:creationId xmlns:a16="http://schemas.microsoft.com/office/drawing/2014/main" id="{FEE85515-F860-42FF-A254-0336A4E5968A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1AA23C8-1FB4-47C2-80E6-5288B1158FE9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A374DCB2-ADA1-48F6-AAB0-8240C2C0E55E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>
                <a:extLst>
                  <a:ext uri="{FF2B5EF4-FFF2-40B4-BE49-F238E27FC236}">
                    <a16:creationId xmlns:a16="http://schemas.microsoft.com/office/drawing/2014/main" id="{9B4872D8-D48C-40F1-A22C-75C432EC01BA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>
                <a:extLst>
                  <a:ext uri="{FF2B5EF4-FFF2-40B4-BE49-F238E27FC236}">
                    <a16:creationId xmlns:a16="http://schemas.microsoft.com/office/drawing/2014/main" id="{A160BF13-4292-4950-8B95-7983B3749CFD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55D0C2B3-C95E-495B-9914-090F703DF6A2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AC0C0D02-39C6-4170-AC07-B2398EA4828F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>
                <a:extLst>
                  <a:ext uri="{FF2B5EF4-FFF2-40B4-BE49-F238E27FC236}">
                    <a16:creationId xmlns:a16="http://schemas.microsoft.com/office/drawing/2014/main" id="{1AF87D31-4673-4D42-932D-9EEF9CBA81C7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D032799A-4721-426A-80DD-B09E70E2E13C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001EDBB0-4A1A-4006-8D77-F36F8E5F3E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>
                <a:extLst>
                  <a:ext uri="{FF2B5EF4-FFF2-40B4-BE49-F238E27FC236}">
                    <a16:creationId xmlns:a16="http://schemas.microsoft.com/office/drawing/2014/main" id="{C49F2450-3E04-47BC-9A04-E62717BB42C2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>
                <a:extLst>
                  <a:ext uri="{FF2B5EF4-FFF2-40B4-BE49-F238E27FC236}">
                    <a16:creationId xmlns:a16="http://schemas.microsoft.com/office/drawing/2014/main" id="{88699654-4B3D-4D0C-8556-F8555FDC6E07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3FE03724-B0E0-4679-8A2B-7CC10F5B1AB5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B632FE6D-81A7-4946-8FCE-9965CE34A5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>
                <a:extLst>
                  <a:ext uri="{FF2B5EF4-FFF2-40B4-BE49-F238E27FC236}">
                    <a16:creationId xmlns:a16="http://schemas.microsoft.com/office/drawing/2014/main" id="{B8CA79FC-F096-444E-BE0B-DEFCDCFA534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>
                <a:extLst>
                  <a:ext uri="{FF2B5EF4-FFF2-40B4-BE49-F238E27FC236}">
                    <a16:creationId xmlns:a16="http://schemas.microsoft.com/office/drawing/2014/main" id="{2BB6F4EE-C564-4CCA-8726-9AF306ECA028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6F2337C5-B31A-4D49-8634-A4B76DAD5B29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DD8B2B98-BA29-4742-9832-2D89D66A3C18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>
                <a:extLst>
                  <a:ext uri="{FF2B5EF4-FFF2-40B4-BE49-F238E27FC236}">
                    <a16:creationId xmlns:a16="http://schemas.microsoft.com/office/drawing/2014/main" id="{DBBCCA49-581F-4114-B7D2-52FD2A4823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>
              <a:extLst>
                <a:ext uri="{FF2B5EF4-FFF2-40B4-BE49-F238E27FC236}">
                  <a16:creationId xmlns:a16="http://schemas.microsoft.com/office/drawing/2014/main" id="{72A787DD-0048-4062-AE1D-C2CAF02B2A8F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>
              <a:extLst>
                <a:ext uri="{FF2B5EF4-FFF2-40B4-BE49-F238E27FC236}">
                  <a16:creationId xmlns:a16="http://schemas.microsoft.com/office/drawing/2014/main" id="{EE87CFB5-C290-4E3E-B310-FCF230FD272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0234D3B-A924-42C3-8EE6-EC968AE44406}"/>
              </a:ext>
            </a:extLst>
          </p:cNvPr>
          <p:cNvGrpSpPr/>
          <p:nvPr/>
        </p:nvGrpSpPr>
        <p:grpSpPr>
          <a:xfrm>
            <a:off x="6290673" y="1384826"/>
            <a:ext cx="5443804" cy="425717"/>
            <a:chOff x="5496390" y="1314864"/>
            <a:chExt cx="5445930" cy="425883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7B7C9AAE-12F8-427C-947A-30AE39424BA9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1FFA3AC-F4FA-4AF5-BF55-FC371D5F7645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F85F675-A78F-460A-BEBB-5441FFE9202D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D1AFB5-6621-4C30-A36F-F290618FD9A5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3E463A8-0F3D-4AE6-B586-7EAF28911040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FAAA0EF-B6C0-494B-8780-82437240963D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C5789BD-1CF7-4F98-817C-9C7BC0A5780E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5F5C9712-056F-4B33-892F-CB4E7CE341FC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D8DA8F9E-CDEA-433B-955A-6DA7516CC4D2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1BAFB56F-1209-441F-A98E-8F2375530C96}"/>
              </a:ext>
            </a:extLst>
          </p:cNvPr>
          <p:cNvCxnSpPr>
            <a:cxnSpLocks/>
            <a:stCxn id="108" idx="2"/>
            <a:endCxn id="113" idx="3"/>
          </p:cNvCxnSpPr>
          <p:nvPr/>
        </p:nvCxnSpPr>
        <p:spPr>
          <a:xfrm rot="5400000">
            <a:off x="8476192" y="3658104"/>
            <a:ext cx="363966" cy="1521907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186D1974-E5C3-445D-B547-260BB7631CB1}"/>
              </a:ext>
            </a:extLst>
          </p:cNvPr>
          <p:cNvCxnSpPr>
            <a:cxnSpLocks/>
            <a:stCxn id="108" idx="2"/>
            <a:endCxn id="121" idx="3"/>
          </p:cNvCxnSpPr>
          <p:nvPr/>
        </p:nvCxnSpPr>
        <p:spPr>
          <a:xfrm rot="16200000" flipH="1">
            <a:off x="9998099" y="3658102"/>
            <a:ext cx="363966" cy="152190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>
            <a:extLst>
              <a:ext uri="{FF2B5EF4-FFF2-40B4-BE49-F238E27FC236}">
                <a16:creationId xmlns:a16="http://schemas.microsoft.com/office/drawing/2014/main" id="{F4B3D31E-8E36-45E3-9C34-999EEE8F0A2D}"/>
              </a:ext>
            </a:extLst>
          </p:cNvPr>
          <p:cNvCxnSpPr>
            <a:cxnSpLocks/>
            <a:stCxn id="108" idx="2"/>
            <a:endCxn id="137" idx="0"/>
          </p:cNvCxnSpPr>
          <p:nvPr/>
        </p:nvCxnSpPr>
        <p:spPr>
          <a:xfrm rot="16200000" flipH="1">
            <a:off x="9265020" y="4391181"/>
            <a:ext cx="310902" cy="26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7C055E3-0E35-46E1-8FFC-A6FEED3505CD}"/>
              </a:ext>
            </a:extLst>
          </p:cNvPr>
          <p:cNvCxnSpPr>
            <a:stCxn id="105" idx="3"/>
            <a:endCxn id="108" idx="1"/>
          </p:cNvCxnSpPr>
          <p:nvPr/>
        </p:nvCxnSpPr>
        <p:spPr>
          <a:xfrm>
            <a:off x="8624000" y="3971692"/>
            <a:ext cx="68350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F7AC7674-3D19-4F5A-8CD7-E061E115301A}"/>
              </a:ext>
            </a:extLst>
          </p:cNvPr>
          <p:cNvCxnSpPr>
            <a:cxnSpLocks/>
            <a:stCxn id="78" idx="1"/>
            <a:endCxn id="66" idx="3"/>
          </p:cNvCxnSpPr>
          <p:nvPr/>
        </p:nvCxnSpPr>
        <p:spPr>
          <a:xfrm flipH="1" flipV="1">
            <a:off x="8602448" y="3126694"/>
            <a:ext cx="73996" cy="4156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C0D8C8B-0A87-4455-BB80-4D5A1826D527}"/>
              </a:ext>
            </a:extLst>
          </p:cNvPr>
          <p:cNvCxnSpPr>
            <a:cxnSpLocks/>
          </p:cNvCxnSpPr>
          <p:nvPr/>
        </p:nvCxnSpPr>
        <p:spPr>
          <a:xfrm>
            <a:off x="10145906" y="3115880"/>
            <a:ext cx="68351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359859" y="1446779"/>
            <a:ext cx="5793299" cy="482271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107958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608486" y="1731650"/>
            <a:ext cx="5384318" cy="45378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88929BDB-D8B5-4A52-91A5-748012D5C81E}"/>
              </a:ext>
            </a:extLst>
          </p:cNvPr>
          <p:cNvSpPr txBox="1"/>
          <p:nvPr/>
        </p:nvSpPr>
        <p:spPr>
          <a:xfrm>
            <a:off x="8523871" y="2597035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B6ABAF2-653C-43E5-9A09-1D4AF9864030}"/>
              </a:ext>
            </a:extLst>
          </p:cNvPr>
          <p:cNvSpPr txBox="1"/>
          <p:nvPr/>
        </p:nvSpPr>
        <p:spPr>
          <a:xfrm>
            <a:off x="7187528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3A5E7D2-1E02-4011-8FC1-B57EBD6DCE77}"/>
              </a:ext>
            </a:extLst>
          </p:cNvPr>
          <p:cNvSpPr txBox="1"/>
          <p:nvPr/>
        </p:nvSpPr>
        <p:spPr>
          <a:xfrm>
            <a:off x="7387064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A07E426-F7FE-4B23-8F24-647359E3B206}"/>
              </a:ext>
            </a:extLst>
          </p:cNvPr>
          <p:cNvSpPr txBox="1"/>
          <p:nvPr/>
        </p:nvSpPr>
        <p:spPr>
          <a:xfrm>
            <a:off x="7551775" y="3658824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089DDA96-4E1C-42EC-AC89-50F048489F28}"/>
              </a:ext>
            </a:extLst>
          </p:cNvPr>
          <p:cNvGrpSpPr/>
          <p:nvPr/>
        </p:nvGrpSpPr>
        <p:grpSpPr>
          <a:xfrm>
            <a:off x="10264444" y="2850496"/>
            <a:ext cx="1403368" cy="530767"/>
            <a:chOff x="8161910" y="5016248"/>
            <a:chExt cx="2196000" cy="540003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76998438-E977-46E5-94A1-0AD15962B5B4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>
              <a:extLst>
                <a:ext uri="{FF2B5EF4-FFF2-40B4-BE49-F238E27FC236}">
                  <a16:creationId xmlns:a16="http://schemas.microsoft.com/office/drawing/2014/main" id="{85839E5B-23F8-4B26-B56A-5B05CC6B66C4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5D356CC-0CAA-49BA-BF3B-03976F2A1858}"/>
              </a:ext>
            </a:extLst>
          </p:cNvPr>
          <p:cNvSpPr/>
          <p:nvPr/>
        </p:nvSpPr>
        <p:spPr>
          <a:xfrm>
            <a:off x="10235808" y="2802657"/>
            <a:ext cx="1500052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FC8A0D0-9B0E-48F9-8A96-FC0058D6947D}"/>
              </a:ext>
            </a:extLst>
          </p:cNvPr>
          <p:cNvSpPr txBox="1"/>
          <p:nvPr/>
        </p:nvSpPr>
        <p:spPr>
          <a:xfrm>
            <a:off x="10233073" y="2806407"/>
            <a:ext cx="179536" cy="2153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D7C40C7-9389-440F-9595-098C3752A7A1}"/>
              </a:ext>
            </a:extLst>
          </p:cNvPr>
          <p:cNvCxnSpPr>
            <a:stCxn id="57" idx="2"/>
            <a:endCxn id="79" idx="3"/>
          </p:cNvCxnSpPr>
          <p:nvPr/>
        </p:nvCxnSpPr>
        <p:spPr>
          <a:xfrm rot="16200000" flipH="1">
            <a:off x="8528643" y="1990886"/>
            <a:ext cx="243156" cy="1506001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3F8D951A-4DB2-4F80-B91E-C0E694556FBC}"/>
              </a:ext>
            </a:extLst>
          </p:cNvPr>
          <p:cNvCxnSpPr>
            <a:stCxn id="106" idx="3"/>
            <a:endCxn id="78" idx="2"/>
          </p:cNvCxnSpPr>
          <p:nvPr/>
        </p:nvCxnSpPr>
        <p:spPr>
          <a:xfrm rot="5400000" flipH="1" flipV="1">
            <a:off x="8495185" y="2798270"/>
            <a:ext cx="310075" cy="1506000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62100" y="316656"/>
            <a:ext cx="11369702" cy="521499"/>
          </a:xfrm>
        </p:spPr>
        <p:txBody>
          <a:bodyPr>
            <a:normAutofit fontScale="92500"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优化 </a:t>
            </a:r>
            <a:r>
              <a:rPr lang="en-US" altLang="zh-CN" dirty="0">
                <a:solidFill>
                  <a:srgbClr val="C00000"/>
                </a:solidFill>
              </a:rPr>
              <a:t>Daft </a:t>
            </a:r>
            <a:r>
              <a:rPr lang="zh-CN" altLang="en-US" dirty="0">
                <a:solidFill>
                  <a:srgbClr val="C00000"/>
                </a:solidFill>
              </a:rPr>
              <a:t>实现，充分利用向量化，访存预取以及</a:t>
            </a:r>
            <a:r>
              <a:rPr lang="en-US" altLang="zh-CN" dirty="0">
                <a:solidFill>
                  <a:srgbClr val="C00000"/>
                </a:solidFill>
              </a:rPr>
              <a:t>Kunpeng</a:t>
            </a:r>
            <a:r>
              <a:rPr lang="zh-CN" altLang="en-US" dirty="0">
                <a:solidFill>
                  <a:srgbClr val="C00000"/>
                </a:solidFill>
              </a:rPr>
              <a:t>线程能力，实现端到端提升</a:t>
            </a:r>
            <a:r>
              <a:rPr lang="en-US" altLang="zh-CN" dirty="0">
                <a:solidFill>
                  <a:srgbClr val="C00000"/>
                </a:solidFill>
              </a:rPr>
              <a:t>5%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8927512" y="20106"/>
            <a:ext cx="3248665" cy="171065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083A27-A996-4F70-AFB5-612249155C76}"/>
              </a:ext>
            </a:extLst>
          </p:cNvPr>
          <p:cNvGrpSpPr/>
          <p:nvPr/>
        </p:nvGrpSpPr>
        <p:grpSpPr>
          <a:xfrm>
            <a:off x="6290597" y="2035598"/>
            <a:ext cx="5441205" cy="636655"/>
            <a:chOff x="5496864" y="2224224"/>
            <a:chExt cx="5445456" cy="637153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34A565B-C7E8-4B4F-9861-538547FD0134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498B1E8C-D8F8-4C47-94A9-1DDCADF9835E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>
                <a:extLst>
                  <a:ext uri="{FF2B5EF4-FFF2-40B4-BE49-F238E27FC236}">
                    <a16:creationId xmlns:a16="http://schemas.microsoft.com/office/drawing/2014/main" id="{DF49D79D-D13B-4695-AE4E-F752542C5F7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2E6A7621-C169-434F-A304-A0F84D56EEB1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F3889025-5173-4656-91CA-A658F718FC29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>
                <a:extLst>
                  <a:ext uri="{FF2B5EF4-FFF2-40B4-BE49-F238E27FC236}">
                    <a16:creationId xmlns:a16="http://schemas.microsoft.com/office/drawing/2014/main" id="{E7E01BF8-6062-4ED7-A08C-ED0BC4B6E390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1A993B8-74BA-4225-9EFA-84D7EE4EA711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DA3FDEEC-2D95-42B3-9975-C3C54EB4C8AF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>
                <a:extLst>
                  <a:ext uri="{FF2B5EF4-FFF2-40B4-BE49-F238E27FC236}">
                    <a16:creationId xmlns:a16="http://schemas.microsoft.com/office/drawing/2014/main" id="{3877764A-8C60-4AB7-B320-94DC8E9676C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4C292E54-B458-41AA-AE47-A37342EE48E6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>
              <a:extLst>
                <a:ext uri="{FF2B5EF4-FFF2-40B4-BE49-F238E27FC236}">
                  <a16:creationId xmlns:a16="http://schemas.microsoft.com/office/drawing/2014/main" id="{CD7DE16F-0ACA-457E-904F-EF377AF923C1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554F5679-3A50-4A93-A9D9-D1448114C870}"/>
              </a:ext>
            </a:extLst>
          </p:cNvPr>
          <p:cNvGrpSpPr/>
          <p:nvPr/>
        </p:nvGrpSpPr>
        <p:grpSpPr>
          <a:xfrm>
            <a:off x="7148481" y="2861532"/>
            <a:ext cx="1452988" cy="530560"/>
            <a:chOff x="8161910" y="5016248"/>
            <a:chExt cx="2196000" cy="54000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A37938B-8A25-4FDA-AC94-706B36D2FA98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3668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>
              <a:extLst>
                <a:ext uri="{FF2B5EF4-FFF2-40B4-BE49-F238E27FC236}">
                  <a16:creationId xmlns:a16="http://schemas.microsoft.com/office/drawing/2014/main" id="{9781EEEC-83DA-4AF1-8236-B785096EB612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1BCC86B9-E9F3-483B-AAC3-818181DA04DF}"/>
              </a:ext>
            </a:extLst>
          </p:cNvPr>
          <p:cNvGrpSpPr/>
          <p:nvPr/>
        </p:nvGrpSpPr>
        <p:grpSpPr>
          <a:xfrm>
            <a:off x="8675437" y="2865686"/>
            <a:ext cx="1452988" cy="530560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805A5523-7F0E-41DB-A0B0-E078095B3C6C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>
              <a:extLst>
                <a:ext uri="{FF2B5EF4-FFF2-40B4-BE49-F238E27FC236}">
                  <a16:creationId xmlns:a16="http://schemas.microsoft.com/office/drawing/2014/main" id="{D77ED6DC-A15A-40F1-99AA-D405DAA0C7BE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D85EF827-0354-4FDC-8A8C-861AFF114C8C}"/>
              </a:ext>
            </a:extLst>
          </p:cNvPr>
          <p:cNvSpPr/>
          <p:nvPr/>
        </p:nvSpPr>
        <p:spPr>
          <a:xfrm>
            <a:off x="7105842" y="2808484"/>
            <a:ext cx="3085263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37D0A95E-F0F6-48AD-AB4D-E434BFE47542}"/>
              </a:ext>
            </a:extLst>
          </p:cNvPr>
          <p:cNvSpPr/>
          <p:nvPr/>
        </p:nvSpPr>
        <p:spPr>
          <a:xfrm>
            <a:off x="6290597" y="2806761"/>
            <a:ext cx="743536" cy="636655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<a:noAutofit/>
          </a:bodyPr>
          <a:lstStyle/>
          <a:p>
            <a:pPr algn="ctr" defTabSz="913668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F01254-9A84-4737-A62B-5369E7968815}"/>
              </a:ext>
            </a:extLst>
          </p:cNvPr>
          <p:cNvGrpSpPr/>
          <p:nvPr/>
        </p:nvGrpSpPr>
        <p:grpSpPr>
          <a:xfrm>
            <a:off x="6290600" y="3653154"/>
            <a:ext cx="5444590" cy="636654"/>
            <a:chOff x="5496864" y="3705878"/>
            <a:chExt cx="5448845" cy="637152"/>
          </a:xfrm>
        </p:grpSpPr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0F79FCD9-2D4F-4A55-86CD-492DF80EBED7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AA6DF089-9E2A-4AFB-B90A-362929E071CB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>
                <a:extLst>
                  <a:ext uri="{FF2B5EF4-FFF2-40B4-BE49-F238E27FC236}">
                    <a16:creationId xmlns:a16="http://schemas.microsoft.com/office/drawing/2014/main" id="{CC4CBC7D-4BD6-4D36-9FD2-6D84708E7EC6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66BBCD3-9577-4080-819B-1830936216B3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7BC661C-6B5B-4F50-954A-423793D3BEB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>
                <a:extLst>
                  <a:ext uri="{FF2B5EF4-FFF2-40B4-BE49-F238E27FC236}">
                    <a16:creationId xmlns:a16="http://schemas.microsoft.com/office/drawing/2014/main" id="{A82C98ED-7DB4-4744-B2B0-48F2FCDBB968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7EEC9BE-6FAD-489B-B6E3-8AF1A462EC5F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>
              <a:extLst>
                <a:ext uri="{FF2B5EF4-FFF2-40B4-BE49-F238E27FC236}">
                  <a16:creationId xmlns:a16="http://schemas.microsoft.com/office/drawing/2014/main" id="{3E2CDFE3-04BE-480D-9B22-433C596C0509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61C6038-C584-46BE-9D1B-48EEF4E0CE5D}"/>
              </a:ext>
            </a:extLst>
          </p:cNvPr>
          <p:cNvGrpSpPr/>
          <p:nvPr/>
        </p:nvGrpSpPr>
        <p:grpSpPr>
          <a:xfrm>
            <a:off x="6290600" y="4547540"/>
            <a:ext cx="5444588" cy="1256562"/>
            <a:chOff x="5496864" y="4493016"/>
            <a:chExt cx="5448843" cy="125754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641D9-FD15-49B4-A6FF-23676D9C482A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>
                <a:extLst>
                  <a:ext uri="{FF2B5EF4-FFF2-40B4-BE49-F238E27FC236}">
                    <a16:creationId xmlns:a16="http://schemas.microsoft.com/office/drawing/2014/main" id="{D245B11C-3085-492C-B842-6D6D55888883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>
                <a:extLst>
                  <a:ext uri="{FF2B5EF4-FFF2-40B4-BE49-F238E27FC236}">
                    <a16:creationId xmlns:a16="http://schemas.microsoft.com/office/drawing/2014/main" id="{FEE85515-F860-42FF-A254-0336A4E5968A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1AA23C8-1FB4-47C2-80E6-5288B1158FE9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A374DCB2-ADA1-48F6-AAB0-8240C2C0E55E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>
                <a:extLst>
                  <a:ext uri="{FF2B5EF4-FFF2-40B4-BE49-F238E27FC236}">
                    <a16:creationId xmlns:a16="http://schemas.microsoft.com/office/drawing/2014/main" id="{9B4872D8-D48C-40F1-A22C-75C432EC01BA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>
                <a:extLst>
                  <a:ext uri="{FF2B5EF4-FFF2-40B4-BE49-F238E27FC236}">
                    <a16:creationId xmlns:a16="http://schemas.microsoft.com/office/drawing/2014/main" id="{A160BF13-4292-4950-8B95-7983B3749CFD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55D0C2B3-C95E-495B-9914-090F703DF6A2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AC0C0D02-39C6-4170-AC07-B2398EA4828F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>
                <a:extLst>
                  <a:ext uri="{FF2B5EF4-FFF2-40B4-BE49-F238E27FC236}">
                    <a16:creationId xmlns:a16="http://schemas.microsoft.com/office/drawing/2014/main" id="{1AF87D31-4673-4D42-932D-9EEF9CBA81C7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D032799A-4721-426A-80DD-B09E70E2E13C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001EDBB0-4A1A-4006-8D77-F36F8E5F3E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>
                <a:extLst>
                  <a:ext uri="{FF2B5EF4-FFF2-40B4-BE49-F238E27FC236}">
                    <a16:creationId xmlns:a16="http://schemas.microsoft.com/office/drawing/2014/main" id="{C49F2450-3E04-47BC-9A04-E62717BB42C2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>
                <a:extLst>
                  <a:ext uri="{FF2B5EF4-FFF2-40B4-BE49-F238E27FC236}">
                    <a16:creationId xmlns:a16="http://schemas.microsoft.com/office/drawing/2014/main" id="{88699654-4B3D-4D0C-8556-F8555FDC6E07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3FE03724-B0E0-4679-8A2B-7CC10F5B1AB5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B632FE6D-81A7-4946-8FCE-9965CE34A5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>
                <a:extLst>
                  <a:ext uri="{FF2B5EF4-FFF2-40B4-BE49-F238E27FC236}">
                    <a16:creationId xmlns:a16="http://schemas.microsoft.com/office/drawing/2014/main" id="{B8CA79FC-F096-444E-BE0B-DEFCDCFA534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>
                <a:extLst>
                  <a:ext uri="{FF2B5EF4-FFF2-40B4-BE49-F238E27FC236}">
                    <a16:creationId xmlns:a16="http://schemas.microsoft.com/office/drawing/2014/main" id="{2BB6F4EE-C564-4CCA-8726-9AF306ECA028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6F2337C5-B31A-4D49-8634-A4B76DAD5B29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DD8B2B98-BA29-4742-9832-2D89D66A3C18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>
                <a:extLst>
                  <a:ext uri="{FF2B5EF4-FFF2-40B4-BE49-F238E27FC236}">
                    <a16:creationId xmlns:a16="http://schemas.microsoft.com/office/drawing/2014/main" id="{DBBCCA49-581F-4114-B7D2-52FD2A4823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>
              <a:extLst>
                <a:ext uri="{FF2B5EF4-FFF2-40B4-BE49-F238E27FC236}">
                  <a16:creationId xmlns:a16="http://schemas.microsoft.com/office/drawing/2014/main" id="{72A787DD-0048-4062-AE1D-C2CAF02B2A8F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>
              <a:extLst>
                <a:ext uri="{FF2B5EF4-FFF2-40B4-BE49-F238E27FC236}">
                  <a16:creationId xmlns:a16="http://schemas.microsoft.com/office/drawing/2014/main" id="{EE87CFB5-C290-4E3E-B310-FCF230FD272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0234D3B-A924-42C3-8EE6-EC968AE44406}"/>
              </a:ext>
            </a:extLst>
          </p:cNvPr>
          <p:cNvGrpSpPr/>
          <p:nvPr/>
        </p:nvGrpSpPr>
        <p:grpSpPr>
          <a:xfrm>
            <a:off x="6290597" y="1385626"/>
            <a:ext cx="5441678" cy="425551"/>
            <a:chOff x="5496390" y="1314864"/>
            <a:chExt cx="5445930" cy="425883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7B7C9AAE-12F8-427C-947A-30AE39424BA9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1FFA3AC-F4FA-4AF5-BF55-FC371D5F7645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F85F675-A78F-460A-BEBB-5441FFE9202D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D1AFB5-6621-4C30-A36F-F290618FD9A5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3E463A8-0F3D-4AE6-B586-7EAF28911040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FAAA0EF-B6C0-494B-8780-82437240963D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C5789BD-1CF7-4F98-817C-9C7BC0A5780E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5F5C9712-056F-4B33-892F-CB4E7CE341FC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D8DA8F9E-CDEA-433B-955A-6DA7516CC4D2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1BAFB56F-1209-441F-A98E-8F2375530C96}"/>
              </a:ext>
            </a:extLst>
          </p:cNvPr>
          <p:cNvCxnSpPr>
            <a:cxnSpLocks/>
            <a:stCxn id="108" idx="2"/>
            <a:endCxn id="113" idx="3"/>
          </p:cNvCxnSpPr>
          <p:nvPr/>
        </p:nvCxnSpPr>
        <p:spPr>
          <a:xfrm rot="5400000">
            <a:off x="8475263" y="3658016"/>
            <a:ext cx="363824" cy="15213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186D1974-E5C3-445D-B547-260BB7631CB1}"/>
              </a:ext>
            </a:extLst>
          </p:cNvPr>
          <p:cNvCxnSpPr>
            <a:cxnSpLocks/>
            <a:stCxn id="108" idx="2"/>
            <a:endCxn id="121" idx="3"/>
          </p:cNvCxnSpPr>
          <p:nvPr/>
        </p:nvCxnSpPr>
        <p:spPr>
          <a:xfrm rot="16200000" flipH="1">
            <a:off x="9996575" y="3658012"/>
            <a:ext cx="363824" cy="152131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>
            <a:extLst>
              <a:ext uri="{FF2B5EF4-FFF2-40B4-BE49-F238E27FC236}">
                <a16:creationId xmlns:a16="http://schemas.microsoft.com/office/drawing/2014/main" id="{F4B3D31E-8E36-45E3-9C34-999EEE8F0A2D}"/>
              </a:ext>
            </a:extLst>
          </p:cNvPr>
          <p:cNvCxnSpPr>
            <a:cxnSpLocks/>
            <a:stCxn id="108" idx="2"/>
            <a:endCxn id="137" idx="0"/>
          </p:cNvCxnSpPr>
          <p:nvPr/>
        </p:nvCxnSpPr>
        <p:spPr>
          <a:xfrm rot="16200000" flipH="1">
            <a:off x="9263782" y="4390807"/>
            <a:ext cx="310781" cy="268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7C055E3-0E35-46E1-8FFC-A6FEED3505CD}"/>
              </a:ext>
            </a:extLst>
          </p:cNvPr>
          <p:cNvCxnSpPr>
            <a:stCxn id="105" idx="3"/>
            <a:endCxn id="108" idx="1"/>
          </p:cNvCxnSpPr>
          <p:nvPr/>
        </p:nvCxnSpPr>
        <p:spPr>
          <a:xfrm>
            <a:off x="8623013" y="3971480"/>
            <a:ext cx="68323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F7AC7674-3D19-4F5A-8CD7-E061E115301A}"/>
              </a:ext>
            </a:extLst>
          </p:cNvPr>
          <p:cNvCxnSpPr>
            <a:cxnSpLocks/>
            <a:stCxn id="78" idx="1"/>
            <a:endCxn id="66" idx="3"/>
          </p:cNvCxnSpPr>
          <p:nvPr/>
        </p:nvCxnSpPr>
        <p:spPr>
          <a:xfrm flipH="1" flipV="1">
            <a:off x="8601469" y="3126812"/>
            <a:ext cx="73967" cy="4154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C0D8C8B-0A87-4455-BB80-4D5A1826D527}"/>
              </a:ext>
            </a:extLst>
          </p:cNvPr>
          <p:cNvCxnSpPr>
            <a:cxnSpLocks/>
          </p:cNvCxnSpPr>
          <p:nvPr/>
        </p:nvCxnSpPr>
        <p:spPr>
          <a:xfrm>
            <a:off x="10144326" y="3116004"/>
            <a:ext cx="68324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369293" y="1295782"/>
            <a:ext cx="5791037" cy="482083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endParaRPr lang="zh-CN" altLang="en-US" sz="1398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561048" y="1471042"/>
            <a:ext cx="5382216" cy="45360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626" indent="-342626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626" indent="-342626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BoostKit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88929BDB-D8B5-4A52-91A5-748012D5C81E}"/>
              </a:ext>
            </a:extLst>
          </p:cNvPr>
          <p:cNvSpPr txBox="1"/>
          <p:nvPr/>
        </p:nvSpPr>
        <p:spPr>
          <a:xfrm>
            <a:off x="8522923" y="2597360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B6ABAF2-653C-43E5-9A09-1D4AF9864030}"/>
              </a:ext>
            </a:extLst>
          </p:cNvPr>
          <p:cNvSpPr txBox="1"/>
          <p:nvPr/>
        </p:nvSpPr>
        <p:spPr>
          <a:xfrm>
            <a:off x="7187102" y="2827125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3A5E7D2-1E02-4011-8FC1-B57EBD6DCE77}"/>
              </a:ext>
            </a:extLst>
          </p:cNvPr>
          <p:cNvSpPr txBox="1"/>
          <p:nvPr/>
        </p:nvSpPr>
        <p:spPr>
          <a:xfrm>
            <a:off x="7386560" y="2827125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A07E426-F7FE-4B23-8F24-647359E3B206}"/>
              </a:ext>
            </a:extLst>
          </p:cNvPr>
          <p:cNvSpPr txBox="1"/>
          <p:nvPr/>
        </p:nvSpPr>
        <p:spPr>
          <a:xfrm>
            <a:off x="7551207" y="3658734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089DDA96-4E1C-42EC-AC89-50F048489F28}"/>
              </a:ext>
            </a:extLst>
          </p:cNvPr>
          <p:cNvGrpSpPr/>
          <p:nvPr/>
        </p:nvGrpSpPr>
        <p:grpSpPr>
          <a:xfrm>
            <a:off x="10262816" y="2850723"/>
            <a:ext cx="1402820" cy="530560"/>
            <a:chOff x="8161910" y="5016248"/>
            <a:chExt cx="2196000" cy="540003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76998438-E977-46E5-94A1-0AD15962B5B4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>
              <a:extLst>
                <a:ext uri="{FF2B5EF4-FFF2-40B4-BE49-F238E27FC236}">
                  <a16:creationId xmlns:a16="http://schemas.microsoft.com/office/drawing/2014/main" id="{85839E5B-23F8-4B26-B56A-5B05CC6B66C4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5D356CC-0CAA-49BA-BF3B-03976F2A1858}"/>
              </a:ext>
            </a:extLst>
          </p:cNvPr>
          <p:cNvSpPr/>
          <p:nvPr/>
        </p:nvSpPr>
        <p:spPr>
          <a:xfrm>
            <a:off x="10234192" y="2802902"/>
            <a:ext cx="1499466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FC8A0D0-9B0E-48F9-8A96-FC0058D6947D}"/>
              </a:ext>
            </a:extLst>
          </p:cNvPr>
          <p:cNvSpPr txBox="1"/>
          <p:nvPr/>
        </p:nvSpPr>
        <p:spPr>
          <a:xfrm>
            <a:off x="10231458" y="2806652"/>
            <a:ext cx="179466" cy="2152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D7C40C7-9389-440F-9595-098C3752A7A1}"/>
              </a:ext>
            </a:extLst>
          </p:cNvPr>
          <p:cNvCxnSpPr>
            <a:stCxn id="57" idx="2"/>
            <a:endCxn id="79" idx="3"/>
          </p:cNvCxnSpPr>
          <p:nvPr/>
        </p:nvCxnSpPr>
        <p:spPr>
          <a:xfrm rot="16200000" flipH="1">
            <a:off x="8527693" y="1991449"/>
            <a:ext cx="243061" cy="15054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3F8D951A-4DB2-4F80-B91E-C0E694556FBC}"/>
              </a:ext>
            </a:extLst>
          </p:cNvPr>
          <p:cNvCxnSpPr>
            <a:stCxn id="106" idx="3"/>
            <a:endCxn id="78" idx="2"/>
          </p:cNvCxnSpPr>
          <p:nvPr/>
        </p:nvCxnSpPr>
        <p:spPr>
          <a:xfrm rot="5400000" flipH="1" flipV="1">
            <a:off x="8494250" y="2798516"/>
            <a:ext cx="309954" cy="1505412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 90">
            <a:extLst>
              <a:ext uri="{FF2B5EF4-FFF2-40B4-BE49-F238E27FC236}">
                <a16:creationId xmlns:a16="http://schemas.microsoft.com/office/drawing/2014/main" id="{380F58EB-BC35-4E44-8CA8-A64518BA8DA0}"/>
              </a:ext>
            </a:extLst>
          </p:cNvPr>
          <p:cNvSpPr/>
          <p:nvPr/>
        </p:nvSpPr>
        <p:spPr>
          <a:xfrm>
            <a:off x="686458" y="741385"/>
            <a:ext cx="5289888" cy="8674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r>
              <a:rPr lang="en-US" altLang="zh-CN" sz="1799" dirty="0"/>
              <a:t>1.</a:t>
            </a:r>
            <a:r>
              <a:rPr lang="zh-CN" altLang="en-US" sz="1799" dirty="0"/>
              <a:t>缺少进展页，补充，刷新整体里程碑；</a:t>
            </a:r>
            <a:endParaRPr lang="en-US" altLang="zh-CN" sz="1799" dirty="0"/>
          </a:p>
          <a:p>
            <a:r>
              <a:rPr lang="en-US" altLang="zh-CN" sz="1799" dirty="0"/>
              <a:t>2.</a:t>
            </a:r>
            <a:r>
              <a:rPr lang="zh-CN" altLang="en-US" sz="1799" dirty="0"/>
              <a:t>提炼关键技术点，补充鲲鹏技术点，性能贡献；</a:t>
            </a:r>
            <a:endParaRPr lang="en-US" altLang="zh-CN" sz="1799" dirty="0"/>
          </a:p>
          <a:p>
            <a:r>
              <a:rPr lang="en-US" altLang="zh-CN" sz="1799" dirty="0"/>
              <a:t>3.</a:t>
            </a:r>
            <a:r>
              <a:rPr lang="zh-CN" altLang="en-US" sz="1799" dirty="0"/>
              <a:t>运行时统一模块，一句话描述</a:t>
            </a:r>
            <a:endParaRPr lang="en-US" altLang="zh-CN" sz="1799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D3728471-A8E6-4839-B58D-3A95EEE9A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891" y="194332"/>
            <a:ext cx="10736446" cy="993012"/>
          </a:xfrm>
        </p:spPr>
        <p:txBody>
          <a:bodyPr/>
          <a:lstStyle/>
          <a:p>
            <a:r>
              <a:rPr lang="zh-CN" altLang="en-US" dirty="0"/>
              <a:t>优化点列表：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5F70F9F-5060-4148-A3FA-828255BCB09E}"/>
              </a:ext>
            </a:extLst>
          </p:cNvPr>
          <p:cNvGraphicFramePr>
            <a:graphicFrameLocks noGrp="1"/>
          </p:cNvGraphicFramePr>
          <p:nvPr/>
        </p:nvGraphicFramePr>
        <p:xfrm>
          <a:off x="728891" y="690838"/>
          <a:ext cx="10252066" cy="4358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178">
                  <a:extLst>
                    <a:ext uri="{9D8B030D-6E8A-4147-A177-3AD203B41FA5}">
                      <a16:colId xmlns:a16="http://schemas.microsoft.com/office/drawing/2014/main" val="1532287501"/>
                    </a:ext>
                  </a:extLst>
                </a:gridCol>
                <a:gridCol w="3254164">
                  <a:extLst>
                    <a:ext uri="{9D8B030D-6E8A-4147-A177-3AD203B41FA5}">
                      <a16:colId xmlns:a16="http://schemas.microsoft.com/office/drawing/2014/main" val="785370716"/>
                    </a:ext>
                  </a:extLst>
                </a:gridCol>
                <a:gridCol w="2351490">
                  <a:extLst>
                    <a:ext uri="{9D8B030D-6E8A-4147-A177-3AD203B41FA5}">
                      <a16:colId xmlns:a16="http://schemas.microsoft.com/office/drawing/2014/main" val="1726324197"/>
                    </a:ext>
                  </a:extLst>
                </a:gridCol>
                <a:gridCol w="785505">
                  <a:extLst>
                    <a:ext uri="{9D8B030D-6E8A-4147-A177-3AD203B41FA5}">
                      <a16:colId xmlns:a16="http://schemas.microsoft.com/office/drawing/2014/main" val="1721316795"/>
                    </a:ext>
                  </a:extLst>
                </a:gridCol>
                <a:gridCol w="1328219">
                  <a:extLst>
                    <a:ext uri="{9D8B030D-6E8A-4147-A177-3AD203B41FA5}">
                      <a16:colId xmlns:a16="http://schemas.microsoft.com/office/drawing/2014/main" val="2112588803"/>
                    </a:ext>
                  </a:extLst>
                </a:gridCol>
                <a:gridCol w="826510">
                  <a:extLst>
                    <a:ext uri="{9D8B030D-6E8A-4147-A177-3AD203B41FA5}">
                      <a16:colId xmlns:a16="http://schemas.microsoft.com/office/drawing/2014/main" val="3656380313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功能点</a:t>
                      </a: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穿刺实现</a:t>
                      </a: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工作量</a:t>
                      </a: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</a:t>
                      </a:r>
                      <a:r>
                        <a:rPr lang="en-US" altLang="zh-CN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pipeline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备注</a:t>
                      </a:r>
                    </a:p>
                  </a:txBody>
                  <a:tcPr marL="91404" marR="91404" marT="45702" marB="45702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90698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文本归一化优化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融合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(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regexp_replace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+ lower +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regexp_replace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)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三个本步骤，减少中间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parrequest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结构生成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>
                          <a:hlinkClick r:id="rId3"/>
                        </a:rPr>
                        <a:t>pipeline B </a:t>
                      </a:r>
                      <a:r>
                        <a:rPr lang="zh-CN" altLang="en-US" sz="900" dirty="0">
                          <a:hlinkClick r:id="rId3"/>
                        </a:rPr>
                        <a:t>文本归一化优化</a:t>
                      </a:r>
                      <a:r>
                        <a:rPr lang="en-US" altLang="zh-CN" sz="900" dirty="0">
                          <a:hlinkClick r:id="rId3"/>
                        </a:rPr>
                        <a:t>-Daft-</a:t>
                      </a:r>
                      <a:r>
                        <a:rPr lang="en-US" altLang="zh-CN" sz="900" dirty="0" err="1">
                          <a:hlinkClick r:id="rId3"/>
                        </a:rPr>
                        <a:t>AtomGit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6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预处理（相对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3.3% ,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  自提升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28%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）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828507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 err="1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MinHash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替换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SVE2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向量化更新多个签名位置，并批处理最多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8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个哈希值，减少循环和内存访问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>
                          <a:hlinkClick r:id="rId4"/>
                        </a:rPr>
                        <a:t>pipeline B</a:t>
                      </a:r>
                      <a:r>
                        <a:rPr lang="zh-CN" altLang="en-US" sz="900" dirty="0">
                          <a:hlinkClick r:id="rId4"/>
                        </a:rPr>
                        <a:t>性能优化</a:t>
                      </a:r>
                      <a:r>
                        <a:rPr lang="en-US" altLang="zh-CN" sz="900" dirty="0">
                          <a:hlinkClick r:id="rId4"/>
                        </a:rPr>
                        <a:t>-</a:t>
                      </a:r>
                      <a:r>
                        <a:rPr lang="zh-CN" altLang="en-US" sz="900" dirty="0">
                          <a:hlinkClick r:id="rId4"/>
                        </a:rPr>
                        <a:t>文本归一化融合、</a:t>
                      </a:r>
                      <a:r>
                        <a:rPr lang="en-US" altLang="zh-CN" sz="900" dirty="0">
                          <a:hlinkClick r:id="rId4"/>
                        </a:rPr>
                        <a:t>SVE2 </a:t>
                      </a:r>
                      <a:r>
                        <a:rPr lang="zh-CN" altLang="en-US" sz="900" dirty="0">
                          <a:hlinkClick r:id="rId4"/>
                        </a:rPr>
                        <a:t>文本向量化、</a:t>
                      </a:r>
                      <a:r>
                        <a:rPr lang="en-US" altLang="zh-CN" sz="900" dirty="0">
                          <a:hlinkClick r:id="rId4"/>
                        </a:rPr>
                        <a:t>SVE2 </a:t>
                      </a:r>
                      <a:r>
                        <a:rPr lang="en-US" altLang="zh-CN" sz="900" dirty="0" err="1">
                          <a:hlinkClick r:id="rId4"/>
                        </a:rPr>
                        <a:t>MinHash</a:t>
                      </a:r>
                      <a:r>
                        <a:rPr lang="en-US" altLang="zh-CN" sz="900" dirty="0">
                          <a:hlinkClick r:id="rId4"/>
                        </a:rPr>
                        <a:t>-Daft-</a:t>
                      </a:r>
                      <a:r>
                        <a:rPr lang="en-US" altLang="zh-CN" sz="900" dirty="0" err="1">
                          <a:hlinkClick r:id="rId4"/>
                        </a:rPr>
                        <a:t>AtomGit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6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预处理（相对提升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5%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 预估，自提升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35%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）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可能和文本归一化冲突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49720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LLVM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参数优化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优化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llmv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层面自动向量化，针对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950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指定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宽度，充分利用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计算模块能力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>
                          <a:hlinkClick r:id="rId5"/>
                        </a:rPr>
                        <a:t>target Kunpeng 950 with SVE256-Daft-AtomGit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预处理（相对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3.2%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）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0515669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调度优化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zh-CN" altLang="en-US" sz="10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减少 </a:t>
                      </a:r>
                      <a:r>
                        <a:rPr kumimoji="1" lang="en-US" altLang="zh-CN" sz="10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– Rust </a:t>
                      </a:r>
                      <a:r>
                        <a:rPr kumimoji="1" lang="zh-CN" altLang="en-US" sz="10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跨界访问，实现 </a:t>
                      </a:r>
                      <a:r>
                        <a:rPr kumimoji="1" lang="en-US" altLang="zh-CN" sz="10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1" lang="zh-CN" altLang="en-US" sz="10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横向融合和纵向批量调度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 err="1">
                          <a:hlinkClick r:id="rId6"/>
                        </a:rPr>
                        <a:t>AtomGit</a:t>
                      </a:r>
                      <a:r>
                        <a:rPr lang="en-US" altLang="zh-CN" sz="900" dirty="0">
                          <a:hlinkClick r:id="rId6"/>
                        </a:rPr>
                        <a:t> - </a:t>
                      </a:r>
                      <a:r>
                        <a:rPr lang="zh-CN" altLang="en-US" sz="900" dirty="0">
                          <a:hlinkClick r:id="rId6"/>
                        </a:rPr>
                        <a:t>全球开发者的开源社区</a:t>
                      </a:r>
                      <a:r>
                        <a:rPr lang="en-US" altLang="zh-CN" sz="900" dirty="0">
                          <a:hlinkClick r:id="rId6"/>
                        </a:rPr>
                        <a:t>,</a:t>
                      </a:r>
                      <a:r>
                        <a:rPr lang="zh-CN" altLang="en-US" sz="900" dirty="0">
                          <a:hlinkClick r:id="rId6"/>
                        </a:rPr>
                        <a:t>开源代码托管平台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 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预处理（对推提升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1%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b="0" kern="1200" dirty="0">
                        <a:solidFill>
                          <a:srgbClr val="C7000B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993060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 Gather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批量取数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侧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gather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过程将循环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unrolling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，使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指令能正常生效。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>
                          <a:hlinkClick r:id="rId7"/>
                        </a:rPr>
                        <a:t>Daft:</a:t>
                      </a:r>
                      <a:r>
                        <a:rPr lang="zh-CN" altLang="en-US" sz="900" dirty="0">
                          <a:hlinkClick r:id="rId7"/>
                        </a:rPr>
                        <a:t>基于 </a:t>
                      </a:r>
                      <a:r>
                        <a:rPr lang="en-US" altLang="zh-CN" sz="900" dirty="0">
                          <a:hlinkClick r:id="rId7"/>
                        </a:rPr>
                        <a:t>Python </a:t>
                      </a:r>
                      <a:r>
                        <a:rPr lang="zh-CN" altLang="en-US" sz="900" dirty="0">
                          <a:hlinkClick r:id="rId7"/>
                        </a:rPr>
                        <a:t>和 </a:t>
                      </a:r>
                      <a:r>
                        <a:rPr lang="en-US" altLang="zh-CN" sz="900" dirty="0">
                          <a:hlinkClick r:id="rId7"/>
                        </a:rPr>
                        <a:t>Rust </a:t>
                      </a:r>
                      <a:r>
                        <a:rPr lang="zh-CN" altLang="en-US" sz="900" dirty="0">
                          <a:hlinkClick r:id="rId7"/>
                        </a:rPr>
                        <a:t>的 </a:t>
                      </a:r>
                      <a:r>
                        <a:rPr lang="en-US" altLang="zh-CN" sz="900" dirty="0">
                          <a:hlinkClick r:id="rId7"/>
                        </a:rPr>
                        <a:t>AI </a:t>
                      </a:r>
                      <a:r>
                        <a:rPr lang="zh-CN" altLang="en-US" sz="900" dirty="0">
                          <a:hlinkClick r:id="rId7"/>
                        </a:rPr>
                        <a:t>与多模态工作负载高性能数据引擎项目 </a:t>
                      </a:r>
                      <a:r>
                        <a:rPr lang="en-US" altLang="zh-CN" sz="900" dirty="0">
                          <a:hlinkClick r:id="rId7"/>
                        </a:rPr>
                        <a:t>- </a:t>
                      </a:r>
                      <a:r>
                        <a:rPr lang="en-US" altLang="zh-CN" sz="900" dirty="0" err="1">
                          <a:hlinkClick r:id="rId7"/>
                        </a:rPr>
                        <a:t>AtomGit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 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预处理（对推提升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0.5%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b="0" kern="1200" dirty="0">
                        <a:solidFill>
                          <a:srgbClr val="C7000B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0217532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调度优化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优化任务分发，启动，并行等调度步骤，提升硬件利用率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dirty="0">
                          <a:hlinkClick r:id="rId8"/>
                        </a:rPr>
                        <a:t>Daft:</a:t>
                      </a:r>
                      <a:r>
                        <a:rPr lang="zh-CN" altLang="en-US" sz="900" dirty="0">
                          <a:hlinkClick r:id="rId8"/>
                        </a:rPr>
                        <a:t>基于 </a:t>
                      </a:r>
                      <a:r>
                        <a:rPr lang="en-US" altLang="zh-CN" sz="900" dirty="0">
                          <a:hlinkClick r:id="rId8"/>
                        </a:rPr>
                        <a:t>Python </a:t>
                      </a:r>
                      <a:r>
                        <a:rPr lang="zh-CN" altLang="en-US" sz="900" dirty="0">
                          <a:hlinkClick r:id="rId8"/>
                        </a:rPr>
                        <a:t>和 </a:t>
                      </a:r>
                      <a:r>
                        <a:rPr lang="en-US" altLang="zh-CN" sz="900" dirty="0">
                          <a:hlinkClick r:id="rId8"/>
                        </a:rPr>
                        <a:t>Rust </a:t>
                      </a:r>
                      <a:r>
                        <a:rPr lang="zh-CN" altLang="en-US" sz="900" dirty="0">
                          <a:hlinkClick r:id="rId8"/>
                        </a:rPr>
                        <a:t>的 </a:t>
                      </a:r>
                      <a:r>
                        <a:rPr lang="en-US" altLang="zh-CN" sz="900" dirty="0">
                          <a:hlinkClick r:id="rId8"/>
                        </a:rPr>
                        <a:t>AI </a:t>
                      </a:r>
                      <a:r>
                        <a:rPr lang="zh-CN" altLang="en-US" sz="900" dirty="0">
                          <a:hlinkClick r:id="rId8"/>
                        </a:rPr>
                        <a:t>与多模态工作负载高性能数据引擎项目 </a:t>
                      </a:r>
                      <a:r>
                        <a:rPr lang="en-US" altLang="zh-CN" sz="900" dirty="0">
                          <a:hlinkClick r:id="rId8"/>
                        </a:rPr>
                        <a:t>- </a:t>
                      </a:r>
                      <a:r>
                        <a:rPr lang="en-US" altLang="zh-CN" sz="900" dirty="0" err="1">
                          <a:hlinkClick r:id="rId8"/>
                        </a:rPr>
                        <a:t>AtomGit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LLM 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预处理（对推提升 </a:t>
                      </a: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1%</a:t>
                      </a:r>
                      <a:r>
                        <a:rPr kumimoji="0" lang="zh-CN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）</a:t>
                      </a:r>
                      <a:endParaRPr lang="en-US" altLang="zh-CN" sz="1000" b="0" kern="1200" dirty="0">
                        <a:solidFill>
                          <a:srgbClr val="C7000B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altLang="en-US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3765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适配 鲲鹏亲和多模态算子库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鲲鹏多模态算子库以独立仓库模式交付，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侧集成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  <a:sym typeface="+mn-ea"/>
                        </a:rPr>
                        <a:t>N/A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6.5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全部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pipeline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（性能优化不在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rust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语言侧统计）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功能需求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2360284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适配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Lance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算子下推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Lance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实现数据源侧视频解码和抽帧能力，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侧适配，将算子下推到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中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9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  <a:sym typeface="+mn-ea"/>
                        </a:rPr>
                        <a:t>N/A</a:t>
                      </a:r>
                      <a:endParaRPr lang="zh-CN" altLang="en-US" sz="9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4.5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视频产线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（性能优化不在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rust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语言侧统计）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功能需求</a:t>
                      </a:r>
                    </a:p>
                    <a:p>
                      <a:pPr algn="l">
                        <a:buNone/>
                      </a:pPr>
                      <a:endParaRPr lang="zh-CN" altLang="en-US" sz="1000" b="0" kern="1200" dirty="0">
                        <a:solidFill>
                          <a:srgbClr val="C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81362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6AACEAE-C1E0-4F1D-916E-99CF48CEE07E}"/>
              </a:ext>
            </a:extLst>
          </p:cNvPr>
          <p:cNvSpPr txBox="1"/>
          <p:nvPr/>
        </p:nvSpPr>
        <p:spPr>
          <a:xfrm>
            <a:off x="712013" y="5111033"/>
            <a:ext cx="5383987" cy="861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kumimoji="1" lang="zh-CN" altLang="en-US" sz="1399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由于在最终测试集中性能优化不明显，新增优化点置换下面优化点：</a:t>
            </a:r>
            <a:endParaRPr kumimoji="1" lang="en-US" altLang="zh-CN" sz="1399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>
              <a:buAutoNum type="arabicPeriod"/>
            </a:pPr>
            <a:r>
              <a:rPr lang="en-US" altLang="zh-CN" sz="1399" dirty="0">
                <a:latin typeface="UbuntuMono Nerd Font Propo" panose="020B0509030602030204" pitchFamily="50" charset="0"/>
              </a:rPr>
              <a:t>Daft</a:t>
            </a:r>
            <a:r>
              <a:rPr lang="zh-CN" altLang="en-US" sz="1399" dirty="0">
                <a:latin typeface="UbuntuMono Nerd Font Propo" panose="020B0509030602030204" pitchFamily="50" charset="0"/>
              </a:rPr>
              <a:t>自适应调度优化</a:t>
            </a:r>
            <a:endParaRPr lang="en-US" altLang="zh-CN" sz="1399" dirty="0">
              <a:latin typeface="UbuntuMono Nerd Font Propo" panose="020B0509030602030204" pitchFamily="50" charset="0"/>
            </a:endParaRPr>
          </a:p>
          <a:p>
            <a:pPr marL="342763" indent="-342763">
              <a:buFontTx/>
              <a:buAutoNum type="arabicPeriod"/>
            </a:pPr>
            <a:r>
              <a:rPr lang="zh-CN" altLang="en-US" sz="1399" dirty="0">
                <a:latin typeface="UbuntuMono Nerd Font Propo" panose="020B0509030602030204" pitchFamily="50" charset="0"/>
              </a:rPr>
              <a:t>文本字节长度</a:t>
            </a:r>
            <a:r>
              <a:rPr lang="en-US" altLang="zh-CN" sz="1399" dirty="0">
                <a:latin typeface="UbuntuMono Nerd Font Propo" panose="020B0509030602030204" pitchFamily="50" charset="0"/>
              </a:rPr>
              <a:t>Offsets</a:t>
            </a:r>
            <a:r>
              <a:rPr lang="zh-CN" altLang="en-US" sz="1399" dirty="0">
                <a:latin typeface="UbuntuMono Nerd Font Propo" panose="020B0509030602030204" pitchFamily="50" charset="0"/>
              </a:rPr>
              <a:t>快路径</a:t>
            </a:r>
            <a:endParaRPr lang="en-US" altLang="zh-CN" sz="1399" dirty="0">
              <a:latin typeface="UbuntuMono Nerd Font Propo" panose="020B0509030602030204" pitchFamily="50" charset="0"/>
            </a:endParaRPr>
          </a:p>
          <a:p>
            <a:pPr marL="342763" indent="-342763">
              <a:buFontTx/>
              <a:buAutoNum type="arabicPeriod"/>
            </a:pPr>
            <a:r>
              <a:rPr lang="zh-CN" altLang="en-US" sz="1399" dirty="0">
                <a:latin typeface="UbuntuMono Nerd Font Propo" panose="020B0509030602030204" pitchFamily="50" charset="0"/>
              </a:rPr>
              <a:t>实现 </a:t>
            </a:r>
            <a:r>
              <a:rPr lang="en-US" altLang="zh-CN" sz="1399" dirty="0" err="1">
                <a:latin typeface="UbuntuMono Nerd Font Propo" panose="020B0509030602030204" pitchFamily="50" charset="0"/>
              </a:rPr>
              <a:t>OpenEuler</a:t>
            </a:r>
            <a:r>
              <a:rPr lang="en-US" altLang="zh-CN" sz="1399" dirty="0">
                <a:latin typeface="UbuntuMono Nerd Font Propo" panose="020B0509030602030204" pitchFamily="50" charset="0"/>
              </a:rPr>
              <a:t> LLVM </a:t>
            </a:r>
            <a:r>
              <a:rPr lang="zh-CN" altLang="en-US" sz="1399" dirty="0">
                <a:latin typeface="UbuntuMono Nerd Font Propo" panose="020B0509030602030204" pitchFamily="50" charset="0"/>
              </a:rPr>
              <a:t>后端替换</a:t>
            </a:r>
          </a:p>
        </p:txBody>
      </p:sp>
    </p:spTree>
    <p:extLst>
      <p:ext uri="{BB962C8B-B14F-4D97-AF65-F5344CB8AC3E}">
        <p14:creationId xmlns:p14="http://schemas.microsoft.com/office/powerpoint/2010/main" val="323569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494049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项目阵型</a:t>
            </a:r>
          </a:p>
        </p:txBody>
      </p:sp>
      <p:graphicFrame>
        <p:nvGraphicFramePr>
          <p:cNvPr id="59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0587636"/>
              </p:ext>
            </p:extLst>
          </p:nvPr>
        </p:nvGraphicFramePr>
        <p:xfrm>
          <a:off x="3790265" y="1233162"/>
          <a:ext cx="7845808" cy="1584119"/>
        </p:xfrm>
        <a:graphic>
          <a:graphicData uri="http://schemas.openxmlformats.org/drawingml/2006/table">
            <a:tbl>
              <a:tblPr/>
              <a:tblGrid>
                <a:gridCol w="669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3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816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9885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1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842399248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</a:t>
                      </a:r>
                      <a:r>
                        <a:rPr kumimoji="0" lang="zh-CN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年</a:t>
                      </a: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软件平台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90530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公共开发部（自带）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0" name="表格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365975"/>
              </p:ext>
            </p:extLst>
          </p:nvPr>
        </p:nvGraphicFramePr>
        <p:xfrm>
          <a:off x="150944" y="3275252"/>
          <a:ext cx="1371596" cy="868608"/>
        </p:xfrm>
        <a:graphic>
          <a:graphicData uri="http://schemas.openxmlformats.org/drawingml/2006/table">
            <a:tbl>
              <a:tblPr firstRow="1" bandRow="1"/>
              <a:tblGrid>
                <a:gridCol w="1371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421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</a:t>
                      </a:r>
                      <a:r>
                        <a:rPr lang="zh-CN" altLang="en-US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数据工程二期</a:t>
                      </a:r>
                      <a:endParaRPr lang="zh-CN" altLang="en-US" sz="12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128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algn="l"/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" name="右箭头 61"/>
          <p:cNvSpPr/>
          <p:nvPr/>
        </p:nvSpPr>
        <p:spPr bwMode="auto">
          <a:xfrm>
            <a:off x="3358384" y="1869921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4" name="右箭头 63"/>
          <p:cNvSpPr/>
          <p:nvPr/>
        </p:nvSpPr>
        <p:spPr bwMode="auto">
          <a:xfrm>
            <a:off x="3358384" y="3596374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5" name="右箭头 64"/>
          <p:cNvSpPr/>
          <p:nvPr/>
        </p:nvSpPr>
        <p:spPr bwMode="auto">
          <a:xfrm>
            <a:off x="3358384" y="5182059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cxnSp>
        <p:nvCxnSpPr>
          <p:cNvPr id="66" name="直接连接符 65"/>
          <p:cNvCxnSpPr/>
          <p:nvPr/>
        </p:nvCxnSpPr>
        <p:spPr bwMode="auto">
          <a:xfrm>
            <a:off x="767108" y="1165480"/>
            <a:ext cx="2591276" cy="0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7" name="文本框 66"/>
          <p:cNvSpPr txBox="1"/>
          <p:nvPr/>
        </p:nvSpPr>
        <p:spPr>
          <a:xfrm>
            <a:off x="1192354" y="782610"/>
            <a:ext cx="2166031" cy="4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专家阵型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连接符 67"/>
          <p:cNvCxnSpPr/>
          <p:nvPr/>
        </p:nvCxnSpPr>
        <p:spPr bwMode="auto">
          <a:xfrm flipV="1">
            <a:off x="3790264" y="1165480"/>
            <a:ext cx="7773827" cy="4384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9" name="文本框 68"/>
          <p:cNvSpPr txBox="1"/>
          <p:nvPr/>
        </p:nvSpPr>
        <p:spPr>
          <a:xfrm>
            <a:off x="6093620" y="787326"/>
            <a:ext cx="2813850" cy="399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“混凝土”开发阵型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左大括号 69"/>
          <p:cNvSpPr/>
          <p:nvPr/>
        </p:nvSpPr>
        <p:spPr bwMode="auto">
          <a:xfrm>
            <a:off x="1562379" y="1869921"/>
            <a:ext cx="215939" cy="3564728"/>
          </a:xfrm>
          <a:prstGeom prst="leftBrace">
            <a:avLst/>
          </a:prstGeom>
          <a:noFill/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graphicFrame>
        <p:nvGraphicFramePr>
          <p:cNvPr id="74" name="表格 73"/>
          <p:cNvGraphicFramePr>
            <a:graphicFrameLocks noGrp="1"/>
          </p:cNvGraphicFramePr>
          <p:nvPr/>
        </p:nvGraphicFramePr>
        <p:xfrm>
          <a:off x="1812562" y="3331861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5" name="表格 74"/>
          <p:cNvGraphicFramePr>
            <a:graphicFrameLocks noGrp="1"/>
          </p:cNvGraphicFramePr>
          <p:nvPr/>
        </p:nvGraphicFramePr>
        <p:xfrm>
          <a:off x="1812562" y="4827404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6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4695180"/>
              </p:ext>
            </p:extLst>
          </p:nvPr>
        </p:nvGraphicFramePr>
        <p:xfrm>
          <a:off x="3790264" y="3449525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7" name="Group 274"/>
          <p:cNvGraphicFramePr>
            <a:graphicFrameLocks/>
          </p:cNvGraphicFramePr>
          <p:nvPr/>
        </p:nvGraphicFramePr>
        <p:xfrm>
          <a:off x="3790264" y="4703804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" name="文本框 77"/>
          <p:cNvSpPr txBox="1"/>
          <p:nvPr/>
        </p:nvSpPr>
        <p:spPr>
          <a:xfrm>
            <a:off x="58701" y="5932361"/>
            <a:ext cx="5922514" cy="861438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zh-CN" altLang="en-US" sz="1000" b="1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</a:t>
            </a:r>
            <a:endParaRPr lang="en-US" altLang="zh-CN" sz="1000" b="1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、项目群和子项目分别设置首席专家；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DU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派人进驻技术项目，形成混凝土团队，共同进行技术项目开发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、新孵化产业，可以无需配置混凝土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、内部预算：授予给产品线内部的预算。外部预算：授予给研究所，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实验室等产品线外部的预算</a:t>
            </a:r>
            <a:endParaRPr lang="en-US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174682"/>
              </p:ext>
            </p:extLst>
          </p:nvPr>
        </p:nvGraphicFramePr>
        <p:xfrm>
          <a:off x="1812562" y="1563413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Python/Rust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 </a:t>
                      </a: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首席专家：苏现群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8" name="组合 27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29" name="矩形 28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6547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9"/>
    </mc:Choice>
    <mc:Fallback xmlns="">
      <p:transition spd="slow" advTm="38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878458B9-65D3-4CB8-8952-EF8184B8A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748690"/>
              </p:ext>
            </p:extLst>
          </p:nvPr>
        </p:nvGraphicFramePr>
        <p:xfrm>
          <a:off x="358272" y="881145"/>
          <a:ext cx="10693403" cy="17452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Python/Rust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↑，竞争力目标贡献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0.07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kumimoji="0" lang="en-US" altLang="zh-CN" sz="105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27.0.0</a:t>
                      </a:r>
                      <a:endParaRPr kumimoji="0" lang="zh-CN" altLang="en-US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8302CC44-8D8A-4592-A80B-271DA984C8FA}"/>
              </a:ext>
            </a:extLst>
          </p:cNvPr>
          <p:cNvSpPr txBox="1"/>
          <p:nvPr/>
        </p:nvSpPr>
        <p:spPr>
          <a:xfrm>
            <a:off x="5083342" y="37550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3C4C9615-F75F-4C2D-8767-3ED3E6B2F6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37637"/>
              </p:ext>
            </p:extLst>
          </p:nvPr>
        </p:nvGraphicFramePr>
        <p:xfrm>
          <a:off x="358272" y="3633741"/>
          <a:ext cx="10693403" cy="20500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 UDF</a:t>
                      </a:r>
                      <a:r>
                        <a:rPr kumimoji="0" lang="zh-CN" altLang="en-US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加速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50" i="1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inderX支持数据工程领域插件，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在文本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</a:t>
                      </a:r>
                      <a:r>
                        <a:rPr lang="en-US" altLang="zh-CN" sz="1050" i="1" kern="1200" noProof="0" dirty="0" err="1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pipeline_text_fineweb_full_min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）中自提升1.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倍、自动驾驶benchmark自提升1.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</a:t>
                      </a:r>
                      <a:endParaRPr lang="en-US" altLang="zh-CN" sz="1050" i="1" kern="1200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&gt;= 3.20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&gt;= 1.94.0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针对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占比明显场景（文本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 LLM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预处理）端到端性能自提升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.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在其他场景不劣化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6411233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15630858-3C64-4A8C-85FC-2B5958C221E3}"/>
              </a:ext>
            </a:extLst>
          </p:cNvPr>
          <p:cNvSpPr txBox="1"/>
          <p:nvPr/>
        </p:nvSpPr>
        <p:spPr>
          <a:xfrm>
            <a:off x="5083342" y="3128098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副标题 10">
            <a:extLst>
              <a:ext uri="{FF2B5EF4-FFF2-40B4-BE49-F238E27FC236}">
                <a16:creationId xmlns:a16="http://schemas.microsoft.com/office/drawing/2014/main" id="{CB274579-E076-427F-AAED-481D839BC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目标刷新</a:t>
            </a:r>
          </a:p>
        </p:txBody>
      </p:sp>
    </p:spTree>
    <p:extLst>
      <p:ext uri="{BB962C8B-B14F-4D97-AF65-F5344CB8AC3E}">
        <p14:creationId xmlns:p14="http://schemas.microsoft.com/office/powerpoint/2010/main" val="1617621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8942067" y="-1052"/>
            <a:ext cx="3249934" cy="171132"/>
            <a:chOff x="8932105" y="17441"/>
            <a:chExt cx="3251204" cy="171199"/>
          </a:xfrm>
        </p:grpSpPr>
        <p:sp>
          <p:nvSpPr>
            <p:cNvPr id="27" name="矩形 26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9" name="表格 18">
            <a:extLst>
              <a:ext uri="{FF2B5EF4-FFF2-40B4-BE49-F238E27FC236}">
                <a16:creationId xmlns:a16="http://schemas.microsoft.com/office/drawing/2014/main" id="{2B796AEF-7396-4211-9DD4-0483714C3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047020"/>
              </p:ext>
            </p:extLst>
          </p:nvPr>
        </p:nvGraphicFramePr>
        <p:xfrm>
          <a:off x="50706" y="785661"/>
          <a:ext cx="12083215" cy="3000547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2542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212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53602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0261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CBO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融合和编排优化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：根据开销和收益，寻找最佳组合，实现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重排和融合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800" b="1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UDF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 JIT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编译优化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：对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通过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JIT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即时编译生成鲲鹏亲和机器码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Coding Agent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实现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自动改写成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Rust 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：基于算子模板库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+SKILL.md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Python-&gt;IR-&gt; Rust 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代码自主生成 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张巍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鲲鹏产品部</a:t>
                      </a:r>
                      <a:endParaRPr lang="en-US" altLang="zh-CN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143640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多进程降争用：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通过优化低负载高并发时的进程模型，避免进程空转带来的竞态消耗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stringlib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搜索算法等数据工程热点路径鲲鹏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SVE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向量化优化，快速弥补鲲鹏与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x86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在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PDF/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视频等产线上的性能差距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84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latin typeface=" 微软雅黑"/>
                          <a:ea typeface="微软雅黑" panose="020B0503020204020204" pitchFamily="34" charset="-122"/>
                        </a:rPr>
                        <a:t>Cpython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(18)</a:t>
                      </a:r>
                    </a:p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编译器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(12)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公开（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苏现群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工作量刷新</a:t>
            </a:r>
          </a:p>
        </p:txBody>
      </p:sp>
      <p:graphicFrame>
        <p:nvGraphicFramePr>
          <p:cNvPr id="10" name="表格 18">
            <a:extLst>
              <a:ext uri="{FF2B5EF4-FFF2-40B4-BE49-F238E27FC236}">
                <a16:creationId xmlns:a16="http://schemas.microsoft.com/office/drawing/2014/main" id="{C58EEE6A-F397-4FDF-92AF-36A169AE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287041"/>
              </p:ext>
            </p:extLst>
          </p:nvPr>
        </p:nvGraphicFramePr>
        <p:xfrm>
          <a:off x="54394" y="4188542"/>
          <a:ext cx="12083215" cy="2416313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477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846767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51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558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925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Typed JIT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：将高频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字符串处理与循环逻辑类型特化编译，减少动态类型、字典和正则等通用运行时开销。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框架表达式下沉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：将清洗、字符串变换、过滤统计等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UDF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转为框架原生列式表达式，消除逐行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执行。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Guarded </a:t>
                      </a: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批量执行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：通过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Arrow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批处理、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缓存和批内去重，摊薄调用开销并减少重复计算与对象物化。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周永哲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86514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43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34(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平台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23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，公开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10)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隋致远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CB718F3F-8C3E-4D67-AD4D-55E4204005D3}"/>
              </a:ext>
            </a:extLst>
          </p:cNvPr>
          <p:cNvSpPr txBox="1"/>
          <p:nvPr/>
        </p:nvSpPr>
        <p:spPr>
          <a:xfrm>
            <a:off x="5336005" y="34312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C46DD0D-BF31-420D-91E9-D2C4D6C96D09}"/>
              </a:ext>
            </a:extLst>
          </p:cNvPr>
          <p:cNvSpPr txBox="1"/>
          <p:nvPr/>
        </p:nvSpPr>
        <p:spPr>
          <a:xfrm>
            <a:off x="5430576" y="3770437"/>
            <a:ext cx="934129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 微软雅黑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 微软雅黑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67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35"/>
    </mc:Choice>
    <mc:Fallback xmlns="">
      <p:transition advTm="2035"/>
    </mc:Fallback>
  </mc:AlternateContent>
</p:sld>
</file>

<file path=ppt/theme/theme1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3440"/>
          </a:lnSpc>
          <a:defRPr kumimoji="1" dirty="0" err="1" smtClean="0">
            <a:solidFill>
              <a:srgbClr val="000000"/>
            </a:solidFill>
            <a:ea typeface="Microsoft YaHei" panose="020B0503020204020204" pitchFamily="34" charset="-122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8" id="{10D78E51-8D5A-4682-A2B0-43C2A5B5BB4F}" vid="{9EF9C519-0329-4EF9-B266-404C2A0B68C0}"/>
    </a:ext>
  </a:extLst>
</a:theme>
</file>

<file path=ppt/theme/theme3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3421</TotalTime>
  <Words>3361</Words>
  <Application>Microsoft Office PowerPoint</Application>
  <PresentationFormat>宽屏</PresentationFormat>
  <Paragraphs>632</Paragraphs>
  <Slides>10</Slides>
  <Notes>5</Notes>
  <HiddenSlides>2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 微软雅黑</vt:lpstr>
      <vt:lpstr>.AppleSystemUIFont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章节页</vt:lpstr>
      <vt:lpstr>1_Chapter page</vt:lpstr>
      <vt:lpstr>结束页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ligaoyuan</dc:creator>
  <cp:lastModifiedBy>suizhiyuan</cp:lastModifiedBy>
  <cp:revision>121</cp:revision>
  <dcterms:created xsi:type="dcterms:W3CDTF">2026-09-07T02:32:52Z</dcterms:created>
  <dcterms:modified xsi:type="dcterms:W3CDTF">2026-09-23T12:07:22Z</dcterms:modified>
</cp:coreProperties>
</file>