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55" r:id="rId3"/>
  </p:sldMasterIdLst>
  <p:notesMasterIdLst>
    <p:notesMasterId r:id="rId14"/>
  </p:notesMasterIdLst>
  <p:sldIdLst>
    <p:sldId id="313" r:id="rId4"/>
    <p:sldId id="714" r:id="rId5"/>
    <p:sldId id="715" r:id="rId6"/>
    <p:sldId id="591" r:id="rId7"/>
    <p:sldId id="717" r:id="rId8"/>
    <p:sldId id="592" r:id="rId9"/>
    <p:sldId id="348" r:id="rId10"/>
    <p:sldId id="277" r:id="rId11"/>
    <p:sldId id="716" r:id="rId12"/>
    <p:sldId id="27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7419" autoAdjust="0"/>
  </p:normalViewPr>
  <p:slideViewPr>
    <p:cSldViewPr snapToGrid="0">
      <p:cViewPr varScale="1">
        <p:scale>
          <a:sx n="121" d="100"/>
          <a:sy n="121" d="100"/>
        </p:scale>
        <p:origin x="7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494595-DBBF-4323-A70A-CBE3C6DAB9A5}" type="datetimeFigureOut">
              <a:rPr lang="zh-CN" altLang="en-US" smtClean="0"/>
              <a:t>2026/9/28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38B5C1-4BE6-400A-95F0-AFE49893DA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1</a:t>
            </a:r>
            <a:r>
              <a:rPr lang="zh-CN" altLang="en-US"/>
              <a:t>、护城河策略体现：如编排</a:t>
            </a:r>
            <a:r>
              <a:rPr lang="en-US" altLang="zh-CN"/>
              <a:t>/</a:t>
            </a:r>
            <a:r>
              <a:rPr lang="zh-CN" altLang="en-US"/>
              <a:t>调度等如何跟鲲鹏绑定</a:t>
            </a:r>
          </a:p>
          <a:p>
            <a:r>
              <a:rPr lang="en-US" altLang="zh-CN"/>
              <a:t>2</a:t>
            </a:r>
            <a:r>
              <a:rPr lang="zh-CN" altLang="en-US"/>
              <a:t>、调用算子加速框架高阶算法-如</a:t>
            </a:r>
            <a:r>
              <a:rPr lang="en-US" altLang="zh-CN"/>
              <a:t>python</a:t>
            </a:r>
            <a:r>
              <a:rPr lang="zh-CN" altLang="en-US"/>
              <a:t>系统库优化，技术点间形成耦合关系）——傅晟</a:t>
            </a:r>
          </a:p>
          <a:p>
            <a:r>
              <a:rPr lang="en-US" altLang="zh-CN"/>
              <a:t>3</a:t>
            </a:r>
            <a:r>
              <a:rPr lang="zh-CN" altLang="en-US"/>
              <a:t>、性能</a:t>
            </a:r>
            <a:r>
              <a:rPr lang="en-US" altLang="zh-CN"/>
              <a:t>930 </a:t>
            </a:r>
            <a:r>
              <a:rPr lang="zh-CN" altLang="en-US"/>
              <a:t>叠加</a:t>
            </a:r>
            <a:r>
              <a:rPr lang="en-US" altLang="zh-CN"/>
              <a:t>5%</a:t>
            </a:r>
            <a:r>
              <a:rPr lang="zh-CN" altLang="en-US"/>
              <a:t>，最终</a:t>
            </a:r>
            <a:r>
              <a:rPr lang="en-US" altLang="zh-CN"/>
              <a:t>15</a:t>
            </a:r>
            <a:r>
              <a:rPr lang="zh-CN" altLang="en-US"/>
              <a:t>+</a:t>
            </a:r>
            <a:r>
              <a:rPr lang="en-US" altLang="zh-CN"/>
              <a:t>5</a:t>
            </a:r>
            <a:r>
              <a:rPr lang="zh-CN" altLang="en-US"/>
              <a:t>跟</a:t>
            </a:r>
            <a:r>
              <a:rPr lang="en-US" altLang="zh-CN"/>
              <a:t>30%</a:t>
            </a:r>
            <a:r>
              <a:rPr lang="zh-CN" altLang="en-US"/>
              <a:t>对不上？</a:t>
            </a:r>
          </a:p>
          <a:p>
            <a:r>
              <a:rPr lang="en-US" altLang="zh-CN"/>
              <a:t>4</a:t>
            </a:r>
            <a:r>
              <a:rPr lang="zh-CN" altLang="en-US"/>
              <a:t>、图中数字三，</a:t>
            </a:r>
            <a:r>
              <a:rPr lang="en-US" altLang="zh-CN"/>
              <a:t>python</a:t>
            </a:r>
            <a:r>
              <a:rPr lang="zh-CN" altLang="en-US"/>
              <a:t>通用优化技术，直接调用国军的算子加速框架，体现出来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kern="120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文本归一化优化 </a:t>
            </a:r>
            <a:r>
              <a:rPr lang="en-US" altLang="zh-CN" b="0" dirty="0">
                <a:solidFill>
                  <a:srgbClr val="BBBEBF"/>
                </a:solidFill>
                <a:effectLst/>
                <a:latin typeface="UbuntuMono Nerd Font Propo" panose="020B0509030602030204" pitchFamily="50" charset="0"/>
              </a:rPr>
              <a:t>https://onebox.huawei.com/v/cc484663fd2c94aed4a92907c35f32dc</a:t>
            </a:r>
          </a:p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89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8" y="630374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7450" indent="0" algn="ctr">
              <a:buNone/>
              <a:defRPr sz="2340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7990" indent="0" algn="ctr">
              <a:buNone/>
              <a:defRPr sz="2080"/>
            </a:lvl6pPr>
            <a:lvl7pPr marL="3562350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216" y="1843089"/>
            <a:ext cx="10118107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516" y="1349255"/>
            <a:ext cx="885621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558" y="630374"/>
            <a:ext cx="1147037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 sz="1800">
                <a:ea typeface="宋体" pitchFamily="2" charset="-122"/>
              </a:defRPr>
            </a:lvl1pPr>
          </a:lstStyle>
          <a:p>
            <a:r>
              <a:rPr lang="de-DE" altLang="zh-CN">
                <a:solidFill>
                  <a:prstClr val="black"/>
                </a:solidFill>
              </a:rPr>
              <a:t>Page </a:t>
            </a:r>
            <a:fld id="{6E1E0CB0-37E2-4DA7-98F9-4AD6B50AA12C}" type="slidenum">
              <a:rPr lang="de-DE" altLang="zh-CN">
                <a:solidFill>
                  <a:prstClr val="black"/>
                </a:solidFill>
              </a:rPr>
              <a:t>‹#›</a:t>
            </a:fld>
            <a:endParaRPr lang="en-GB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400" b="1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4265" indent="0" algn="ctr">
              <a:buNone/>
              <a:defRPr sz="2080"/>
            </a:lvl5pPr>
            <a:lvl6pPr marL="2967355" indent="0" algn="ctr">
              <a:buNone/>
              <a:defRPr sz="2080"/>
            </a:lvl6pPr>
            <a:lvl7pPr marL="3560445" indent="0" algn="ctr">
              <a:buNone/>
              <a:defRPr sz="2080"/>
            </a:lvl7pPr>
            <a:lvl8pPr marL="4153535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5739" y="1512878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650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280" marR="0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650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13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80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280" marR="0" lvl="2" indent="-168275" algn="l" defTabSz="11868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650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249" y="1402065"/>
            <a:ext cx="3919503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tif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tiff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040" y="6356939"/>
            <a:ext cx="146289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368227" y="6402807"/>
            <a:ext cx="628911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Page </a:t>
            </a: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/32</a:t>
            </a: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85672" y="2625390"/>
            <a:ext cx="1962556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3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869" y="6325091"/>
            <a:ext cx="1270304" cy="275024"/>
          </a:xfrm>
          <a:prstGeom prst="rect">
            <a:avLst/>
          </a:prstGeom>
        </p:spPr>
      </p:pic>
      <p:grpSp>
        <p:nvGrpSpPr>
          <p:cNvPr id="47" name="Group 46"/>
          <p:cNvGrpSpPr>
            <a:grpSpLocks noChangeAspect="1"/>
          </p:cNvGrpSpPr>
          <p:nvPr userDrawn="1"/>
        </p:nvGrpSpPr>
        <p:grpSpPr>
          <a:xfrm>
            <a:off x="12285670" y="2625392"/>
            <a:ext cx="1962557" cy="4233515"/>
            <a:chOff x="5343883" y="-48857"/>
            <a:chExt cx="3263588" cy="7037279"/>
          </a:xfrm>
        </p:grpSpPr>
        <p:sp>
          <p:nvSpPr>
            <p:cNvPr id="6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</a:p>
          </p:txBody>
        </p:sp>
        <p:sp>
          <p:nvSpPr>
            <p:cNvPr id="70" name="文本框 15"/>
            <p:cNvSpPr txBox="1"/>
            <p:nvPr userDrawn="1"/>
          </p:nvSpPr>
          <p:spPr>
            <a:xfrm>
              <a:off x="5352721" y="1694497"/>
              <a:ext cx="1636699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Secondary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</a:p>
          </p:txBody>
        </p:sp>
        <p:sp>
          <p:nvSpPr>
            <p:cNvPr id="7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</a:p>
          </p:txBody>
        </p:sp>
        <p:sp>
          <p:nvSpPr>
            <p:cNvPr id="7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</a:p>
          </p:txBody>
        </p:sp>
        <p:sp>
          <p:nvSpPr>
            <p:cNvPr id="7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</a:p>
          </p:txBody>
        </p:sp>
        <p:sp>
          <p:nvSpPr>
            <p:cNvPr id="7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</a:p>
          </p:txBody>
        </p:sp>
        <p:sp>
          <p:nvSpPr>
            <p:cNvPr id="7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</a:p>
          </p:txBody>
        </p:sp>
        <p:sp>
          <p:nvSpPr>
            <p:cNvPr id="77" name="文本框 15"/>
            <p:cNvSpPr txBox="1"/>
            <p:nvPr userDrawn="1"/>
          </p:nvSpPr>
          <p:spPr>
            <a:xfrm>
              <a:off x="5343883" y="-48857"/>
              <a:ext cx="1358295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en-US" altLang="zh-CN" sz="800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rPr>
                <a:t>Corporate Colors</a:t>
              </a:r>
              <a:endParaRPr kumimoji="1" lang="zh-CN" altLang="en-US" sz="800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7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</a:p>
          </p:txBody>
        </p:sp>
        <p:sp>
          <p:nvSpPr>
            <p:cNvPr id="7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</a:p>
          </p:txBody>
        </p:sp>
        <p:sp>
          <p:nvSpPr>
            <p:cNvPr id="8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</a:p>
          </p:txBody>
        </p:sp>
        <p:sp>
          <p:nvSpPr>
            <p:cNvPr id="8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</a:p>
          </p:txBody>
        </p:sp>
        <p:sp>
          <p:nvSpPr>
            <p:cNvPr id="8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</a:p>
          </p:txBody>
        </p:sp>
        <p:sp>
          <p:nvSpPr>
            <p:cNvPr id="8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</a:p>
          </p:txBody>
        </p:sp>
        <p:sp>
          <p:nvSpPr>
            <p:cNvPr id="8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</a:p>
          </p:txBody>
        </p:sp>
        <p:sp>
          <p:nvSpPr>
            <p:cNvPr id="8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</a:p>
          </p:txBody>
        </p:sp>
        <p:sp>
          <p:nvSpPr>
            <p:cNvPr id="8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</a:p>
          </p:txBody>
        </p:sp>
        <p:sp>
          <p:nvSpPr>
            <p:cNvPr id="8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</a:p>
          </p:txBody>
        </p:sp>
        <p:sp>
          <p:nvSpPr>
            <p:cNvPr id="8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</a:p>
          </p:txBody>
        </p:sp>
        <p:sp>
          <p:nvSpPr>
            <p:cNvPr id="8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</a:p>
          </p:txBody>
        </p:sp>
        <p:sp>
          <p:nvSpPr>
            <p:cNvPr id="9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</a:p>
          </p:txBody>
        </p:sp>
        <p:sp>
          <p:nvSpPr>
            <p:cNvPr id="9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</a:p>
          </p:txBody>
        </p:sp>
        <p:sp>
          <p:nvSpPr>
            <p:cNvPr id="9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</a:p>
          </p:txBody>
        </p:sp>
        <p:sp>
          <p:nvSpPr>
            <p:cNvPr id="9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</a:p>
          </p:txBody>
        </p:sp>
        <p:sp>
          <p:nvSpPr>
            <p:cNvPr id="9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</a:p>
          </p:txBody>
        </p:sp>
        <p:sp>
          <p:nvSpPr>
            <p:cNvPr id="9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3765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</a:p>
          </p:txBody>
        </p:sp>
        <p:sp>
          <p:nvSpPr>
            <p:cNvPr id="9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</a:p>
          </p:txBody>
        </p:sp>
        <p:sp>
          <p:nvSpPr>
            <p:cNvPr id="9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</a:p>
          </p:txBody>
        </p:sp>
        <p:sp>
          <p:nvSpPr>
            <p:cNvPr id="9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</a:p>
          </p:txBody>
        </p:sp>
        <p:sp>
          <p:nvSpPr>
            <p:cNvPr id="10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</a:p>
          </p:txBody>
        </p:sp>
        <p:sp>
          <p:nvSpPr>
            <p:cNvPr id="10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</a:p>
          </p:txBody>
        </p:sp>
        <p:sp>
          <p:nvSpPr>
            <p:cNvPr id="10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</a:p>
          </p:txBody>
        </p:sp>
        <p:sp>
          <p:nvSpPr>
            <p:cNvPr id="10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</a:p>
          </p:txBody>
        </p:sp>
        <p:sp>
          <p:nvSpPr>
            <p:cNvPr id="10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</a:p>
          </p:txBody>
        </p:sp>
        <p:sp>
          <p:nvSpPr>
            <p:cNvPr id="10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</a:p>
          </p:txBody>
        </p:sp>
        <p:sp>
          <p:nvSpPr>
            <p:cNvPr id="10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</a:p>
          </p:txBody>
        </p:sp>
      </p:grpSp>
      <p:sp>
        <p:nvSpPr>
          <p:cNvPr id="3" name="TextBox 2"/>
          <p:cNvSpPr txBox="1"/>
          <p:nvPr userDrawn="1"/>
        </p:nvSpPr>
        <p:spPr>
          <a:xfrm>
            <a:off x="1095041" y="6356939"/>
            <a:ext cx="23874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0" kern="1200" baseline="0" dirty="0">
                <a:solidFill>
                  <a:srgbClr val="1D1D1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Huawei Proprietary - Restricted Distribution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3846" y="6402809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453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26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198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571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2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853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727" y="1467870"/>
            <a:ext cx="3982676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6241" y="2794960"/>
            <a:ext cx="3223909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4157" y="1631849"/>
            <a:ext cx="3476343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4557" y="2106124"/>
            <a:ext cx="348047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0562" y="5237566"/>
            <a:ext cx="1874868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799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3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副标题 3"/>
          <p:cNvSpPr>
            <a:spLocks noGrp="1"/>
          </p:cNvSpPr>
          <p:nvPr>
            <p:ph type="subTitle" idx="1"/>
          </p:nvPr>
        </p:nvSpPr>
        <p:spPr>
          <a:xfrm>
            <a:off x="359860" y="361198"/>
            <a:ext cx="10736446" cy="993012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变更说明</a:t>
            </a:r>
          </a:p>
        </p:txBody>
      </p:sp>
      <p:graphicFrame>
        <p:nvGraphicFramePr>
          <p:cNvPr id="13" name="Group 53"/>
          <p:cNvGraphicFramePr>
            <a:graphicFrameLocks noGrp="1"/>
          </p:cNvGraphicFramePr>
          <p:nvPr/>
        </p:nvGraphicFramePr>
        <p:xfrm>
          <a:off x="728890" y="1342807"/>
          <a:ext cx="10782882" cy="5092957"/>
        </p:xfrm>
        <a:graphic>
          <a:graphicData uri="http://schemas.openxmlformats.org/drawingml/2006/table">
            <a:tbl>
              <a:tblPr/>
              <a:tblGrid>
                <a:gridCol w="3199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2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7821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变更说明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变更原因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变更影响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实施责任人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决策建议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444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en-US" sz="12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影响已经评估，影响项目组内部可控制。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本变更已经与应用项目</a:t>
                      </a:r>
                      <a:r>
                        <a:rPr kumimoji="0" lang="en-US" altLang="zh-CN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xxx</a:t>
                      </a: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进行沟通，</a:t>
                      </a:r>
                      <a:r>
                        <a:rPr kumimoji="0" lang="en-US" altLang="zh-CN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xxx</a:t>
                      </a: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项目同意本变更。</a:t>
                      </a: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张三</a:t>
                      </a: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请</a:t>
                      </a:r>
                      <a:r>
                        <a:rPr kumimoji="0" lang="en-US" altLang="zh-CN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TMT/SPDT</a:t>
                      </a:r>
                      <a:r>
                        <a:rPr kumimoji="0" lang="zh-CN" altLang="en-US" sz="1200" b="0" i="1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批准</a:t>
                      </a: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12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</a:t>
                      </a:r>
                      <a:r>
                        <a:rPr lang="zh-CN" altLang="en-US" sz="1200" b="1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运行时：</a:t>
                      </a:r>
                      <a:endParaRPr kumimoji="0" lang="en-US" altLang="zh-CN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</a:t>
                      </a:r>
                      <a:r>
                        <a:rPr kumimoji="0" lang="zh-CN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运行时：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删除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多进程降争用，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热点路径向量化优化点，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JIT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编译优化从多模态算子加速库中变更到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运行时中实现。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</a:t>
                      </a:r>
                      <a:r>
                        <a:rPr kumimoji="0" lang="zh-CN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运行时：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删除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运行时优化点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 CRC32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鲲鹏硬件加速和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Rust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编译前端优化，新增 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logical plan 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优化。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运行时：经过穿刺分析，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多进程对当前场景优化有限，解释器内向量化泛用性较低，方案变更为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jit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内以插件形式实现。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</a:t>
                      </a:r>
                      <a:r>
                        <a:rPr kumimoji="0" lang="en-US" altLang="zh-CN" sz="1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jit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从用户使用、泛化性等角度适合将能力沉淀在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运行时：经过穿刺分析，优化点在当前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以 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为主要任务的应用场景中，这些优化点的提升不在热点路径上。</a:t>
                      </a: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变更影响已经评估，范围可控，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优化目标不变，总工作量减少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17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人</a:t>
                      </a:r>
                      <a:r>
                        <a:rPr kumimoji="0" lang="en-US" altLang="zh-CN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kumimoji="0" lang="zh-CN" alt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月，项目</a:t>
                      </a:r>
                      <a:r>
                        <a:rPr kumimoji="0" lang="zh-CN" altLang="en-US" sz="12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内工作量不变</a:t>
                      </a:r>
                      <a:endParaRPr kumimoji="0" lang="zh-CN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周永哲</a:t>
                      </a:r>
                      <a:r>
                        <a:rPr kumimoji="0" lang="en-US" altLang="zh-CN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隋致远</a:t>
                      </a: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请</a:t>
                      </a:r>
                      <a:r>
                        <a:rPr kumimoji="0" lang="en-US" altLang="zh-CN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TMT</a:t>
                      </a: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批准</a:t>
                      </a:r>
                      <a:endParaRPr kumimoji="0" lang="zh-CN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3414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zh-CN" altLang="en-US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en-US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请</a:t>
                      </a:r>
                      <a:r>
                        <a:rPr kumimoji="0" lang="en-US" altLang="zh-CN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TMT</a:t>
                      </a:r>
                      <a:r>
                        <a:rPr kumimoji="0" lang="zh-CN" altLang="en-US" sz="1200" b="0" i="0" u="none" strike="noStrike" kern="1200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批准</a:t>
                      </a:r>
                      <a:endParaRPr kumimoji="0" lang="zh-CN" altLang="zh-CN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3414"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sng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sng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Box 54"/>
          <p:cNvSpPr txBox="1">
            <a:spLocks noChangeArrowheads="1"/>
          </p:cNvSpPr>
          <p:nvPr/>
        </p:nvSpPr>
        <p:spPr bwMode="auto">
          <a:xfrm>
            <a:off x="728890" y="982586"/>
            <a:ext cx="8277167" cy="21536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400" i="1" kern="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说明：当项目目标、范围发生重大变更，里程碑计划改变时，对变更进行说明。</a:t>
            </a:r>
            <a:endParaRPr lang="en-US" altLang="zh-CN" sz="1400" i="1" kern="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8928618" y="18774"/>
            <a:ext cx="3249934" cy="171132"/>
            <a:chOff x="8932105" y="17441"/>
            <a:chExt cx="3251204" cy="171199"/>
          </a:xfrm>
        </p:grpSpPr>
        <p:sp>
          <p:nvSpPr>
            <p:cNvPr id="16" name="矩形 15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矩形 18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544445" y="130726"/>
            <a:ext cx="2137658" cy="52170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/>
            <a:r>
              <a:rPr lang="zh-CN" altLang="en-US" sz="1800" b="1" dirty="0">
                <a:solidFill>
                  <a:srgbClr val="221815"/>
                </a:solidFill>
              </a:rPr>
              <a:t>张巍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副标题 1"/>
          <p:cNvSpPr txBox="1"/>
          <p:nvPr/>
        </p:nvSpPr>
        <p:spPr>
          <a:xfrm>
            <a:off x="313153" y="219762"/>
            <a:ext cx="11374068" cy="470377"/>
          </a:xfrm>
          <a:prstGeom prst="rect">
            <a:avLst/>
          </a:prstGeom>
        </p:spPr>
        <p:txBody>
          <a:bodyPr anchor="ctr">
            <a:noAutofit/>
          </a:bodyPr>
          <a:lstStyle>
            <a:lvl1pPr marL="297180" indent="-297180" algn="l" defTabSz="1188085" rtl="0" eaLnBrk="1" latinLnBrk="0" hangingPunct="1">
              <a:lnSpc>
                <a:spcPct val="90000"/>
              </a:lnSpc>
              <a:spcBef>
                <a:spcPts val="1300"/>
              </a:spcBef>
              <a:buFont typeface="Arial" panose="020B0604020202020204" pitchFamily="34" charset="0"/>
              <a:buChar char="•"/>
              <a:defRPr sz="363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9090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312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8463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7835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67271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16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525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250" indent="-297180" algn="l" defTabSz="1188085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1186815">
              <a:lnSpc>
                <a:spcPct val="120000"/>
              </a:lnSpc>
              <a:spcBef>
                <a:spcPts val="1300"/>
              </a:spcBef>
              <a:buNone/>
              <a:defRPr/>
            </a:pPr>
            <a:r>
              <a:rPr lang="zh-CN" altLang="en-US" sz="24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</a:t>
            </a:r>
            <a:r>
              <a:rPr lang="en-US" altLang="zh-CN" sz="24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4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基于插件提升特定领域</a:t>
            </a:r>
            <a:r>
              <a:rPr lang="en-US" altLang="zh-CN" sz="2000" b="1" dirty="0" err="1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CPython</a:t>
            </a:r>
            <a:r>
              <a:rPr lang="zh-CN" altLang="en-US" sz="20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运行时</a:t>
            </a:r>
            <a:r>
              <a:rPr lang="en-US" altLang="zh-CN" sz="20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JIT</a:t>
            </a:r>
            <a:r>
              <a:rPr lang="zh-CN" altLang="en-US" sz="20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性能，端到端提升至</a:t>
            </a:r>
            <a:r>
              <a:rPr lang="en-US" altLang="zh-CN" sz="2000" b="1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1.10x</a:t>
            </a:r>
          </a:p>
        </p:txBody>
      </p:sp>
      <p:grpSp>
        <p:nvGrpSpPr>
          <p:cNvPr id="23" name="组合 22"/>
          <p:cNvGrpSpPr/>
          <p:nvPr/>
        </p:nvGrpSpPr>
        <p:grpSpPr>
          <a:xfrm>
            <a:off x="8927354" y="20106"/>
            <a:ext cx="3248665" cy="171065"/>
            <a:chOff x="8932105" y="17441"/>
            <a:chExt cx="3251204" cy="171199"/>
          </a:xfrm>
        </p:grpSpPr>
        <p:sp>
          <p:nvSpPr>
            <p:cNvPr id="24" name="矩形 2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8927354" y="197698"/>
          <a:ext cx="3248661" cy="181539"/>
        </p:xfrm>
        <a:graphic>
          <a:graphicData uri="http://schemas.openxmlformats.org/drawingml/2006/table">
            <a:tbl>
              <a:tblPr/>
              <a:tblGrid>
                <a:gridCol w="604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153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技术全景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算子加速框架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分布式存储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数据编排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微调框架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3" name="矩形 92"/>
          <p:cNvSpPr/>
          <p:nvPr/>
        </p:nvSpPr>
        <p:spPr>
          <a:xfrm>
            <a:off x="-13685" y="1980680"/>
            <a:ext cx="12204892" cy="438787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CinderX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 for 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KunPeng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（</a:t>
            </a:r>
            <a:r>
              <a:rPr kumimoji="0" lang="en-US" altLang="zh-CN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openeuler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开源）</a:t>
            </a:r>
          </a:p>
        </p:txBody>
      </p:sp>
      <p:sp>
        <p:nvSpPr>
          <p:cNvPr id="94" name="矩形 93"/>
          <p:cNvSpPr/>
          <p:nvPr/>
        </p:nvSpPr>
        <p:spPr>
          <a:xfrm>
            <a:off x="3914281" y="693739"/>
            <a:ext cx="3333253" cy="104251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5" name="Text 4"/>
          <p:cNvSpPr/>
          <p:nvPr/>
        </p:nvSpPr>
        <p:spPr>
          <a:xfrm>
            <a:off x="3904928" y="769834"/>
            <a:ext cx="3400240" cy="228511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CPython 官方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宋体" pitchFamily="2" charset="-122"/>
              <a:cs typeface="+mn-cs"/>
            </a:endParaRPr>
          </a:p>
        </p:txBody>
      </p:sp>
      <p:sp>
        <p:nvSpPr>
          <p:cNvPr id="96" name="矩形 95"/>
          <p:cNvSpPr/>
          <p:nvPr/>
        </p:nvSpPr>
        <p:spPr>
          <a:xfrm>
            <a:off x="4113305" y="1130265"/>
            <a:ext cx="1122444" cy="526061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微软雅黑" pitchFamily="34" charset="0"/>
                <a:ea typeface="微软雅黑" panose="020B0503020204020204" pitchFamily="34" charset="-122"/>
                <a:cs typeface="微软雅黑" pitchFamily="34" charset="-120"/>
              </a:rPr>
              <a:t>解释执行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5421353" y="1130265"/>
            <a:ext cx="1698211" cy="532400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50" b="1" i="0" u="none" strike="noStrike" kern="1200" cap="none" spc="0" normalizeH="0" baseline="0" noProof="0" dirty="0" err="1">
                <a:ln>
                  <a:noFill/>
                </a:ln>
                <a:solidFill>
                  <a:srgbClr val="111827"/>
                </a:solidFill>
                <a:effectLst/>
                <a:uLnTx/>
                <a:uFillTx/>
                <a:latin typeface="微软雅黑" pitchFamily="34" charset="0"/>
                <a:ea typeface="微软雅黑" panose="020B0503020204020204" pitchFamily="34" charset="-122"/>
                <a:cs typeface="+mn-cs"/>
              </a:rPr>
              <a:t>JIT：Copy-and-Patch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11827"/>
              </a:solidFill>
              <a:effectLst/>
              <a:uLnTx/>
              <a:uFillTx/>
              <a:latin typeface="微软雅黑" pitchFamily="34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3.14</a:t>
            </a: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版本新增</a:t>
            </a: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偏轻量模板化生成机器码</a:t>
            </a:r>
          </a:p>
        </p:txBody>
      </p:sp>
      <p:sp>
        <p:nvSpPr>
          <p:cNvPr id="98" name="矩形 97"/>
          <p:cNvSpPr/>
          <p:nvPr/>
        </p:nvSpPr>
        <p:spPr>
          <a:xfrm>
            <a:off x="1085734" y="2642399"/>
            <a:ext cx="914043" cy="9140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1343032" y="2943324"/>
            <a:ext cx="914043" cy="9140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00" name="组合 99"/>
          <p:cNvGrpSpPr/>
          <p:nvPr/>
        </p:nvGrpSpPr>
        <p:grpSpPr>
          <a:xfrm>
            <a:off x="23701" y="2363522"/>
            <a:ext cx="7690346" cy="4270296"/>
            <a:chOff x="-264449" y="2125639"/>
            <a:chExt cx="7693350" cy="4271964"/>
          </a:xfrm>
        </p:grpSpPr>
        <p:sp>
          <p:nvSpPr>
            <p:cNvPr id="101" name="矩形 100"/>
            <p:cNvSpPr/>
            <p:nvPr/>
          </p:nvSpPr>
          <p:spPr>
            <a:xfrm>
              <a:off x="-264449" y="2125639"/>
              <a:ext cx="7693350" cy="363030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通用场景（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7F0000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已构筑</a:t>
              </a: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）</a:t>
              </a:r>
            </a:p>
          </p:txBody>
        </p:sp>
        <p:sp>
          <p:nvSpPr>
            <p:cNvPr id="102" name="矩形 101"/>
            <p:cNvSpPr/>
            <p:nvPr/>
          </p:nvSpPr>
          <p:spPr>
            <a:xfrm>
              <a:off x="5467532" y="5942401"/>
              <a:ext cx="1742586" cy="45520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37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等线" panose="02010600030101010101" pitchFamily="2" charset="-122"/>
                  <a:cs typeface="+mn-cs"/>
                </a:rPr>
                <a:t>ARM</a:t>
              </a:r>
              <a:b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等线" panose="02010600030101010101" pitchFamily="2" charset="-122"/>
                  <a:cs typeface="+mn-cs"/>
                </a:rPr>
              </a:b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等线" panose="02010600030101010101" pitchFamily="2" charset="-122"/>
                  <a:cs typeface="+mn-cs"/>
                </a:rPr>
                <a:t>（优先支持）</a:t>
              </a:r>
              <a:endPara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矩形 102"/>
            <p:cNvSpPr/>
            <p:nvPr/>
          </p:nvSpPr>
          <p:spPr>
            <a:xfrm>
              <a:off x="-88417" y="2600851"/>
              <a:ext cx="7298535" cy="1174096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JIT</a:t>
              </a: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分层优化路径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矩形 103"/>
            <p:cNvSpPr/>
            <p:nvPr/>
          </p:nvSpPr>
          <p:spPr>
            <a:xfrm>
              <a:off x="111057" y="2923243"/>
              <a:ext cx="1673796" cy="622613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HIR</a:t>
              </a:r>
              <a:b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</a:b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（</a:t>
              </a: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Python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语义中间表示）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矩形 104"/>
            <p:cNvSpPr/>
            <p:nvPr/>
          </p:nvSpPr>
          <p:spPr>
            <a:xfrm>
              <a:off x="2214936" y="2923244"/>
              <a:ext cx="1930024" cy="6345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LIR</a:t>
              </a:r>
              <a:b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</a:b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（指令集架构相关中间表示）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矩形 105"/>
            <p:cNvSpPr/>
            <p:nvPr/>
          </p:nvSpPr>
          <p:spPr>
            <a:xfrm>
              <a:off x="4690471" y="2930618"/>
              <a:ext cx="1182748" cy="615238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0" cap="none" spc="0" normalizeH="0" baseline="0" noProof="0" dirty="0" err="1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Codegen</a:t>
              </a:r>
              <a:b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</a:b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（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后端生成）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矩形 107"/>
            <p:cNvSpPr/>
            <p:nvPr/>
          </p:nvSpPr>
          <p:spPr>
            <a:xfrm>
              <a:off x="1969797" y="3664894"/>
              <a:ext cx="2340589" cy="236181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Code Borrow</a:t>
              </a: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 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09" name="矩形 108"/>
          <p:cNvSpPr/>
          <p:nvPr/>
        </p:nvSpPr>
        <p:spPr>
          <a:xfrm>
            <a:off x="3904928" y="6183921"/>
            <a:ext cx="1741906" cy="455024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   X86 </a:t>
            </a:r>
            <a:b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</a:b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（不主动支持）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cxnSp>
        <p:nvCxnSpPr>
          <p:cNvPr id="110" name="直接箭头连接符 109"/>
          <p:cNvCxnSpPr>
            <a:stCxn id="104" idx="3"/>
            <a:endCxn id="105" idx="1"/>
          </p:cNvCxnSpPr>
          <p:nvPr/>
        </p:nvCxnSpPr>
        <p:spPr>
          <a:xfrm>
            <a:off x="2072205" y="3472002"/>
            <a:ext cx="429915" cy="5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1" name="直接箭头连接符 110"/>
          <p:cNvCxnSpPr>
            <a:stCxn id="105" idx="3"/>
            <a:endCxn id="106" idx="1"/>
          </p:cNvCxnSpPr>
          <p:nvPr/>
        </p:nvCxnSpPr>
        <p:spPr>
          <a:xfrm flipV="1">
            <a:off x="4431391" y="3475685"/>
            <a:ext cx="545298" cy="2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2" name="矩形 111"/>
          <p:cNvSpPr/>
          <p:nvPr/>
        </p:nvSpPr>
        <p:spPr>
          <a:xfrm>
            <a:off x="99933" y="4408570"/>
            <a:ext cx="3661154" cy="1430897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软件优化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3" name="组合 112"/>
          <p:cNvGrpSpPr/>
          <p:nvPr/>
        </p:nvGrpSpPr>
        <p:grpSpPr>
          <a:xfrm>
            <a:off x="199667" y="4753552"/>
            <a:ext cx="1537249" cy="1051409"/>
            <a:chOff x="4369882" y="4874857"/>
            <a:chExt cx="1537849" cy="1051820"/>
          </a:xfrm>
        </p:grpSpPr>
        <p:sp>
          <p:nvSpPr>
            <p:cNvPr id="114" name="矩形 113"/>
            <p:cNvSpPr/>
            <p:nvPr/>
          </p:nvSpPr>
          <p:spPr>
            <a:xfrm>
              <a:off x="4369882" y="4874857"/>
              <a:ext cx="1477612" cy="105182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X86 / ARM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同等收益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4475223" y="5169110"/>
              <a:ext cx="1263652" cy="241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类方法调用特化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矩形 115"/>
            <p:cNvSpPr/>
            <p:nvPr/>
          </p:nvSpPr>
          <p:spPr>
            <a:xfrm>
              <a:off x="4469211" y="5570486"/>
              <a:ext cx="1268439" cy="241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slot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属性访问特化</a:t>
              </a:r>
            </a:p>
          </p:txBody>
        </p:sp>
        <p:sp>
          <p:nvSpPr>
            <p:cNvPr id="117" name="矩形 116"/>
            <p:cNvSpPr/>
            <p:nvPr/>
          </p:nvSpPr>
          <p:spPr>
            <a:xfrm>
              <a:off x="5239236" y="5074831"/>
              <a:ext cx="668495" cy="149827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2%/0%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微软雅黑" pitchFamily="34" charset="-120"/>
                </a:rPr>
                <a:t>↑</a:t>
              </a:r>
              <a:endParaRPr kumimoji="0" lang="en-US" altLang="zh-CN" sz="8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</p:grpSp>
      <p:sp>
        <p:nvSpPr>
          <p:cNvPr id="118" name="矩形 117"/>
          <p:cNvSpPr/>
          <p:nvPr/>
        </p:nvSpPr>
        <p:spPr>
          <a:xfrm>
            <a:off x="1068389" y="5368976"/>
            <a:ext cx="668234" cy="135087"/>
          </a:xfrm>
          <a:prstGeom prst="rect">
            <a:avLst/>
          </a:prstGeom>
          <a:solidFill>
            <a:schemeClr val="tx2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2%/0% 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↑</a:t>
            </a:r>
            <a:endParaRPr kumimoji="0" lang="en-US" altLang="zh-CN" sz="8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19" name="组合 118"/>
          <p:cNvGrpSpPr/>
          <p:nvPr/>
        </p:nvGrpSpPr>
        <p:grpSpPr>
          <a:xfrm>
            <a:off x="1840735" y="4756570"/>
            <a:ext cx="1688161" cy="1048393"/>
            <a:chOff x="1290002" y="1227614"/>
            <a:chExt cx="1688820" cy="1048803"/>
          </a:xfrm>
        </p:grpSpPr>
        <p:grpSp>
          <p:nvGrpSpPr>
            <p:cNvPr id="120" name="组合 119"/>
            <p:cNvGrpSpPr/>
            <p:nvPr/>
          </p:nvGrpSpPr>
          <p:grpSpPr>
            <a:xfrm>
              <a:off x="1290002" y="1227614"/>
              <a:ext cx="1503144" cy="1048803"/>
              <a:chOff x="1290002" y="1227614"/>
              <a:chExt cx="1503144" cy="1048803"/>
            </a:xfrm>
          </p:grpSpPr>
          <p:sp>
            <p:nvSpPr>
              <p:cNvPr id="123" name="矩形 122"/>
              <p:cNvSpPr/>
              <p:nvPr/>
            </p:nvSpPr>
            <p:spPr>
              <a:xfrm>
                <a:off x="1290002" y="1227614"/>
                <a:ext cx="1503144" cy="1048803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7283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ARM</a:t>
                </a: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收益大</a:t>
                </a:r>
                <a:endPara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1375826" y="1539213"/>
                <a:ext cx="1320798" cy="24708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7283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浮点装箱延迟重建</a:t>
                </a:r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1375826" y="1936929"/>
                <a:ext cx="1320797" cy="21514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7283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表达式内联</a:t>
                </a:r>
              </a:p>
            </p:txBody>
          </p:sp>
        </p:grpSp>
        <p:sp>
          <p:nvSpPr>
            <p:cNvPr id="121" name="矩形 120"/>
            <p:cNvSpPr/>
            <p:nvPr/>
          </p:nvSpPr>
          <p:spPr>
            <a:xfrm>
              <a:off x="2166224" y="1438834"/>
              <a:ext cx="808310" cy="148608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3.5%/3%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2170512" y="1844150"/>
              <a:ext cx="808310" cy="125471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0.5%/0.5%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26" name="矩形 125"/>
          <p:cNvSpPr/>
          <p:nvPr/>
        </p:nvSpPr>
        <p:spPr>
          <a:xfrm>
            <a:off x="3897730" y="4420205"/>
            <a:ext cx="3661154" cy="1430897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软硬结合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（</a:t>
            </a:r>
            <a:r>
              <a: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重点发力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：利用鲲鹏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/ARM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微软雅黑" pitchFamily="34" charset="-120"/>
              </a:rPr>
              <a:t>长板）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3997461" y="4765186"/>
            <a:ext cx="1530126" cy="1051409"/>
            <a:chOff x="4369882" y="4874857"/>
            <a:chExt cx="1530724" cy="1051820"/>
          </a:xfrm>
        </p:grpSpPr>
        <p:sp>
          <p:nvSpPr>
            <p:cNvPr id="128" name="矩形 127"/>
            <p:cNvSpPr/>
            <p:nvPr/>
          </p:nvSpPr>
          <p:spPr>
            <a:xfrm>
              <a:off x="4369882" y="4874857"/>
              <a:ext cx="1477612" cy="1051820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0" name="矩形 129"/>
            <p:cNvSpPr/>
            <p:nvPr/>
          </p:nvSpPr>
          <p:spPr>
            <a:xfrm>
              <a:off x="4477617" y="5237701"/>
              <a:ext cx="1263652" cy="24145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等线" panose="02010600030101010101" pitchFamily="2" charset="-122"/>
                  <a:cs typeface="+mn-cs"/>
                </a:rPr>
                <a:t>AArch64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等线" panose="02010600030101010101" pitchFamily="2" charset="-122"/>
                  <a:cs typeface="+mn-cs"/>
                </a:rPr>
                <a:t>指令</a:t>
              </a:r>
              <a:endPara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1" name="矩形 130"/>
            <p:cNvSpPr/>
            <p:nvPr/>
          </p:nvSpPr>
          <p:spPr>
            <a:xfrm>
              <a:off x="4472830" y="5624004"/>
              <a:ext cx="1345088" cy="241454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SIMD </a:t>
              </a:r>
              <a:r>
                <a: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0D1321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（发力中）</a:t>
              </a:r>
            </a:p>
          </p:txBody>
        </p:sp>
        <p:sp>
          <p:nvSpPr>
            <p:cNvPr id="132" name="矩形 131"/>
            <p:cNvSpPr/>
            <p:nvPr/>
          </p:nvSpPr>
          <p:spPr>
            <a:xfrm>
              <a:off x="5232111" y="5123797"/>
              <a:ext cx="668495" cy="149827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5%/5%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>
            <a:off x="5638532" y="4768205"/>
            <a:ext cx="1636125" cy="1048393"/>
            <a:chOff x="1290002" y="1227614"/>
            <a:chExt cx="1636764" cy="1048803"/>
          </a:xfrm>
        </p:grpSpPr>
        <p:grpSp>
          <p:nvGrpSpPr>
            <p:cNvPr id="134" name="组合 133"/>
            <p:cNvGrpSpPr/>
            <p:nvPr/>
          </p:nvGrpSpPr>
          <p:grpSpPr>
            <a:xfrm>
              <a:off x="1290002" y="1227614"/>
              <a:ext cx="1503144" cy="1048803"/>
              <a:chOff x="1290002" y="1227614"/>
              <a:chExt cx="1503144" cy="1048803"/>
            </a:xfrm>
          </p:grpSpPr>
          <p:sp>
            <p:nvSpPr>
              <p:cNvPr id="136" name="矩形 135"/>
              <p:cNvSpPr/>
              <p:nvPr/>
            </p:nvSpPr>
            <p:spPr>
              <a:xfrm>
                <a:off x="1290002" y="1227614"/>
                <a:ext cx="1503144" cy="1048803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7283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37" name="矩形 136"/>
              <p:cNvSpPr/>
              <p:nvPr/>
            </p:nvSpPr>
            <p:spPr>
              <a:xfrm>
                <a:off x="1375826" y="1539213"/>
                <a:ext cx="1320798" cy="247089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7283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寄存器亲和</a:t>
                </a:r>
              </a:p>
            </p:txBody>
          </p:sp>
          <p:sp>
            <p:nvSpPr>
              <p:cNvPr id="138" name="矩形 137"/>
              <p:cNvSpPr/>
              <p:nvPr/>
            </p:nvSpPr>
            <p:spPr>
              <a:xfrm>
                <a:off x="1375826" y="1936929"/>
                <a:ext cx="1397059" cy="21514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7283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函调调用</a:t>
                </a: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-&gt;</a:t>
                </a:r>
                <a:r>
                  <a:rPr kumimoji="0" lang="zh-CN" altLang="en-US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D1321"/>
                    </a:solidFill>
                    <a:effectLst/>
                    <a:uLnTx/>
                    <a:uFillTx/>
                    <a:latin typeface="微软雅黑"/>
                    <a:ea typeface="微软雅黑" panose="020B0503020204020204" pitchFamily="34" charset="-122"/>
                    <a:cs typeface="+mn-cs"/>
                  </a:rPr>
                  <a:t>机器码</a:t>
                </a:r>
              </a:p>
            </p:txBody>
          </p:sp>
        </p:grpSp>
        <p:sp>
          <p:nvSpPr>
            <p:cNvPr id="135" name="矩形 134"/>
            <p:cNvSpPr/>
            <p:nvPr/>
          </p:nvSpPr>
          <p:spPr>
            <a:xfrm>
              <a:off x="2166224" y="1438833"/>
              <a:ext cx="760542" cy="156173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72834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1%/1% 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/>
                  <a:ea typeface="微软雅黑" panose="020B0503020204020204" pitchFamily="34" charset="-122"/>
                  <a:cs typeface="+mn-cs"/>
                </a:rPr>
                <a:t>↑</a:t>
              </a:r>
              <a:endPara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139" name="直接箭头连接符 138"/>
          <p:cNvCxnSpPr>
            <a:stCxn id="105" idx="2"/>
            <a:endCxn id="112" idx="0"/>
          </p:cNvCxnSpPr>
          <p:nvPr/>
        </p:nvCxnSpPr>
        <p:spPr>
          <a:xfrm flipH="1">
            <a:off x="1930513" y="3795124"/>
            <a:ext cx="1536243" cy="613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/>
        </p:nvCxnSpPr>
        <p:spPr>
          <a:xfrm>
            <a:off x="3476860" y="3798722"/>
            <a:ext cx="2193495" cy="6098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>
            <a:endCxn id="112" idx="0"/>
          </p:cNvCxnSpPr>
          <p:nvPr/>
        </p:nvCxnSpPr>
        <p:spPr>
          <a:xfrm>
            <a:off x="1237948" y="3846928"/>
            <a:ext cx="692564" cy="5616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>
            <a:endCxn id="126" idx="0"/>
          </p:cNvCxnSpPr>
          <p:nvPr/>
        </p:nvCxnSpPr>
        <p:spPr>
          <a:xfrm>
            <a:off x="5638532" y="3798725"/>
            <a:ext cx="89775" cy="6214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3" name="矩形 142"/>
          <p:cNvSpPr/>
          <p:nvPr/>
        </p:nvSpPr>
        <p:spPr>
          <a:xfrm>
            <a:off x="4566424" y="1760205"/>
            <a:ext cx="1223561" cy="2478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官方扩展插件</a:t>
            </a:r>
          </a:p>
        </p:txBody>
      </p:sp>
      <p:cxnSp>
        <p:nvCxnSpPr>
          <p:cNvPr id="144" name="直接箭头连接符 143"/>
          <p:cNvCxnSpPr>
            <a:stCxn id="94" idx="2"/>
            <a:endCxn id="101" idx="0"/>
          </p:cNvCxnSpPr>
          <p:nvPr/>
        </p:nvCxnSpPr>
        <p:spPr>
          <a:xfrm flipH="1">
            <a:off x="3868874" y="1736253"/>
            <a:ext cx="1712034" cy="627269"/>
          </a:xfrm>
          <a:prstGeom prst="straightConnector1">
            <a:avLst/>
          </a:prstGeom>
          <a:ln>
            <a:solidFill>
              <a:srgbClr val="0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矩形 145"/>
          <p:cNvSpPr/>
          <p:nvPr/>
        </p:nvSpPr>
        <p:spPr>
          <a:xfrm>
            <a:off x="8182023" y="2363522"/>
            <a:ext cx="3720409" cy="36288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7746018" y="3899289"/>
            <a:ext cx="475994" cy="18459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8" name="矩形 147"/>
          <p:cNvSpPr/>
          <p:nvPr/>
        </p:nvSpPr>
        <p:spPr>
          <a:xfrm>
            <a:off x="8361239" y="4492863"/>
            <a:ext cx="3356473" cy="1173638"/>
          </a:xfrm>
          <a:prstGeom prst="rect">
            <a:avLst/>
          </a:prstGeom>
          <a:solidFill>
            <a:schemeClr val="tx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其余场景扩展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7F0000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未来规划新增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9" name="矩形 148"/>
          <p:cNvSpPr/>
          <p:nvPr/>
        </p:nvSpPr>
        <p:spPr>
          <a:xfrm>
            <a:off x="8361239" y="2820792"/>
            <a:ext cx="3356473" cy="1233136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t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AI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数据工程场景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（</a:t>
            </a:r>
            <a:r>
              <a:rPr lang="zh-CN" altLang="en-US" sz="1400" b="1" kern="0">
                <a:solidFill>
                  <a:srgbClr val="7F0000"/>
                </a:solidFill>
                <a:latin typeface="微软雅黑"/>
                <a:ea typeface="微软雅黑" panose="020B0503020204020204" pitchFamily="34" charset="-122"/>
              </a:rPr>
              <a:t>本期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7F0000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新增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）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8665993" y="4879091"/>
            <a:ext cx="1110436" cy="6149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机头场景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算子下发</a:t>
            </a:r>
            <a:endParaRPr kumimoji="0" lang="en-US" altLang="zh-CN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8065748" y="2254208"/>
            <a:ext cx="3952960" cy="381569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52" name="矩形 151"/>
          <p:cNvSpPr/>
          <p:nvPr/>
        </p:nvSpPr>
        <p:spPr>
          <a:xfrm>
            <a:off x="10179691" y="4885300"/>
            <a:ext cx="1182286" cy="61499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…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 </a:t>
            </a:r>
            <a:r>
              <a: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/>
                <a:ea typeface="等线" panose="02010600030101010101" pitchFamily="2" charset="-122"/>
                <a:cs typeface="+mn-cs"/>
              </a:rPr>
              <a:t>…</a:t>
            </a:r>
          </a:p>
        </p:txBody>
      </p:sp>
      <p:sp>
        <p:nvSpPr>
          <p:cNvPr id="157" name="文本框 156"/>
          <p:cNvSpPr txBox="1"/>
          <p:nvPr/>
        </p:nvSpPr>
        <p:spPr>
          <a:xfrm>
            <a:off x="8818886" y="2390068"/>
            <a:ext cx="2707957" cy="2153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srgbClr val="0D1321"/>
                </a:solidFill>
                <a:effectLst/>
                <a:uLnTx/>
                <a:uFillTx/>
                <a:latin typeface="微软雅黑"/>
                <a:ea typeface="微软雅黑" panose="020B0503020204020204" pitchFamily="34" charset="-122"/>
                <a:cs typeface="+mn-cs"/>
              </a:rPr>
              <a:t>扩展场景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0D1321"/>
              </a:solidFill>
              <a:effectLst/>
              <a:uLnTx/>
              <a:uFillTx/>
              <a:latin typeface="微软雅黑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2" name="文本框 171"/>
          <p:cNvSpPr txBox="1"/>
          <p:nvPr/>
        </p:nvSpPr>
        <p:spPr>
          <a:xfrm>
            <a:off x="8284795" y="924412"/>
            <a:ext cx="3432917" cy="92296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扩展点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、识别是否值得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JIT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（代价评估）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扩展</a:t>
            </a:r>
            <a:endParaRPr kumimoji="1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、扩展的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LIR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的优化</a:t>
            </a: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PASS </a:t>
            </a:r>
          </a:p>
          <a:p>
            <a:pPr marL="0" marR="0" lvl="0" indent="0" algn="l" defTabSz="91376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1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codegen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向量化生成</a:t>
            </a:r>
          </a:p>
        </p:txBody>
      </p:sp>
      <p:sp>
        <p:nvSpPr>
          <p:cNvPr id="10" name="箭头: 左 9"/>
          <p:cNvSpPr/>
          <p:nvPr/>
        </p:nvSpPr>
        <p:spPr>
          <a:xfrm>
            <a:off x="7714047" y="4074809"/>
            <a:ext cx="351700" cy="281940"/>
          </a:xfrm>
          <a:prstGeom prst="lef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81" name="矩形 180"/>
          <p:cNvSpPr/>
          <p:nvPr/>
        </p:nvSpPr>
        <p:spPr>
          <a:xfrm>
            <a:off x="9470660" y="3209929"/>
            <a:ext cx="1110436" cy="614998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marL="0" marR="0" lvl="0" indent="0" algn="ctr" defTabSz="7283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UDF JIT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插件</a:t>
            </a:r>
            <a:endParaRPr kumimoji="0" lang="en-US" altLang="zh-CN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标题 1"/>
          <p:cNvSpPr txBox="1"/>
          <p:nvPr/>
        </p:nvSpPr>
        <p:spPr>
          <a:xfrm>
            <a:off x="354193" y="320569"/>
            <a:ext cx="11672251" cy="509746"/>
          </a:xfrm>
          <a:ln>
            <a:noFill/>
            <a:prstDash val="dash"/>
          </a:ln>
        </p:spPr>
        <p:txBody>
          <a:bodyPr lIns="0" tIns="0" rIns="0" bIns="0" anchor="ctr">
            <a:noAutofit/>
          </a:bodyPr>
          <a:lstStyle>
            <a:defPPr>
              <a:defRPr lang="zh-CN"/>
            </a:defPPr>
            <a:lvl1pPr defTabSz="914400">
              <a:spcBef>
                <a:spcPct val="0"/>
              </a:spcBef>
              <a:defRPr sz="2800" b="1">
                <a:solidFill>
                  <a:srgbClr val="990000"/>
                </a:solidFill>
                <a:latin typeface="+mn-ea"/>
                <a:cs typeface="Arial" panose="020B0604020202020204" pitchFamily="34" charset="0"/>
              </a:defRPr>
            </a:lvl1pPr>
          </a:lstStyle>
          <a:p>
            <a:pPr defTabSz="1186815">
              <a:lnSpc>
                <a:spcPct val="120000"/>
              </a:lnSpc>
              <a:spcBef>
                <a:spcPts val="1300"/>
              </a:spcBef>
              <a:defRPr/>
            </a:pPr>
            <a:r>
              <a:rPr lang="zh-CN" altLang="en-US" sz="2400" dirty="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技术点进展</a:t>
            </a:r>
            <a:r>
              <a:rPr lang="zh-CN" altLang="en-US" sz="24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lang="en-US" altLang="zh-CN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UDF JIT</a:t>
            </a:r>
            <a:r>
              <a:rPr lang="zh-CN" altLang="en-US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穿刺，文本</a:t>
            </a:r>
            <a:r>
              <a:rPr lang="en-US" altLang="zh-CN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pipeline</a:t>
            </a:r>
            <a:r>
              <a:rPr lang="zh-CN" altLang="en-US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1.87x</a:t>
            </a:r>
            <a:r>
              <a:rPr lang="zh-CN" altLang="en-US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 pipeline</a:t>
            </a:r>
            <a:r>
              <a:rPr lang="zh-CN" altLang="en-US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</a:t>
            </a:r>
            <a:r>
              <a:rPr lang="en-US" altLang="zh-CN" sz="2000">
                <a:solidFill>
                  <a:srgbClr val="E9002F">
                    <a:lumMod val="7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1.4x</a:t>
            </a:r>
            <a:endParaRPr lang="zh-CN" altLang="zh-CN" sz="100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8927354" y="20106"/>
            <a:ext cx="3248665" cy="171065"/>
            <a:chOff x="8932105" y="17441"/>
            <a:chExt cx="3251204" cy="171199"/>
          </a:xfrm>
        </p:grpSpPr>
        <p:sp>
          <p:nvSpPr>
            <p:cNvPr id="24" name="矩形 2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矩形 2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矩形 2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130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8927354" y="197698"/>
          <a:ext cx="3248661" cy="181539"/>
        </p:xfrm>
        <a:graphic>
          <a:graphicData uri="http://schemas.openxmlformats.org/drawingml/2006/table">
            <a:tbl>
              <a:tblPr/>
              <a:tblGrid>
                <a:gridCol w="604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9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372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153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技术全景</a:t>
                      </a: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算子加速框架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dirty="0"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分布式存储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rgbClr val="FFFF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数据编排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188085" rtl="0" eaLnBrk="1" fontAlgn="ctr" latinLnBrk="0" hangingPunct="1">
                        <a:lnSpc>
                          <a:spcPct val="100000"/>
                        </a:lnSpc>
                      </a:pPr>
                      <a:r>
                        <a:rPr lang="zh-CN" altLang="en-US" sz="900" b="0" i="1" u="none" strike="noStrike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微调框架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" name="Rounded Rectangle 85"/>
          <p:cNvSpPr/>
          <p:nvPr/>
        </p:nvSpPr>
        <p:spPr bwMode="auto">
          <a:xfrm>
            <a:off x="354193" y="1457309"/>
            <a:ext cx="746633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t"/>
          <a:lstStyle/>
          <a:p>
            <a:pPr defTabSz="1217930">
              <a:spcAft>
                <a:spcPts val="600"/>
              </a:spcAft>
              <a:defRPr/>
            </a:pPr>
            <a:endParaRPr lang="zh-CN" altLang="en-US" sz="1400" b="1" ker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33" name="矩形 187"/>
          <p:cNvSpPr/>
          <p:nvPr/>
        </p:nvSpPr>
        <p:spPr>
          <a:xfrm>
            <a:off x="2803242" y="1298552"/>
            <a:ext cx="3014025" cy="30764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 defTabSz="912495"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关键技术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：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Typed JIT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（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16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人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/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rPr>
              <a:t>月）</a:t>
            </a: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403719" y="1616508"/>
            <a:ext cx="7513060" cy="891192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171450" indent="-171450" defTabSz="91313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循环类型特化：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将逐字符遍历、分类、计数和阈值判断编译为类型明确的循环，减少动态类型检查和通用</a:t>
            </a:r>
            <a:r>
              <a: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Python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操作开销</a:t>
            </a:r>
            <a:endParaRPr lang="en-US" altLang="zh-CN" sz="105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13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不可变查表优化：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将固定标点映射转为不可变查找表，避免每行重新创建标点字典和调用通用转换逻辑</a:t>
            </a:r>
            <a:endParaRPr lang="en-US" altLang="zh-CN" sz="105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13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字符串处理特化：</a:t>
            </a:r>
            <a:r>
              <a:rPr lang="zh-CN" altLang="en-US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将可识别的空白归一化逻辑编译为字符分类、有限状态转换和专用字符串构造，减少通用正则处理开销</a:t>
            </a:r>
          </a:p>
        </p:txBody>
      </p:sp>
      <p:grpSp>
        <p:nvGrpSpPr>
          <p:cNvPr id="37" name="组合 36"/>
          <p:cNvGrpSpPr/>
          <p:nvPr/>
        </p:nvGrpSpPr>
        <p:grpSpPr>
          <a:xfrm>
            <a:off x="354194" y="2724802"/>
            <a:ext cx="7466332" cy="1344912"/>
            <a:chOff x="5383363" y="3234415"/>
            <a:chExt cx="6467719" cy="1345438"/>
          </a:xfrm>
        </p:grpSpPr>
        <p:sp>
          <p:nvSpPr>
            <p:cNvPr id="39" name="Rounded Rectangle 85"/>
            <p:cNvSpPr/>
            <p:nvPr/>
          </p:nvSpPr>
          <p:spPr bwMode="auto">
            <a:xfrm>
              <a:off x="5383363" y="3394120"/>
              <a:ext cx="6467719" cy="997298"/>
            </a:xfrm>
            <a:prstGeom prst="roundRect">
              <a:avLst>
                <a:gd name="adj" fmla="val 2101"/>
              </a:avLst>
            </a:prstGeom>
            <a:solidFill>
              <a:schemeClr val="tx2"/>
            </a:solidFill>
            <a:ln w="9525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ysDash"/>
            </a:ln>
            <a:effectLst/>
          </p:spPr>
          <p:txBody>
            <a:bodyPr lIns="71944" tIns="35972" rIns="71944" bIns="35972" rtlCol="0" anchor="t"/>
            <a:lstStyle/>
            <a:p>
              <a:pPr defTabSz="1217930">
                <a:spcAft>
                  <a:spcPts val="600"/>
                </a:spcAft>
                <a:defRPr/>
              </a:pPr>
              <a:endParaRPr lang="zh-CN" altLang="en-US" sz="14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0" name="矩形 187"/>
            <p:cNvSpPr/>
            <p:nvPr/>
          </p:nvSpPr>
          <p:spPr>
            <a:xfrm>
              <a:off x="7360438" y="3234415"/>
              <a:ext cx="3146158" cy="307768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 defTabSz="912495">
                <a:defRPr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关键技术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2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：框架表达式下沉（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16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人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/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月）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5407426" y="3525306"/>
              <a:ext cx="6376959" cy="10545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44145" indent="-144145" defTabSz="913130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正则清洗下沉：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HTML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、链接、版权文本清洗转换为原生</a:t>
              </a:r>
              <a:r>
                <a:rPr lang="en-US" altLang="zh-CN" sz="105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regexp_replace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，消除逐行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 UDF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调用和</a:t>
              </a:r>
              <a:r>
                <a:rPr lang="en-US" altLang="zh-CN" sz="105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re.sub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4145" indent="-144145" defTabSz="913130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字符串变换下沉：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将标点替换、空白归一化转换为原生替换与裁剪表达式，交给框架处理整列字符串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44145" indent="-144145" defTabSz="913130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过滤与统计下沉：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将长度判断、启发式语言评分转换为长度、字符计数、比较等表达式，减少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列表、字典及评分循环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354193" y="4236185"/>
            <a:ext cx="7466332" cy="1532956"/>
            <a:chOff x="5383363" y="4709801"/>
            <a:chExt cx="6467718" cy="1533555"/>
          </a:xfrm>
        </p:grpSpPr>
        <p:sp>
          <p:nvSpPr>
            <p:cNvPr id="43" name="Rounded Rectangle 85"/>
            <p:cNvSpPr/>
            <p:nvPr/>
          </p:nvSpPr>
          <p:spPr bwMode="auto">
            <a:xfrm>
              <a:off x="5383363" y="4850949"/>
              <a:ext cx="6467718" cy="1392407"/>
            </a:xfrm>
            <a:prstGeom prst="roundRect">
              <a:avLst>
                <a:gd name="adj" fmla="val 2101"/>
              </a:avLst>
            </a:prstGeom>
            <a:solidFill>
              <a:schemeClr val="tx2"/>
            </a:solidFill>
            <a:ln w="9525" cap="flat" cmpd="sng" algn="ctr">
              <a:solidFill>
                <a:schemeClr val="bg1">
                  <a:lumMod val="40000"/>
                  <a:lumOff val="60000"/>
                </a:schemeClr>
              </a:solidFill>
              <a:prstDash val="sysDash"/>
            </a:ln>
            <a:effectLst/>
          </p:spPr>
          <p:txBody>
            <a:bodyPr lIns="71944" tIns="35972" rIns="71944" bIns="35972" rtlCol="0" anchor="t"/>
            <a:lstStyle/>
            <a:p>
              <a:pPr defTabSz="1217930">
                <a:spcAft>
                  <a:spcPts val="600"/>
                </a:spcAft>
                <a:defRPr/>
              </a:pPr>
              <a:endParaRPr lang="zh-CN" altLang="en-US" sz="1400" b="1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endParaRPr>
            </a:p>
          </p:txBody>
        </p:sp>
        <p:sp>
          <p:nvSpPr>
            <p:cNvPr id="46" name="矩形 187"/>
            <p:cNvSpPr/>
            <p:nvPr/>
          </p:nvSpPr>
          <p:spPr>
            <a:xfrm>
              <a:off x="7335905" y="4709801"/>
              <a:ext cx="3420829" cy="307768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 defTabSz="912495">
                <a:defRPr/>
              </a:pP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关键技术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3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：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Guarded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批量执行（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16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人</a:t>
              </a:r>
              <a:r>
                <a:rPr lang="en-US" altLang="zh-CN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/</a:t>
              </a:r>
              <a:r>
                <a:rPr lang="zh-CN" altLang="en-US" sz="140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/>
                </a:rPr>
                <a:t>月）</a:t>
              </a:r>
              <a:endPara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5383363" y="4960635"/>
              <a:ext cx="6294899" cy="12161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 defTabSz="913130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en-US" altLang="zh-CN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</a:t>
              </a: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批入口与编译批循环：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一次接收整批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数据，通过</a:t>
              </a:r>
              <a:r>
                <a:rPr lang="en-US" altLang="zh-CN" sz="1050" dirty="0" err="1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CinderX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编译的批循环执行，摊薄逐行调用、包装和数据转换成本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defTabSz="913130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守卫结果缓存：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在输入及依赖满足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guard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条件时，复用重复输入对应的结果，减少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索引查询、业务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JSON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构造等重复工作</a:t>
              </a:r>
              <a:endParaRPr lang="en-US" altLang="zh-CN" sz="105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indent="-171450" defTabSz="913130">
                <a:spcAft>
                  <a:spcPts val="600"/>
                </a:spcAft>
                <a:buFont typeface="Arial" panose="020B0604020202020204" pitchFamily="34" charset="0"/>
                <a:buChar char="•"/>
                <a:defRPr/>
              </a:pPr>
              <a:r>
                <a:rPr lang="zh-CN" altLang="en-US" sz="105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字典去重与结果重建：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对适用批次先提取唯一输入，仅计算唯一值，再通过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Arrow take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恢复完整结果列，进一步减少计算量和</a:t>
              </a:r>
              <a:r>
                <a:rPr lang="en-US" altLang="zh-CN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</a:t>
              </a:r>
              <a:r>
                <a:rPr lang="zh-CN" altLang="en-US" sz="105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对象物化</a:t>
              </a:r>
              <a:endParaRPr lang="en-US" altLang="zh-CN" sz="105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" name="箭头: 右 3"/>
          <p:cNvSpPr/>
          <p:nvPr/>
        </p:nvSpPr>
        <p:spPr>
          <a:xfrm>
            <a:off x="8013881" y="1733742"/>
            <a:ext cx="842210" cy="45118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Rounded Rectangle 85"/>
          <p:cNvSpPr/>
          <p:nvPr/>
        </p:nvSpPr>
        <p:spPr bwMode="auto">
          <a:xfrm>
            <a:off x="9016410" y="1451845"/>
            <a:ext cx="279734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ctr"/>
          <a:lstStyle/>
          <a:p>
            <a:pPr algn="ctr" defTabSz="1217930">
              <a:spcAft>
                <a:spcPts val="600"/>
              </a:spcAft>
              <a:defRPr/>
            </a:pP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FineWeb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（文本）提升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1.28x</a:t>
            </a:r>
            <a:endParaRPr lang="zh-CN" altLang="en-US" b="1" ker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49" name="箭头: 右 48"/>
          <p:cNvSpPr/>
          <p:nvPr/>
        </p:nvSpPr>
        <p:spPr>
          <a:xfrm>
            <a:off x="8013881" y="4837657"/>
            <a:ext cx="842210" cy="45118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0" name="Rounded Rectangle 85"/>
          <p:cNvSpPr/>
          <p:nvPr/>
        </p:nvSpPr>
        <p:spPr bwMode="auto">
          <a:xfrm>
            <a:off x="9016410" y="4555760"/>
            <a:ext cx="279734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ctr"/>
          <a:lstStyle/>
          <a:p>
            <a:pPr algn="ctr" defTabSz="1217930">
              <a:spcAft>
                <a:spcPts val="600"/>
              </a:spcAft>
              <a:defRPr/>
            </a:pP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nuScenes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AD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）提升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1.44x</a:t>
            </a:r>
            <a:endParaRPr lang="zh-CN" altLang="en-US" b="1" ker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51" name="箭头: 右 50"/>
          <p:cNvSpPr/>
          <p:nvPr/>
        </p:nvSpPr>
        <p:spPr>
          <a:xfrm>
            <a:off x="8013881" y="3150233"/>
            <a:ext cx="842210" cy="451184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2" name="Rounded Rectangle 85"/>
          <p:cNvSpPr/>
          <p:nvPr/>
        </p:nvSpPr>
        <p:spPr bwMode="auto">
          <a:xfrm>
            <a:off x="9016410" y="2868336"/>
            <a:ext cx="2797342" cy="1013017"/>
          </a:xfrm>
          <a:prstGeom prst="roundRect">
            <a:avLst>
              <a:gd name="adj" fmla="val 2101"/>
            </a:avLst>
          </a:prstGeom>
          <a:solidFill>
            <a:schemeClr val="tx2"/>
          </a:solidFill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ctr"/>
          <a:lstStyle/>
          <a:p>
            <a:pPr algn="ctr" defTabSz="1217930">
              <a:spcAft>
                <a:spcPts val="600"/>
              </a:spcAft>
              <a:defRPr/>
            </a:pP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FineWeb</a:t>
            </a:r>
            <a:r>
              <a:rPr lang="zh-CN" altLang="en-US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（文本）提升</a:t>
            </a:r>
            <a:r>
              <a:rPr lang="en-US" altLang="zh-CN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2.37x</a:t>
            </a:r>
            <a:endParaRPr lang="zh-CN" altLang="en-US" b="1" ker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359860" y="386715"/>
            <a:ext cx="10736446" cy="521703"/>
          </a:xfrm>
        </p:spPr>
        <p:txBody>
          <a:bodyPr>
            <a:normAutofit/>
          </a:bodyPr>
          <a:lstStyle/>
          <a:p>
            <a:r>
              <a:rPr lang="en-US" altLang="zh-CN" dirty="0">
                <a:solidFill>
                  <a:srgbClr val="C00000"/>
                </a:solidFill>
              </a:rPr>
              <a:t>Rust </a:t>
            </a:r>
            <a:r>
              <a:rPr lang="zh-CN" altLang="en-US" dirty="0">
                <a:solidFill>
                  <a:srgbClr val="C00000"/>
                </a:solidFill>
              </a:rPr>
              <a:t>编译器</a:t>
            </a:r>
            <a:r>
              <a:rPr lang="en-US" altLang="zh-CN" dirty="0">
                <a:solidFill>
                  <a:srgbClr val="C00000"/>
                </a:solidFill>
              </a:rPr>
              <a:t>/</a:t>
            </a:r>
            <a:r>
              <a:rPr lang="zh-CN" altLang="en-US" dirty="0">
                <a:solidFill>
                  <a:srgbClr val="C00000"/>
                </a:solidFill>
              </a:rPr>
              <a:t>语言性能优化技术点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8928618" y="18774"/>
            <a:ext cx="3249934" cy="171132"/>
            <a:chOff x="8932105" y="17441"/>
            <a:chExt cx="3251204" cy="171199"/>
          </a:xfrm>
        </p:grpSpPr>
        <p:sp>
          <p:nvSpPr>
            <p:cNvPr id="14" name="矩形 1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5175620" y="130726"/>
            <a:ext cx="2892491" cy="521703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zh-CN" altLang="en-US" sz="1800" b="1" dirty="0">
                <a:solidFill>
                  <a:srgbClr val="221815"/>
                </a:solidFill>
                <a:latin typeface="Calibri" panose="020F0502020204030204"/>
                <a:ea typeface="等线" panose="02010600030101010101" pitchFamily="2" charset="-122"/>
              </a:rPr>
              <a:t>隋致远</a:t>
            </a:r>
          </a:p>
        </p:txBody>
      </p:sp>
      <p:grpSp>
        <p:nvGrpSpPr>
          <p:cNvPr id="4" name="组合 3"/>
          <p:cNvGrpSpPr/>
          <p:nvPr/>
        </p:nvGrpSpPr>
        <p:grpSpPr>
          <a:xfrm>
            <a:off x="6290673" y="2035054"/>
            <a:ext cx="5443330" cy="636904"/>
            <a:chOff x="5496864" y="2224224"/>
            <a:chExt cx="5445456" cy="637153"/>
          </a:xfrm>
        </p:grpSpPr>
        <p:grpSp>
          <p:nvGrpSpPr>
            <p:cNvPr id="45" name="组合 44"/>
            <p:cNvGrpSpPr/>
            <p:nvPr/>
          </p:nvGrpSpPr>
          <p:grpSpPr>
            <a:xfrm>
              <a:off x="7899479" y="2280735"/>
              <a:ext cx="1454124" cy="530974"/>
              <a:chOff x="8161910" y="5016248"/>
              <a:chExt cx="2196000" cy="540003"/>
            </a:xfrm>
          </p:grpSpPr>
          <p:sp>
            <p:nvSpPr>
              <p:cNvPr id="46" name="矩形: 圆角 45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>
                  <a:defRPr/>
                </a:pP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Dataset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矩形: 圆顶角 46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Rust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52" name="组合 51"/>
            <p:cNvGrpSpPr/>
            <p:nvPr/>
          </p:nvGrpSpPr>
          <p:grpSpPr>
            <a:xfrm>
              <a:off x="9421981" y="2280735"/>
              <a:ext cx="1454124" cy="530974"/>
              <a:chOff x="8161910" y="5016248"/>
              <a:chExt cx="2196000" cy="540003"/>
            </a:xfrm>
          </p:grpSpPr>
          <p:sp>
            <p:nvSpPr>
              <p:cNvPr id="53" name="矩形: 圆角 52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扫描查询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sz="800" b="1" dirty="0">
                    <a:solidFill>
                      <a:srgbClr val="1D1D1A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Scanner/Query</a:t>
                </a:r>
                <a:endParaRPr lang="en-US" altLang="zh-CN" sz="1100" b="1" dirty="0">
                  <a:solidFill>
                    <a:srgbClr val="1D1D1A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54" name="矩形: 圆顶角 53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Rust</a:t>
                </a:r>
              </a:p>
            </p:txBody>
          </p:sp>
        </p:grpSp>
        <p:grpSp>
          <p:nvGrpSpPr>
            <p:cNvPr id="56" name="组合 55"/>
            <p:cNvGrpSpPr/>
            <p:nvPr/>
          </p:nvGrpSpPr>
          <p:grpSpPr>
            <a:xfrm>
              <a:off x="6376978" y="2280735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57" name="矩形: 圆角 56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Python API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8" name="矩形: 圆顶角 57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5" name="矩形: 圆角 134"/>
            <p:cNvSpPr/>
            <p:nvPr/>
          </p:nvSpPr>
          <p:spPr>
            <a:xfrm>
              <a:off x="6309359" y="2224224"/>
              <a:ext cx="4632961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38" name="矩形: 圆角 137"/>
            <p:cNvSpPr/>
            <p:nvPr/>
          </p:nvSpPr>
          <p:spPr>
            <a:xfrm>
              <a:off x="5496864" y="2224225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Lance</a:t>
              </a:r>
            </a:p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存储</a:t>
              </a: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7148892" y="2861309"/>
            <a:ext cx="1453556" cy="530767"/>
            <a:chOff x="8161910" y="5016248"/>
            <a:chExt cx="2196000" cy="540003"/>
          </a:xfrm>
        </p:grpSpPr>
        <p:sp>
          <p:nvSpPr>
            <p:cNvPr id="66" name="矩形: 圆角 65"/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<a:noAutofit/>
            </a:bodyPr>
            <a:lstStyle/>
            <a:p>
              <a:pPr algn="ctr" defTabSz="913765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原生结构算子</a:t>
              </a:r>
            </a:p>
            <a:p>
              <a:pPr algn="ctr" defTabSz="913765">
                <a:defRPr/>
              </a:pPr>
              <a:r>
                <a:rPr lang="en-US" altLang="zh-CN" sz="800" b="1" dirty="0">
                  <a:solidFill>
                    <a:srgbClr val="1D1D1A"/>
                  </a:solidFill>
                  <a:latin typeface="Calibri" panose="020F0502020204030204"/>
                  <a:ea typeface="微软雅黑" panose="020B0503020204020204" pitchFamily="34" charset="-122"/>
                </a:rPr>
                <a:t>join/explode/distinct</a:t>
              </a:r>
            </a:p>
          </p:txBody>
        </p:sp>
        <p:sp>
          <p:nvSpPr>
            <p:cNvPr id="67" name="矩形: 圆顶角 66"/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Rust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8676444" y="2865465"/>
            <a:ext cx="1453556" cy="530767"/>
            <a:chOff x="8161910" y="5016248"/>
            <a:chExt cx="2196000" cy="540003"/>
          </a:xfrm>
          <a:solidFill>
            <a:srgbClr val="FCD410"/>
          </a:solidFill>
        </p:grpSpPr>
        <p:sp>
          <p:nvSpPr>
            <p:cNvPr id="78" name="矩形: 圆角 77"/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 API</a:t>
              </a: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</a:t>
              </a:r>
              <a:endPara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9" name="矩形: 圆顶角 78"/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900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Python</a:t>
              </a:r>
              <a:endParaRPr lang="zh-CN" altLang="en-US" sz="9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34" name="矩形: 圆角 133"/>
          <p:cNvSpPr/>
          <p:nvPr/>
        </p:nvSpPr>
        <p:spPr>
          <a:xfrm>
            <a:off x="7106237" y="2808241"/>
            <a:ext cx="3086468" cy="636904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1200" b="1" dirty="0">
              <a:solidFill>
                <a:srgbClr val="FFFFFF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39" name="矩形: 圆角 138"/>
          <p:cNvSpPr/>
          <p:nvPr/>
        </p:nvSpPr>
        <p:spPr>
          <a:xfrm>
            <a:off x="6290673" y="2806518"/>
            <a:ext cx="743826" cy="636904"/>
          </a:xfrm>
          <a:prstGeom prst="roundRect">
            <a:avLst>
              <a:gd name="adj" fmla="val 0"/>
            </a:avLst>
          </a:prstGeom>
          <a:solidFill>
            <a:srgbClr val="268895"/>
          </a:solidFill>
          <a:ln>
            <a:solidFill>
              <a:srgbClr val="2688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en-US" altLang="zh-CN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Daft</a:t>
            </a:r>
            <a:br>
              <a:rPr lang="en-US" altLang="zh-CN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</a:br>
            <a:r>
              <a: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执行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6290674" y="3653240"/>
            <a:ext cx="5446717" cy="636903"/>
            <a:chOff x="5496864" y="3705878"/>
            <a:chExt cx="5448845" cy="637152"/>
          </a:xfrm>
        </p:grpSpPr>
        <p:grpSp>
          <p:nvGrpSpPr>
            <p:cNvPr id="104" name="组合 103"/>
            <p:cNvGrpSpPr/>
            <p:nvPr/>
          </p:nvGrpSpPr>
          <p:grpSpPr>
            <a:xfrm>
              <a:off x="6376978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05" name="矩形: 圆角 104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 Frame </a:t>
                </a: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算子调度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6" name="矩形: 圆顶角 105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07" name="组合 106"/>
            <p:cNvGrpSpPr/>
            <p:nvPr/>
          </p:nvGrpSpPr>
          <p:grpSpPr>
            <a:xfrm>
              <a:off x="7899479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08" name="矩形: 圆角 107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UDF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封装自定义算子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9" name="矩形: 圆顶角 108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6" name="矩形: 圆角 135"/>
            <p:cNvSpPr/>
            <p:nvPr/>
          </p:nvSpPr>
          <p:spPr>
            <a:xfrm>
              <a:off x="6312746" y="3705878"/>
              <a:ext cx="4632963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0" name="矩形: 圆角 139"/>
            <p:cNvSpPr/>
            <p:nvPr/>
          </p:nvSpPr>
          <p:spPr>
            <a:xfrm>
              <a:off x="5496864" y="3705878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用户</a:t>
              </a:r>
              <a:endParaRPr lang="en-US" altLang="zh-CN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调度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290674" y="4547975"/>
            <a:ext cx="5446715" cy="1257053"/>
            <a:chOff x="5496864" y="4493016"/>
            <a:chExt cx="5448843" cy="1257544"/>
          </a:xfrm>
        </p:grpSpPr>
        <p:grpSp>
          <p:nvGrpSpPr>
            <p:cNvPr id="3" name="组合 2"/>
            <p:cNvGrpSpPr/>
            <p:nvPr/>
          </p:nvGrpSpPr>
          <p:grpSpPr>
            <a:xfrm>
              <a:off x="6376978" y="4546101"/>
              <a:ext cx="1454124" cy="530950"/>
              <a:chOff x="3982078" y="5293713"/>
              <a:chExt cx="1931166" cy="479213"/>
            </a:xfrm>
          </p:grpSpPr>
          <p:sp>
            <p:nvSpPr>
              <p:cNvPr id="111" name="矩形: 圆角 110"/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OpenCV</a:t>
                </a:r>
                <a:endParaRPr lang="en-US" altLang="zh-CN" sz="1100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图像尺寸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模糊度</a:t>
                </a:r>
                <a:endParaRPr lang="en-US" altLang="zh-CN" sz="11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13" name="矩形: 圆顶角 112"/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>
              <a:off x="7899479" y="4546101"/>
              <a:ext cx="1454124" cy="530977"/>
              <a:chOff x="3903038" y="3774549"/>
              <a:chExt cx="1454124" cy="530977"/>
            </a:xfrm>
          </p:grpSpPr>
          <p:sp>
            <p:nvSpPr>
              <p:cNvPr id="115" name="矩形: 圆角 114"/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ffmpeg+PyAV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抽帧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/Resize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矩形: 圆顶角 115"/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17" name="矩形: 圆顶角 116"/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19" name="组合 118"/>
            <p:cNvGrpSpPr/>
            <p:nvPr/>
          </p:nvGrpSpPr>
          <p:grpSpPr>
            <a:xfrm>
              <a:off x="9421981" y="4546101"/>
              <a:ext cx="1454124" cy="530950"/>
              <a:chOff x="3982078" y="5293713"/>
              <a:chExt cx="1931166" cy="479213"/>
            </a:xfrm>
          </p:grpSpPr>
          <p:sp>
            <p:nvSpPr>
              <p:cNvPr id="120" name="矩形: 圆角 119"/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Librosa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soxr</a:t>
                </a:r>
                <a:endParaRPr lang="en-US" altLang="zh-CN" sz="1100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音频特征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重采样</a:t>
                </a:r>
                <a:endParaRPr lang="en-US" altLang="zh-CN" sz="11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21" name="矩形: 圆顶角 120"/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22" name="组合 121"/>
            <p:cNvGrpSpPr/>
            <p:nvPr/>
          </p:nvGrpSpPr>
          <p:grpSpPr>
            <a:xfrm>
              <a:off x="6376978" y="5160380"/>
              <a:ext cx="1454124" cy="530977"/>
              <a:chOff x="3903038" y="3774549"/>
              <a:chExt cx="1454124" cy="530977"/>
            </a:xfrm>
          </p:grpSpPr>
          <p:sp>
            <p:nvSpPr>
              <p:cNvPr id="123" name="矩形: 圆角 122"/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pdfplumber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解析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渲染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/OCR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矩形: 圆顶角 123"/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25" name="矩形: 圆顶角 124"/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26" name="组合 125"/>
            <p:cNvGrpSpPr/>
            <p:nvPr/>
          </p:nvGrpSpPr>
          <p:grpSpPr>
            <a:xfrm>
              <a:off x="7899479" y="5160380"/>
              <a:ext cx="1454124" cy="530977"/>
              <a:chOff x="3903038" y="3774549"/>
              <a:chExt cx="1454124" cy="530977"/>
            </a:xfrm>
          </p:grpSpPr>
          <p:sp>
            <p:nvSpPr>
              <p:cNvPr id="127" name="矩形: 圆角 126"/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PyTorch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BEG/VLM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矩形: 圆顶角 127"/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29" name="矩形: 圆顶角 128"/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30" name="组合 129"/>
            <p:cNvGrpSpPr/>
            <p:nvPr/>
          </p:nvGrpSpPr>
          <p:grpSpPr>
            <a:xfrm>
              <a:off x="9421981" y="5160380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31" name="矩形: 圆角 130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Regex/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MinHash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文本处理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矩形: 圆顶角 131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37" name="矩形: 圆角 136"/>
            <p:cNvSpPr/>
            <p:nvPr/>
          </p:nvSpPr>
          <p:spPr>
            <a:xfrm>
              <a:off x="6312746" y="4493016"/>
              <a:ext cx="4632961" cy="1257544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1" name="矩形: 圆角 140"/>
            <p:cNvSpPr/>
            <p:nvPr/>
          </p:nvSpPr>
          <p:spPr>
            <a:xfrm>
              <a:off x="5496864" y="4496322"/>
              <a:ext cx="744117" cy="1254238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第三方</a:t>
              </a:r>
              <a:br>
                <a:rPr lang="en-US" altLang="zh-CN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</a:br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依赖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290673" y="1384826"/>
            <a:ext cx="5443804" cy="425717"/>
            <a:chOff x="5496390" y="1314864"/>
            <a:chExt cx="5445930" cy="425883"/>
          </a:xfrm>
        </p:grpSpPr>
        <p:sp>
          <p:nvSpPr>
            <p:cNvPr id="20" name="矩形: 圆角 19"/>
            <p:cNvSpPr/>
            <p:nvPr/>
          </p:nvSpPr>
          <p:spPr>
            <a:xfrm>
              <a:off x="637697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文本</a:t>
              </a:r>
            </a:p>
          </p:txBody>
        </p:sp>
        <p:sp>
          <p:nvSpPr>
            <p:cNvPr id="21" name="矩形: 圆角 20"/>
            <p:cNvSpPr/>
            <p:nvPr/>
          </p:nvSpPr>
          <p:spPr>
            <a:xfrm>
              <a:off x="7024833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图像</a:t>
              </a:r>
            </a:p>
          </p:txBody>
        </p:sp>
        <p:sp>
          <p:nvSpPr>
            <p:cNvPr id="22" name="矩形: 圆角 21"/>
            <p:cNvSpPr/>
            <p:nvPr/>
          </p:nvSpPr>
          <p:spPr>
            <a:xfrm>
              <a:off x="767268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音频</a:t>
              </a:r>
            </a:p>
          </p:txBody>
        </p:sp>
        <p:sp>
          <p:nvSpPr>
            <p:cNvPr id="23" name="矩形: 圆角 22"/>
            <p:cNvSpPr/>
            <p:nvPr/>
          </p:nvSpPr>
          <p:spPr>
            <a:xfrm>
              <a:off x="8320542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视频</a:t>
              </a:r>
            </a:p>
          </p:txBody>
        </p:sp>
        <p:sp>
          <p:nvSpPr>
            <p:cNvPr id="24" name="矩形: 圆角 23"/>
            <p:cNvSpPr/>
            <p:nvPr/>
          </p:nvSpPr>
          <p:spPr>
            <a:xfrm>
              <a:off x="8968396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PDF</a:t>
              </a:r>
              <a:endParaRPr lang="zh-CN" altLang="en-US" sz="1200" b="1" dirty="0">
                <a:solidFill>
                  <a:srgbClr val="1D1D1A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5" name="矩形: 圆角 24"/>
            <p:cNvSpPr/>
            <p:nvPr/>
          </p:nvSpPr>
          <p:spPr>
            <a:xfrm>
              <a:off x="9616250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自动驾驶</a:t>
              </a:r>
            </a:p>
          </p:txBody>
        </p:sp>
        <p:sp>
          <p:nvSpPr>
            <p:cNvPr id="26" name="矩形: 圆角 25"/>
            <p:cNvSpPr/>
            <p:nvPr/>
          </p:nvSpPr>
          <p:spPr>
            <a:xfrm>
              <a:off x="6312746" y="1314864"/>
              <a:ext cx="4629574" cy="425883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42" name="矩形: 圆角 141"/>
            <p:cNvSpPr/>
            <p:nvPr/>
          </p:nvSpPr>
          <p:spPr>
            <a:xfrm>
              <a:off x="5496390" y="1314864"/>
              <a:ext cx="744117" cy="425883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场景</a:t>
              </a:r>
            </a:p>
          </p:txBody>
        </p:sp>
        <p:sp>
          <p:nvSpPr>
            <p:cNvPr id="143" name="矩形: 圆角 142"/>
            <p:cNvSpPr/>
            <p:nvPr/>
          </p:nvSpPr>
          <p:spPr>
            <a:xfrm>
              <a:off x="10264105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0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LLM</a:t>
              </a:r>
              <a:r>
                <a:rPr lang="zh-CN" altLang="en-US" sz="10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训练</a:t>
              </a:r>
              <a:br>
                <a:rPr lang="en-US" altLang="zh-CN" sz="9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</a:br>
              <a:r>
                <a:rPr lang="zh-CN" altLang="en-US" sz="10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预处理</a:t>
              </a:r>
            </a:p>
          </p:txBody>
        </p:sp>
      </p:grpSp>
      <p:cxnSp>
        <p:nvCxnSpPr>
          <p:cNvPr id="144" name="连接符: 肘形 143"/>
          <p:cNvCxnSpPr>
            <a:stCxn id="108" idx="2"/>
            <a:endCxn id="113" idx="3"/>
          </p:cNvCxnSpPr>
          <p:nvPr/>
        </p:nvCxnSpPr>
        <p:spPr>
          <a:xfrm rot="5400000">
            <a:off x="8476192" y="3658104"/>
            <a:ext cx="363966" cy="1521907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连接符: 肘形 145"/>
          <p:cNvCxnSpPr>
            <a:stCxn id="108" idx="2"/>
            <a:endCxn id="121" idx="3"/>
          </p:cNvCxnSpPr>
          <p:nvPr/>
        </p:nvCxnSpPr>
        <p:spPr>
          <a:xfrm rot="16200000" flipH="1">
            <a:off x="9998099" y="3658102"/>
            <a:ext cx="363966" cy="152190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/>
          <p:cNvCxnSpPr>
            <a:stCxn id="108" idx="2"/>
            <a:endCxn id="137" idx="0"/>
          </p:cNvCxnSpPr>
          <p:nvPr/>
        </p:nvCxnSpPr>
        <p:spPr>
          <a:xfrm rot="16200000" flipH="1">
            <a:off x="9265020" y="4391181"/>
            <a:ext cx="310902" cy="2685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>
            <a:stCxn id="105" idx="3"/>
            <a:endCxn id="108" idx="1"/>
          </p:cNvCxnSpPr>
          <p:nvPr/>
        </p:nvCxnSpPr>
        <p:spPr>
          <a:xfrm>
            <a:off x="8624000" y="3971692"/>
            <a:ext cx="68350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直接箭头连接符 157"/>
          <p:cNvCxnSpPr>
            <a:stCxn id="78" idx="1"/>
            <a:endCxn id="66" idx="3"/>
          </p:cNvCxnSpPr>
          <p:nvPr/>
        </p:nvCxnSpPr>
        <p:spPr>
          <a:xfrm flipH="1" flipV="1">
            <a:off x="8602448" y="3126694"/>
            <a:ext cx="73996" cy="4156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/>
          <p:cNvCxnSpPr/>
          <p:nvPr/>
        </p:nvCxnSpPr>
        <p:spPr>
          <a:xfrm>
            <a:off x="10145906" y="3115880"/>
            <a:ext cx="68351" cy="3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矩形 165"/>
          <p:cNvSpPr/>
          <p:nvPr/>
        </p:nvSpPr>
        <p:spPr>
          <a:xfrm>
            <a:off x="359859" y="1446779"/>
            <a:ext cx="5793299" cy="4822716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107958" rIns="91404" bIns="45702" numCol="1" spcCol="0" rtlCol="0" fromWordArt="0" anchor="t" anchorCtr="0" forceAA="0" compatLnSpc="1">
            <a:noAutofit/>
          </a:bodyPr>
          <a:lstStyle/>
          <a:p>
            <a:pPr algn="ctr" defTabSz="913765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608486" y="1731650"/>
            <a:ext cx="5384318" cy="453784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 defTabSz="913765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技术方案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765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 利用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Kunpeng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专有的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SVE/CRC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指令，优化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原生算子计算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处理逻辑，提高端到端数据吞吐量。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765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优化任务调度策略，避免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CPU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等待数据调度，提升系统整体硬件利用率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765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✦ 充分利用算子能力，将 鲲鹏亲和算子库和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支持的算子下推到对应模块计算。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 defTabSz="913765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lvl="1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算子下推到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侧），利用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native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算子实现，降低数据源上送数据量。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lvl="1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logical plan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执行，融合多个步骤，减少中间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parrequest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结构生成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lvl="1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层面自动向量化，针对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宽度优化，充分利用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计算模块能力</a:t>
            </a:r>
          </a:p>
          <a:p>
            <a:pPr marL="799465" lvl="1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优化任务分发，启动，并行等调度步骤，提升硬件利用率。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99465" lvl="1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以插件方式接入鲲鹏亲和算子库，提升多模态场景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算子执行效率。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913765"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生态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交付策略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3765">
              <a:lnSpc>
                <a:spcPct val="130000"/>
              </a:lnSpc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及其依赖仓库，以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上游社区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0.7.2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版本为基准开发，在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Booskit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社区源码交付。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8523871" y="2597035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171" name="文本框 170"/>
          <p:cNvSpPr txBox="1"/>
          <p:nvPr/>
        </p:nvSpPr>
        <p:spPr>
          <a:xfrm>
            <a:off x="7187528" y="2826890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172" name="文本框 171"/>
          <p:cNvSpPr txBox="1"/>
          <p:nvPr/>
        </p:nvSpPr>
        <p:spPr>
          <a:xfrm>
            <a:off x="7387064" y="2826890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173" name="文本框 172"/>
          <p:cNvSpPr txBox="1"/>
          <p:nvPr/>
        </p:nvSpPr>
        <p:spPr>
          <a:xfrm>
            <a:off x="7551775" y="3658824"/>
            <a:ext cx="179466" cy="21536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</a:p>
        </p:txBody>
      </p:sp>
      <p:grpSp>
        <p:nvGrpSpPr>
          <p:cNvPr id="92" name="组合 91"/>
          <p:cNvGrpSpPr/>
          <p:nvPr/>
        </p:nvGrpSpPr>
        <p:grpSpPr>
          <a:xfrm>
            <a:off x="10264444" y="2850496"/>
            <a:ext cx="1403368" cy="530767"/>
            <a:chOff x="8161910" y="5016248"/>
            <a:chExt cx="2196000" cy="540003"/>
          </a:xfrm>
        </p:grpSpPr>
        <p:sp>
          <p:nvSpPr>
            <p:cNvPr id="93" name="矩形: 圆角 92"/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143944" rIns="91404" bIns="0" numCol="1" spcCol="0" rtlCol="0" fromWordArt="0" anchor="ctr" anchorCtr="0" forceAA="0" compatLnSpc="1">
              <a:noAutofit/>
            </a:bodyPr>
            <a:lstStyle/>
            <a:p>
              <a:pPr algn="ctr" defTabSz="913765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鲲鹏亲和算子库</a:t>
              </a:r>
              <a:r>
                <a:rPr lang="en-US" altLang="zh-CN" sz="800" b="1" dirty="0">
                  <a:solidFill>
                    <a:srgbClr val="1D1D1A"/>
                  </a:solidFill>
                  <a:latin typeface="Calibri" panose="020F0502020204030204"/>
                  <a:ea typeface="微软雅黑" panose="020B0503020204020204" pitchFamily="34" charset="-122"/>
                </a:rPr>
                <a:t>image/video/text</a:t>
              </a:r>
            </a:p>
          </p:txBody>
        </p:sp>
        <p:sp>
          <p:nvSpPr>
            <p:cNvPr id="94" name="矩形: 圆顶角 93"/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Rust</a:t>
              </a:r>
            </a:p>
          </p:txBody>
        </p:sp>
      </p:grpSp>
      <p:sp>
        <p:nvSpPr>
          <p:cNvPr id="96" name="矩形: 圆角 95"/>
          <p:cNvSpPr/>
          <p:nvPr/>
        </p:nvSpPr>
        <p:spPr>
          <a:xfrm>
            <a:off x="10235808" y="2802657"/>
            <a:ext cx="1500052" cy="636904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1200" b="1" dirty="0">
              <a:solidFill>
                <a:srgbClr val="FFFFFF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0233073" y="2806407"/>
            <a:ext cx="179536" cy="21531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</a:p>
        </p:txBody>
      </p:sp>
      <p:cxnSp>
        <p:nvCxnSpPr>
          <p:cNvPr id="10" name="连接符: 肘形 9"/>
          <p:cNvCxnSpPr>
            <a:stCxn id="57" idx="2"/>
            <a:endCxn id="79" idx="3"/>
          </p:cNvCxnSpPr>
          <p:nvPr/>
        </p:nvCxnSpPr>
        <p:spPr>
          <a:xfrm rot="16200000" flipH="1">
            <a:off x="8528643" y="1990886"/>
            <a:ext cx="243156" cy="1506001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/>
          <p:cNvCxnSpPr>
            <a:stCxn id="106" idx="3"/>
            <a:endCxn id="78" idx="2"/>
          </p:cNvCxnSpPr>
          <p:nvPr/>
        </p:nvCxnSpPr>
        <p:spPr>
          <a:xfrm rot="5400000" flipH="1" flipV="1">
            <a:off x="8495185" y="2798270"/>
            <a:ext cx="310075" cy="1506000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362100" y="316656"/>
            <a:ext cx="11369702" cy="521499"/>
          </a:xfrm>
        </p:spPr>
        <p:txBody>
          <a:bodyPr>
            <a:normAutofit fontScale="82500" lnSpcReduction="10000"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优化 </a:t>
            </a:r>
            <a:r>
              <a:rPr lang="en-US" altLang="zh-CN" dirty="0">
                <a:solidFill>
                  <a:srgbClr val="C00000"/>
                </a:solidFill>
              </a:rPr>
              <a:t>Daft </a:t>
            </a:r>
            <a:r>
              <a:rPr lang="zh-CN" altLang="en-US" dirty="0">
                <a:solidFill>
                  <a:srgbClr val="C00000"/>
                </a:solidFill>
              </a:rPr>
              <a:t>实现，充分利用向量化，访存预取以及</a:t>
            </a:r>
            <a:r>
              <a:rPr lang="en-US" altLang="zh-CN" dirty="0">
                <a:solidFill>
                  <a:srgbClr val="C00000"/>
                </a:solidFill>
              </a:rPr>
              <a:t>Kunpeng</a:t>
            </a:r>
            <a:r>
              <a:rPr lang="zh-CN" altLang="en-US" dirty="0">
                <a:solidFill>
                  <a:srgbClr val="C00000"/>
                </a:solidFill>
              </a:rPr>
              <a:t>多核心并行能力，实现端到端提升</a:t>
            </a:r>
            <a:r>
              <a:rPr lang="en-US" altLang="zh-CN" dirty="0">
                <a:solidFill>
                  <a:srgbClr val="C00000"/>
                </a:solidFill>
              </a:rPr>
              <a:t>5%</a:t>
            </a:r>
            <a:endParaRPr lang="zh-CN" altLang="en-US" dirty="0">
              <a:solidFill>
                <a:srgbClr val="C00000"/>
              </a:solidFill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927512" y="20106"/>
            <a:ext cx="3248665" cy="171065"/>
            <a:chOff x="8932105" y="17441"/>
            <a:chExt cx="3251204" cy="171199"/>
          </a:xfrm>
        </p:grpSpPr>
        <p:sp>
          <p:nvSpPr>
            <p:cNvPr id="14" name="矩形 13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矩形 15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" name="矩形 16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368" tIns="45684" rIns="91368" bIns="45684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6" name="矩形 165"/>
          <p:cNvSpPr/>
          <p:nvPr/>
        </p:nvSpPr>
        <p:spPr>
          <a:xfrm>
            <a:off x="6163439" y="1807283"/>
            <a:ext cx="5791037" cy="2761113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107916" rIns="91368" bIns="45684" numCol="1" spcCol="0" rtlCol="0" fromWordArt="0" anchor="t" anchorCtr="0" forceAA="0" compatLnSpc="1">
            <a:noAutofit/>
          </a:bodyPr>
          <a:lstStyle/>
          <a:p>
            <a:pPr algn="ctr" defTabSz="913765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关键技术点</a:t>
            </a:r>
          </a:p>
        </p:txBody>
      </p:sp>
      <p:sp>
        <p:nvSpPr>
          <p:cNvPr id="167" name="文本框 166"/>
          <p:cNvSpPr txBox="1"/>
          <p:nvPr/>
        </p:nvSpPr>
        <p:spPr>
          <a:xfrm>
            <a:off x="6355194" y="1982542"/>
            <a:ext cx="5382216" cy="239776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765">
              <a:lnSpc>
                <a:spcPct val="130000"/>
              </a:lnSpc>
              <a:defRPr/>
            </a:pP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265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kumimoji="1"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向量化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：优化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层面自动向量化，针对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950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指定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宽度优化，充分利用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sve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计算模块能力。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265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logical plan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执行，融合多个步骤，减少中间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parrequest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结构生成，降低数据处理时延。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265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优化任务分发，启动等调度步骤，提升并行度，利用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Kunpeng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众核优势，提升端到端吞吐量。</a:t>
            </a:r>
          </a:p>
          <a:p>
            <a:pPr marL="342265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算子下推到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侧），利用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 native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算子实现，降低数据源上送数据量。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265" indent="-342900" defTabSz="913765">
              <a:lnSpc>
                <a:spcPct val="130000"/>
              </a:lnSpc>
              <a:buFont typeface="+mj-ea"/>
              <a:buAutoNum type="circleNumDbPlain"/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以插件方式接入鲲鹏亲和算子库，提升多模态场景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算子执行效率。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5" name="组合 94"/>
          <p:cNvGrpSpPr/>
          <p:nvPr/>
        </p:nvGrpSpPr>
        <p:grpSpPr>
          <a:xfrm>
            <a:off x="493055" y="2464132"/>
            <a:ext cx="5441205" cy="636655"/>
            <a:chOff x="5496864" y="2224224"/>
            <a:chExt cx="5445456" cy="637153"/>
          </a:xfrm>
        </p:grpSpPr>
        <p:grpSp>
          <p:nvGrpSpPr>
            <p:cNvPr id="97" name="组合 96"/>
            <p:cNvGrpSpPr/>
            <p:nvPr/>
          </p:nvGrpSpPr>
          <p:grpSpPr>
            <a:xfrm>
              <a:off x="7899479" y="2280735"/>
              <a:ext cx="1454124" cy="530974"/>
              <a:chOff x="8161910" y="5016248"/>
              <a:chExt cx="2196000" cy="540003"/>
            </a:xfrm>
          </p:grpSpPr>
          <p:sp>
            <p:nvSpPr>
              <p:cNvPr id="118" name="矩形: 圆角 117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>
                  <a:defRPr/>
                </a:pP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Dataset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模块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矩形: 圆顶角 132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Rust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98" name="组合 97"/>
            <p:cNvGrpSpPr/>
            <p:nvPr/>
          </p:nvGrpSpPr>
          <p:grpSpPr>
            <a:xfrm>
              <a:off x="9421981" y="2280735"/>
              <a:ext cx="1454124" cy="530974"/>
              <a:chOff x="8161910" y="5016248"/>
              <a:chExt cx="2196000" cy="540003"/>
            </a:xfrm>
          </p:grpSpPr>
          <p:sp>
            <p:nvSpPr>
              <p:cNvPr id="110" name="矩形: 圆角 109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扫描查询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en-US" altLang="zh-CN" sz="800" b="1" dirty="0">
                    <a:solidFill>
                      <a:srgbClr val="1D1D1A"/>
                    </a:solidFill>
                    <a:latin typeface="Calibri" panose="020F0502020204030204"/>
                    <a:ea typeface="微软雅黑" panose="020B0503020204020204" pitchFamily="34" charset="-122"/>
                  </a:rPr>
                  <a:t>Scanner/Query</a:t>
                </a:r>
                <a:endParaRPr lang="en-US" altLang="zh-CN" sz="1100" b="1" dirty="0">
                  <a:solidFill>
                    <a:srgbClr val="1D1D1A"/>
                  </a:solidFill>
                  <a:latin typeface="Calibri" panose="020F0502020204030204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2" name="矩形: 圆顶角 111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7749B1"/>
              </a:solidFill>
              <a:ln>
                <a:solidFill>
                  <a:srgbClr val="7749B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Rust</a:t>
                </a:r>
              </a:p>
            </p:txBody>
          </p:sp>
        </p:grpSp>
        <p:grpSp>
          <p:nvGrpSpPr>
            <p:cNvPr id="99" name="组合 98"/>
            <p:cNvGrpSpPr/>
            <p:nvPr/>
          </p:nvGrpSpPr>
          <p:grpSpPr>
            <a:xfrm>
              <a:off x="6376978" y="2280735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02" name="矩形: 圆角 101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Python API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接口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03" name="矩形: 圆顶角 102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00" name="矩形: 圆角 99"/>
            <p:cNvSpPr/>
            <p:nvPr/>
          </p:nvSpPr>
          <p:spPr>
            <a:xfrm>
              <a:off x="6309359" y="2224224"/>
              <a:ext cx="4632961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01" name="矩形: 圆角 100"/>
            <p:cNvSpPr/>
            <p:nvPr/>
          </p:nvSpPr>
          <p:spPr>
            <a:xfrm>
              <a:off x="5496864" y="2224225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Lance</a:t>
              </a:r>
            </a:p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存储</a:t>
              </a:r>
            </a:p>
          </p:txBody>
        </p:sp>
      </p:grpSp>
      <p:grpSp>
        <p:nvGrpSpPr>
          <p:cNvPr id="145" name="组合 144"/>
          <p:cNvGrpSpPr/>
          <p:nvPr/>
        </p:nvGrpSpPr>
        <p:grpSpPr>
          <a:xfrm>
            <a:off x="1350939" y="3290066"/>
            <a:ext cx="1452988" cy="530560"/>
            <a:chOff x="8161910" y="5016248"/>
            <a:chExt cx="2196000" cy="540003"/>
          </a:xfrm>
        </p:grpSpPr>
        <p:sp>
          <p:nvSpPr>
            <p:cNvPr id="147" name="矩形: 圆角 146"/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<a:noAutofit/>
            </a:bodyPr>
            <a:lstStyle/>
            <a:p>
              <a:pPr algn="ctr" defTabSz="913765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原生结构算子</a:t>
              </a:r>
            </a:p>
            <a:p>
              <a:pPr algn="ctr" defTabSz="913765">
                <a:defRPr/>
              </a:pPr>
              <a:r>
                <a:rPr lang="en-US" altLang="zh-CN" sz="800" b="1" dirty="0">
                  <a:solidFill>
                    <a:srgbClr val="1D1D1A"/>
                  </a:solidFill>
                  <a:latin typeface="Calibri" panose="020F0502020204030204"/>
                  <a:ea typeface="微软雅黑" panose="020B0503020204020204" pitchFamily="34" charset="-122"/>
                </a:rPr>
                <a:t>join/explode/distinct</a:t>
              </a:r>
            </a:p>
          </p:txBody>
        </p:sp>
        <p:sp>
          <p:nvSpPr>
            <p:cNvPr id="148" name="矩形: 圆顶角 147"/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Rust</a:t>
              </a: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2877895" y="3294220"/>
            <a:ext cx="1452988" cy="530560"/>
            <a:chOff x="8161910" y="5016248"/>
            <a:chExt cx="2196000" cy="540003"/>
          </a:xfrm>
          <a:solidFill>
            <a:srgbClr val="FCD410"/>
          </a:solidFill>
        </p:grpSpPr>
        <p:sp>
          <p:nvSpPr>
            <p:cNvPr id="151" name="矩形: 圆角 150"/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Python API</a:t>
              </a: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接口</a:t>
              </a:r>
              <a:endParaRPr lang="zh-CN" altLang="en-US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矩形: 圆顶角 151"/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grpFill/>
            <a:ln>
              <a:solidFill>
                <a:srgbClr val="FDD40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900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Python</a:t>
              </a:r>
              <a:endParaRPr lang="zh-CN" altLang="en-US" sz="900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</p:grpSp>
      <p:sp>
        <p:nvSpPr>
          <p:cNvPr id="153" name="矩形: 圆角 152"/>
          <p:cNvSpPr/>
          <p:nvPr/>
        </p:nvSpPr>
        <p:spPr>
          <a:xfrm>
            <a:off x="1308300" y="3237018"/>
            <a:ext cx="3085263" cy="636655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1200" b="1" dirty="0">
              <a:solidFill>
                <a:srgbClr val="FFFFFF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55" name="矩形: 圆角 154"/>
          <p:cNvSpPr/>
          <p:nvPr/>
        </p:nvSpPr>
        <p:spPr>
          <a:xfrm>
            <a:off x="493055" y="3235295"/>
            <a:ext cx="743536" cy="636655"/>
          </a:xfrm>
          <a:prstGeom prst="roundRect">
            <a:avLst>
              <a:gd name="adj" fmla="val 0"/>
            </a:avLst>
          </a:prstGeom>
          <a:solidFill>
            <a:srgbClr val="268895"/>
          </a:solidFill>
          <a:ln>
            <a:solidFill>
              <a:srgbClr val="26889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en-US" altLang="zh-CN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Daft</a:t>
            </a:r>
            <a:br>
              <a:rPr lang="en-US" altLang="zh-CN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</a:br>
            <a:r>
              <a: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rPr>
              <a:t>执行</a:t>
            </a:r>
          </a:p>
        </p:txBody>
      </p:sp>
      <p:grpSp>
        <p:nvGrpSpPr>
          <p:cNvPr id="156" name="组合 155"/>
          <p:cNvGrpSpPr/>
          <p:nvPr/>
        </p:nvGrpSpPr>
        <p:grpSpPr>
          <a:xfrm>
            <a:off x="493058" y="4081688"/>
            <a:ext cx="5444590" cy="636654"/>
            <a:chOff x="5496864" y="3705878"/>
            <a:chExt cx="5448845" cy="637152"/>
          </a:xfrm>
        </p:grpSpPr>
        <p:grpSp>
          <p:nvGrpSpPr>
            <p:cNvPr id="157" name="组合 156"/>
            <p:cNvGrpSpPr/>
            <p:nvPr/>
          </p:nvGrpSpPr>
          <p:grpSpPr>
            <a:xfrm>
              <a:off x="6376978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65" name="矩形: 圆角 164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Data Frame </a:t>
                </a: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算子调度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矩形: 圆顶角 167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59" name="组合 158"/>
            <p:cNvGrpSpPr/>
            <p:nvPr/>
          </p:nvGrpSpPr>
          <p:grpSpPr>
            <a:xfrm>
              <a:off x="7899479" y="3758966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63" name="矩形: 圆角 162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UDF 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封装自定义算子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矩形: 圆顶角 163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61" name="矩形: 圆角 160"/>
            <p:cNvSpPr/>
            <p:nvPr/>
          </p:nvSpPr>
          <p:spPr>
            <a:xfrm>
              <a:off x="6312746" y="3705878"/>
              <a:ext cx="4632963" cy="637152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62" name="矩形: 圆角 161"/>
            <p:cNvSpPr/>
            <p:nvPr/>
          </p:nvSpPr>
          <p:spPr>
            <a:xfrm>
              <a:off x="5496864" y="3705878"/>
              <a:ext cx="744117" cy="637152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用户</a:t>
              </a:r>
              <a:endParaRPr lang="en-US" altLang="zh-CN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调度</a:t>
              </a:r>
            </a:p>
          </p:txBody>
        </p:sp>
      </p:grpSp>
      <p:grpSp>
        <p:nvGrpSpPr>
          <p:cNvPr id="169" name="组合 168"/>
          <p:cNvGrpSpPr/>
          <p:nvPr/>
        </p:nvGrpSpPr>
        <p:grpSpPr>
          <a:xfrm>
            <a:off x="493058" y="4976074"/>
            <a:ext cx="5444588" cy="1256562"/>
            <a:chOff x="5496864" y="4493016"/>
            <a:chExt cx="5448843" cy="1257544"/>
          </a:xfrm>
        </p:grpSpPr>
        <p:grpSp>
          <p:nvGrpSpPr>
            <p:cNvPr id="174" name="组合 173"/>
            <p:cNvGrpSpPr/>
            <p:nvPr/>
          </p:nvGrpSpPr>
          <p:grpSpPr>
            <a:xfrm>
              <a:off x="6376978" y="4546101"/>
              <a:ext cx="1454124" cy="530950"/>
              <a:chOff x="3982078" y="5293713"/>
              <a:chExt cx="1931166" cy="479213"/>
            </a:xfrm>
          </p:grpSpPr>
          <p:sp>
            <p:nvSpPr>
              <p:cNvPr id="195" name="矩形: 圆角 194"/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OpenCV</a:t>
                </a:r>
                <a:endParaRPr lang="en-US" altLang="zh-CN" sz="1100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图像尺寸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模糊度</a:t>
                </a:r>
                <a:endParaRPr lang="en-US" altLang="zh-CN" sz="11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96" name="矩形: 圆顶角 195"/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75" name="组合 174"/>
            <p:cNvGrpSpPr/>
            <p:nvPr/>
          </p:nvGrpSpPr>
          <p:grpSpPr>
            <a:xfrm>
              <a:off x="7899479" y="4546101"/>
              <a:ext cx="1454124" cy="530977"/>
              <a:chOff x="3903038" y="3774549"/>
              <a:chExt cx="1454124" cy="530977"/>
            </a:xfrm>
          </p:grpSpPr>
          <p:sp>
            <p:nvSpPr>
              <p:cNvPr id="192" name="矩形: 圆角 191"/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ffmpeg+PyAV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转码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抽帧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/Resize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矩形: 圆顶角 192"/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94" name="矩形: 圆顶角 193"/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76" name="组合 175"/>
            <p:cNvGrpSpPr/>
            <p:nvPr/>
          </p:nvGrpSpPr>
          <p:grpSpPr>
            <a:xfrm>
              <a:off x="9421981" y="4546101"/>
              <a:ext cx="1454124" cy="530950"/>
              <a:chOff x="3982078" y="5293713"/>
              <a:chExt cx="1931166" cy="479213"/>
            </a:xfrm>
          </p:grpSpPr>
          <p:sp>
            <p:nvSpPr>
              <p:cNvPr id="190" name="矩形: 圆角 189"/>
              <p:cNvSpPr/>
              <p:nvPr/>
            </p:nvSpPr>
            <p:spPr>
              <a:xfrm>
                <a:off x="3982078" y="5298049"/>
                <a:ext cx="1931166" cy="474877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5F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Librosa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soxr</a:t>
                </a:r>
                <a:endParaRPr lang="en-US" altLang="zh-CN" sz="1100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音频特征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重采样</a:t>
                </a:r>
                <a:endParaRPr lang="en-US" altLang="zh-CN" sz="11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91" name="矩形: 圆顶角 190"/>
              <p:cNvSpPr/>
              <p:nvPr/>
            </p:nvSpPr>
            <p:spPr>
              <a:xfrm>
                <a:off x="3982078" y="5293713"/>
                <a:ext cx="1931166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77" name="组合 176"/>
            <p:cNvGrpSpPr/>
            <p:nvPr/>
          </p:nvGrpSpPr>
          <p:grpSpPr>
            <a:xfrm>
              <a:off x="6376978" y="5160380"/>
              <a:ext cx="1454124" cy="530977"/>
              <a:chOff x="3903038" y="3774549"/>
              <a:chExt cx="1454124" cy="530977"/>
            </a:xfrm>
          </p:grpSpPr>
          <p:sp>
            <p:nvSpPr>
              <p:cNvPr id="187" name="矩形: 圆角 186"/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pdfplumber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765"/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解析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渲染</a:t>
                </a:r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/OCR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矩形: 圆顶角 187"/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5D94E0"/>
              </a:solidFill>
              <a:ln>
                <a:solidFill>
                  <a:srgbClr val="5D94E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89" name="矩形: 圆顶角 188"/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78" name="组合 177"/>
            <p:cNvGrpSpPr/>
            <p:nvPr/>
          </p:nvGrpSpPr>
          <p:grpSpPr>
            <a:xfrm>
              <a:off x="7899479" y="5160380"/>
              <a:ext cx="1454124" cy="530977"/>
              <a:chOff x="3903038" y="3774549"/>
              <a:chExt cx="1454124" cy="530977"/>
            </a:xfrm>
          </p:grpSpPr>
          <p:sp>
            <p:nvSpPr>
              <p:cNvPr id="184" name="矩形: 圆角 183"/>
              <p:cNvSpPr/>
              <p:nvPr/>
            </p:nvSpPr>
            <p:spPr>
              <a:xfrm>
                <a:off x="3903038" y="3774555"/>
                <a:ext cx="1454124" cy="530971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PyTorch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BEG/VLM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矩形: 圆顶角 184"/>
              <p:cNvSpPr/>
              <p:nvPr/>
            </p:nvSpPr>
            <p:spPr>
              <a:xfrm>
                <a:off x="4630100" y="3774549"/>
                <a:ext cx="727062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C/C++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  <p:sp>
            <p:nvSpPr>
              <p:cNvPr id="186" name="矩形: 圆顶角 185"/>
              <p:cNvSpPr/>
              <p:nvPr/>
            </p:nvSpPr>
            <p:spPr>
              <a:xfrm>
                <a:off x="3903038" y="3774553"/>
                <a:ext cx="716375" cy="154532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rgbClr val="FCD410"/>
              </a:solidFill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FFFFFF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grpSp>
          <p:nvGrpSpPr>
            <p:cNvPr id="179" name="组合 178"/>
            <p:cNvGrpSpPr/>
            <p:nvPr/>
          </p:nvGrpSpPr>
          <p:grpSpPr>
            <a:xfrm>
              <a:off x="9421981" y="5160380"/>
              <a:ext cx="1454124" cy="530974"/>
              <a:chOff x="8161910" y="5016248"/>
              <a:chExt cx="2196000" cy="540003"/>
            </a:xfrm>
            <a:solidFill>
              <a:srgbClr val="FCD410"/>
            </a:solidFill>
          </p:grpSpPr>
          <p:sp>
            <p:nvSpPr>
              <p:cNvPr id="182" name="矩形: 圆角 181"/>
              <p:cNvSpPr/>
              <p:nvPr/>
            </p:nvSpPr>
            <p:spPr>
              <a:xfrm>
                <a:off x="8161910" y="5016251"/>
                <a:ext cx="2196000" cy="540000"/>
              </a:xfrm>
              <a:prstGeom prst="roundRect">
                <a:avLst>
                  <a:gd name="adj" fmla="val 0"/>
                </a:avLst>
              </a:prstGeom>
              <a:no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Regex/</a:t>
                </a:r>
                <a:r>
                  <a:rPr lang="en-US" altLang="zh-CN" sz="1100" b="1" dirty="0" err="1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MinHash</a:t>
                </a:r>
                <a:br>
                  <a:rPr lang="en-US" altLang="zh-CN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</a:b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文本处理</a:t>
                </a:r>
                <a:endParaRPr lang="zh-CN" altLang="en-US" sz="11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矩形: 圆顶角 182"/>
              <p:cNvSpPr/>
              <p:nvPr/>
            </p:nvSpPr>
            <p:spPr>
              <a:xfrm>
                <a:off x="8161910" y="5016248"/>
                <a:ext cx="2196000" cy="157163"/>
              </a:xfrm>
              <a:prstGeom prst="round2SameRect">
                <a:avLst>
                  <a:gd name="adj1" fmla="val 0"/>
                  <a:gd name="adj2" fmla="val 0"/>
                </a:avLst>
              </a:prstGeom>
              <a:grpFill/>
              <a:ln>
                <a:solidFill>
                  <a:srgbClr val="FDD40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sz="900" dirty="0">
                    <a:solidFill>
                      <a:srgbClr val="1D1D1A"/>
                    </a:solidFill>
                    <a:latin typeface="Calibri" panose="020F0502020204030204"/>
                    <a:ea typeface="等线" panose="02010600030101010101" pitchFamily="2" charset="-122"/>
                  </a:rPr>
                  <a:t>Python</a:t>
                </a:r>
                <a:endParaRPr lang="zh-CN" altLang="en-US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endParaRPr>
              </a:p>
            </p:txBody>
          </p:sp>
        </p:grpSp>
        <p:sp>
          <p:nvSpPr>
            <p:cNvPr id="180" name="矩形: 圆角 179"/>
            <p:cNvSpPr/>
            <p:nvPr/>
          </p:nvSpPr>
          <p:spPr>
            <a:xfrm>
              <a:off x="6312746" y="4493016"/>
              <a:ext cx="4632961" cy="1257544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181" name="矩形: 圆角 180"/>
            <p:cNvSpPr/>
            <p:nvPr/>
          </p:nvSpPr>
          <p:spPr>
            <a:xfrm>
              <a:off x="5496864" y="4496322"/>
              <a:ext cx="744117" cy="1254238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第三方</a:t>
              </a:r>
              <a:br>
                <a:rPr lang="en-US" altLang="zh-CN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</a:br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依赖</a:t>
              </a:r>
            </a:p>
          </p:txBody>
        </p:sp>
      </p:grpSp>
      <p:grpSp>
        <p:nvGrpSpPr>
          <p:cNvPr id="197" name="组合 196"/>
          <p:cNvGrpSpPr/>
          <p:nvPr/>
        </p:nvGrpSpPr>
        <p:grpSpPr>
          <a:xfrm>
            <a:off x="493055" y="1814160"/>
            <a:ext cx="5441678" cy="425551"/>
            <a:chOff x="5496390" y="1314864"/>
            <a:chExt cx="5445930" cy="425883"/>
          </a:xfrm>
        </p:grpSpPr>
        <p:sp>
          <p:nvSpPr>
            <p:cNvPr id="198" name="矩形: 圆角 197"/>
            <p:cNvSpPr/>
            <p:nvPr/>
          </p:nvSpPr>
          <p:spPr>
            <a:xfrm>
              <a:off x="637697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文本</a:t>
              </a:r>
            </a:p>
          </p:txBody>
        </p:sp>
        <p:sp>
          <p:nvSpPr>
            <p:cNvPr id="199" name="矩形: 圆角 198"/>
            <p:cNvSpPr/>
            <p:nvPr/>
          </p:nvSpPr>
          <p:spPr>
            <a:xfrm>
              <a:off x="7024833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图像</a:t>
              </a:r>
            </a:p>
          </p:txBody>
        </p:sp>
        <p:sp>
          <p:nvSpPr>
            <p:cNvPr id="200" name="矩形: 圆角 199"/>
            <p:cNvSpPr/>
            <p:nvPr/>
          </p:nvSpPr>
          <p:spPr>
            <a:xfrm>
              <a:off x="7672688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音频</a:t>
              </a:r>
            </a:p>
          </p:txBody>
        </p:sp>
        <p:sp>
          <p:nvSpPr>
            <p:cNvPr id="201" name="矩形: 圆角 200"/>
            <p:cNvSpPr/>
            <p:nvPr/>
          </p:nvSpPr>
          <p:spPr>
            <a:xfrm>
              <a:off x="8320542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视频</a:t>
              </a:r>
            </a:p>
          </p:txBody>
        </p:sp>
        <p:sp>
          <p:nvSpPr>
            <p:cNvPr id="202" name="矩形: 圆角 201"/>
            <p:cNvSpPr/>
            <p:nvPr/>
          </p:nvSpPr>
          <p:spPr>
            <a:xfrm>
              <a:off x="8968396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PDF</a:t>
              </a:r>
              <a:endParaRPr lang="zh-CN" altLang="en-US" sz="1200" b="1" dirty="0">
                <a:solidFill>
                  <a:srgbClr val="1D1D1A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03" name="矩形: 圆角 202"/>
            <p:cNvSpPr/>
            <p:nvPr/>
          </p:nvSpPr>
          <p:spPr>
            <a:xfrm>
              <a:off x="9616250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rgbClr val="E8F4E8"/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自动驾驶</a:t>
              </a:r>
            </a:p>
          </p:txBody>
        </p:sp>
        <p:sp>
          <p:nvSpPr>
            <p:cNvPr id="204" name="矩形: 圆角 203"/>
            <p:cNvSpPr/>
            <p:nvPr/>
          </p:nvSpPr>
          <p:spPr>
            <a:xfrm>
              <a:off x="6312746" y="1314864"/>
              <a:ext cx="4629574" cy="425883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zh-CN" altLang="en-US" sz="1200" b="1" dirty="0">
                <a:solidFill>
                  <a:srgbClr val="FFFFFF"/>
                </a:solidFill>
                <a:latin typeface="Calibri" panose="020F0502020204030204"/>
                <a:ea typeface="等线" panose="02010600030101010101" pitchFamily="2" charset="-122"/>
              </a:endParaRPr>
            </a:p>
          </p:txBody>
        </p:sp>
        <p:sp>
          <p:nvSpPr>
            <p:cNvPr id="205" name="矩形: 圆角 204"/>
            <p:cNvSpPr/>
            <p:nvPr/>
          </p:nvSpPr>
          <p:spPr>
            <a:xfrm>
              <a:off x="5496390" y="1314864"/>
              <a:ext cx="744117" cy="425883"/>
            </a:xfrm>
            <a:prstGeom prst="roundRect">
              <a:avLst>
                <a:gd name="adj" fmla="val 0"/>
              </a:avLst>
            </a:prstGeom>
            <a:solidFill>
              <a:srgbClr val="268895"/>
            </a:solidFill>
            <a:ln>
              <a:solidFill>
                <a:srgbClr val="26889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sz="1200" b="1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场景</a:t>
              </a:r>
            </a:p>
          </p:txBody>
        </p:sp>
        <p:sp>
          <p:nvSpPr>
            <p:cNvPr id="206" name="矩形: 圆角 205"/>
            <p:cNvSpPr/>
            <p:nvPr/>
          </p:nvSpPr>
          <p:spPr>
            <a:xfrm>
              <a:off x="10264105" y="1400347"/>
              <a:ext cx="612000" cy="261476"/>
            </a:xfrm>
            <a:prstGeom prst="roundRect">
              <a:avLst>
                <a:gd name="adj" fmla="val 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rgbClr val="1C8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45684" rIns="0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10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LLM</a:t>
              </a:r>
              <a:r>
                <a:rPr lang="zh-CN" altLang="en-US" sz="10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训练</a:t>
              </a:r>
              <a:br>
                <a:rPr lang="en-US" altLang="zh-CN" sz="9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</a:br>
              <a:r>
                <a:rPr lang="zh-CN" altLang="en-US" sz="1000" b="1" dirty="0">
                  <a:solidFill>
                    <a:srgbClr val="1D1D1A"/>
                  </a:solidFill>
                  <a:latin typeface="Calibri" panose="020F0502020204030204"/>
                  <a:ea typeface="等线" panose="02010600030101010101" pitchFamily="2" charset="-122"/>
                </a:rPr>
                <a:t>预处理</a:t>
              </a:r>
            </a:p>
          </p:txBody>
        </p:sp>
      </p:grpSp>
      <p:cxnSp>
        <p:nvCxnSpPr>
          <p:cNvPr id="207" name="连接符: 肘形 206"/>
          <p:cNvCxnSpPr>
            <a:stCxn id="163" idx="2"/>
            <a:endCxn id="196" idx="3"/>
          </p:cNvCxnSpPr>
          <p:nvPr/>
        </p:nvCxnSpPr>
        <p:spPr>
          <a:xfrm rot="5400000">
            <a:off x="2677721" y="4086550"/>
            <a:ext cx="363824" cy="1521313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连接符: 肘形 207"/>
          <p:cNvCxnSpPr>
            <a:stCxn id="163" idx="2"/>
            <a:endCxn id="191" idx="3"/>
          </p:cNvCxnSpPr>
          <p:nvPr/>
        </p:nvCxnSpPr>
        <p:spPr>
          <a:xfrm rot="16200000" flipH="1">
            <a:off x="4199033" y="4086546"/>
            <a:ext cx="363824" cy="152131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连接符: 肘形 208"/>
          <p:cNvCxnSpPr>
            <a:stCxn id="163" idx="2"/>
            <a:endCxn id="180" idx="0"/>
          </p:cNvCxnSpPr>
          <p:nvPr/>
        </p:nvCxnSpPr>
        <p:spPr>
          <a:xfrm rot="16200000" flipH="1">
            <a:off x="3466240" y="4819341"/>
            <a:ext cx="310781" cy="268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/>
          <p:cNvCxnSpPr>
            <a:stCxn id="165" idx="3"/>
            <a:endCxn id="163" idx="1"/>
          </p:cNvCxnSpPr>
          <p:nvPr/>
        </p:nvCxnSpPr>
        <p:spPr>
          <a:xfrm>
            <a:off x="2825471" y="4400014"/>
            <a:ext cx="68323" cy="0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/>
          <p:cNvCxnSpPr>
            <a:stCxn id="151" idx="1"/>
            <a:endCxn id="147" idx="3"/>
          </p:cNvCxnSpPr>
          <p:nvPr/>
        </p:nvCxnSpPr>
        <p:spPr>
          <a:xfrm flipH="1" flipV="1">
            <a:off x="2803927" y="3555346"/>
            <a:ext cx="73967" cy="4154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/>
          <p:cNvCxnSpPr/>
          <p:nvPr/>
        </p:nvCxnSpPr>
        <p:spPr>
          <a:xfrm>
            <a:off x="4346784" y="3544538"/>
            <a:ext cx="68324" cy="3"/>
          </a:xfrm>
          <a:prstGeom prst="straightConnector1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文本框 212"/>
          <p:cNvSpPr txBox="1"/>
          <p:nvPr/>
        </p:nvSpPr>
        <p:spPr>
          <a:xfrm>
            <a:off x="1398689" y="3248072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</a:t>
            </a:r>
          </a:p>
        </p:txBody>
      </p:sp>
      <p:sp>
        <p:nvSpPr>
          <p:cNvPr id="214" name="文本框 213"/>
          <p:cNvSpPr txBox="1"/>
          <p:nvPr/>
        </p:nvSpPr>
        <p:spPr>
          <a:xfrm>
            <a:off x="1593146" y="3248072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</a:t>
            </a:r>
          </a:p>
        </p:txBody>
      </p:sp>
      <p:sp>
        <p:nvSpPr>
          <p:cNvPr id="215" name="文本框 214"/>
          <p:cNvSpPr txBox="1"/>
          <p:nvPr/>
        </p:nvSpPr>
        <p:spPr>
          <a:xfrm>
            <a:off x="3039992" y="3867236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</a:t>
            </a:r>
          </a:p>
        </p:txBody>
      </p:sp>
      <p:sp>
        <p:nvSpPr>
          <p:cNvPr id="216" name="文本框 215"/>
          <p:cNvSpPr txBox="1"/>
          <p:nvPr/>
        </p:nvSpPr>
        <p:spPr>
          <a:xfrm>
            <a:off x="2755950" y="3039452"/>
            <a:ext cx="179396" cy="21527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④</a:t>
            </a:r>
          </a:p>
        </p:txBody>
      </p:sp>
      <p:grpSp>
        <p:nvGrpSpPr>
          <p:cNvPr id="217" name="组合 216"/>
          <p:cNvGrpSpPr/>
          <p:nvPr/>
        </p:nvGrpSpPr>
        <p:grpSpPr>
          <a:xfrm>
            <a:off x="4465274" y="3279257"/>
            <a:ext cx="1402820" cy="530560"/>
            <a:chOff x="8161910" y="5016248"/>
            <a:chExt cx="2196000" cy="540003"/>
          </a:xfrm>
        </p:grpSpPr>
        <p:sp>
          <p:nvSpPr>
            <p:cNvPr id="218" name="矩形: 圆角 217"/>
            <p:cNvSpPr/>
            <p:nvPr/>
          </p:nvSpPr>
          <p:spPr>
            <a:xfrm>
              <a:off x="8161910" y="5016251"/>
              <a:ext cx="2196000" cy="540000"/>
            </a:xfrm>
            <a:prstGeom prst="roundRect">
              <a:avLst>
                <a:gd name="adj" fmla="val 0"/>
              </a:avLst>
            </a:prstGeom>
            <a:noFill/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143888" rIns="91368" bIns="0" numCol="1" spcCol="0" rtlCol="0" fromWordArt="0" anchor="ctr" anchorCtr="0" forceAA="0" compatLnSpc="1">
              <a:noAutofit/>
            </a:bodyPr>
            <a:lstStyle/>
            <a:p>
              <a:pPr algn="ctr" defTabSz="913765">
                <a:defRPr/>
              </a:pPr>
              <a:r>
                <a:rPr lang="zh-CN" altLang="en-US" sz="1100" b="1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鲲鹏亲和算子库</a:t>
              </a:r>
              <a:r>
                <a:rPr lang="en-US" altLang="zh-CN" sz="800" b="1" dirty="0">
                  <a:solidFill>
                    <a:srgbClr val="1D1D1A"/>
                  </a:solidFill>
                  <a:latin typeface="Calibri" panose="020F0502020204030204"/>
                  <a:ea typeface="微软雅黑" panose="020B0503020204020204" pitchFamily="34" charset="-122"/>
                </a:rPr>
                <a:t>image/video/text</a:t>
              </a:r>
            </a:p>
          </p:txBody>
        </p:sp>
        <p:sp>
          <p:nvSpPr>
            <p:cNvPr id="219" name="矩形: 圆顶角 218"/>
            <p:cNvSpPr/>
            <p:nvPr/>
          </p:nvSpPr>
          <p:spPr>
            <a:xfrm>
              <a:off x="8161910" y="5016248"/>
              <a:ext cx="2196000" cy="157163"/>
            </a:xfrm>
            <a:prstGeom prst="round2SameRect">
              <a:avLst>
                <a:gd name="adj1" fmla="val 0"/>
                <a:gd name="adj2" fmla="val 0"/>
              </a:avLst>
            </a:prstGeom>
            <a:solidFill>
              <a:srgbClr val="7749B1"/>
            </a:solidFill>
            <a:ln>
              <a:solidFill>
                <a:srgbClr val="7749B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en-US" altLang="zh-CN" sz="900" dirty="0">
                  <a:solidFill>
                    <a:srgbClr val="FFFFFF"/>
                  </a:solidFill>
                  <a:latin typeface="Calibri" panose="020F0502020204030204"/>
                  <a:ea typeface="等线" panose="02010600030101010101" pitchFamily="2" charset="-122"/>
                </a:rPr>
                <a:t>Rust</a:t>
              </a:r>
            </a:p>
          </p:txBody>
        </p:sp>
      </p:grpSp>
      <p:sp>
        <p:nvSpPr>
          <p:cNvPr id="220" name="矩形: 圆角 219"/>
          <p:cNvSpPr/>
          <p:nvPr/>
        </p:nvSpPr>
        <p:spPr>
          <a:xfrm>
            <a:off x="4436650" y="3231436"/>
            <a:ext cx="1499466" cy="636655"/>
          </a:xfrm>
          <a:prstGeom prst="roundRect">
            <a:avLst>
              <a:gd name="adj" fmla="val 0"/>
            </a:avLst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noAutofit/>
          </a:bodyPr>
          <a:lstStyle/>
          <a:p>
            <a:pPr algn="ctr" defTabSz="913765"/>
            <a:endParaRPr lang="zh-CN" altLang="en-US" sz="1200" b="1" dirty="0">
              <a:solidFill>
                <a:srgbClr val="FFFFFF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221" name="文本框 220"/>
          <p:cNvSpPr txBox="1"/>
          <p:nvPr/>
        </p:nvSpPr>
        <p:spPr>
          <a:xfrm>
            <a:off x="4433916" y="3235186"/>
            <a:ext cx="179466" cy="21523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913765"/>
            <a:r>
              <a:rPr kumimoji="1" lang="zh-CN" altLang="en-US" sz="1400" dirty="0">
                <a:solidFill>
                  <a:srgbClr val="7F0000">
                    <a:lumMod val="60000"/>
                    <a:lumOff val="4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</a:t>
            </a:r>
          </a:p>
        </p:txBody>
      </p:sp>
      <p:cxnSp>
        <p:nvCxnSpPr>
          <p:cNvPr id="222" name="连接符: 肘形 221"/>
          <p:cNvCxnSpPr>
            <a:stCxn id="102" idx="2"/>
            <a:endCxn id="152" idx="3"/>
          </p:cNvCxnSpPr>
          <p:nvPr/>
        </p:nvCxnSpPr>
        <p:spPr>
          <a:xfrm rot="16200000" flipH="1">
            <a:off x="2730151" y="2419983"/>
            <a:ext cx="243061" cy="1505413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连接符: 肘形 222"/>
          <p:cNvCxnSpPr>
            <a:stCxn id="168" idx="3"/>
            <a:endCxn id="151" idx="2"/>
          </p:cNvCxnSpPr>
          <p:nvPr/>
        </p:nvCxnSpPr>
        <p:spPr>
          <a:xfrm rot="5400000" flipH="1" flipV="1">
            <a:off x="2696708" y="3227050"/>
            <a:ext cx="309954" cy="1505412"/>
          </a:xfrm>
          <a:prstGeom prst="bentConnector3">
            <a:avLst/>
          </a:prstGeom>
          <a:ln w="127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4" name="矩形 223"/>
          <p:cNvSpPr/>
          <p:nvPr/>
        </p:nvSpPr>
        <p:spPr>
          <a:xfrm>
            <a:off x="313154" y="734102"/>
            <a:ext cx="11555780" cy="916651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40000"/>
                <a:lumOff val="60000"/>
              </a:schemeClr>
            </a:solidFill>
            <a:prstDash val="sysDash"/>
          </a:ln>
          <a:effectLst/>
        </p:spPr>
        <p:txBody>
          <a:bodyPr lIns="71944" tIns="35972" rIns="71944" bIns="35972" rtlCol="0" anchor="t"/>
          <a:lstStyle/>
          <a:p>
            <a:pPr defTabSz="913765">
              <a:lnSpc>
                <a:spcPct val="130000"/>
              </a:lnSpc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目标：通过优化 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Daft 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 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rust 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原生代码实现，实现端到端相对提升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5%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950 vs 9654</a:t>
            </a:r>
            <a:r>
              <a:rPr lang="zh-CN" altLang="en-US" sz="12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kumimoji="0" lang="en-US" altLang="zh-CN" sz="12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indent="-171450" defTabSz="913765">
              <a:lnSpc>
                <a:spcPct val="130000"/>
              </a:lnSpc>
              <a:buFont typeface="Arial" panose="020B0604020202020204" pitchFamily="34" charset="0"/>
              <a:buChar char="•"/>
              <a:defRPr/>
            </a:pP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</a:p>
        </p:txBody>
      </p:sp>
      <p:sp>
        <p:nvSpPr>
          <p:cNvPr id="91" name="矩形 90"/>
          <p:cNvSpPr/>
          <p:nvPr/>
        </p:nvSpPr>
        <p:spPr>
          <a:xfrm>
            <a:off x="578250" y="5797371"/>
            <a:ext cx="5289888" cy="86745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r>
              <a:rPr lang="en-US" altLang="zh-CN" sz="1800" dirty="0"/>
              <a:t>1.</a:t>
            </a:r>
            <a:r>
              <a:rPr lang="zh-CN" altLang="en-US" sz="1800" dirty="0"/>
              <a:t>缺少进展页，补充，刷新整体里程碑；</a:t>
            </a:r>
            <a:endParaRPr lang="en-US" altLang="zh-CN" sz="1800" dirty="0"/>
          </a:p>
          <a:p>
            <a:r>
              <a:rPr lang="en-US" altLang="zh-CN" sz="1800" dirty="0"/>
              <a:t>2.</a:t>
            </a:r>
            <a:r>
              <a:rPr lang="zh-CN" altLang="en-US" sz="1800" dirty="0"/>
              <a:t>提炼关键技术点，补充鲲鹏技术点，性能贡献；</a:t>
            </a:r>
            <a:endParaRPr lang="en-US" altLang="zh-CN" sz="1800" dirty="0"/>
          </a:p>
          <a:p>
            <a:r>
              <a:rPr lang="en-US" altLang="zh-CN" sz="1800" dirty="0"/>
              <a:t>3.</a:t>
            </a:r>
            <a:r>
              <a:rPr lang="zh-CN" altLang="en-US" sz="1800" dirty="0"/>
              <a:t>运行时统一模块，一句话描述</a:t>
            </a:r>
            <a:endParaRPr lang="en-US" altLang="zh-CN" sz="1800" dirty="0"/>
          </a:p>
        </p:txBody>
      </p:sp>
      <p:sp>
        <p:nvSpPr>
          <p:cNvPr id="229" name="右箭头 69"/>
          <p:cNvSpPr/>
          <p:nvPr/>
        </p:nvSpPr>
        <p:spPr bwMode="auto">
          <a:xfrm>
            <a:off x="6163439" y="5624210"/>
            <a:ext cx="5791037" cy="180093"/>
          </a:xfrm>
          <a:prstGeom prst="rightArrow">
            <a:avLst/>
          </a:prstGeom>
          <a:solidFill>
            <a:srgbClr val="7CB7F8"/>
          </a:solidFill>
          <a:ln>
            <a:noFill/>
          </a:ln>
          <a:effectLst/>
        </p:spPr>
        <p:txBody>
          <a:bodyPr vert="horz" wrap="square" lIns="109569" tIns="54785" rIns="109569" bIns="54785" numCol="1" rtlCol="0" anchor="t" anchorCtr="0" compatLnSpc="1"/>
          <a:lstStyle/>
          <a:p>
            <a:pPr marL="0" marR="0" lvl="0" indent="0" algn="l" defTabSz="1095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 typeface="Wingdings" panose="05000000000000000000" pitchFamily="2" charset="2"/>
              <a:buChar char="n"/>
              <a:defRPr/>
            </a:pP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0" name="圆角矩形 71"/>
          <p:cNvSpPr/>
          <p:nvPr/>
        </p:nvSpPr>
        <p:spPr bwMode="auto">
          <a:xfrm>
            <a:off x="6277109" y="5591602"/>
            <a:ext cx="1421683" cy="252717"/>
          </a:xfrm>
          <a:prstGeom prst="roundRect">
            <a:avLst/>
          </a:prstGeom>
          <a:solidFill>
            <a:srgbClr val="7CB7F8"/>
          </a:solidFill>
          <a:ln>
            <a:noFill/>
          </a:ln>
          <a:effectLst/>
        </p:spPr>
        <p:txBody>
          <a:bodyPr vert="horz" wrap="square" lIns="109569" tIns="54785" rIns="109569" bIns="54785" numCol="1" rtlCol="0" anchor="ctr" anchorCtr="0" compatLnSpc="1"/>
          <a:lstStyle/>
          <a:p>
            <a:pPr marL="0" marR="0" lvl="0" indent="0" algn="ctr" defTabSz="1095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Tx/>
              <a:buNone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2026-09-30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1" name="圆角矩形 89"/>
          <p:cNvSpPr/>
          <p:nvPr/>
        </p:nvSpPr>
        <p:spPr>
          <a:xfrm>
            <a:off x="6287914" y="5878582"/>
            <a:ext cx="1400071" cy="431076"/>
          </a:xfrm>
          <a:prstGeom prst="roundRect">
            <a:avLst>
              <a:gd name="adj" fmla="val 7619"/>
            </a:avLst>
          </a:prstGeom>
          <a:solidFill>
            <a:srgbClr val="EDF2F8"/>
          </a:solidFill>
          <a:ln w="25400" cap="flat" cmpd="sng" algn="ctr">
            <a:noFill/>
            <a:prstDash val="solid"/>
          </a:ln>
          <a:effectLst/>
        </p:spPr>
        <p:txBody>
          <a:bodyPr lIns="35972" tIns="35972" rIns="35972" bIns="35972" rtlCol="0" anchor="ctr"/>
          <a:lstStyle/>
          <a:p>
            <a:pPr marL="0" marR="0" lvl="0" indent="0" algn="ctr" defTabSz="1461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完成技术穿刺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2" name="圆角矩形 98"/>
          <p:cNvSpPr/>
          <p:nvPr/>
        </p:nvSpPr>
        <p:spPr bwMode="auto">
          <a:xfrm>
            <a:off x="8192098" y="5575117"/>
            <a:ext cx="1421683" cy="252717"/>
          </a:xfrm>
          <a:prstGeom prst="roundRect">
            <a:avLst/>
          </a:prstGeom>
          <a:solidFill>
            <a:srgbClr val="7CB7F8"/>
          </a:solidFill>
          <a:ln>
            <a:noFill/>
          </a:ln>
          <a:effectLst/>
        </p:spPr>
        <p:txBody>
          <a:bodyPr vert="horz" wrap="square" lIns="109569" tIns="54785" rIns="109569" bIns="54785" numCol="1" rtlCol="0" anchor="ctr" anchorCtr="0" compatLnSpc="1"/>
          <a:lstStyle/>
          <a:p>
            <a:pPr marL="0" marR="0" lvl="0" indent="0" algn="ctr" defTabSz="1095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Tx/>
              <a:buNone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2026-12-30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3" name="圆角矩形 98"/>
          <p:cNvSpPr/>
          <p:nvPr/>
        </p:nvSpPr>
        <p:spPr bwMode="auto">
          <a:xfrm>
            <a:off x="10107087" y="5551586"/>
            <a:ext cx="1421683" cy="252717"/>
          </a:xfrm>
          <a:prstGeom prst="roundRect">
            <a:avLst/>
          </a:prstGeom>
          <a:solidFill>
            <a:srgbClr val="7CB7F8"/>
          </a:solidFill>
          <a:ln>
            <a:noFill/>
          </a:ln>
          <a:effectLst/>
        </p:spPr>
        <p:txBody>
          <a:bodyPr vert="horz" wrap="square" lIns="109569" tIns="54785" rIns="109569" bIns="54785" numCol="1" rtlCol="0" anchor="ctr" anchorCtr="0" compatLnSpc="1"/>
          <a:lstStyle/>
          <a:p>
            <a:pPr marL="0" marR="0" lvl="0" indent="0" algn="ctr" defTabSz="10953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9900"/>
              </a:buClr>
              <a:buSzTx/>
              <a:buFontTx/>
              <a:buNone/>
              <a:defRPr/>
            </a:pPr>
            <a:r>
              <a:rPr kumimoji="0" lang="en-US" altLang="zh-CN" sz="1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2027-3-30</a:t>
            </a:r>
            <a:endParaRPr kumimoji="0" lang="zh-CN" altLang="en-US" sz="1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7" name="圆角矩形 89"/>
          <p:cNvSpPr/>
          <p:nvPr/>
        </p:nvSpPr>
        <p:spPr>
          <a:xfrm>
            <a:off x="8192098" y="5866117"/>
            <a:ext cx="1421684" cy="431076"/>
          </a:xfrm>
          <a:prstGeom prst="roundRect">
            <a:avLst>
              <a:gd name="adj" fmla="val 7619"/>
            </a:avLst>
          </a:prstGeom>
          <a:solidFill>
            <a:srgbClr val="EDF2F8"/>
          </a:solidFill>
          <a:ln w="25400" cap="flat" cmpd="sng" algn="ctr">
            <a:noFill/>
            <a:prstDash val="solid"/>
          </a:ln>
          <a:effectLst/>
        </p:spPr>
        <p:txBody>
          <a:bodyPr lIns="35972" tIns="35972" rIns="35972" bIns="35972" rtlCol="0" anchor="ctr"/>
          <a:lstStyle/>
          <a:p>
            <a:pPr marL="0" marR="0" lvl="0" indent="0" algn="l" defTabSz="1461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实现 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 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条 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pipeline </a:t>
            </a:r>
            <a:r>
              <a:rPr lang="zh-CN" altLang="en-US" sz="9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端到端提升 </a:t>
            </a:r>
            <a:r>
              <a:rPr lang="en-US" altLang="zh-CN" sz="9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8" name="圆角矩形 90"/>
          <p:cNvSpPr/>
          <p:nvPr/>
        </p:nvSpPr>
        <p:spPr>
          <a:xfrm>
            <a:off x="10107086" y="5877589"/>
            <a:ext cx="1421684" cy="431076"/>
          </a:xfrm>
          <a:prstGeom prst="roundRect">
            <a:avLst>
              <a:gd name="adj" fmla="val 7619"/>
            </a:avLst>
          </a:prstGeom>
          <a:solidFill>
            <a:srgbClr val="EDF2F8"/>
          </a:solidFill>
          <a:ln w="25400" cap="flat" cmpd="sng" algn="ctr">
            <a:noFill/>
            <a:prstDash val="solid"/>
          </a:ln>
          <a:effectLst/>
        </p:spPr>
        <p:txBody>
          <a:bodyPr lIns="35972" tIns="35972" rIns="35972" bIns="35972" rtlCol="0" anchor="ctr"/>
          <a:lstStyle/>
          <a:p>
            <a:pPr marL="0" marR="0" lvl="0" indent="0" algn="l" defTabSz="14617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实现插件式加载多模态算子库和算子下推到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Lance</a:t>
            </a:r>
            <a:endParaRPr kumimoji="0" lang="en-US" altLang="zh-CN" sz="9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6163439" y="4614611"/>
            <a:ext cx="5791037" cy="883619"/>
          </a:xfrm>
          <a:prstGeom prst="rect">
            <a:avLst/>
          </a:prstGeom>
          <a:solidFill>
            <a:srgbClr val="FAFAFA"/>
          </a:solidFill>
          <a:ln w="9525" cap="flat" cmpd="sng" algn="ctr">
            <a:gradFill flip="none" rotWithShape="1">
              <a:gsLst>
                <a:gs pos="94000">
                  <a:srgbClr val="FFFFFF"/>
                </a:gs>
                <a:gs pos="100000">
                  <a:srgbClr val="C7000B"/>
                </a:gs>
              </a:gsLst>
              <a:path path="circle">
                <a:fillToRect l="50000" t="50000" r="50000" b="50000"/>
              </a:path>
              <a:tileRect/>
            </a:gra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107916" rIns="91368" bIns="45684" numCol="1" spcCol="0" rtlCol="0" fromWordArt="0" anchor="t" anchorCtr="0" forceAA="0" compatLnSpc="1">
            <a:noAutofit/>
          </a:bodyPr>
          <a:lstStyle/>
          <a:p>
            <a:pPr algn="ctr" defTabSz="913765">
              <a:defRPr/>
            </a:pPr>
            <a:r>
              <a:rPr lang="zh-CN" altLang="en-US" sz="14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交付策略</a:t>
            </a:r>
          </a:p>
        </p:txBody>
      </p:sp>
      <p:sp>
        <p:nvSpPr>
          <p:cNvPr id="235" name="文本框 234"/>
          <p:cNvSpPr txBox="1"/>
          <p:nvPr/>
        </p:nvSpPr>
        <p:spPr>
          <a:xfrm>
            <a:off x="6392809" y="4960700"/>
            <a:ext cx="5382216" cy="4567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913765">
              <a:lnSpc>
                <a:spcPct val="130000"/>
              </a:lnSpc>
              <a:defRPr/>
            </a:pP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及其依赖仓库，以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Daft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上游社区 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0.7.2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版本为基准开发，在 </a:t>
            </a:r>
            <a:r>
              <a:rPr kumimoji="1" lang="en-US" altLang="zh-CN" sz="1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BoostKit</a:t>
            </a:r>
            <a:r>
              <a:rPr kumimoji="1"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社区源码交付。</a:t>
            </a:r>
            <a:endParaRPr kumimoji="1" lang="en-US" altLang="zh-CN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10"/>
          <p:cNvSpPr txBox="1"/>
          <p:nvPr/>
        </p:nvSpPr>
        <p:spPr>
          <a:xfrm>
            <a:off x="359860" y="245048"/>
            <a:ext cx="11582342" cy="521703"/>
          </a:xfrm>
          <a:prstGeom prst="rect">
            <a:avLst/>
          </a:prstGeom>
        </p:spPr>
        <p:txBody>
          <a:bodyPr lIns="0" tIns="0" rIns="0" bIns="0" anchor="t">
            <a:normAutofit fontScale="85000" lnSpcReduction="10000"/>
          </a:bodyPr>
          <a:lstStyle>
            <a:lvl1pPr marL="0" indent="0" algn="l" defTabSz="1187450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="1" kern="1200" baseline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59372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4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17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90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799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235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440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165" indent="0" algn="ctr" defTabSz="1187450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8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solidFill>
                  <a:srgbClr val="C00000"/>
                </a:solidFill>
              </a:rPr>
              <a:t>进展：</a:t>
            </a:r>
            <a:r>
              <a:rPr lang="en-US" altLang="zh-CN" dirty="0">
                <a:solidFill>
                  <a:srgbClr val="C00000"/>
                </a:solidFill>
              </a:rPr>
              <a:t> LLM</a:t>
            </a:r>
            <a:r>
              <a:rPr lang="zh-CN" altLang="en-US" dirty="0">
                <a:solidFill>
                  <a:srgbClr val="C00000"/>
                </a:solidFill>
              </a:rPr>
              <a:t>预处产线理已跑通；全产线供发现</a:t>
            </a:r>
            <a:r>
              <a:rPr lang="en-US" altLang="zh-CN" dirty="0">
                <a:solidFill>
                  <a:srgbClr val="C00000"/>
                </a:solidFill>
              </a:rPr>
              <a:t> 6</a:t>
            </a:r>
            <a:r>
              <a:rPr lang="zh-CN" altLang="en-US" dirty="0">
                <a:solidFill>
                  <a:srgbClr val="C00000"/>
                </a:solidFill>
              </a:rPr>
              <a:t> 项优化点，部分完成穿刺验证，平均已提升</a:t>
            </a:r>
            <a:r>
              <a:rPr lang="en-US" altLang="zh-CN" dirty="0">
                <a:solidFill>
                  <a:srgbClr val="C00000"/>
                </a:solidFill>
              </a:rPr>
              <a:t>2.1%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59860" y="937018"/>
            <a:ext cx="4365164" cy="1046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en-US" altLang="zh-CN" sz="1400" b="1" dirty="0">
                <a:solidFill>
                  <a:srgbClr val="C7000B"/>
                </a:solidFill>
              </a:rPr>
              <a:t>LLM</a:t>
            </a:r>
            <a:r>
              <a:rPr lang="zh-CN" altLang="en-US" sz="1400" b="1" dirty="0">
                <a:solidFill>
                  <a:srgbClr val="C7000B"/>
                </a:solidFill>
              </a:rPr>
              <a:t>预处理产线现状 </a:t>
            </a:r>
            <a:r>
              <a:rPr lang="en-US" altLang="zh-CN" sz="1400" dirty="0">
                <a:solidFill>
                  <a:schemeClr val="tx1"/>
                </a:solidFill>
              </a:rPr>
              <a:t>pipeline</a:t>
            </a:r>
            <a:r>
              <a:rPr lang="zh-CN" altLang="en-US" sz="1400" dirty="0">
                <a:solidFill>
                  <a:schemeClr val="tx1"/>
                </a:solidFill>
              </a:rPr>
              <a:t>名称 </a:t>
            </a:r>
            <a:r>
              <a:rPr lang="en-US" altLang="zh-CN" sz="1400" dirty="0">
                <a:solidFill>
                  <a:schemeClr val="tx1"/>
                </a:solidFill>
              </a:rPr>
              <a:t>· </a:t>
            </a:r>
            <a:r>
              <a:rPr lang="en-US" altLang="zh-CN" sz="1400" dirty="0" err="1">
                <a:solidFill>
                  <a:schemeClr val="tx1"/>
                </a:solidFill>
              </a:rPr>
              <a:t>MinHash</a:t>
            </a:r>
            <a:r>
              <a:rPr lang="en-US" altLang="zh-CN" sz="1400" dirty="0">
                <a:solidFill>
                  <a:schemeClr val="tx1"/>
                </a:solidFill>
              </a:rPr>
              <a:t>-LSH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</a:rPr>
              <a:t>已跑通：已经提交 </a:t>
            </a:r>
            <a:r>
              <a:rPr lang="en-US" altLang="zh-CN" sz="1200" dirty="0">
                <a:solidFill>
                  <a:schemeClr val="tx1"/>
                </a:solidFill>
              </a:rPr>
              <a:t>PR </a:t>
            </a:r>
            <a:r>
              <a:rPr lang="zh-CN" altLang="en-US" sz="1200" dirty="0">
                <a:solidFill>
                  <a:schemeClr val="tx1"/>
                </a:solidFill>
              </a:rPr>
              <a:t>到验证仓库 </a:t>
            </a:r>
            <a:r>
              <a:rPr lang="en-US" altLang="zh-CN" sz="1200" dirty="0">
                <a:solidFill>
                  <a:schemeClr val="tx1"/>
                </a:solidFill>
              </a:rPr>
              <a:t>· 11 </a:t>
            </a:r>
            <a:r>
              <a:rPr lang="zh-CN" altLang="en-US" sz="1200" dirty="0">
                <a:solidFill>
                  <a:schemeClr val="tx1"/>
                </a:solidFill>
              </a:rPr>
              <a:t>步原生算子 </a:t>
            </a:r>
            <a:r>
              <a:rPr lang="en-US" altLang="zh-CN" sz="1200" b="1" dirty="0">
                <a:solidFill>
                  <a:schemeClr val="tx1"/>
                </a:solidFill>
              </a:rPr>
              <a:t>· 0 </a:t>
            </a:r>
            <a:r>
              <a:rPr lang="zh-CN" altLang="en-US" sz="1200" b="1" dirty="0">
                <a:solidFill>
                  <a:schemeClr val="tx1"/>
                </a:solidFill>
              </a:rPr>
              <a:t>个 </a:t>
            </a:r>
            <a:r>
              <a:rPr lang="en-US" altLang="zh-CN" sz="1200" b="1" dirty="0">
                <a:solidFill>
                  <a:schemeClr val="tx1"/>
                </a:solidFill>
              </a:rPr>
              <a:t>Python UDF </a:t>
            </a:r>
            <a:r>
              <a:rPr lang="en-US" altLang="zh-CN" sz="1200" dirty="0">
                <a:solidFill>
                  <a:schemeClr val="tx1"/>
                </a:solidFill>
              </a:rPr>
              <a:t>· </a:t>
            </a:r>
            <a:r>
              <a:rPr lang="zh-CN" altLang="en-US" sz="1200" dirty="0">
                <a:solidFill>
                  <a:schemeClr val="tx1"/>
                </a:solidFill>
              </a:rPr>
              <a:t>产物 </a:t>
            </a:r>
            <a:r>
              <a:rPr lang="en-US" altLang="zh-CN" sz="1200" dirty="0">
                <a:solidFill>
                  <a:schemeClr val="tx1"/>
                </a:solidFill>
              </a:rPr>
              <a:t>4 </a:t>
            </a:r>
            <a:r>
              <a:rPr lang="zh-CN" altLang="en-US" sz="1200" dirty="0">
                <a:solidFill>
                  <a:schemeClr val="tx1"/>
                </a:solidFill>
              </a:rPr>
              <a:t>列 </a:t>
            </a:r>
            <a:r>
              <a:rPr lang="en-US" altLang="zh-CN" sz="1200" dirty="0">
                <a:solidFill>
                  <a:schemeClr val="tx1"/>
                </a:solidFill>
              </a:rPr>
              <a:t>deduped lance table + </a:t>
            </a:r>
            <a:r>
              <a:rPr lang="zh-CN" altLang="en-US" sz="1200" dirty="0">
                <a:solidFill>
                  <a:schemeClr val="tx1"/>
                </a:solidFill>
              </a:rPr>
              <a:t>结果 </a:t>
            </a:r>
            <a:r>
              <a:rPr lang="en-US" altLang="zh-CN" sz="1200" dirty="0">
                <a:solidFill>
                  <a:schemeClr val="tx1"/>
                </a:solidFill>
              </a:rPr>
              <a:t>JSON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</a:rPr>
              <a:t>Rust CPU </a:t>
            </a:r>
            <a:r>
              <a:rPr lang="zh-CN" altLang="en-US" sz="1200" dirty="0">
                <a:solidFill>
                  <a:schemeClr val="tx1"/>
                </a:solidFill>
              </a:rPr>
              <a:t>占比 </a:t>
            </a:r>
            <a:r>
              <a:rPr lang="en-US" altLang="zh-CN" sz="1200" dirty="0">
                <a:solidFill>
                  <a:schemeClr val="tx1"/>
                </a:solidFill>
              </a:rPr>
              <a:t>0.91% </a:t>
            </a:r>
            <a:r>
              <a:rPr lang="zh-CN" altLang="en-US" sz="1200" dirty="0">
                <a:solidFill>
                  <a:schemeClr val="tx1"/>
                </a:solidFill>
              </a:rPr>
              <a:t>（原始文本产线）→ </a:t>
            </a:r>
            <a:r>
              <a:rPr lang="en-US" altLang="zh-CN" sz="1200" dirty="0">
                <a:solidFill>
                  <a:schemeClr val="tx1"/>
                </a:solidFill>
              </a:rPr>
              <a:t>52.95%</a:t>
            </a:r>
            <a:r>
              <a:rPr lang="zh-CN" altLang="en-US" sz="1200" dirty="0">
                <a:solidFill>
                  <a:schemeClr val="tx1"/>
                </a:solidFill>
              </a:rPr>
              <a:t>（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en-US" altLang="zh-CN" sz="1200" dirty="0" err="1">
                <a:solidFill>
                  <a:schemeClr val="tx1"/>
                </a:solidFill>
              </a:rPr>
              <a:t>MinHash</a:t>
            </a:r>
            <a:r>
              <a:rPr lang="en-US" altLang="zh-CN" sz="1200" dirty="0">
                <a:solidFill>
                  <a:schemeClr val="tx1"/>
                </a:solidFill>
              </a:rPr>
              <a:t>-LSH </a:t>
            </a:r>
            <a:r>
              <a:rPr lang="zh-CN" altLang="en-US" sz="1200" dirty="0">
                <a:solidFill>
                  <a:schemeClr val="tx1"/>
                </a:solidFill>
              </a:rPr>
              <a:t>，≈</a:t>
            </a:r>
            <a:r>
              <a:rPr lang="en-US" altLang="zh-CN" sz="1200" dirty="0">
                <a:solidFill>
                  <a:schemeClr val="tx1"/>
                </a:solidFill>
              </a:rPr>
              <a:t>58×</a:t>
            </a:r>
            <a:r>
              <a:rPr lang="zh-CN" altLang="en-US" sz="1200" dirty="0">
                <a:solidFill>
                  <a:schemeClr val="tx1"/>
                </a:solidFill>
              </a:rPr>
              <a:t>）</a:t>
            </a:r>
            <a:endParaRPr lang="zh-CN" altLang="en-US" sz="1400" dirty="0"/>
          </a:p>
        </p:txBody>
      </p:sp>
      <p:sp>
        <p:nvSpPr>
          <p:cNvPr id="19" name="矩形 18"/>
          <p:cNvSpPr/>
          <p:nvPr/>
        </p:nvSpPr>
        <p:spPr>
          <a:xfrm>
            <a:off x="359860" y="2208528"/>
            <a:ext cx="4365164" cy="1446550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</a:rPr>
              <a:t>验证与验收环境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200" dirty="0">
                <a:solidFill>
                  <a:schemeClr val="tx1"/>
                </a:solidFill>
              </a:rPr>
              <a:t>平台：鲲鹏 </a:t>
            </a:r>
            <a:r>
              <a:rPr lang="en-US" altLang="zh-CN" sz="1200" dirty="0">
                <a:solidFill>
                  <a:schemeClr val="tx1"/>
                </a:solidFill>
              </a:rPr>
              <a:t>950</a:t>
            </a:r>
            <a:r>
              <a:rPr lang="zh-CN" altLang="en-US" sz="1200" dirty="0">
                <a:solidFill>
                  <a:schemeClr val="tx1"/>
                </a:solidFill>
              </a:rPr>
              <a:t>（性能目标）</a:t>
            </a:r>
            <a:r>
              <a:rPr lang="en-US" altLang="zh-CN" sz="1200" dirty="0">
                <a:solidFill>
                  <a:schemeClr val="tx1"/>
                </a:solidFill>
              </a:rPr>
              <a:t>vs 9755</a:t>
            </a:r>
            <a:r>
              <a:rPr lang="zh-CN" altLang="en-US" sz="1200" dirty="0">
                <a:solidFill>
                  <a:schemeClr val="tx1"/>
                </a:solidFill>
              </a:rPr>
              <a:t>（对标）；</a:t>
            </a:r>
            <a:r>
              <a:rPr lang="en-US" altLang="zh-CN" sz="1200" dirty="0">
                <a:solidFill>
                  <a:schemeClr val="tx1"/>
                </a:solidFill>
              </a:rPr>
              <a:t>920B </a:t>
            </a:r>
            <a:r>
              <a:rPr lang="zh-CN" altLang="en-US" sz="1200" dirty="0">
                <a:solidFill>
                  <a:schemeClr val="tx1"/>
                </a:solidFill>
              </a:rPr>
              <a:t>兼容可执行、</a:t>
            </a:r>
            <a:r>
              <a:rPr lang="en-US" altLang="zh-CN" sz="1200" dirty="0">
                <a:solidFill>
                  <a:schemeClr val="tx1"/>
                </a:solidFill>
              </a:rPr>
              <a:t>920 </a:t>
            </a:r>
            <a:r>
              <a:rPr lang="zh-CN" altLang="en-US" sz="1200" dirty="0">
                <a:solidFill>
                  <a:schemeClr val="tx1"/>
                </a:solidFill>
              </a:rPr>
              <a:t>无 </a:t>
            </a:r>
            <a:r>
              <a:rPr lang="en-US" altLang="zh-CN" sz="1200" dirty="0">
                <a:solidFill>
                  <a:schemeClr val="tx1"/>
                </a:solidFill>
              </a:rPr>
              <a:t>SVE</a:t>
            </a:r>
            <a:r>
              <a:rPr lang="zh-CN" altLang="en-US" sz="1200" dirty="0">
                <a:solidFill>
                  <a:schemeClr val="tx1"/>
                </a:solidFill>
              </a:rPr>
              <a:t>，项目最终将在鲲鹏 </a:t>
            </a:r>
            <a:r>
              <a:rPr lang="en-US" altLang="zh-CN" sz="1200" dirty="0">
                <a:solidFill>
                  <a:schemeClr val="tx1"/>
                </a:solidFill>
              </a:rPr>
              <a:t>950V200 </a:t>
            </a:r>
            <a:r>
              <a:rPr lang="zh-CN" altLang="en-US" sz="1200" dirty="0">
                <a:solidFill>
                  <a:schemeClr val="tx1"/>
                </a:solidFill>
              </a:rPr>
              <a:t>验证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zh-CN" altLang="en-US" sz="1200" dirty="0">
                <a:solidFill>
                  <a:schemeClr val="tx1"/>
                </a:solidFill>
              </a:rPr>
              <a:t>产线：</a:t>
            </a:r>
            <a:r>
              <a:rPr lang="en-US" altLang="zh-CN" sz="1200" dirty="0" err="1">
                <a:solidFill>
                  <a:schemeClr val="tx1"/>
                </a:solidFill>
              </a:rPr>
              <a:t>volc_operator_sim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zh-CN" altLang="en-US" sz="1200" dirty="0">
                <a:solidFill>
                  <a:schemeClr val="tx1"/>
                </a:solidFill>
              </a:rPr>
              <a:t>七条模态产线（</a:t>
            </a:r>
            <a:r>
              <a:rPr lang="en-US" altLang="zh-CN" sz="1200" dirty="0" err="1">
                <a:solidFill>
                  <a:schemeClr val="tx1"/>
                </a:solidFill>
              </a:rPr>
              <a:t>FineWeb</a:t>
            </a:r>
            <a:r>
              <a:rPr lang="en-US" altLang="zh-CN" sz="1200" dirty="0">
                <a:solidFill>
                  <a:schemeClr val="tx1"/>
                </a:solidFill>
              </a:rPr>
              <a:t> </a:t>
            </a:r>
            <a:r>
              <a:rPr lang="zh-CN" altLang="en-US" sz="1200" dirty="0">
                <a:solidFill>
                  <a:schemeClr val="tx1"/>
                </a:solidFill>
              </a:rPr>
              <a:t>文本 </a:t>
            </a:r>
            <a:r>
              <a:rPr lang="en-US" altLang="zh-CN" sz="1200" dirty="0">
                <a:solidFill>
                  <a:schemeClr val="tx1"/>
                </a:solidFill>
              </a:rPr>
              <a:t>/ </a:t>
            </a:r>
            <a:r>
              <a:rPr lang="zh-CN" altLang="en-US" sz="1200" dirty="0">
                <a:solidFill>
                  <a:schemeClr val="tx1"/>
                </a:solidFill>
              </a:rPr>
              <a:t>视频场景切分 </a:t>
            </a:r>
            <a:r>
              <a:rPr lang="en-US" altLang="zh-CN" sz="1200" dirty="0">
                <a:solidFill>
                  <a:schemeClr val="tx1"/>
                </a:solidFill>
              </a:rPr>
              <a:t>/ </a:t>
            </a:r>
            <a:r>
              <a:rPr lang="zh-CN" altLang="en-US" sz="1200" dirty="0">
                <a:solidFill>
                  <a:schemeClr val="tx1"/>
                </a:solidFill>
              </a:rPr>
              <a:t>图像策管 </a:t>
            </a:r>
            <a:r>
              <a:rPr lang="en-US" altLang="zh-CN" sz="1200" dirty="0">
                <a:solidFill>
                  <a:schemeClr val="tx1"/>
                </a:solidFill>
              </a:rPr>
              <a:t>/ ASR </a:t>
            </a:r>
            <a:r>
              <a:rPr lang="zh-CN" altLang="en-US" sz="1200" dirty="0">
                <a:solidFill>
                  <a:schemeClr val="tx1"/>
                </a:solidFill>
              </a:rPr>
              <a:t>音频 </a:t>
            </a:r>
            <a:r>
              <a:rPr lang="en-US" altLang="zh-CN" sz="1200" dirty="0">
                <a:solidFill>
                  <a:schemeClr val="tx1"/>
                </a:solidFill>
              </a:rPr>
              <a:t>/ PDF </a:t>
            </a:r>
            <a:r>
              <a:rPr lang="zh-CN" altLang="en-US" sz="1200" dirty="0">
                <a:solidFill>
                  <a:schemeClr val="tx1"/>
                </a:solidFill>
              </a:rPr>
              <a:t>解析 </a:t>
            </a:r>
            <a:r>
              <a:rPr lang="en-US" altLang="zh-CN" sz="1200" dirty="0">
                <a:solidFill>
                  <a:schemeClr val="tx1"/>
                </a:solidFill>
              </a:rPr>
              <a:t>/ </a:t>
            </a:r>
            <a:r>
              <a:rPr lang="en-US" altLang="zh-CN" sz="1200" dirty="0" err="1">
                <a:solidFill>
                  <a:schemeClr val="tx1"/>
                </a:solidFill>
              </a:rPr>
              <a:t>nuScenes</a:t>
            </a:r>
            <a:r>
              <a:rPr lang="zh-CN" altLang="en-US" sz="1200" dirty="0">
                <a:solidFill>
                  <a:schemeClr val="tx1"/>
                </a:solidFill>
              </a:rPr>
              <a:t>智驾</a:t>
            </a:r>
            <a:r>
              <a:rPr lang="en-US" altLang="zh-CN" sz="1200" dirty="0">
                <a:solidFill>
                  <a:schemeClr val="tx1"/>
                </a:solidFill>
              </a:rPr>
              <a:t> / </a:t>
            </a:r>
            <a:r>
              <a:rPr lang="en-US" altLang="zh-CN" sz="1200" dirty="0" err="1">
                <a:solidFill>
                  <a:schemeClr val="tx1"/>
                </a:solidFill>
              </a:rPr>
              <a:t>MinHash</a:t>
            </a:r>
            <a:r>
              <a:rPr lang="en-US" altLang="zh-CN" sz="1200" dirty="0">
                <a:solidFill>
                  <a:schemeClr val="tx1"/>
                </a:solidFill>
              </a:rPr>
              <a:t>-LSH LLM</a:t>
            </a:r>
            <a:r>
              <a:rPr lang="zh-CN" altLang="en-US" sz="1200" dirty="0">
                <a:solidFill>
                  <a:schemeClr val="tx1"/>
                </a:solidFill>
              </a:rPr>
              <a:t>预处理）；验收为优化前后吞吐与响应时间双跑对比</a:t>
            </a:r>
          </a:p>
        </p:txBody>
      </p:sp>
      <p:sp>
        <p:nvSpPr>
          <p:cNvPr id="23" name="矩形 22"/>
          <p:cNvSpPr/>
          <p:nvPr/>
        </p:nvSpPr>
        <p:spPr>
          <a:xfrm>
            <a:off x="359860" y="3880148"/>
            <a:ext cx="4365164" cy="1785104"/>
          </a:xfrm>
          <a:prstGeom prst="rect">
            <a:avLst/>
          </a:prstGeom>
          <a:noFill/>
          <a:ln>
            <a:solidFill>
              <a:schemeClr val="tx1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spAutoFit/>
          </a:bodyPr>
          <a:lstStyle/>
          <a:p>
            <a:r>
              <a:rPr lang="zh-CN" altLang="en-US" sz="1400" b="1" dirty="0">
                <a:solidFill>
                  <a:srgbClr val="C7000B"/>
                </a:solidFill>
              </a:rPr>
              <a:t>距离交付差距</a:t>
            </a:r>
            <a:endParaRPr lang="en-US" altLang="zh-CN" sz="1400" b="1" dirty="0">
              <a:solidFill>
                <a:srgbClr val="C7000B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功能完备性：主路径已验，边界条件与异常路径用例待补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代码规范：编码规范、接口与注释文档、静态检查，功能性</a:t>
            </a:r>
            <a:r>
              <a:rPr lang="en-US" altLang="zh-CN" sz="1200" dirty="0">
                <a:solidFill>
                  <a:schemeClr val="tx1"/>
                </a:solidFill>
              </a:rPr>
              <a:t>UT</a:t>
            </a:r>
            <a:r>
              <a:rPr lang="zh-CN" altLang="en-US" sz="1200" dirty="0">
                <a:solidFill>
                  <a:schemeClr val="tx1"/>
                </a:solidFill>
              </a:rPr>
              <a:t>覆盖 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健壮性：异常处理、超时</a:t>
            </a:r>
            <a:r>
              <a:rPr lang="en-US" altLang="zh-CN" sz="1200" dirty="0">
                <a:solidFill>
                  <a:schemeClr val="tx1"/>
                </a:solidFill>
              </a:rPr>
              <a:t>/</a:t>
            </a:r>
            <a:r>
              <a:rPr lang="zh-CN" altLang="en-US" sz="1200" dirty="0">
                <a:solidFill>
                  <a:schemeClr val="tx1"/>
                </a:solidFill>
              </a:rPr>
              <a:t>重试、特性不可用时的降级回退（</a:t>
            </a:r>
            <a:r>
              <a:rPr lang="en-US" altLang="zh-CN" sz="1200" dirty="0">
                <a:solidFill>
                  <a:schemeClr val="tx1"/>
                </a:solidFill>
              </a:rPr>
              <a:t>SVE→NEON→</a:t>
            </a:r>
            <a:r>
              <a:rPr lang="zh-CN" altLang="en-US" sz="1200" dirty="0">
                <a:solidFill>
                  <a:schemeClr val="tx1"/>
                </a:solidFill>
              </a:rPr>
              <a:t>标量）</a:t>
            </a:r>
            <a:endParaRPr lang="en-US" altLang="zh-CN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性能复现：穿刺收益在正式产线口径下复现与调优（当前为单点穿刺） </a:t>
            </a:r>
            <a:r>
              <a:rPr lang="en-US" altLang="zh-CN" sz="1200" dirty="0">
                <a:solidFill>
                  <a:schemeClr val="tx1"/>
                </a:solidFill>
              </a:rPr>
              <a:t>·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tx1"/>
                </a:solidFill>
              </a:rPr>
              <a:t>交付对齐：与主线版本对齐、上游评审合入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76300" y="766751"/>
            <a:ext cx="7115071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1" dirty="0">
                <a:solidFill>
                  <a:srgbClr val="C7000B"/>
                </a:solidFill>
              </a:rPr>
              <a:t>性能</a:t>
            </a:r>
            <a:r>
              <a:rPr lang="zh-CN" altLang="zh-CN" sz="1200" b="1" dirty="0">
                <a:solidFill>
                  <a:srgbClr val="C7000B"/>
                </a:solidFill>
              </a:rPr>
              <a:t>化优化点 · 6 项</a:t>
            </a:r>
            <a:r>
              <a:rPr lang="zh-CN" altLang="zh-CN" sz="1200" dirty="0">
                <a:solidFill>
                  <a:srgbClr val="C7000B"/>
                </a:solidFill>
              </a:rPr>
              <a:t>　</a:t>
            </a:r>
            <a:r>
              <a:rPr lang="zh-CN" altLang="en-US" sz="1200" dirty="0"/>
              <a:t>当前已经穿刺优化点收益汇总</a:t>
            </a:r>
            <a:r>
              <a:rPr lang="zh-CN" altLang="zh-CN" sz="1200" dirty="0"/>
              <a:t>；</a:t>
            </a:r>
            <a:r>
              <a:rPr lang="zh-CN" altLang="en-US" sz="1200" dirty="0"/>
              <a:t>每个优化点单独测试</a:t>
            </a:r>
            <a:r>
              <a:rPr lang="zh-CN" altLang="zh-CN" sz="1200" dirty="0"/>
              <a:t>；</a:t>
            </a:r>
            <a:r>
              <a:rPr lang="zh-CN" altLang="en-US" sz="1200" dirty="0"/>
              <a:t>自提升</a:t>
            </a:r>
            <a:r>
              <a:rPr lang="zh-CN" altLang="zh-CN" sz="1200" dirty="0"/>
              <a:t>＝</a:t>
            </a:r>
            <a:r>
              <a:rPr lang="zh-CN" altLang="en-US" sz="1200" dirty="0"/>
              <a:t>修改前后变化</a:t>
            </a:r>
            <a:r>
              <a:rPr lang="zh-CN" altLang="zh-CN" sz="1200" dirty="0"/>
              <a:t>，相对＝vs 9</a:t>
            </a:r>
            <a:r>
              <a:rPr lang="en-US" altLang="zh-CN" sz="1200" dirty="0"/>
              <a:t>7</a:t>
            </a:r>
            <a:r>
              <a:rPr lang="zh-CN" altLang="zh-CN" sz="1200" dirty="0"/>
              <a:t>55</a:t>
            </a:r>
            <a:r>
              <a:rPr lang="zh-CN" altLang="en-US" sz="1200" dirty="0"/>
              <a:t>变化</a:t>
            </a:r>
            <a:r>
              <a:rPr lang="zh-CN" altLang="zh-CN" sz="1200" dirty="0"/>
              <a:t>，</a:t>
            </a:r>
            <a:r>
              <a:rPr lang="zh-CN" altLang="en-US" sz="1200" dirty="0"/>
              <a:t>当优化同时影响 </a:t>
            </a:r>
            <a:r>
              <a:rPr lang="en-US" altLang="zh-CN" sz="1200" dirty="0"/>
              <a:t>arm </a:t>
            </a:r>
            <a:r>
              <a:rPr lang="zh-CN" altLang="en-US" sz="1200" dirty="0"/>
              <a:t>和 </a:t>
            </a:r>
            <a:r>
              <a:rPr lang="en-US" altLang="zh-CN" sz="1200" dirty="0"/>
              <a:t>x86 </a:t>
            </a:r>
            <a:r>
              <a:rPr lang="zh-CN" altLang="en-US" sz="1200" dirty="0"/>
              <a:t>时，相对</a:t>
            </a:r>
            <a:r>
              <a:rPr lang="en-US" altLang="zh-CN" sz="1200" dirty="0"/>
              <a:t>&lt;=</a:t>
            </a:r>
            <a:r>
              <a:rPr lang="zh-CN" altLang="en-US" sz="1200" dirty="0"/>
              <a:t>自提升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0428338"/>
              </p:ext>
            </p:extLst>
          </p:nvPr>
        </p:nvGraphicFramePr>
        <p:xfrm>
          <a:off x="4876300" y="1136083"/>
          <a:ext cx="7115071" cy="3718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33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36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70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技术点</a:t>
                      </a: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收益</a:t>
                      </a: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</a:t>
                      </a: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5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LLVM</a:t>
                      </a:r>
                      <a:r>
                        <a:rPr kumimoji="1" lang="zh-CN" altLang="en-US" sz="1200" b="1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向量化</a:t>
                      </a:r>
                      <a:endParaRPr kumimoji="1"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文本归一化融合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表达式层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>
                          <a:solidFill>
                            <a:schemeClr val="accent5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已穿刺 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 </a:t>
                      </a:r>
                      <a:r>
                        <a:rPr lang="zh-CN" altLang="en-US" sz="1000" b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LLM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预处理产线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3.3%</a:t>
                      </a:r>
                    </a:p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自</a:t>
                      </a: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提升 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28%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融合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(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regexp_replace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+ lower +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regexp_replace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)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三个本步骤，减少中间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parrequest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结构生成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4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 err="1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MinHash</a:t>
                      </a: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替换 </a:t>
                      </a: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SVE2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SVE2 </a:t>
                      </a: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内核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>
                          <a:solidFill>
                            <a:schemeClr val="accent5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已穿刺 </a:t>
                      </a:r>
                      <a:r>
                        <a:rPr lang="zh-CN" altLang="en-US" sz="1000" b="0">
                          <a:solidFill>
                            <a:schemeClr val="tx1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 </a:t>
                      </a:r>
                      <a:r>
                        <a:rPr lang="zh-CN" altLang="en-US" sz="1000" b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LLM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预处理产线</a:t>
                      </a:r>
                      <a:endParaRPr lang="en-US" altLang="zh-CN" sz="1000" b="1" kern="1200" dirty="0">
                        <a:solidFill>
                          <a:sysClr val="windowText" lastClr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5.0%</a:t>
                      </a:r>
                      <a:endParaRPr lang="zh-CN" altLang="en-US" sz="1000" b="1" kern="1200" dirty="0">
                        <a:solidFill>
                          <a:sysClr val="windowText" lastClr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  <a:sym typeface="+mn-ea"/>
                      </a:endParaRPr>
                    </a:p>
                    <a:p>
                      <a:pPr marL="0" algn="l" defTabSz="1187450" rtl="0" eaLnBrk="1" latinLnBrk="0" hangingPunct="1">
                        <a:buNone/>
                      </a:pP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自提升 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35%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向量化更新多个签名位置，并批处理最多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8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个哈希值，减少循环和内存访问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LLVM path SVE256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编译期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accent5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已穿刺 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 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LLM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预处理产线</a:t>
                      </a:r>
                      <a:endParaRPr lang="en-US" altLang="zh-CN" sz="1000" b="1" kern="1200" dirty="0">
                        <a:solidFill>
                          <a:sysClr val="windowText" lastClr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3.2%</a:t>
                      </a:r>
                    </a:p>
                    <a:p>
                      <a:pPr marL="0" algn="l" defTabSz="1187450" rtl="0" eaLnBrk="1" latinLnBrk="0" hangingPunct="1">
                        <a:buNone/>
                      </a:pP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(</a:t>
                      </a: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自提升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=</a:t>
                      </a: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相对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)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优化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llmv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层面自动向量化，针对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950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指定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sve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宽度，充分利用 </a:t>
                      </a:r>
                      <a:r>
                        <a:rPr lang="en-US" altLang="zh-CN" sz="1000" b="0" kern="1200" dirty="0" err="1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sve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计算模块能力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UDF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调度 </a:t>
                      </a: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链融合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逻辑 </a:t>
                      </a:r>
                      <a:r>
                        <a:rPr lang="en-US" altLang="zh-CN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+ </a:t>
                      </a: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物理计划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accent5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已穿刺 </a:t>
                      </a:r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 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待工程化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文本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+PDF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相对 </a:t>
                      </a:r>
                      <a:r>
                        <a:rPr lang="en-US" altLang="zh-CN" sz="1000" b="1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0.7%</a:t>
                      </a:r>
                    </a:p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自提升 </a:t>
                      </a:r>
                      <a:r>
                        <a:rPr lang="en-US" altLang="zh-CN" sz="1000" b="0" kern="1200" dirty="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1.2%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减少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Python – Rust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跨界访问，实现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UDF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横向融合和纵向批量调度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Ray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调度优化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分布式执行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待验证</a:t>
                      </a:r>
                      <a:endParaRPr lang="en-US" altLang="zh-CN" sz="1000" b="0" dirty="0">
                        <a:solidFill>
                          <a:srgbClr val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文本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+PDF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预估相对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0.5%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优化任务分发，启动，并行等调度步骤，提升硬件利用率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SVE Gather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批量取数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Physical Plan runner </a:t>
                      </a: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待验证</a:t>
                      </a:r>
                      <a:endParaRPr lang="en-US" altLang="zh-CN" sz="1000" b="0" dirty="0">
                        <a:solidFill>
                          <a:srgbClr val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文本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+PDF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产线</a:t>
                      </a:r>
                      <a:endParaRPr lang="en-US" altLang="zh-CN" sz="1000" b="0" kern="1200" dirty="0">
                        <a:solidFill>
                          <a:sysClr val="windowText" lastClr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  <a:sym typeface="+mn-ea"/>
                      </a:endParaRPr>
                    </a:p>
                    <a:p>
                      <a:pPr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预估相对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  <a:cs typeface="+mn-cs"/>
                          <a:sym typeface="+mn-ea"/>
                        </a:rPr>
                        <a:t>0.5%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Daft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侧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gather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过程将循环 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unrolling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，使 </a:t>
                      </a:r>
                      <a:r>
                        <a:rPr lang="en-US" altLang="zh-CN" sz="1000" b="0" dirty="0" err="1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sve</a:t>
                      </a:r>
                      <a:r>
                        <a:rPr lang="en-US" altLang="zh-CN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指令能正常生效。</a:t>
                      </a:r>
                      <a:endParaRPr lang="en-US" altLang="zh-CN" sz="1000" b="0" dirty="0">
                        <a:solidFill>
                          <a:srgbClr val="000000"/>
                        </a:solidFill>
                        <a:effectLst/>
                        <a:latin typeface="微软雅黑" pitchFamily="34" charset="0"/>
                        <a:ea typeface="微软雅黑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4876300" y="4848738"/>
            <a:ext cx="711507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200" b="1" dirty="0">
                <a:solidFill>
                  <a:srgbClr val="C7000B"/>
                </a:solidFill>
              </a:rPr>
              <a:t>功能需求</a:t>
            </a:r>
            <a:r>
              <a:rPr lang="zh-CN" altLang="zh-CN" sz="1200" b="1" dirty="0">
                <a:solidFill>
                  <a:srgbClr val="C7000B"/>
                </a:solidFill>
              </a:rPr>
              <a:t> · </a:t>
            </a:r>
            <a:r>
              <a:rPr lang="en-US" altLang="zh-CN" sz="1200" b="1" dirty="0">
                <a:solidFill>
                  <a:srgbClr val="C7000B"/>
                </a:solidFill>
              </a:rPr>
              <a:t>2</a:t>
            </a:r>
            <a:r>
              <a:rPr lang="zh-CN" altLang="zh-CN" sz="1200" b="1" dirty="0">
                <a:solidFill>
                  <a:srgbClr val="C7000B"/>
                </a:solidFill>
              </a:rPr>
              <a:t> 项</a:t>
            </a:r>
            <a:r>
              <a:rPr lang="zh-CN" altLang="zh-CN" sz="1200" dirty="0">
                <a:solidFill>
                  <a:srgbClr val="C7000B"/>
                </a:solidFill>
              </a:rPr>
              <a:t>　</a:t>
            </a:r>
            <a:r>
              <a:rPr lang="zh-CN" altLang="en-US" sz="1200" dirty="0"/>
              <a:t>使能多模态算子库和 </a:t>
            </a:r>
            <a:r>
              <a:rPr lang="en-US" altLang="zh-CN" sz="1200" dirty="0"/>
              <a:t>Lance </a:t>
            </a:r>
            <a:r>
              <a:rPr lang="zh-CN" altLang="en-US" sz="1200" dirty="0"/>
              <a:t>原生解码</a:t>
            </a:r>
            <a:endParaRPr kumimoji="1" lang="zh-CN" altLang="en-US" sz="1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155791"/>
              </p:ext>
            </p:extLst>
          </p:nvPr>
        </p:nvGraphicFramePr>
        <p:xfrm>
          <a:off x="4876300" y="5036260"/>
          <a:ext cx="7116327" cy="1371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06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0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46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213">
                <a:tc>
                  <a:txBody>
                    <a:bodyPr/>
                    <a:lstStyle/>
                    <a:p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优化点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kern="120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状态</a:t>
                      </a:r>
                      <a:endParaRPr lang="zh-CN" altLang="en-US" sz="1200" b="1" kern="1200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2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详情</a:t>
                      </a:r>
                    </a:p>
                  </a:txBody>
                  <a:tcPr marL="91404" marR="91404" marT="45702" marB="45702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8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鲲鹏亲和多模态算子库适配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算子层</a:t>
                      </a: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待穿刺验证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算子库以独立仓库交付；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Daft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侧提供统一的插件接口，当需要使用算子库时，以插件形式接入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Lance </a:t>
                      </a: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算子下推适配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数据源侧</a:t>
                      </a:r>
                      <a:endParaRPr lang="zh-CN" altLang="en-US" sz="1000" b="0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chemeClr val="bg2">
                              <a:lumMod val="75000"/>
                            </a:schemeClr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●</a:t>
                      </a:r>
                      <a:r>
                        <a:rPr lang="zh-CN" altLang="en-US" sz="1000" b="0" dirty="0">
                          <a:solidFill>
                            <a:srgbClr val="FFC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 </a:t>
                      </a:r>
                      <a:r>
                        <a:rPr lang="zh-CN" altLang="en-US" sz="1000" b="0" dirty="0">
                          <a:solidFill>
                            <a:srgbClr val="000000"/>
                          </a:solidFill>
                          <a:effectLst/>
                          <a:latin typeface="微软雅黑" pitchFamily="34" charset="0"/>
                          <a:ea typeface="微软雅黑" pitchFamily="34" charset="0"/>
                        </a:rPr>
                        <a:t>待穿刺验证</a:t>
                      </a:r>
                      <a:endParaRPr lang="en-US" altLang="zh-CN" sz="1000" b="0" kern="1200" dirty="0">
                        <a:solidFill>
                          <a:schemeClr val="tx1"/>
                        </a:solidFill>
                        <a:effectLst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Lance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侧视频解码 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/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抽帧；</a:t>
                      </a:r>
                      <a:r>
                        <a:rPr lang="en-US" altLang="zh-CN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Daft </a:t>
                      </a:r>
                      <a:r>
                        <a:rPr lang="zh-CN" altLang="en-US" sz="1000" b="0" kern="1200" dirty="0">
                          <a:solidFill>
                            <a:sysClr val="windowText" lastClr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+mn-ea"/>
                        </a:rPr>
                        <a:t>侧适配下推，降低跨层搬运与中间物化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8B4546A-4050-4F3E-8E90-96C350F94168}"/>
              </a:ext>
            </a:extLst>
          </p:cNvPr>
          <p:cNvSpPr txBox="1"/>
          <p:nvPr/>
        </p:nvSpPr>
        <p:spPr>
          <a:xfrm>
            <a:off x="1551327" y="4376508"/>
            <a:ext cx="165853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kumimoji="1" lang="zh-CN" altLang="en-US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删除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359860" y="361198"/>
            <a:ext cx="10736446" cy="494049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项目阵型</a:t>
            </a:r>
          </a:p>
        </p:txBody>
      </p:sp>
      <p:graphicFrame>
        <p:nvGraphicFramePr>
          <p:cNvPr id="59" name="Group 274"/>
          <p:cNvGraphicFramePr/>
          <p:nvPr/>
        </p:nvGraphicFramePr>
        <p:xfrm>
          <a:off x="3790265" y="1233162"/>
          <a:ext cx="7845808" cy="1584119"/>
        </p:xfrm>
        <a:graphic>
          <a:graphicData uri="http://schemas.openxmlformats.org/drawingml/2006/table">
            <a:tbl>
              <a:tblPr/>
              <a:tblGrid>
                <a:gridCol w="669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31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6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02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572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57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3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57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2816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2758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758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9885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191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250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2507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249263">
                <a:tc rowSpan="2"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研发人力预测</a:t>
                      </a: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8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2026</a:t>
                      </a:r>
                      <a:r>
                        <a:rPr kumimoji="0" lang="zh-CN" altLang="en-US" sz="1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年</a:t>
                      </a:r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35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软件平台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6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公共开发部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公共开发部（自带）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60" name="表格 59"/>
          <p:cNvGraphicFramePr>
            <a:graphicFrameLocks noGrp="1"/>
          </p:cNvGraphicFramePr>
          <p:nvPr/>
        </p:nvGraphicFramePr>
        <p:xfrm>
          <a:off x="150944" y="3275252"/>
          <a:ext cx="1371596" cy="868608"/>
        </p:xfrm>
        <a:graphic>
          <a:graphicData uri="http://schemas.openxmlformats.org/drawingml/2006/table">
            <a:tbl>
              <a:tblPr firstRow="1" bandRow="1"/>
              <a:tblGrid>
                <a:gridCol w="1371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213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en-US" altLang="zh-CN" sz="12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AI</a:t>
                      </a:r>
                      <a:r>
                        <a:rPr lang="zh-CN" altLang="en-US" sz="12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数据工程二期</a:t>
                      </a:r>
                      <a:endParaRPr lang="zh-CN" altLang="en-US" sz="12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128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</a:t>
                      </a:r>
                      <a:r>
                        <a:rPr lang="en-US" altLang="zh-CN" sz="11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algn="l"/>
                      <a:r>
                        <a:rPr lang="zh-CN" altLang="en-US" sz="11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1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项目经理：</a:t>
                      </a:r>
                      <a:r>
                        <a:rPr lang="en-US" altLang="zh-CN" sz="11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2" name="右箭头 61"/>
          <p:cNvSpPr/>
          <p:nvPr/>
        </p:nvSpPr>
        <p:spPr bwMode="auto">
          <a:xfrm>
            <a:off x="3358384" y="1869921"/>
            <a:ext cx="287920" cy="39761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/>
          <a:lstStyle/>
          <a:p>
            <a:pPr defTabSz="913765" eaLnBrk="0" hangingPunct="0">
              <a:defRPr/>
            </a:pPr>
            <a:endParaRPr lang="en-US" sz="1900" kern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4" name="右箭头 63"/>
          <p:cNvSpPr/>
          <p:nvPr/>
        </p:nvSpPr>
        <p:spPr bwMode="auto">
          <a:xfrm>
            <a:off x="3358384" y="3596374"/>
            <a:ext cx="287920" cy="39761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/>
          <a:lstStyle/>
          <a:p>
            <a:pPr defTabSz="913765" eaLnBrk="0" hangingPunct="0">
              <a:defRPr/>
            </a:pPr>
            <a:endParaRPr lang="en-US" sz="1900" kern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sp>
        <p:nvSpPr>
          <p:cNvPr id="65" name="右箭头 64"/>
          <p:cNvSpPr/>
          <p:nvPr/>
        </p:nvSpPr>
        <p:spPr bwMode="auto">
          <a:xfrm>
            <a:off x="3358384" y="5182059"/>
            <a:ext cx="287920" cy="397613"/>
          </a:xfrm>
          <a:prstGeom prst="rightArrow">
            <a:avLst/>
          </a:prstGeom>
          <a:solidFill>
            <a:srgbClr val="C00000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/>
          <a:lstStyle/>
          <a:p>
            <a:pPr defTabSz="913765" eaLnBrk="0" hangingPunct="0">
              <a:defRPr/>
            </a:pPr>
            <a:endParaRPr lang="en-US" sz="1900" kern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cxnSp>
        <p:nvCxnSpPr>
          <p:cNvPr id="66" name="直接连接符 65"/>
          <p:cNvCxnSpPr/>
          <p:nvPr/>
        </p:nvCxnSpPr>
        <p:spPr bwMode="auto">
          <a:xfrm>
            <a:off x="767108" y="1165480"/>
            <a:ext cx="2591276" cy="0"/>
          </a:xfrm>
          <a:prstGeom prst="line">
            <a:avLst/>
          </a:prstGeom>
          <a:solidFill>
            <a:srgbClr val="BBE0E3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7" name="文本框 66"/>
          <p:cNvSpPr txBox="1"/>
          <p:nvPr/>
        </p:nvSpPr>
        <p:spPr>
          <a:xfrm>
            <a:off x="1192354" y="782610"/>
            <a:ext cx="2166031" cy="405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专家阵型</a:t>
            </a: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连接符 67"/>
          <p:cNvCxnSpPr/>
          <p:nvPr/>
        </p:nvCxnSpPr>
        <p:spPr bwMode="auto">
          <a:xfrm flipV="1">
            <a:off x="3790264" y="1165480"/>
            <a:ext cx="7773827" cy="4384"/>
          </a:xfrm>
          <a:prstGeom prst="line">
            <a:avLst/>
          </a:prstGeom>
          <a:solidFill>
            <a:srgbClr val="BBE0E3"/>
          </a:solidFill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9" name="文本框 68"/>
          <p:cNvSpPr txBox="1"/>
          <p:nvPr/>
        </p:nvSpPr>
        <p:spPr>
          <a:xfrm>
            <a:off x="6093620" y="787326"/>
            <a:ext cx="2813850" cy="399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“混凝土”开发阵型</a:t>
            </a:r>
            <a:endParaRPr 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左大括号 69"/>
          <p:cNvSpPr/>
          <p:nvPr/>
        </p:nvSpPr>
        <p:spPr bwMode="auto">
          <a:xfrm>
            <a:off x="1562379" y="1869921"/>
            <a:ext cx="215939" cy="3564728"/>
          </a:xfrm>
          <a:prstGeom prst="leftBrace">
            <a:avLst/>
          </a:prstGeom>
          <a:noFill/>
          <a:ln w="1905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04" tIns="45702" rIns="91404" bIns="45702" numCol="1" rtlCol="0" anchor="t" anchorCtr="0" compatLnSpc="1"/>
          <a:lstStyle/>
          <a:p>
            <a:pPr defTabSz="913765" eaLnBrk="0" hangingPunct="0">
              <a:defRPr/>
            </a:pPr>
            <a:endParaRPr lang="en-US" sz="1900" kern="0" dirty="0">
              <a:solidFill>
                <a:srgbClr val="000000"/>
              </a:solidFill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  <p:graphicFrame>
        <p:nvGraphicFramePr>
          <p:cNvPr id="74" name="表格 73"/>
          <p:cNvGraphicFramePr>
            <a:graphicFrameLocks noGrp="1"/>
          </p:cNvGraphicFramePr>
          <p:nvPr/>
        </p:nvGraphicFramePr>
        <p:xfrm>
          <a:off x="1812562" y="3331861"/>
          <a:ext cx="1511578" cy="997961"/>
        </p:xfrm>
        <a:graphic>
          <a:graphicData uri="http://schemas.openxmlformats.org/drawingml/2006/table">
            <a:tbl>
              <a:tblPr firstRow="1" bandRow="1"/>
              <a:tblGrid>
                <a:gridCol w="151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553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</a:t>
                      </a:r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子项目</a:t>
                      </a:r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00" b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技术点</a:t>
                      </a:r>
                      <a:endParaRPr lang="en-US" altLang="zh-CN" sz="1100" b="1" kern="1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代际：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1.0/2.0/3.0</a:t>
                      </a:r>
                      <a:endParaRPr lang="zh-CN" altLang="en-US" sz="11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77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（可选）</a:t>
                      </a:r>
                      <a:endParaRPr lang="en-US" altLang="zh-CN" sz="1000" i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5" name="表格 74"/>
          <p:cNvGraphicFramePr>
            <a:graphicFrameLocks noGrp="1"/>
          </p:cNvGraphicFramePr>
          <p:nvPr/>
        </p:nvGraphicFramePr>
        <p:xfrm>
          <a:off x="1812562" y="4827404"/>
          <a:ext cx="1511578" cy="997961"/>
        </p:xfrm>
        <a:graphic>
          <a:graphicData uri="http://schemas.openxmlformats.org/drawingml/2006/table">
            <a:tbl>
              <a:tblPr firstRow="1" bandRow="1"/>
              <a:tblGrid>
                <a:gridCol w="151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553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XX</a:t>
                      </a:r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子项目</a:t>
                      </a:r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/</a:t>
                      </a:r>
                      <a:r>
                        <a:rPr lang="zh-CN" altLang="en-US" sz="1100" b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技术点</a:t>
                      </a:r>
                      <a:endParaRPr lang="en-US" altLang="zh-CN" sz="1100" b="1" kern="1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代际：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1.0/2.0/3.0</a:t>
                      </a:r>
                      <a:endParaRPr lang="zh-CN" altLang="en-US" sz="11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77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</a:p>
                    <a:p>
                      <a:pPr marL="0" marR="0" lvl="0" indent="0" algn="l" defTabSz="91376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项目经理：</a:t>
                      </a:r>
                      <a:r>
                        <a:rPr lang="en-US" altLang="zh-CN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000" i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（可选）</a:t>
                      </a:r>
                      <a:endParaRPr lang="en-US" altLang="zh-CN" sz="1000" i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6" name="Group 274"/>
          <p:cNvGraphicFramePr/>
          <p:nvPr/>
        </p:nvGraphicFramePr>
        <p:xfrm>
          <a:off x="3790264" y="3449525"/>
          <a:ext cx="7845808" cy="1594685"/>
        </p:xfrm>
        <a:graphic>
          <a:graphicData uri="http://schemas.openxmlformats.org/drawingml/2006/table">
            <a:tbl>
              <a:tblPr/>
              <a:tblGrid>
                <a:gridCol w="71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3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65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41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8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37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000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研发人力预测</a:t>
                      </a: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35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研究所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7" name="Group 274"/>
          <p:cNvGraphicFramePr/>
          <p:nvPr/>
        </p:nvGraphicFramePr>
        <p:xfrm>
          <a:off x="3790264" y="4703804"/>
          <a:ext cx="7845808" cy="1594685"/>
        </p:xfrm>
        <a:graphic>
          <a:graphicData uri="http://schemas.openxmlformats.org/drawingml/2006/table">
            <a:tbl>
              <a:tblPr/>
              <a:tblGrid>
                <a:gridCol w="7197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5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6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13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92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50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000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832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272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65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5418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31879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375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520002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249263">
                <a:tc rowSpan="2"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研发人力预测</a:t>
                      </a: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汇总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5635">
                <a:tc gridSpan="2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926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926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部门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92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外部预算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研究所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926">
                <a:tc grid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  <a:defRPr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 marL="57600" marR="57600" marT="18000" marB="1800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9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60000"/>
                        <a:buFont typeface="Wingdings" panose="05000000000000000000" pitchFamily="2" charset="2"/>
                        <a:buNone/>
                      </a:pPr>
                      <a:endParaRPr kumimoji="0" lang="zh-CN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57578" marR="57578" marT="17993" marB="17993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8" name="文本框 77"/>
          <p:cNvSpPr txBox="1"/>
          <p:nvPr/>
        </p:nvSpPr>
        <p:spPr>
          <a:xfrm>
            <a:off x="58701" y="5932361"/>
            <a:ext cx="5922514" cy="861438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zh-CN" altLang="en-US" sz="1000" b="1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说明：</a:t>
            </a:r>
            <a:endParaRPr lang="en-US" altLang="zh-CN" sz="1000" b="1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、项目群和子项目分别设置首席专家；</a:t>
            </a:r>
            <a:endParaRPr lang="en-US" altLang="zh-CN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DU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派人进驻技术项目，形成混凝土团队，共同进行技术项目开发</a:t>
            </a:r>
            <a:endParaRPr lang="en-US" altLang="zh-CN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、新孵化产业，可以无需配置混凝土</a:t>
            </a:r>
            <a:endParaRPr lang="en-US" altLang="zh-CN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、内部预算：授予给产品线内部的预算。外部预算：授予给研究所，</a:t>
            </a:r>
            <a:r>
              <a:rPr lang="en-US" altLang="zh-CN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2012</a:t>
            </a:r>
            <a:r>
              <a:rPr lang="zh-CN" altLang="en-US" sz="1000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实验室等产品线外部的预算</a:t>
            </a:r>
            <a:endParaRPr lang="en-US" sz="1000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1812562" y="1563413"/>
          <a:ext cx="1511578" cy="997961"/>
        </p:xfrm>
        <a:graphic>
          <a:graphicData uri="http://schemas.openxmlformats.org/drawingml/2006/table">
            <a:tbl>
              <a:tblPr firstRow="1" bandRow="1"/>
              <a:tblGrid>
                <a:gridCol w="1511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553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pPr algn="l"/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鲲鹏</a:t>
                      </a:r>
                      <a:r>
                        <a:rPr lang="en-US" altLang="zh-CN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Python/Rust</a:t>
                      </a:r>
                      <a:r>
                        <a:rPr lang="zh-CN" altLang="en-US" sz="1100" b="1" i="1" kern="1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运行时 </a:t>
                      </a:r>
                      <a:r>
                        <a:rPr lang="zh-CN" altLang="en-US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代际：</a:t>
                      </a:r>
                      <a:r>
                        <a:rPr lang="en-US" altLang="zh-CN" sz="11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950</a:t>
                      </a:r>
                      <a:endParaRPr lang="zh-CN" altLang="en-US" sz="1100" b="1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77">
                <a:tc>
                  <a:txBody>
                    <a:bodyPr/>
                    <a:lstStyle>
                      <a:lvl1pPr marL="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1pPr>
                      <a:lvl2pPr marL="45720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2pPr>
                      <a:lvl3pPr marL="9137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3pPr>
                      <a:lvl4pPr marL="13709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4pPr>
                      <a:lvl5pPr marL="182816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5pPr>
                      <a:lvl6pPr marL="22847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6pPr>
                      <a:lvl7pPr marL="2741930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7pPr>
                      <a:lvl8pPr marL="31984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8pPr>
                      <a:lvl9pPr marL="3655695" algn="l" defTabSz="91376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 panose="020B0604020202020204"/>
                          <a:ea typeface="宋体"/>
                        </a:defRPr>
                      </a:lvl9pPr>
                    </a:lstStyle>
                    <a:p>
                      <a:r>
                        <a:rPr lang="zh-CN" altLang="en-US" sz="10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首席专家：苏现群</a:t>
                      </a:r>
                      <a:endParaRPr lang="en-US" altLang="zh-CN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r>
                        <a:rPr lang="zh-CN" altLang="en-US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专家职级：</a:t>
                      </a:r>
                      <a:r>
                        <a:rPr lang="en-US" altLang="zh-CN" sz="100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en-US" altLang="zh-CN" sz="1000" i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8928618" y="18774"/>
            <a:ext cx="3249934" cy="171132"/>
            <a:chOff x="8932105" y="17441"/>
            <a:chExt cx="3251204" cy="171199"/>
          </a:xfrm>
        </p:grpSpPr>
        <p:sp>
          <p:nvSpPr>
            <p:cNvPr id="29" name="矩形 28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项目计划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项目进展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组合概述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矩形 33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决策申请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9"/>
    </mc:Choice>
    <mc:Fallback xmlns="">
      <p:transition spd="slow" advTm="389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表格 13"/>
          <p:cNvGraphicFramePr>
            <a:graphicFrameLocks noGrp="1"/>
          </p:cNvGraphicFramePr>
          <p:nvPr/>
        </p:nvGraphicFramePr>
        <p:xfrm>
          <a:off x="358272" y="881145"/>
          <a:ext cx="10693403" cy="1745208"/>
        </p:xfrm>
        <a:graphic>
          <a:graphicData uri="http://schemas.openxmlformats.org/drawingml/2006/table">
            <a:tbl>
              <a:tblPr/>
              <a:tblGrid>
                <a:gridCol w="46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6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关键技术点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代际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竞争力目标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竞争力贡献值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性能自提升值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*0.75(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特性叠加系数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验收场景说明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en-US" altLang="zh-CN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鲲鹏</a:t>
                      </a:r>
                      <a:r>
                        <a:rPr kumimoji="0" lang="en-U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Python/Rust</a:t>
                      </a: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运行时</a:t>
                      </a:r>
                      <a:endParaRPr kumimoji="0" lang="en-US" altLang="zh-CN" sz="105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端到端性能自提升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↑，竞争力目标贡献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0.07</a:t>
                      </a:r>
                      <a:endParaRPr lang="en-US" altLang="zh-CN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Daft&gt;v0.7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Ray&gt;v2.55, Lance&gt;v5.0</a:t>
                      </a: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r>
                        <a:rPr lang="en-US" altLang="zh-CN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DAComp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数据处理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950V200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台，灵衢组网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昇腾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SSU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盘框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50" b="0" i="1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kumimoji="0" lang="en-US" altLang="zh-CN" sz="105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27.0.0</a:t>
                      </a:r>
                      <a:endParaRPr kumimoji="0" lang="zh-CN" altLang="en-US" sz="105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5083342" y="375502"/>
            <a:ext cx="1810753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 pitchFamily="34" charset="0"/>
              </a:rPr>
              <a:t>AS-IS</a:t>
            </a:r>
            <a:endParaRPr kumimoji="1" lang="zh-CN" altLang="en-US" dirty="0" err="1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358272" y="3633741"/>
          <a:ext cx="10693403" cy="2050008"/>
        </p:xfrm>
        <a:graphic>
          <a:graphicData uri="http://schemas.openxmlformats.org/drawingml/2006/table">
            <a:tbl>
              <a:tblPr/>
              <a:tblGrid>
                <a:gridCol w="46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1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6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63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360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关键技术点</a:t>
                      </a:r>
                      <a:endParaRPr kumimoji="0" lang="zh-CN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代际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tx1"/>
                          </a:solidFill>
                          <a:latin typeface="FrutigerNext LT Regular"/>
                          <a:ea typeface="华文细黑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竞争力目标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竞争力贡献值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性能自提升值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*0.75(</a:t>
                      </a:r>
                      <a:r>
                        <a:rPr kumimoji="0" lang="zh-CN" altLang="en-US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特性叠加系数</a:t>
                      </a:r>
                      <a:r>
                        <a:rPr kumimoji="0" lang="en-US" altLang="zh-CN" sz="1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验收场景说明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8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5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kumimoji="0" lang="en-US" altLang="zh-CN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5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Python UDF</a:t>
                      </a:r>
                      <a:r>
                        <a:rPr kumimoji="0" lang="zh-CN" altLang="en-US" sz="105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加速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50" i="1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inderX支持数据工程领域插件，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在文本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pipeline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</a:t>
                      </a:r>
                      <a:r>
                        <a:rPr lang="en-US" altLang="zh-CN" sz="1050" i="1" kern="1200" noProof="0" dirty="0" err="1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pipeline_text_fineweb_full_min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）中自提升1.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倍、自动驾驶benchmark自提升1.</a:t>
                      </a:r>
                      <a:r>
                        <a:rPr lang="en-US" altLang="zh-CN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r>
                        <a:rPr lang="zh-CN" altLang="en-US" sz="1050" i="1" kern="1200" noProof="0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倍</a:t>
                      </a:r>
                      <a:endParaRPr lang="en-US" altLang="zh-CN" sz="1050" i="1" kern="1200" dirty="0">
                        <a:solidFill>
                          <a:srgbClr val="0000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Daft&gt;v0.7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Ray&gt;v2.55, Lance&gt;v5.0</a:t>
                      </a: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r>
                        <a:rPr lang="en-US" altLang="zh-CN" sz="100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DAComp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数据处理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Benchmark</a:t>
                      </a: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&gt;= 3.20</a:t>
                      </a: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 &gt;= 1.94.0</a:t>
                      </a: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defRPr/>
                      </a:pPr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硬件配置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：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950V200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服务器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台，灵衢组网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昇腾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910B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节点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171450" marR="0" lvl="0" indent="-17145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SSU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盘框</a:t>
                      </a:r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</a:t>
                      </a: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5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openEuler</a:t>
                      </a:r>
                      <a:r>
                        <a:rPr kumimoji="0" lang="en-US" altLang="zh-CN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27.0.0</a:t>
                      </a:r>
                      <a:endParaRPr kumimoji="0" lang="zh-CN" altLang="en-US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8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05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鲲鹏</a:t>
                      </a:r>
                      <a:r>
                        <a:rPr kumimoji="0" lang="en-US" altLang="zh-CN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Rust</a:t>
                      </a:r>
                      <a:r>
                        <a:rPr kumimoji="0" lang="zh-CN" altLang="en-US" sz="105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运行时</a:t>
                      </a:r>
                      <a:endParaRPr kumimoji="0" lang="en-US" altLang="zh-CN" sz="1050" b="0" i="1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05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针对 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 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占比明显场景（文本 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 PDF  / LLM 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预处理）端到端性能自提升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</a:t>
                      </a:r>
                      <a:r>
                        <a:rPr lang="en-US" altLang="zh-CN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. </a:t>
                      </a:r>
                      <a:r>
                        <a:rPr lang="zh-CN" altLang="en-US" sz="1050" i="1" dirty="0">
                          <a:solidFill>
                            <a:srgbClr val="0000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在其他场景不劣化</a:t>
                      </a:r>
                      <a:endParaRPr lang="en-US" altLang="zh-CN" sz="105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4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altLang="zh-CN" sz="1050" b="0" i="1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openEuler</a:t>
                      </a:r>
                      <a:r>
                        <a:rPr kumimoji="0" lang="en-US" altLang="zh-CN" sz="105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uLnTx/>
                          <a:uFillTx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 27.0.0</a:t>
                      </a:r>
                      <a:endParaRPr kumimoji="0" lang="zh-CN" altLang="en-US" sz="105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5083342" y="3128098"/>
            <a:ext cx="1810753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Arial" panose="020B0604020202020204"/>
                <a:ea typeface="微软雅黑" panose="020B0503020204020204" pitchFamily="34" charset="-122"/>
                <a:cs typeface="Arial" panose="020B0604020202020204" pitchFamily="34" charset="0"/>
              </a:rPr>
              <a:t>TO-BE</a:t>
            </a:r>
            <a:endParaRPr kumimoji="1" lang="zh-CN" altLang="en-US" dirty="0" err="1">
              <a:solidFill>
                <a:srgbClr val="000000"/>
              </a:solidFill>
              <a:latin typeface="Arial" panose="020B0604020202020204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9" name="副标题 10"/>
          <p:cNvSpPr>
            <a:spLocks noGrp="1"/>
          </p:cNvSpPr>
          <p:nvPr>
            <p:ph type="subTitle" idx="1"/>
          </p:nvPr>
        </p:nvSpPr>
        <p:spPr>
          <a:xfrm>
            <a:off x="50706" y="75908"/>
            <a:ext cx="10187035" cy="49650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目标刷新</a:t>
            </a: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8942067" y="-1052"/>
            <a:ext cx="3249934" cy="171132"/>
            <a:chOff x="8932105" y="17441"/>
            <a:chExt cx="3251204" cy="171199"/>
          </a:xfrm>
        </p:grpSpPr>
        <p:sp>
          <p:nvSpPr>
            <p:cNvPr id="27" name="矩形 26"/>
            <p:cNvSpPr/>
            <p:nvPr/>
          </p:nvSpPr>
          <p:spPr bwMode="auto">
            <a:xfrm>
              <a:off x="10588289" y="17441"/>
              <a:ext cx="802932" cy="171199"/>
            </a:xfrm>
            <a:prstGeom prst="rect">
              <a:avLst/>
            </a:prstGeom>
            <a:solidFill>
              <a:srgbClr val="C00000"/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技术构想</a:t>
              </a:r>
              <a:endParaRPr lang="en-US" sz="1050" b="1" i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矩形 27"/>
            <p:cNvSpPr/>
            <p:nvPr/>
          </p:nvSpPr>
          <p:spPr bwMode="auto">
            <a:xfrm>
              <a:off x="9796201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洞察分析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矩形 28"/>
            <p:cNvSpPr/>
            <p:nvPr/>
          </p:nvSpPr>
          <p:spPr bwMode="auto">
            <a:xfrm>
              <a:off x="8932105" y="17441"/>
              <a:ext cx="868316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任务书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矩形 29"/>
            <p:cNvSpPr/>
            <p:nvPr/>
          </p:nvSpPr>
          <p:spPr bwMode="auto">
            <a:xfrm>
              <a:off x="11380377" y="17441"/>
              <a:ext cx="802932" cy="171199"/>
            </a:xfrm>
            <a:prstGeom prst="rect">
              <a:avLst/>
            </a:prstGeom>
            <a:solidFill>
              <a:srgbClr val="FFFFFF">
                <a:lumMod val="95000"/>
              </a:srgbClr>
            </a:solidFill>
            <a:ln w="952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04" tIns="45702" rIns="91404" bIns="45702" numCol="1" rtlCol="0" anchor="ctr" anchorCtr="0" compatLnSpc="1"/>
            <a:lstStyle/>
            <a:p>
              <a:pPr algn="ctr" defTabSz="913765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1050" b="1" i="1" kern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执行策略</a:t>
              </a:r>
              <a:endParaRPr lang="en-US" sz="1050" b="1" i="1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9" name="表格 18"/>
          <p:cNvGraphicFramePr>
            <a:graphicFrameLocks noGrp="1"/>
          </p:cNvGraphicFramePr>
          <p:nvPr/>
        </p:nvGraphicFramePr>
        <p:xfrm>
          <a:off x="50706" y="785661"/>
          <a:ext cx="12083215" cy="3000547"/>
        </p:xfrm>
        <a:graphic>
          <a:graphicData uri="http://schemas.openxmlformats.org/drawingml/2006/table">
            <a:tbl>
              <a:tblPr firstRow="1" bandRow="1"/>
              <a:tblGrid>
                <a:gridCol w="47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2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5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002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212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54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3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6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13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753602"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关键技术点描述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交付形式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总工作量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周边项目承载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主导专家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承接团队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计划落地产品时间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0261">
                <a:tc>
                  <a:txBody>
                    <a:bodyPr/>
                    <a:lstStyle/>
                    <a:p>
                      <a:pPr marL="0" algn="ctr" defTabSz="1188085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UDF</a:t>
                      </a:r>
                      <a:r>
                        <a:rPr lang="zh-CN" altLang="en-US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CBO UDF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融合和编排优化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：根据开销和收益，寻找最佳组合，实现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UDF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重排和融合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800" b="1" dirty="0">
                          <a:solidFill>
                            <a:srgbClr val="000000"/>
                          </a:solidFill>
                          <a:latin typeface="微软雅黑" pitchFamily="34" charset="0"/>
                          <a:ea typeface="微软雅黑" pitchFamily="34" charset="0"/>
                        </a:rPr>
                        <a:t>UDF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 JIT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编译优化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：对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UDF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通过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JIT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即时编译生成鲲鹏亲和机器码</a:t>
                      </a:r>
                      <a:endParaRPr kumimoji="0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 pitchFamily="34" charset="0"/>
                        <a:ea typeface="微软雅黑" pitchFamily="34" charset="0"/>
                        <a:cs typeface="+mn-cs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Coding Agent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实现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Python UDF</a:t>
                      </a:r>
                      <a:r>
                        <a:rPr kumimoji="0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自动改写成</a:t>
                      </a:r>
                      <a:r>
                        <a:rPr kumimoji="0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Rust UDF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：基于算子模板库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+SKILL.md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，实现</a:t>
                      </a:r>
                      <a:r>
                        <a:rPr kumimoji="0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Python-&gt;IR-&gt; Rust </a:t>
                      </a:r>
                      <a:r>
                        <a:rPr kumimoji="0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 pitchFamily="34" charset="0"/>
                          <a:ea typeface="微软雅黑" pitchFamily="34" charset="0"/>
                          <a:cs typeface="+mn-cs"/>
                        </a:rPr>
                        <a:t>代码自主生成 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10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张巍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鲲鹏产品部</a:t>
                      </a:r>
                      <a:endParaRPr lang="en-US" altLang="zh-CN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2026/12/30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2027/6/30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6403">
                <a:tc>
                  <a:txBody>
                    <a:bodyPr/>
                    <a:lstStyle/>
                    <a:p>
                      <a:pPr marL="0" algn="ctr" defTabSz="1188085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</a:t>
                      </a: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多进程降争用：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通过优化低负载高并发时的进程模型，避免进程空转带来的竞态消耗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热点路径向量化优化：</a:t>
                      </a:r>
                      <a:r>
                        <a:rPr kumimoji="1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stringlib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搜索算法等数据工程热点路径鲲鹏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SVE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向量化优化，快速弥补鲲鹏与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x86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在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PDF/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视频等产线上的性能差距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热点路径向量化优化： 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补齐对</a:t>
                      </a:r>
                      <a:r>
                        <a:rPr kumimoji="1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pmovmskb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的支持，通过手写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SIMD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指令优化热点函数接口性能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 CRC32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鲲鹏硬加速：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多模态数据校验使能鲲鹏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CRC32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硬件加速 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访存优化：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读写数据局部化、内存预取等手段减少随机内存读写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前端编译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&amp;LLVM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ARM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低效指令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84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latin typeface="微软雅黑"/>
                          <a:ea typeface="微软雅黑" panose="020B0503020204020204" pitchFamily="34" charset="-122"/>
                        </a:rPr>
                        <a:t>Cpython</a:t>
                      </a:r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(18)</a:t>
                      </a:r>
                    </a:p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rust</a:t>
                      </a:r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编译器</a:t>
                      </a:r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(12)</a:t>
                      </a:r>
                    </a:p>
                    <a:p>
                      <a:pPr algn="ctr"/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公开（</a:t>
                      </a:r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27</a:t>
                      </a:r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27</a:t>
                      </a:r>
                    </a:p>
                    <a:p>
                      <a:pPr algn="ctr"/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（公开开发部自带）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苏现群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计算软件平台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2026/12/30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2027/3/30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副标题 10"/>
          <p:cNvSpPr>
            <a:spLocks noGrp="1"/>
          </p:cNvSpPr>
          <p:nvPr>
            <p:ph type="subTitle" idx="1"/>
          </p:nvPr>
        </p:nvSpPr>
        <p:spPr>
          <a:xfrm>
            <a:off x="50706" y="75908"/>
            <a:ext cx="10187035" cy="496506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工作量刷新</a:t>
            </a:r>
          </a:p>
        </p:txBody>
      </p:sp>
      <p:graphicFrame>
        <p:nvGraphicFramePr>
          <p:cNvPr id="10" name="表格 18"/>
          <p:cNvGraphicFramePr>
            <a:graphicFrameLocks noGrp="1"/>
          </p:cNvGraphicFramePr>
          <p:nvPr/>
        </p:nvGraphicFramePr>
        <p:xfrm>
          <a:off x="54394" y="4188542"/>
          <a:ext cx="12083215" cy="2416313"/>
        </p:xfrm>
        <a:graphic>
          <a:graphicData uri="http://schemas.openxmlformats.org/drawingml/2006/table">
            <a:tbl>
              <a:tblPr firstRow="1" bandRow="1"/>
              <a:tblGrid>
                <a:gridCol w="474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9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79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29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03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54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4676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160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54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332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89683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2139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32558"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名称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代际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关键技术点描述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交付形式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总工作量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周边项目承载</a:t>
                      </a:r>
                      <a:endParaRPr lang="en-US" altLang="zh-CN" sz="11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（人月）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主导专家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Arial" panose="020B0604020202020204"/>
                          <a:ea typeface="黑体"/>
                        </a:defRPr>
                      </a:lvl9pPr>
                    </a:lstStyle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承接团队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计划完成时间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计划落地产品时间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计划落地版本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925">
                <a:tc>
                  <a:txBody>
                    <a:bodyPr/>
                    <a:lstStyle/>
                    <a:p>
                      <a:pPr marL="0" algn="ctr" defTabSz="1188085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 UDF</a:t>
                      </a:r>
                      <a:r>
                        <a:rPr lang="zh-CN" altLang="en-US" sz="900" b="0" kern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加速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Typed JIT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：将高频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字符串处理与循环逻辑类型特化编译，减少动态类型、字典和正则等通用运行时开销。 </a:t>
                      </a:r>
                      <a:endParaRPr kumimoji="1" lang="en-US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zh-CN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框架表达式下沉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：将清洗、字符串变换、过滤统计等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 UDF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转为框架原生列式表达式，消除逐行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Python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执行。 </a:t>
                      </a:r>
                      <a:endParaRPr kumimoji="1" lang="en-US" altLang="zh-CN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indent="-171450">
                        <a:lnSpc>
                          <a:spcPct val="120000"/>
                        </a:lnSpc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Guarded </a:t>
                      </a:r>
                      <a:r>
                        <a:rPr kumimoji="1" lang="zh-CN" altLang="en-US" sz="800" b="1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批量执行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：通过 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Arrow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批处理、</a:t>
                      </a:r>
                      <a:r>
                        <a:rPr kumimoji="1" lang="en-US" altLang="zh-CN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Guard </a:t>
                      </a:r>
                      <a:r>
                        <a:rPr kumimoji="1" lang="zh-CN" altLang="en-US" sz="8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缓存和批内去重，摊薄调用开销并减少重复计算与对象物化。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strike="noStrike" dirty="0">
                          <a:latin typeface="微软雅黑"/>
                          <a:ea typeface="微软雅黑" panose="020B0503020204020204" pitchFamily="34" charset="-122"/>
                        </a:rPr>
                        <a:t>48</a:t>
                      </a:r>
                      <a:endParaRPr lang="zh-CN" altLang="en-US" sz="900" strike="noStrike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strike="noStrike" dirty="0">
                          <a:latin typeface="微软雅黑"/>
                          <a:ea typeface="微软雅黑" panose="020B0503020204020204" pitchFamily="34" charset="-122"/>
                        </a:rPr>
                        <a:t>48</a:t>
                      </a:r>
                      <a:endParaRPr lang="zh-CN" altLang="en-US" sz="900" strike="noStrike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/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周永哲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计算软件平台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2027/3/30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2027/6/30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143">
                <a:tc>
                  <a:txBody>
                    <a:bodyPr/>
                    <a:lstStyle/>
                    <a:p>
                      <a:pPr marL="0" algn="ctr" defTabSz="1188085" rtl="0" eaLnBrk="1" latinLnBrk="0" hangingPunct="1"/>
                      <a:r>
                        <a:rPr lang="en-US" altLang="zh-CN" sz="900" kern="12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  <a:cs typeface="+mn-cs"/>
                        </a:rPr>
                        <a:t>2</a:t>
                      </a:r>
                      <a:endParaRPr lang="zh-CN" altLang="en-US" sz="900" kern="12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鲲鹏</a:t>
                      </a:r>
                      <a:r>
                        <a:rPr lang="en-US" altLang="zh-CN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Python/Rust</a:t>
                      </a:r>
                      <a:r>
                        <a:rPr lang="zh-CN" altLang="en-US" sz="900" dirty="0">
                          <a:solidFill>
                            <a:prstClr val="black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运行时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热点路径向量化优化： 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补齐对</a:t>
                      </a:r>
                      <a:r>
                        <a:rPr kumimoji="1" lang="en-US" altLang="zh-CN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pmovmskb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的支持，通过手写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SIMD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指令优化热点函数接口性能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 CRC32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鲲鹏硬加速：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多模态数据校验使能鲲鹏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CRC32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硬件加速 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访存优化：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读写数据局部化、内存预取等手段减少随机内存读写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Rust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前端编译</a:t>
                      </a:r>
                      <a:r>
                        <a:rPr kumimoji="1" lang="en-US" altLang="zh-CN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&amp;LLVM</a:t>
                      </a:r>
                      <a:r>
                        <a:rPr kumimoji="1" lang="zh-CN" altLang="en-US" sz="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优化：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优化</a:t>
                      </a:r>
                      <a:r>
                        <a:rPr kumimoji="1" lang="en-US" altLang="zh-CN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ARM</a:t>
                      </a:r>
                      <a:r>
                        <a:rPr kumimoji="1" lang="zh-CN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软雅黑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低效指令</a:t>
                      </a:r>
                      <a:endParaRPr kumimoji="1" lang="en-US" altLang="zh-CN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软雅黑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8745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自研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43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34(</a:t>
                      </a:r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平台</a:t>
                      </a:r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23</a:t>
                      </a:r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，公开</a:t>
                      </a:r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10)</a:t>
                      </a:r>
                      <a:endParaRPr lang="zh-CN" altLang="en-US" sz="900" dirty="0"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latin typeface="微软雅黑"/>
                          <a:ea typeface="微软雅黑" panose="020B0503020204020204" pitchFamily="34" charset="-122"/>
                        </a:rPr>
                        <a:t>10</a:t>
                      </a:r>
                    </a:p>
                    <a:p>
                      <a:pPr algn="ctr"/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（公开开发部自带）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latin typeface="微软雅黑"/>
                          <a:ea typeface="微软雅黑" panose="020B0503020204020204" pitchFamily="34" charset="-122"/>
                        </a:rPr>
                        <a:t>隋致远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计算软件平台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2027/3/30</a:t>
                      </a: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2027/6/30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dirty="0" err="1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Boostkit</a:t>
                      </a:r>
                      <a:r>
                        <a:rPr lang="en-US" altLang="zh-CN" sz="900" dirty="0">
                          <a:solidFill>
                            <a:schemeClr val="tx1"/>
                          </a:solidFill>
                          <a:latin typeface="微软雅黑"/>
                          <a:ea typeface="微软雅黑" panose="020B0503020204020204" pitchFamily="34" charset="-122"/>
                        </a:rPr>
                        <a:t> 27.0</a:t>
                      </a:r>
                      <a:endParaRPr lang="zh-CN" altLang="en-US" sz="900" dirty="0">
                        <a:solidFill>
                          <a:schemeClr val="tx1"/>
                        </a:solidFill>
                        <a:latin typeface="微软雅黑"/>
                        <a:ea typeface="微软雅黑" panose="020B0503020204020204" pitchFamily="34" charset="-122"/>
                      </a:endParaRPr>
                    </a:p>
                  </a:txBody>
                  <a:tcPr marL="91404" marR="91404" marT="45702" marB="45702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5336005" y="343122"/>
            <a:ext cx="1810753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ea typeface="微软雅黑" panose="020B0503020204020204" pitchFamily="34" charset="-122"/>
                <a:cs typeface="Arial" panose="020B0604020202020204" pitchFamily="34" charset="0"/>
              </a:rPr>
              <a:t>AS-IS</a:t>
            </a:r>
            <a:endParaRPr kumimoji="1" lang="zh-CN" altLang="en-US" dirty="0" err="1">
              <a:solidFill>
                <a:srgbClr val="000000"/>
              </a:solidFill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30576" y="3770437"/>
            <a:ext cx="934129" cy="3795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kumimoji="1" lang="en-US" altLang="zh-CN" dirty="0">
                <a:solidFill>
                  <a:srgbClr val="000000"/>
                </a:solidFill>
                <a:latin typeface="微软雅黑"/>
                <a:ea typeface="微软雅黑" panose="020B0503020204020204" pitchFamily="34" charset="-122"/>
                <a:cs typeface="Arial" panose="020B0604020202020204" pitchFamily="34" charset="0"/>
              </a:rPr>
              <a:t>TO-BE</a:t>
            </a:r>
            <a:endParaRPr kumimoji="1" lang="zh-CN" altLang="en-US" dirty="0" err="1">
              <a:solidFill>
                <a:srgbClr val="000000"/>
              </a:solidFill>
              <a:latin typeface="微软雅黑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2035"/>
    </mc:Choice>
    <mc:Fallback xmlns="">
      <p:transition advTm="2035"/>
    </mc:Fallback>
  </mc:AlternateContent>
</p:sld>
</file>

<file path=ppt/theme/theme1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hapter page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lnSpc>
            <a:spcPts val="3440"/>
          </a:lnSpc>
          <a:defRPr kumimoji="1" dirty="0" err="1" smtClean="0">
            <a:solidFill>
              <a:srgbClr val="000000"/>
            </a:solidFill>
            <a:ea typeface="微软雅黑" panose="020B0503020204020204" pitchFamily="34" charset="-122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3603</Words>
  <Application>Microsoft Office PowerPoint</Application>
  <PresentationFormat>宽屏</PresentationFormat>
  <Paragraphs>656</Paragraphs>
  <Slides>10</Slides>
  <Notes>5</Notes>
  <HiddenSlides>2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.AppleSystemUIFont</vt:lpstr>
      <vt:lpstr>等线</vt:lpstr>
      <vt:lpstr>微软雅黑</vt:lpstr>
      <vt:lpstr>Arial</vt:lpstr>
      <vt:lpstr>Calibri</vt:lpstr>
      <vt:lpstr>UbuntuMono Nerd Font Propo</vt:lpstr>
      <vt:lpstr>Wingdings</vt:lpstr>
      <vt:lpstr>章节页</vt:lpstr>
      <vt:lpstr>1_Chapter page</vt:lpstr>
      <vt:lpstr>结束页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ligaoyuan</dc:creator>
  <cp:lastModifiedBy>suizhiyuan</cp:lastModifiedBy>
  <cp:revision>6</cp:revision>
  <dcterms:created xsi:type="dcterms:W3CDTF">2026-09-28T01:58:43Z</dcterms:created>
  <dcterms:modified xsi:type="dcterms:W3CDTF">2026-09-28T13:21:00Z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