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0"/>
  </p:notesMasterIdLst>
  <p:handoutMasterIdLst>
    <p:handoutMasterId r:id="rId41"/>
  </p:handoutMasterIdLst>
  <p:sldIdLst>
    <p:sldId id="16777202" r:id="rId8"/>
    <p:sldId id="2147483646" r:id="rId9"/>
    <p:sldId id="273" r:id="rId10"/>
    <p:sldId id="2147483647" r:id="rId11"/>
    <p:sldId id="272" r:id="rId12"/>
    <p:sldId id="276" r:id="rId13"/>
    <p:sldId id="266" r:id="rId14"/>
    <p:sldId id="268" r:id="rId15"/>
    <p:sldId id="256" r:id="rId16"/>
    <p:sldId id="258" r:id="rId17"/>
    <p:sldId id="262" r:id="rId18"/>
    <p:sldId id="271" r:id="rId19"/>
    <p:sldId id="280" r:id="rId20"/>
    <p:sldId id="270" r:id="rId21"/>
    <p:sldId id="265" r:id="rId22"/>
    <p:sldId id="263" r:id="rId23"/>
    <p:sldId id="275" r:id="rId24"/>
    <p:sldId id="303" r:id="rId25"/>
    <p:sldId id="259" r:id="rId26"/>
    <p:sldId id="260" r:id="rId27"/>
    <p:sldId id="261" r:id="rId28"/>
    <p:sldId id="16777058" r:id="rId29"/>
    <p:sldId id="291" r:id="rId30"/>
    <p:sldId id="2147483645" r:id="rId31"/>
    <p:sldId id="287" r:id="rId32"/>
    <p:sldId id="286" r:id="rId33"/>
    <p:sldId id="269" r:id="rId34"/>
    <p:sldId id="2147483632" r:id="rId35"/>
    <p:sldId id="1205" r:id="rId36"/>
    <p:sldId id="257" r:id="rId37"/>
    <p:sldId id="267" r:id="rId38"/>
    <p:sldId id="264" r:id="rId39"/>
  </p:sldIdLst>
  <p:sldSz cx="12196763" cy="6858000"/>
  <p:notesSz cx="6858000" cy="9144000"/>
  <p:custDataLst>
    <p:tags r:id="rId4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492"/>
    <a:srgbClr val="616161"/>
    <a:srgbClr val="FFB2B2"/>
    <a:srgbClr val="BEE7A6"/>
    <a:srgbClr val="A8E0E8"/>
    <a:srgbClr val="FFE2C8"/>
    <a:srgbClr val="D4F1F5"/>
    <a:srgbClr val="FEC493"/>
    <a:srgbClr val="BEE6A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29" autoAdjust="0"/>
    <p:restoredTop sz="77797" autoAdjust="0"/>
  </p:normalViewPr>
  <p:slideViewPr>
    <p:cSldViewPr snapToGrid="0" snapToObjects="1">
      <p:cViewPr varScale="1">
        <p:scale>
          <a:sx n="94" d="100"/>
          <a:sy n="94" d="100"/>
        </p:scale>
        <p:origin x="1781" y="82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notesMaster" Target="notesMasters/notesMaster1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commentAuthors" Target="commentAuthor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theme" Target="theme/theme1.xml"/><Relationship Id="rId20" Type="http://schemas.openxmlformats.org/officeDocument/2006/relationships/slide" Target="slides/slide13.xml"/><Relationship Id="rId41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Eulogizethesun/CubeSandbox/issues/3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3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层（管沙箱/容器生命周期与生态接入，OCI / K8s 侧）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Kube-Shim：containerd shim v2 接口层。把沙箱伪装成 K8s 的容器运行时接进去，管 Pod 生命周期，并做 K8s 兼容与性能优化。CubeSandbox 的 CubeShim 就是这一格。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E2B-orchestrator：E2B 开源协议的沙箱编排服务，负责创建、销毁、模板与 API。Cube 兼容 E2B SDK，这格是生态兼容入口，标注 Patch 合入。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runc：OCI 参考运行时，基于 namespace + cgroup 的进程级容器，共享宿主内核。启动最快、隔离最弱，是容器基线。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RunD：安全容器运行时，走 Kata 路线，兼容 OCI，但每个容器有独立轻量内核。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Kata：Kata Containers，用轻量虚拟机跑 OCI 容器，独立 guest 内核且兼容 K8s。CubeSandbox 的 cube-agent 就是 Kata agent 的 fork。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CubeSandbox：本项目对象。腾讯云 AI Agent 安全沙箱，rust-vmm + KVM MicroVM，E2B 兼容；控制面与网络面主要在 Rust，是主要 Patch 合入对象。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VMM 层（管隔离与设备模型，决定隔离强度与启动/内存开销）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QEMU：通用 VMM，设备模型最全、兼容性最好，但启动慢、开销大，C 实现，通常作兼容兜底。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StratoVirt：openEuler 的轻量 VMM，Rust 实现，microvm 机型 50ms 内启动、内存小于 4MB，支持 x86 与 AArch64，是与鲲鹏最贴的可改 VMM。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Firecracker：AWS 的 microVM VMM，Rust 实现，只模拟 5 个设备，启动不超过 125ms、自身开销不超过 5MiB；Lambda/Fargate 底座，AgentENV 也用它。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Cloud-hypervisor：Rust 实现、面向云负载的 VMM，自带 snapshot/restore；CubeHypervisor 就是它的 fork。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gVisor：Google 的用户态应用内核，OCI 运行时叫 runsc，在源码层拦截 syscall。它不是虚拟机、没有独立内核，隔离介于容器与虚拟机之间；syscall 密集场景开销明显，引用性能必须写明平台（ptrace 平台慢约 19.7 倍，KVM 平台接近 runc）。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当前优化点列表</a:t>
            </a:r>
            <a:endParaRPr lang="en-US" altLang="zh-CN" dirty="0"/>
          </a:p>
          <a:p>
            <a:r>
              <a:rPr lang="zh-CN" altLang="zh-CN" dirty="0">
                <a:hlinkClick r:id="rId4"/>
              </a:rPr>
              <a:t>PR汇总 · Issue #3 · Eulogizethesun/CubeSandbox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  周逸文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375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86506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22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ulogizethesun/CubeSandbox/issues/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virt-pvm/linux/tree/pvm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CubeSandbox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D28C0B1-42FD-DE3E-522B-1FC7A77527FB}"/>
              </a:ext>
            </a:extLst>
          </p:cNvPr>
          <p:cNvSpPr/>
          <p:nvPr/>
        </p:nvSpPr>
        <p:spPr>
          <a:xfrm>
            <a:off x="252099" y="4750064"/>
            <a:ext cx="11024853" cy="119606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遗留问题闭环情况</a:t>
            </a:r>
          </a:p>
        </p:txBody>
      </p:sp>
      <p:graphicFrame>
        <p:nvGraphicFramePr>
          <p:cNvPr id="8" name="表格 45">
            <a:extLst>
              <a:ext uri="{FF2B5EF4-FFF2-40B4-BE49-F238E27FC236}">
                <a16:creationId xmlns:a16="http://schemas.microsoft.com/office/drawing/2014/main" id="{0592C6C3-7CF0-FF62-2E43-429BBB6B3E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5449136"/>
              </p:ext>
            </p:extLst>
          </p:nvPr>
        </p:nvGraphicFramePr>
        <p:xfrm>
          <a:off x="5752391" y="963049"/>
          <a:ext cx="5524562" cy="3619647"/>
        </p:xfrm>
        <a:graphic>
          <a:graphicData uri="http://schemas.openxmlformats.org/drawingml/2006/table">
            <a:tbl>
              <a:tblPr/>
              <a:tblGrid>
                <a:gridCol w="566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436">
                  <a:extLst>
                    <a:ext uri="{9D8B030D-6E8A-4147-A177-3AD203B41FA5}">
                      <a16:colId xmlns:a16="http://schemas.microsoft.com/office/drawing/2014/main" val="921733131"/>
                    </a:ext>
                  </a:extLst>
                </a:gridCol>
                <a:gridCol w="2500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98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No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方向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对接人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进展情况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与王有航对齐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CubeSandbox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用户应用场景，对齐超分场景的交付内容、指标口径，明确当前进展与计划。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与楼智豪对齐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用户场景与交付内容边界，对齐公共开发部的投入模块与指标口径，明确分工与推进计划。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7968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与陈小禹对齐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PVM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的应用场景（云原生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Agent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安全沙箱嵌套虚拟化）与功能范围，对齐交付位置与验收口径，明确功能交付与性能规划的进展和计划。</a:t>
                      </a:r>
                      <a:endParaRPr lang="zh-CN" altLang="en-US" sz="10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536182"/>
                  </a:ext>
                </a:extLst>
              </a:tr>
              <a:tr h="6820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生态软件开发部门（周逸文）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与周逸文对齐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的应用场景与用户使用情况，对齐优化方向与交付物口径，明确当前进展与交付计划。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6901DAC4-790A-58A7-C9E9-BF19972E4B98}"/>
              </a:ext>
            </a:extLst>
          </p:cNvPr>
          <p:cNvSpPr/>
          <p:nvPr/>
        </p:nvSpPr>
        <p:spPr>
          <a:xfrm>
            <a:off x="252100" y="903314"/>
            <a:ext cx="5103672" cy="367938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72060B1-5568-FA41-3796-3B737C030194}"/>
              </a:ext>
            </a:extLst>
          </p:cNvPr>
          <p:cNvSpPr txBox="1"/>
          <p:nvPr/>
        </p:nvSpPr>
        <p:spPr>
          <a:xfrm>
            <a:off x="367003" y="1217867"/>
            <a:ext cx="4882634" cy="305711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分析悬红目标来源，确认客户使用场景，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POC/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交付计划。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harness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沙箱，主要用户场景是来自腾讯，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完成了针对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4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的比拼，当前计划为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达成与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5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持平目标。其他客户仍在探索阶段（字节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美团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京东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小艺）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明确当前沙箱场景投入人员，模块，方向，以及对应客户场景是否相同。</a:t>
            </a:r>
            <a:b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已经明确，当前已知沙箱场景对外出口均为</a:t>
            </a:r>
            <a:r>
              <a:rPr lang="zh-CN" altLang="en-US" sz="1200" dirty="0"/>
              <a:t>王有航，明确各个模块投入场景（见分工页）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 </a:t>
            </a:r>
            <a:r>
              <a:rPr kumimoji="1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，从 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语言角度分析，有哪些可以优化的。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zh-CN" altLang="en-US" sz="1200" dirty="0"/>
              <a:t>完成初步分析，分析了执行时间，各个步骤的耗时，从时间超分角度，又可以优化的场景（见初步分析结论页）。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84B1D9-02DE-9EF5-8768-3EC9013A7F8B}"/>
              </a:ext>
            </a:extLst>
          </p:cNvPr>
          <p:cNvSpPr txBox="1"/>
          <p:nvPr/>
        </p:nvSpPr>
        <p:spPr>
          <a:xfrm>
            <a:off x="595000" y="4908379"/>
            <a:ext cx="7081810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1400" dirty="0"/>
              <a:t>① 目标：腾讯 AI harness 沙箱为主场景，930 与 Zen 4 持平、1230 目标与 Zen 5 持平。 </a:t>
            </a:r>
            <a:endParaRPr lang="en-US" altLang="zh-CN" sz="1400" dirty="0"/>
          </a:p>
          <a:p>
            <a:r>
              <a:rPr lang="zh-CN" altLang="zh-CN" sz="1400" dirty="0"/>
              <a:t>② 分工：四方向对接人与交付边界已明确，沙箱对外出口统一为王有航。</a:t>
            </a:r>
            <a:endParaRPr lang="en-US" altLang="zh-CN" sz="1400" dirty="0"/>
          </a:p>
          <a:p>
            <a:r>
              <a:rPr lang="zh-CN" altLang="zh-CN" sz="1400" dirty="0"/>
              <a:t>③ 计划：各方向的交付内容、指标口径与节奏已对齐</a:t>
            </a:r>
            <a:endParaRPr lang="en-US" altLang="zh-CN" sz="1400" dirty="0"/>
          </a:p>
          <a:p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求助：</a:t>
            </a:r>
            <a:r>
              <a:rPr kumimoji="1" lang="en-US" altLang="zh-CN" sz="1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投入穿刺需要环境。</a:t>
            </a: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CubeSandbox</a:t>
            </a:r>
            <a:r>
              <a:rPr lang="en-US" altLang="zh-CN" dirty="0"/>
              <a:t> </a:t>
            </a:r>
            <a:r>
              <a:rPr lang="zh-CN" altLang="en-US" dirty="0"/>
              <a:t>当前对接为腾讯，应用场景集中在 </a:t>
            </a:r>
            <a:r>
              <a:rPr lang="en-US" altLang="zh-CN" dirty="0"/>
              <a:t>Agent </a:t>
            </a:r>
            <a:r>
              <a:rPr lang="zh-CN" altLang="en-US" dirty="0"/>
              <a:t>代码执行、多租户隔离与 </a:t>
            </a:r>
            <a:r>
              <a:rPr lang="en-US" altLang="zh-CN" dirty="0"/>
              <a:t>RL </a:t>
            </a:r>
            <a:r>
              <a:rPr lang="zh-CN" altLang="en-US" dirty="0"/>
              <a:t>训练等场景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DA03D3-62CC-3BCB-120A-63D7BA409073}"/>
              </a:ext>
            </a:extLst>
          </p:cNvPr>
          <p:cNvSpPr/>
          <p:nvPr/>
        </p:nvSpPr>
        <p:spPr>
          <a:xfrm>
            <a:off x="1464844" y="6052916"/>
            <a:ext cx="1110344" cy="3013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其他应用场景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B4AF7E-5E02-8B0F-D81F-8C37555856FE}"/>
              </a:ext>
            </a:extLst>
          </p:cNvPr>
          <p:cNvSpPr/>
          <p:nvPr/>
        </p:nvSpPr>
        <p:spPr>
          <a:xfrm>
            <a:off x="279886" y="6052917"/>
            <a:ext cx="1110344" cy="3013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腾讯应用场景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82E17D9E-B732-5A52-B25E-B934AAEAF3A3}"/>
              </a:ext>
            </a:extLst>
          </p:cNvPr>
          <p:cNvGrpSpPr/>
          <p:nvPr/>
        </p:nvGrpSpPr>
        <p:grpSpPr>
          <a:xfrm>
            <a:off x="161251" y="880512"/>
            <a:ext cx="2141766" cy="1947705"/>
            <a:chOff x="252099" y="1244531"/>
            <a:chExt cx="2141766" cy="194770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D5C4FC4-0883-03AF-3092-BC067D7B72F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B8B6D06-6F77-1B1D-6924-4A1261D592C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代码执行隔离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8CCC4BE-1E80-1486-DF4A-BE7D4EE18A0D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12311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模型生成的命令、脚本与工具调用都在独立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MicroVM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内执行，平台只放行白名单命令，出站访问按域名收敛。即使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Harness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被提示注入，破坏也被关在沙箱里，逃不出独立内核。代表：腾讯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tRPC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trpc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-agent-go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安全代码执行后端。</a:t>
              </a: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B7835DBF-97F2-AC02-16D5-CF7896FE18D2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F16C28A-F2C9-ED63-2135-70E791A46094}"/>
              </a:ext>
            </a:extLst>
          </p:cNvPr>
          <p:cNvGrpSpPr/>
          <p:nvPr/>
        </p:nvGrpSpPr>
        <p:grpSpPr>
          <a:xfrm>
            <a:off x="2322350" y="870970"/>
            <a:ext cx="2497817" cy="1947704"/>
            <a:chOff x="252099" y="1244531"/>
            <a:chExt cx="2141766" cy="194770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EBD482F-B75B-3D5E-F377-97BF3ACD7AF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712DAB6-CC9B-D00C-DDB2-E739AE68B604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RL rollout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与数据合成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E8BCEFAB-310F-240C-5E12-90C51A34AFDE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批量并行拉起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episode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，每个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episode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一份干净可复现的环境，跑的正是模型自己写的不可信代码：死循环、内存泄漏、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fork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炸弹、异常网络调用都被限制在沙箱内。</a:t>
              </a: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F6DAB42-4739-9374-35A4-04E5F7660E7B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EA52625-C110-F323-CE18-331271F93FD0}"/>
              </a:ext>
            </a:extLst>
          </p:cNvPr>
          <p:cNvGrpSpPr/>
          <p:nvPr/>
        </p:nvGrpSpPr>
        <p:grpSpPr>
          <a:xfrm>
            <a:off x="4827264" y="875968"/>
            <a:ext cx="2497817" cy="1947704"/>
            <a:chOff x="252099" y="1244531"/>
            <a:chExt cx="2141766" cy="1947705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B878E0E-A985-2EFD-8F09-780270D7064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2E5372D1-48B9-5924-8761-31C54D4009F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多租户沙箱平台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90FA4592-383F-177E-F922-B6975D40D843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把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中台里每个租户、每个会话放进独立沙箱，用户之间文件与网络物理隔离；再用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owner_id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、租约与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fencing token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统一记账，避免迟到请求误删他人沙箱、僵尸租约占满配额。</a:t>
              </a:r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A2E48C69-7334-FEBF-8D24-C2A3BA84A227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F2BDA131-B47F-9955-408F-76A24D487BAC}"/>
              </a:ext>
            </a:extLst>
          </p:cNvPr>
          <p:cNvGrpSpPr/>
          <p:nvPr/>
        </p:nvGrpSpPr>
        <p:grpSpPr>
          <a:xfrm>
            <a:off x="157024" y="2838114"/>
            <a:ext cx="1907072" cy="1947704"/>
            <a:chOff x="252099" y="1244531"/>
            <a:chExt cx="2141766" cy="1947705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C5F3B0F-7BFC-58BE-39D9-9A826E361999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761D08E-619B-3FB7-9769-43888C636E8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代码解释器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47A7297-79A7-6EAF-5A48-B49E367910AB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92333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给大模型一个会写代码、能自愈、可并行的解释器：数据分析、画图、跑脚本都在沙箱里完成，工具时延与推理时延错峰，理论上支撑大比例超分。代表：腾讯混元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hy3 × Cube Sandbox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的实战组合。</a:t>
              </a: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5B0BBA08-7701-E283-BF39-E25381817AFE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555B5143-FA83-1D88-6E5E-9CD19D1E1895}"/>
              </a:ext>
            </a:extLst>
          </p:cNvPr>
          <p:cNvGrpSpPr/>
          <p:nvPr/>
        </p:nvGrpSpPr>
        <p:grpSpPr>
          <a:xfrm>
            <a:off x="3818435" y="2838114"/>
            <a:ext cx="1578362" cy="1947704"/>
            <a:chOff x="252099" y="1244531"/>
            <a:chExt cx="2141766" cy="1947705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3B3A6A4B-8246-8207-8CF7-63665653C9A6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586BEC1D-AB30-C1D3-75CB-C4C24451D2FE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浏览器 </a:t>
              </a:r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44CF5A9-278C-287B-9D0E-864B8C05C055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把浏览器运行时整体搬进沙箱，页面渲染、点击、抓取都在隔离环境内完成，避免自动化脚本把宿主环境或用户数据带出去；沙箱回收后不留运行痕迹。代表：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Lexmount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的浏览器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6B165C85-3D34-3765-14D1-BA4200AC2CB3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63500551-AFCF-361B-8390-35A386F92FBF}"/>
              </a:ext>
            </a:extLst>
          </p:cNvPr>
          <p:cNvGrpSpPr/>
          <p:nvPr/>
        </p:nvGrpSpPr>
        <p:grpSpPr>
          <a:xfrm>
            <a:off x="5423683" y="2838114"/>
            <a:ext cx="1897171" cy="1947704"/>
            <a:chOff x="252099" y="1244531"/>
            <a:chExt cx="2141766" cy="1947705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F7E7AAA-AF83-C440-7F63-8D9710382AA9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45A651E7-882A-3649-02C1-C334C0C68F93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平台底座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44E1884-AA76-AE05-DE84-7F3A4735BB3D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作为腾讯云侧数字助手与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AgentHub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的默认执行环境，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一类助手的创建、托管与运行直接落在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 Sandbox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上，开箱即用，无需自建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warm pool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E1F0970-2F93-DA72-B192-DBEEA2697522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ADC076CC-5157-3F85-1CE4-862C498EB9E7}"/>
              </a:ext>
            </a:extLst>
          </p:cNvPr>
          <p:cNvGrpSpPr/>
          <p:nvPr/>
        </p:nvGrpSpPr>
        <p:grpSpPr>
          <a:xfrm>
            <a:off x="2090983" y="2838114"/>
            <a:ext cx="1716882" cy="1947704"/>
            <a:chOff x="252099" y="1244531"/>
            <a:chExt cx="2141766" cy="1947705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BAC6FE8-506C-AC04-CB20-25495D04847B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EF6FE0FC-4863-7679-3AFA-5AE86A8A2D65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 </a:t>
              </a:r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持久化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7589BA11-F142-0AA1-9A87-EB1C88551151}"/>
                </a:ext>
              </a:extLst>
            </p:cNvPr>
            <p:cNvSpPr txBox="1"/>
            <p:nvPr/>
          </p:nvSpPr>
          <p:spPr>
            <a:xfrm>
              <a:off x="351706" y="2018737"/>
              <a:ext cx="1899556" cy="92333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会话级常驻沙箱：装好的技能打成快照当模板，新会话秒级就位；空闲自动暂停保住内存态，下一轮连接自动唤醒，用户体感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"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对话还在、环境还在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"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5EE530D-406B-AA9D-973C-83369F40883E}"/>
                </a:ext>
              </a:extLst>
            </p:cNvPr>
            <p:cNvCxnSpPr/>
            <p:nvPr/>
          </p:nvCxnSpPr>
          <p:spPr>
            <a:xfrm>
              <a:off x="355145" y="1893845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1E52772-C84B-A95E-134C-6C4EC5092C11}"/>
              </a:ext>
            </a:extLst>
          </p:cNvPr>
          <p:cNvGrpSpPr/>
          <p:nvPr/>
        </p:nvGrpSpPr>
        <p:grpSpPr>
          <a:xfrm>
            <a:off x="149753" y="4809385"/>
            <a:ext cx="3534134" cy="1121260"/>
            <a:chOff x="252099" y="1244531"/>
            <a:chExt cx="2141766" cy="1947705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6657C5C5-9C4D-B529-2785-BF1C2BB7C373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A43020D-9989-7FBF-C9D7-A089C4873B60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平台化与集成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8073CC7-2CCC-DA7F-E367-E252DCA61F6B}"/>
                </a:ext>
              </a:extLst>
            </p:cNvPr>
            <p:cNvSpPr txBox="1"/>
            <p:nvPr/>
          </p:nvSpPr>
          <p:spPr>
            <a:xfrm>
              <a:off x="355145" y="2036309"/>
              <a:ext cx="1899556" cy="8019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沙箱作为集群底座被编排与运维：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K8s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上部署控制面与计算节点（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openFuyao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）、常驻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平台（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Hermes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）、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noVNC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桌面沙箱做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自动化</a:t>
              </a:r>
            </a:p>
          </p:txBody>
        </p: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F13FED38-E670-0ACA-3E79-B0546E0876F5}"/>
                </a:ext>
              </a:extLst>
            </p:cNvPr>
            <p:cNvCxnSpPr/>
            <p:nvPr/>
          </p:nvCxnSpPr>
          <p:spPr>
            <a:xfrm>
              <a:off x="337456" y="1897425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E4BF0A08-181B-C4E7-D535-BFCFAFEEECC1}"/>
              </a:ext>
            </a:extLst>
          </p:cNvPr>
          <p:cNvGrpSpPr/>
          <p:nvPr/>
        </p:nvGrpSpPr>
        <p:grpSpPr>
          <a:xfrm>
            <a:off x="3707718" y="4809385"/>
            <a:ext cx="3617363" cy="1116262"/>
            <a:chOff x="252099" y="1244531"/>
            <a:chExt cx="2141766" cy="1947705"/>
          </a:xfrm>
        </p:grpSpPr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19910628-0783-7611-EF3F-A0AA150650C6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3CFED042-77FF-409E-F328-2666B9E7A6BD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模拟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C09C79C8-1FA4-3123-8E48-A0446C274D9C}"/>
                </a:ext>
              </a:extLst>
            </p:cNvPr>
            <p:cNvSpPr txBox="1"/>
            <p:nvPr/>
          </p:nvSpPr>
          <p:spPr>
            <a:xfrm>
              <a:off x="352838" y="2080424"/>
              <a:ext cx="1899556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在微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内运行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虚拟设备（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Cuttlefish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一类），为手机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App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的自动化操作与兼容性验证提供模拟场景；</a:t>
              </a:r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46EBE13D-23DF-B72E-A145-32C0FBEDBFB0}"/>
                </a:ext>
              </a:extLst>
            </p:cNvPr>
            <p:cNvCxnSpPr/>
            <p:nvPr/>
          </p:nvCxnSpPr>
          <p:spPr>
            <a:xfrm>
              <a:off x="344288" y="1900349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矩形 77">
            <a:extLst>
              <a:ext uri="{FF2B5EF4-FFF2-40B4-BE49-F238E27FC236}">
                <a16:creationId xmlns:a16="http://schemas.microsoft.com/office/drawing/2014/main" id="{E8FC96A8-3809-2155-65F5-8D984E0FC5CC}"/>
              </a:ext>
            </a:extLst>
          </p:cNvPr>
          <p:cNvSpPr/>
          <p:nvPr/>
        </p:nvSpPr>
        <p:spPr>
          <a:xfrm>
            <a:off x="7460704" y="1012076"/>
            <a:ext cx="4230553" cy="21817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0E121FC2-A1E6-0EF9-1FD1-F66BE3CCFBDD}"/>
              </a:ext>
            </a:extLst>
          </p:cNvPr>
          <p:cNvSpPr txBox="1"/>
          <p:nvPr/>
        </p:nvSpPr>
        <p:spPr>
          <a:xfrm>
            <a:off x="7759426" y="1416589"/>
            <a:ext cx="3633108" cy="16435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多租户隔离：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租户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会话物理隔离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租约治理，高密度下拼的是调度与内存，是沙箱超分的主要场景。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沙箱超分：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沙箱约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71–98%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的时间在等大模型输出，这段空转可以直接超卖出去，为了降低用户感知度，沙箱启动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停止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恢复时间至关重要。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并发时时延放大：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单并发已接近达标，差距集中在百并发场景，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场景放大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kumimoji="1" lang="en-US" altLang="zh-CN" sz="12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EE69B8E6-7B15-B1B4-4543-5D1C50F5A5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6438385"/>
              </p:ext>
            </p:extLst>
          </p:nvPr>
        </p:nvGraphicFramePr>
        <p:xfrm>
          <a:off x="7495225" y="3449576"/>
          <a:ext cx="4067267" cy="2054500"/>
        </p:xfrm>
        <a:graphic>
          <a:graphicData uri="http://schemas.openxmlformats.org/drawingml/2006/table">
            <a:tbl>
              <a:tblPr/>
              <a:tblGrid>
                <a:gridCol w="858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51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4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950 单并发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百并发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Start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49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390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Pause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166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1705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Resume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101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1920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rgbClr val="A8E0E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rgbClr val="FFC49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rgbClr val="FFC49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aphicFrame>
        <p:nvGraphicFramePr>
          <p:cNvPr id="8" name="表格 45">
            <a:extLst>
              <a:ext uri="{FF2B5EF4-FFF2-40B4-BE49-F238E27FC236}">
                <a16:creationId xmlns:a16="http://schemas.microsoft.com/office/drawing/2014/main" id="{9CC484AB-EBC7-5D4E-A914-8D3E2A2681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5031491"/>
              </p:ext>
            </p:extLst>
          </p:nvPr>
        </p:nvGraphicFramePr>
        <p:xfrm>
          <a:off x="6913137" y="876485"/>
          <a:ext cx="5206570" cy="4811622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7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相关组件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GuestOS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Debian/Ubuntu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GuestOS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Debian/Ubuntu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PVM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（中间层）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 / Firecracker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Kube-Shim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UBS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Kube-Shim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E2B-orchestrator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grpSp>
        <p:nvGrpSpPr>
          <p:cNvPr id="9" name="Group 20">
            <a:extLst>
              <a:ext uri="{FF2B5EF4-FFF2-40B4-BE49-F238E27FC236}">
                <a16:creationId xmlns:a16="http://schemas.microsoft.com/office/drawing/2014/main" id="{005A18E6-915D-C4B5-7AD1-CD79E70FC7AE}"/>
              </a:ext>
            </a:extLst>
          </p:cNvPr>
          <p:cNvGrpSpPr/>
          <p:nvPr/>
        </p:nvGrpSpPr>
        <p:grpSpPr>
          <a:xfrm>
            <a:off x="308870" y="6469763"/>
            <a:ext cx="859558" cy="138499"/>
            <a:chOff x="367361" y="3955794"/>
            <a:chExt cx="859558" cy="138499"/>
          </a:xfrm>
        </p:grpSpPr>
        <p:sp>
          <p:nvSpPr>
            <p:cNvPr id="10" name="Rectangle 18">
              <a:extLst>
                <a:ext uri="{FF2B5EF4-FFF2-40B4-BE49-F238E27FC236}">
                  <a16:creationId xmlns:a16="http://schemas.microsoft.com/office/drawing/2014/main" id="{4082782D-1AA4-5A56-1465-55AAE5474462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TextBox 19">
              <a:extLst>
                <a:ext uri="{FF2B5EF4-FFF2-40B4-BE49-F238E27FC236}">
                  <a16:creationId xmlns:a16="http://schemas.microsoft.com/office/drawing/2014/main" id="{26731BE0-BC51-A08D-9A61-4DC8CA8A0D1F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</a:t>
              </a:r>
            </a:p>
          </p:txBody>
        </p:sp>
      </p:grpSp>
      <p:grpSp>
        <p:nvGrpSpPr>
          <p:cNvPr id="12" name="Group 23">
            <a:extLst>
              <a:ext uri="{FF2B5EF4-FFF2-40B4-BE49-F238E27FC236}">
                <a16:creationId xmlns:a16="http://schemas.microsoft.com/office/drawing/2014/main" id="{8F221744-00A4-D1C8-E7CA-B28437FC5335}"/>
              </a:ext>
            </a:extLst>
          </p:cNvPr>
          <p:cNvGrpSpPr/>
          <p:nvPr/>
        </p:nvGrpSpPr>
        <p:grpSpPr>
          <a:xfrm>
            <a:off x="1281089" y="6469763"/>
            <a:ext cx="1470303" cy="138499"/>
            <a:chOff x="367361" y="3955794"/>
            <a:chExt cx="1470303" cy="138499"/>
          </a:xfrm>
        </p:grpSpPr>
        <p:sp>
          <p:nvSpPr>
            <p:cNvPr id="13" name="Rectangle 24">
              <a:extLst>
                <a:ext uri="{FF2B5EF4-FFF2-40B4-BE49-F238E27FC236}">
                  <a16:creationId xmlns:a16="http://schemas.microsoft.com/office/drawing/2014/main" id="{E9F809DD-5683-4554-A0BD-FAF30027F6C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TextBox 25">
              <a:extLst>
                <a:ext uri="{FF2B5EF4-FFF2-40B4-BE49-F238E27FC236}">
                  <a16:creationId xmlns:a16="http://schemas.microsoft.com/office/drawing/2014/main" id="{37C7CC66-9D9A-5E07-CBC5-72DC52AA38A2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组件（用户）</a:t>
              </a:r>
            </a:p>
          </p:txBody>
        </p:sp>
      </p:grpSp>
      <p:grpSp>
        <p:nvGrpSpPr>
          <p:cNvPr id="15" name="Group 26">
            <a:extLst>
              <a:ext uri="{FF2B5EF4-FFF2-40B4-BE49-F238E27FC236}">
                <a16:creationId xmlns:a16="http://schemas.microsoft.com/office/drawing/2014/main" id="{B1A0E851-27C7-1580-73FA-12F8001621A7}"/>
              </a:ext>
            </a:extLst>
          </p:cNvPr>
          <p:cNvGrpSpPr/>
          <p:nvPr/>
        </p:nvGrpSpPr>
        <p:grpSpPr>
          <a:xfrm>
            <a:off x="2810827" y="6465038"/>
            <a:ext cx="1470303" cy="138499"/>
            <a:chOff x="367361" y="3955794"/>
            <a:chExt cx="1470303" cy="138499"/>
          </a:xfrm>
        </p:grpSpPr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3B9618AF-0D90-33EB-D2F6-D3715F0D0258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TextBox 28">
              <a:extLst>
                <a:ext uri="{FF2B5EF4-FFF2-40B4-BE49-F238E27FC236}">
                  <a16:creationId xmlns:a16="http://schemas.microsoft.com/office/drawing/2014/main" id="{6BD63051-A130-197E-907B-30C6EDC6C5F3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组件（内核）</a:t>
              </a:r>
            </a:p>
          </p:txBody>
        </p:sp>
      </p:grpSp>
      <p:grpSp>
        <p:nvGrpSpPr>
          <p:cNvPr id="18" name="Group 29">
            <a:extLst>
              <a:ext uri="{FF2B5EF4-FFF2-40B4-BE49-F238E27FC236}">
                <a16:creationId xmlns:a16="http://schemas.microsoft.com/office/drawing/2014/main" id="{A89C4A38-D17E-855C-E3CA-F80CAA01805F}"/>
              </a:ext>
            </a:extLst>
          </p:cNvPr>
          <p:cNvGrpSpPr/>
          <p:nvPr/>
        </p:nvGrpSpPr>
        <p:grpSpPr>
          <a:xfrm>
            <a:off x="4393790" y="6465038"/>
            <a:ext cx="1024668" cy="138499"/>
            <a:chOff x="367361" y="3955794"/>
            <a:chExt cx="1024668" cy="138499"/>
          </a:xfrm>
        </p:grpSpPr>
        <p:sp>
          <p:nvSpPr>
            <p:cNvPr id="19" name="Rectangle 30">
              <a:extLst>
                <a:ext uri="{FF2B5EF4-FFF2-40B4-BE49-F238E27FC236}">
                  <a16:creationId xmlns:a16="http://schemas.microsoft.com/office/drawing/2014/main" id="{6F223DDA-240D-4383-C43F-1E99CB539121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TextBox 31">
              <a:extLst>
                <a:ext uri="{FF2B5EF4-FFF2-40B4-BE49-F238E27FC236}">
                  <a16:creationId xmlns:a16="http://schemas.microsoft.com/office/drawing/2014/main" id="{AEA81C9E-EEC4-479F-E834-FA94590CE7BA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201463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1835486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82432"/>
              </p:ext>
            </p:extLst>
          </p:nvPr>
        </p:nvGraphicFramePr>
        <p:xfrm>
          <a:off x="241928" y="870770"/>
          <a:ext cx="8788280" cy="5770481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1135105679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314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交付位置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CubeSandbox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Github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缩小与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差距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机制可以节约内存，减少背景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占用，以提高总体效率。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CubeSandbox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/>
                        <a:t>Openeuler</a:t>
                      </a:r>
                      <a:r>
                        <a:rPr lang="zh-CN" altLang="en-US" sz="1050" dirty="0"/>
                        <a:t>（</a:t>
                      </a:r>
                      <a:r>
                        <a:rPr lang="zh-CN" altLang="en-US" sz="1050" dirty="0">
                          <a:highlight>
                            <a:srgbClr val="FFFF00"/>
                          </a:highlight>
                        </a:rPr>
                        <a:t>李洋</a:t>
                      </a:r>
                      <a:r>
                        <a:rPr lang="zh-CN" altLang="en-US" sz="1050" dirty="0"/>
                        <a:t>）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Linux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内核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内部仓库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/>
                        <a:t>Boostkit</a:t>
                      </a:r>
                      <a:r>
                        <a:rPr lang="zh-CN" altLang="en-US" sz="1050" dirty="0"/>
                        <a:t>计算域开发（李煳桦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完成功能开发，准备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POC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201463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918229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743145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143585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017440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093733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347695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386175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1907078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197444" y="3944265"/>
            <a:ext cx="2776957" cy="2399383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2996" y="379415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023505"/>
            <a:ext cx="2494232" cy="22621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  <a:br>
              <a:rPr lang="en-US" altLang="zh-CN" sz="1050" dirty="0"/>
            </a:b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en-US" sz="1050" dirty="0"/>
              <a:t>投入方式：</a:t>
            </a:r>
            <a:br>
              <a:rPr lang="en-US" altLang="zh-CN" sz="1050" dirty="0"/>
            </a:br>
            <a:r>
              <a:rPr lang="zh-CN" altLang="en-US" sz="1050" dirty="0"/>
              <a:t>前序项目为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从上到下，先分工，然后明确责任田，各自田内分析。</a:t>
            </a:r>
            <a:b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当前状态：以优化点为基础，不划分责任田，按各自擅长方向分析。</a:t>
            </a:r>
            <a:endParaRPr lang="en-US" altLang="zh-CN" sz="1050" dirty="0"/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BEE6A7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容器启动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CubeShim×Agent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364061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364061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364061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364061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364061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17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364061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364061" y="3143547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23.3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364061" y="345570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9.2 </a:t>
            </a:r>
            <a:r>
              <a:rPr lang="en-US" altLang="zh-CN" sz="800" b="0" i="0" dirty="0" err="1">
                <a:solidFill>
                  <a:srgbClr val="52514E"/>
                </a:solidFill>
                <a:effectLst/>
                <a:latin typeface="SFMono-Regular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191329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26.9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191329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191329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191329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191329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191329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2189832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50199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814158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312632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438484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045070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045070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045070" y="221296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045070" y="252512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045070" y="283728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045070" y="314945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045070" y="346161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1A2230"/>
                </a:solidFill>
                <a:effectLst/>
                <a:latin typeface="SFMono-Regular"/>
              </a:rPr>
              <a:t>7.4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34042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(50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(300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挑战目标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1992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47503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39B091-B2C6-4C9E-99BE-74B7B79AB74F}"/>
              </a:ext>
            </a:extLst>
          </p:cNvPr>
          <p:cNvSpPr txBox="1"/>
          <p:nvPr/>
        </p:nvSpPr>
        <p:spPr>
          <a:xfrm>
            <a:off x="5752132" y="4469742"/>
            <a:ext cx="358110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※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括号内为目标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百并发测试为全体端到端，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breakdown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为单个端到端</a:t>
            </a:r>
          </a:p>
        </p:txBody>
      </p:sp>
      <p:sp>
        <p:nvSpPr>
          <p:cNvPr id="72" name="Rectangle 66">
            <a:extLst>
              <a:ext uri="{FF2B5EF4-FFF2-40B4-BE49-F238E27FC236}">
                <a16:creationId xmlns:a16="http://schemas.microsoft.com/office/drawing/2014/main" id="{81348661-78C0-4E16-9594-0D515F3634DC}"/>
              </a:ext>
            </a:extLst>
          </p:cNvPr>
          <p:cNvSpPr/>
          <p:nvPr/>
        </p:nvSpPr>
        <p:spPr>
          <a:xfrm>
            <a:off x="8183508" y="1872542"/>
            <a:ext cx="3483085" cy="252000"/>
          </a:xfrm>
          <a:prstGeom prst="rect">
            <a:avLst/>
          </a:prstGeom>
          <a:solidFill>
            <a:srgbClr val="FEC493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VM </a:t>
            </a:r>
            <a:r>
              <a:rPr lang="zh-CN" altLang="en-US" sz="1400" dirty="0">
                <a:solidFill>
                  <a:schemeClr val="tx1"/>
                </a:solidFill>
              </a:rPr>
              <a:t>恢复</a:t>
            </a:r>
            <a:r>
              <a:rPr lang="en-US" altLang="zh-CN" sz="1400" dirty="0">
                <a:solidFill>
                  <a:schemeClr val="tx1"/>
                </a:solidFill>
              </a:rPr>
              <a:t>· Guest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OS</a:t>
            </a:r>
          </a:p>
        </p:txBody>
      </p:sp>
      <p:sp>
        <p:nvSpPr>
          <p:cNvPr id="74" name="Rectangle 82">
            <a:extLst>
              <a:ext uri="{FF2B5EF4-FFF2-40B4-BE49-F238E27FC236}">
                <a16:creationId xmlns:a16="http://schemas.microsoft.com/office/drawing/2014/main" id="{024C13FB-230E-4AA8-BDB6-913FD857B017}"/>
              </a:ext>
            </a:extLst>
          </p:cNvPr>
          <p:cNvSpPr/>
          <p:nvPr/>
        </p:nvSpPr>
        <p:spPr>
          <a:xfrm>
            <a:off x="11045070" y="189567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145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客户使用 </a:t>
            </a:r>
            <a:r>
              <a:rPr lang="en-US" altLang="zh-CN" dirty="0"/>
              <a:t>GLM </a:t>
            </a:r>
            <a:r>
              <a:rPr lang="zh-CN" altLang="en-US" dirty="0"/>
              <a:t>场景，重点关注采购比拼场景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266194"/>
              </p:ext>
            </p:extLst>
          </p:nvPr>
        </p:nvGraphicFramePr>
        <p:xfrm>
          <a:off x="252099" y="1725910"/>
          <a:ext cx="11571489" cy="4997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943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1991141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4961614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3299791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使用模型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采购比拼场景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全局目标用例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DSV4-flash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kimi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cahce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场景下：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3.5K+1.5K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 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P50&lt;3s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P50&lt;50ms,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127K+1K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40K+300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60% 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"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场景：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=0%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15s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场景，明确给出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MTP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采信率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40K-80K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蚂蚁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DSV3.1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 / GLM /KIMI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MINIMAX / QWEN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比拼测试时，不开启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（暂定），准入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20K-40K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cache=0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P50 TTFT&lt;=7s, TPOT_P50 &lt; 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coding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P50&lt;2s, TPOT P50&lt;30ms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Qwen3.6-397B</a:t>
                      </a:r>
                      <a:b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Qwen3.6-35B/27B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/ DS V4 pro / GLM 5.1/5.2 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，已经投入使用，不允许开启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  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不做严格要求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(H800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混部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0.8k~1k +1.6k~2k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784525">
                <a:tc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W4A8</a:t>
                      </a:r>
                      <a:b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GLM5.2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</a:t>
                      </a:r>
                      <a:endParaRPr lang="zh-CN" altLang="en-US" sz="1000" dirty="0">
                        <a:highlight>
                          <a:srgbClr val="FFFF00"/>
                        </a:highlight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业务准入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CASE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，不接受开启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 cache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18K+3K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16K+150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（其他先场景略）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LongCat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560B 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超低时延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4K+1K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TPOT&lt;=3ms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电信天翼云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 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移动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小红书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滴滴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金山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小米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GLM5.2 / DS V4 flash /</a:t>
                      </a:r>
                      <a:r>
                        <a:rPr lang="en-US" altLang="zh-CN" sz="12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MiniMax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M3/  Kimi-K2.6 / qwen3.5-122B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（略）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21617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F15515C-7747-482E-8F09-228F130B47BC}"/>
              </a:ext>
            </a:extLst>
          </p:cNvPr>
          <p:cNvSpPr txBox="1"/>
          <p:nvPr/>
        </p:nvSpPr>
        <p:spPr>
          <a:xfrm>
            <a:off x="10385831" y="6245766"/>
            <a:ext cx="125675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需要协调服务器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76D8BA-1940-8CE5-3FB9-56533CF96CFE}"/>
              </a:ext>
            </a:extLst>
          </p:cNvPr>
          <p:cNvSpPr/>
          <p:nvPr/>
        </p:nvSpPr>
        <p:spPr>
          <a:xfrm>
            <a:off x="252099" y="728165"/>
            <a:ext cx="706020" cy="85845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B4D83F-D34B-8559-1B84-869AAAA8497D}"/>
              </a:ext>
            </a:extLst>
          </p:cNvPr>
          <p:cNvSpPr/>
          <p:nvPr/>
        </p:nvSpPr>
        <p:spPr>
          <a:xfrm>
            <a:off x="1032935" y="728164"/>
            <a:ext cx="10790653" cy="85845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客户：京东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蚂蚁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阿里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美团等，模型以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DSV4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Qwen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Kimi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为主。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口径：均在关闭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prefix cache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下比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与并发吞吐；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普遍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、美团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目标：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随序列变长放宽（短序列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&lt;1s → 128K &lt;20s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）；分采购比拼、业务替代两类。</a:t>
            </a:r>
          </a:p>
        </p:txBody>
      </p:sp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19B417-90BE-4EA1-BDC7-8E26702EA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1513"/>
            <a:ext cx="12196763" cy="551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317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23348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5150</TotalTime>
  <Words>20584</Words>
  <Application>Microsoft Office PowerPoint</Application>
  <PresentationFormat>自定义</PresentationFormat>
  <Paragraphs>1729</Paragraphs>
  <Slides>32</Slides>
  <Notes>21</Notes>
  <HiddenSlides>1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32</vt:i4>
      </vt:variant>
    </vt:vector>
  </HeadingPairs>
  <TitlesOfParts>
    <vt:vector size="52" baseType="lpstr">
      <vt:lpstr> 微软雅黑</vt:lpstr>
      <vt:lpstr>.AppleSystemUIFont</vt:lpstr>
      <vt:lpstr>Helvetica Neue</vt:lpstr>
      <vt:lpstr>Huawei Sans</vt:lpstr>
      <vt:lpstr>Mona Sans VF</vt:lpstr>
      <vt:lpstr>SFMono-Regular</vt:lpstr>
      <vt:lpstr>等线</vt:lpstr>
      <vt:lpstr>微软雅黑</vt:lpstr>
      <vt:lpstr>微软雅黑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遗留问题闭环情况</vt:lpstr>
      <vt:lpstr>AI 推理场景安全加固沙箱优化，实现大规模 Harness 验证环境</vt:lpstr>
      <vt:lpstr>CubeSandbox 当前对接为腾讯，应用场景集中在 Agent 代码执行、多租户隔离与 RL 训练等场景</vt:lpstr>
      <vt:lpstr>PowerPoint 演示文稿</vt:lpstr>
      <vt:lpstr>当前沙箱场景，有多个团队从不同角度投入，需仔细选择发力点</vt:lpstr>
      <vt:lpstr>初步分析Rust占比，以及可能的优化点穿刺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客户使用 GLM 场景，重点关注采购比拼场景</vt:lpstr>
      <vt:lpstr>PowerPoint 演示文稿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隋 致远</cp:lastModifiedBy>
  <cp:revision>711</cp:revision>
  <dcterms:created xsi:type="dcterms:W3CDTF">2026-04-16T01:31:29Z</dcterms:created>
  <dcterms:modified xsi:type="dcterms:W3CDTF">2026-09-21T14:47:32Z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