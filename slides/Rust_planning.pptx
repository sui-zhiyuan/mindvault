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6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8.xml" ContentType="application/vnd.openxmlformats-officedocument.themeOverr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  <p:sldMasterId id="2147483654" r:id="rId3"/>
    <p:sldMasterId id="2147483656" r:id="rId4"/>
    <p:sldMasterId id="2147483673" r:id="rId5"/>
    <p:sldMasterId id="2147483681" r:id="rId6"/>
    <p:sldMasterId id="2147483685" r:id="rId7"/>
  </p:sldMasterIdLst>
  <p:notesMasterIdLst>
    <p:notesMasterId r:id="rId41"/>
  </p:notesMasterIdLst>
  <p:handoutMasterIdLst>
    <p:handoutMasterId r:id="rId42"/>
  </p:handoutMasterIdLst>
  <p:sldIdLst>
    <p:sldId id="16777202" r:id="rId8"/>
    <p:sldId id="2147483646" r:id="rId9"/>
    <p:sldId id="273" r:id="rId10"/>
    <p:sldId id="274" r:id="rId11"/>
    <p:sldId id="2147483647" r:id="rId12"/>
    <p:sldId id="272" r:id="rId13"/>
    <p:sldId id="276" r:id="rId14"/>
    <p:sldId id="266" r:id="rId15"/>
    <p:sldId id="268" r:id="rId16"/>
    <p:sldId id="256" r:id="rId17"/>
    <p:sldId id="258" r:id="rId18"/>
    <p:sldId id="262" r:id="rId19"/>
    <p:sldId id="271" r:id="rId20"/>
    <p:sldId id="280" r:id="rId21"/>
    <p:sldId id="270" r:id="rId22"/>
    <p:sldId id="265" r:id="rId23"/>
    <p:sldId id="263" r:id="rId24"/>
    <p:sldId id="275" r:id="rId25"/>
    <p:sldId id="303" r:id="rId26"/>
    <p:sldId id="259" r:id="rId27"/>
    <p:sldId id="260" r:id="rId28"/>
    <p:sldId id="261" r:id="rId29"/>
    <p:sldId id="16777058" r:id="rId30"/>
    <p:sldId id="291" r:id="rId31"/>
    <p:sldId id="2147483645" r:id="rId32"/>
    <p:sldId id="287" r:id="rId33"/>
    <p:sldId id="286" r:id="rId34"/>
    <p:sldId id="269" r:id="rId35"/>
    <p:sldId id="2147483632" r:id="rId36"/>
    <p:sldId id="1205" r:id="rId37"/>
    <p:sldId id="257" r:id="rId38"/>
    <p:sldId id="267" r:id="rId39"/>
    <p:sldId id="264" r:id="rId40"/>
  </p:sldIdLst>
  <p:sldSz cx="12196763" cy="6858000"/>
  <p:notesSz cx="6858000" cy="9144000"/>
  <p:custDataLst>
    <p:tags r:id="rId4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>
          <p15:clr>
            <a:srgbClr val="A4A3A4"/>
          </p15:clr>
        </p15:guide>
        <p15:guide id="2" userDrawn="1">
          <p15:clr>
            <a:srgbClr val="A4A3A4"/>
          </p15:clr>
        </p15:guide>
        <p15:guide id="3" pos="192">
          <p15:clr>
            <a:srgbClr val="A4A3A4"/>
          </p15:clr>
        </p15:guide>
        <p15:guide id="4" pos="7470">
          <p15:clr>
            <a:srgbClr val="A4A3A4"/>
          </p15:clr>
        </p15:guide>
        <p15:guide id="5" orient="horz" pos="432">
          <p15:clr>
            <a:srgbClr val="A4A3A4"/>
          </p15:clr>
        </p15:guide>
        <p15:guide id="6" orient="horz" pos="472">
          <p15:clr>
            <a:srgbClr val="A4A3A4"/>
          </p15:clr>
        </p15:guide>
        <p15:guide id="7" orient="horz" pos="4088">
          <p15:clr>
            <a:srgbClr val="A4A3A4"/>
          </p15:clr>
        </p15:guide>
        <p15:guide id="8" orient="horz" pos="125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qi (AG)" initials="l(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492"/>
    <a:srgbClr val="616161"/>
    <a:srgbClr val="FFB2B2"/>
    <a:srgbClr val="BEE7A6"/>
    <a:srgbClr val="A8E0E8"/>
    <a:srgbClr val="FFE2C8"/>
    <a:srgbClr val="D4F1F5"/>
    <a:srgbClr val="FEC493"/>
    <a:srgbClr val="BEE6A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29" autoAdjust="0"/>
    <p:restoredTop sz="77797" autoAdjust="0"/>
  </p:normalViewPr>
  <p:slideViewPr>
    <p:cSldViewPr snapToGrid="0" snapToObjects="1">
      <p:cViewPr varScale="1">
        <p:scale>
          <a:sx n="96" d="100"/>
          <a:sy n="96" d="100"/>
        </p:scale>
        <p:origin x="1685" y="67"/>
      </p:cViewPr>
      <p:guideLst>
        <p:guide orient="horz" pos="2251"/>
        <p:guide/>
        <p:guide pos="192"/>
        <p:guide pos="7470"/>
        <p:guide orient="horz" pos="432"/>
        <p:guide orient="horz" pos="472"/>
        <p:guide orient="horz" pos="4088"/>
        <p:guide orient="horz" pos="1253"/>
      </p:guideLst>
    </p:cSldViewPr>
  </p:slideViewPr>
  <p:outlineViewPr>
    <p:cViewPr>
      <p:scale>
        <a:sx n="33" d="100"/>
        <a:sy n="33" d="100"/>
      </p:scale>
      <p:origin x="0" y="-12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48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handoutMaster" Target="handoutMasters/handoutMaster1.xml"/><Relationship Id="rId47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commentAuthors" Target="comment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tags" Target="tags/tag1.xml"/><Relationship Id="rId48" Type="http://schemas.openxmlformats.org/officeDocument/2006/relationships/tableStyles" Target="tableStyles.xml"/><Relationship Id="rId8" Type="http://schemas.openxmlformats.org/officeDocument/2006/relationships/slide" Target="slides/slid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viewProps" Target="viewProps.xml"/><Relationship Id="rId20" Type="http://schemas.openxmlformats.org/officeDocument/2006/relationships/slide" Target="slides/slide13.xml"/><Relationship Id="rId41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&#24037;&#20316;&#31807;1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&#24037;&#20316;&#31807;1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&#24037;&#20316;&#31807;1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&#24037;&#20316;&#31807;1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&#24037;&#20316;&#31807;1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&#24037;&#20316;&#31807;1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oleObject" Target="&#24037;&#20316;&#31807;1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oleObject" Target="&#24037;&#20316;&#31807;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layout>
        <c:manualLayout>
          <c:xMode val="edge"/>
          <c:yMode val="edge"/>
          <c:x val="0.22686485042735044"/>
          <c:y val="0.1637240338164251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Sheet1!$B$3</c:f>
              <c:strCache>
                <c:ptCount val="1"/>
                <c:pt idx="0">
                  <c:v>vLLM Inductor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084-4FB4-8CC2-9800D5E9BC3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084-4FB4-8CC2-9800D5E9BC3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084-4FB4-8CC2-9800D5E9BC3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Sheet1!$C$1:$E$1</c:f>
              <c:strCache>
                <c:ptCount val="3"/>
                <c:pt idx="0">
                  <c:v>Python占比</c:v>
                </c:pt>
                <c:pt idx="1">
                  <c:v>Rust占比</c:v>
                </c:pt>
                <c:pt idx="2">
                  <c:v>GPU占比</c:v>
                </c:pt>
              </c:strCache>
            </c:strRef>
          </c:cat>
          <c:val>
            <c:numRef>
              <c:f>Sheet1!$C$3:$E$3</c:f>
              <c:numCache>
                <c:formatCode>General</c:formatCode>
                <c:ptCount val="3"/>
                <c:pt idx="0">
                  <c:v>15</c:v>
                </c:pt>
                <c:pt idx="1">
                  <c:v>5</c:v>
                </c:pt>
                <c:pt idx="2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084-4FB4-8CC2-9800D5E9BC3F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77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layout>
        <c:manualLayout>
          <c:xMode val="edge"/>
          <c:yMode val="edge"/>
          <c:x val="0.22116132478632478"/>
          <c:y val="0.1616896135265700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Sheet1!$B$5</c:f>
              <c:strCache>
                <c:ptCount val="1"/>
                <c:pt idx="0">
                  <c:v>SGLang Inductor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19B-4986-B6CE-176F466D600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19B-4986-B6CE-176F466D600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19B-4986-B6CE-176F466D600C}"/>
              </c:ext>
            </c:extLst>
          </c:dPt>
          <c:dLbls>
            <c:dLbl>
              <c:idx val="0"/>
              <c:layout>
                <c:manualLayout>
                  <c:x val="-3.5641025641025641E-3"/>
                  <c:y val="-4.3793478260869566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19B-4986-B6CE-176F466D600C}"/>
                </c:ext>
              </c:extLst>
            </c:dLbl>
            <c:dLbl>
              <c:idx val="1"/>
              <c:layout>
                <c:manualLayout>
                  <c:x val="-3.1573717948717946E-2"/>
                  <c:y val="-3.3387681159420292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19B-4986-B6CE-176F466D600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Sheet1!$C$1:$E$1</c:f>
              <c:strCache>
                <c:ptCount val="3"/>
                <c:pt idx="0">
                  <c:v>Python占比</c:v>
                </c:pt>
                <c:pt idx="1">
                  <c:v>Rust占比</c:v>
                </c:pt>
                <c:pt idx="2">
                  <c:v>GPU占比</c:v>
                </c:pt>
              </c:strCache>
            </c:strRef>
          </c:cat>
          <c:val>
            <c:numRef>
              <c:f>Sheet1!$C$5:$E$5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19B-4986-B6CE-176F466D600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12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layout>
        <c:manualLayout>
          <c:xMode val="edge"/>
          <c:yMode val="edge"/>
          <c:x val="0.27320459401709402"/>
          <c:y val="0.1840579710144927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Sheet1!$B$7</c:f>
              <c:strCache>
                <c:ptCount val="1"/>
                <c:pt idx="0">
                  <c:v>vLLM Eager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CE-45F5-AEA6-3D77BFE4CA6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ACE-45F5-AEA6-3D77BFE4CA6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ACE-45F5-AEA6-3D77BFE4CA6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Sheet1!$C$1:$E$1</c:f>
              <c:strCache>
                <c:ptCount val="3"/>
                <c:pt idx="0">
                  <c:v>Python占比</c:v>
                </c:pt>
                <c:pt idx="1">
                  <c:v>Rust占比</c:v>
                </c:pt>
                <c:pt idx="2">
                  <c:v>GPU占比</c:v>
                </c:pt>
              </c:strCache>
            </c:strRef>
          </c:cat>
          <c:val>
            <c:numRef>
              <c:f>Sheet1!$C$7:$E$7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ACE-45F5-AEA6-3D77BFE4CA6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12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layout>
        <c:manualLayout>
          <c:xMode val="edge"/>
          <c:yMode val="edge"/>
          <c:x val="0.20298824786324787"/>
          <c:y val="0.1917270531400966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Sheet1!$B$8</c:f>
              <c:strCache>
                <c:ptCount val="1"/>
                <c:pt idx="0">
                  <c:v>vLLM Inductor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F1C-4A61-BEEA-BF919B6E6A0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F1C-4A61-BEEA-BF919B6E6A0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F1C-4A61-BEEA-BF919B6E6A0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Sheet1!$C$1:$E$1</c:f>
              <c:strCache>
                <c:ptCount val="3"/>
                <c:pt idx="0">
                  <c:v>Python占比</c:v>
                </c:pt>
                <c:pt idx="1">
                  <c:v>Rust占比</c:v>
                </c:pt>
                <c:pt idx="2">
                  <c:v>GPU占比</c:v>
                </c:pt>
              </c:strCache>
            </c:strRef>
          </c:cat>
          <c:val>
            <c:numRef>
              <c:f>Sheet1!$C$8:$E$8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F1C-4A61-BEEA-BF919B6E6A09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12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layout>
        <c:manualLayout>
          <c:xMode val="edge"/>
          <c:yMode val="edge"/>
          <c:x val="0.22661378205128205"/>
          <c:y val="0.1840579710144927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Sheet1!$B$9</c:f>
              <c:strCache>
                <c:ptCount val="1"/>
                <c:pt idx="0">
                  <c:v>SGLang Eager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728-48F6-B126-A779C54A2A9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728-48F6-B126-A779C54A2A9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728-48F6-B126-A779C54A2A9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Sheet1!$C$1:$E$1</c:f>
              <c:strCache>
                <c:ptCount val="3"/>
                <c:pt idx="0">
                  <c:v>Python占比</c:v>
                </c:pt>
                <c:pt idx="1">
                  <c:v>Rust占比</c:v>
                </c:pt>
                <c:pt idx="2">
                  <c:v>GPU占比</c:v>
                </c:pt>
              </c:strCache>
            </c:strRef>
          </c:cat>
          <c:val>
            <c:numRef>
              <c:f>Sheet1!$C$9:$E$9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728-48F6-B126-A779C54A2A9D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12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layout>
        <c:manualLayout>
          <c:xMode val="edge"/>
          <c:yMode val="edge"/>
          <c:x val="0.21067094017094018"/>
          <c:y val="0.1917270531400966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Sheet1!$B$10</c:f>
              <c:strCache>
                <c:ptCount val="1"/>
                <c:pt idx="0">
                  <c:v>SGLang Inductor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7B4-4309-B9E8-0C7160ED058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7B4-4309-B9E8-0C7160ED058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7B4-4309-B9E8-0C7160ED0585}"/>
              </c:ext>
            </c:extLst>
          </c:dPt>
          <c:dLbls>
            <c:dLbl>
              <c:idx val="0"/>
              <c:layout>
                <c:manualLayout>
                  <c:x val="-7.579166666666666E-2"/>
                  <c:y val="-0.1125893719806763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7B4-4309-B9E8-0C7160ED0585}"/>
                </c:ext>
              </c:extLst>
            </c:dLbl>
            <c:dLbl>
              <c:idx val="1"/>
              <c:layout>
                <c:manualLayout>
                  <c:x val="-0.10392948717948718"/>
                  <c:y val="1.9580917874396135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7B4-4309-B9E8-0C7160ED058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Sheet1!$C$1:$E$1</c:f>
              <c:strCache>
                <c:ptCount val="3"/>
                <c:pt idx="0">
                  <c:v>Python占比</c:v>
                </c:pt>
                <c:pt idx="1">
                  <c:v>Rust占比</c:v>
                </c:pt>
                <c:pt idx="2">
                  <c:v>GPU占比</c:v>
                </c:pt>
              </c:strCache>
            </c:strRef>
          </c:cat>
          <c:val>
            <c:numRef>
              <c:f>Sheet1!$C$10:$E$10</c:f>
              <c:numCache>
                <c:formatCode>General</c:formatCode>
                <c:ptCount val="3"/>
                <c:pt idx="0">
                  <c:v>0.5</c:v>
                </c:pt>
                <c:pt idx="1">
                  <c:v>0.5</c:v>
                </c:pt>
                <c:pt idx="2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7B4-4309-B9E8-0C7160ED0585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12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layout>
        <c:manualLayout>
          <c:xMode val="edge"/>
          <c:yMode val="edge"/>
          <c:x val="0.23790384615384616"/>
          <c:y val="0.1626485507246376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Sheet1!$B$4</c:f>
              <c:strCache>
                <c:ptCount val="1"/>
                <c:pt idx="0">
                  <c:v>SGLang Eager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719-4983-89B5-E59030093B2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719-4983-89B5-E59030093B2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719-4983-89B5-E59030093B2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Sheet1!$C$1:$E$1</c:f>
              <c:strCache>
                <c:ptCount val="3"/>
                <c:pt idx="0">
                  <c:v>Python占比</c:v>
                </c:pt>
                <c:pt idx="1">
                  <c:v>Rust占比</c:v>
                </c:pt>
                <c:pt idx="2">
                  <c:v>GPU占比</c:v>
                </c:pt>
              </c:strCache>
            </c:strRef>
          </c:cat>
          <c:val>
            <c:numRef>
              <c:f>Sheet1!$C$4:$E$4</c:f>
              <c:numCache>
                <c:formatCode>General</c:formatCode>
                <c:ptCount val="3"/>
                <c:pt idx="0">
                  <c:v>20</c:v>
                </c:pt>
                <c:pt idx="1">
                  <c:v>10</c:v>
                </c:pt>
                <c:pt idx="2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719-4983-89B5-E59030093B2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66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layout>
        <c:manualLayout>
          <c:xMode val="edge"/>
          <c:yMode val="edge"/>
          <c:x val="0.26420585317460316"/>
          <c:y val="0.15434027777777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Sheet1!$B$2</c:f>
              <c:strCache>
                <c:ptCount val="1"/>
                <c:pt idx="0">
                  <c:v>vLLM Eager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789-4A54-9C6D-5DA1033596C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789-4A54-9C6D-5DA1033596C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789-4A54-9C6D-5DA1033596C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Sheet1!$C$1:$E$1</c:f>
              <c:strCache>
                <c:ptCount val="3"/>
                <c:pt idx="0">
                  <c:v>Python占比</c:v>
                </c:pt>
                <c:pt idx="1">
                  <c:v>Rust占比</c:v>
                </c:pt>
                <c:pt idx="2">
                  <c:v>GPU占比</c:v>
                </c:pt>
              </c:strCache>
            </c:strRef>
          </c:cat>
          <c:val>
            <c:numRef>
              <c:f>Sheet1!$C$2:$E$2</c:f>
              <c:numCache>
                <c:formatCode>General</c:formatCode>
                <c:ptCount val="3"/>
                <c:pt idx="0">
                  <c:v>45</c:v>
                </c:pt>
                <c:pt idx="1">
                  <c:v>5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789-4A54-9C6D-5DA1033596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5iv.labs.arxiv.org/html/2605.26297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github.com/Eulogizethesun/CubeSandbox/issues/3" TargetMode="Externa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 </a:t>
            </a:r>
            <a:r>
              <a:rPr lang="en-US" altLang="zh-CN" b="1" dirty="0" err="1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AgentEnv</a:t>
            </a: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 &amp; CubeSandbox</a:t>
            </a:r>
            <a:endParaRPr lang="en-US" altLang="zh-CN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b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当前进度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: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调研</a:t>
            </a: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背景 </a:t>
            </a: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应用情况 </a:t>
            </a: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商业价值</a:t>
            </a:r>
            <a:endParaRPr lang="zh-CN" altLang="en-US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CubeSandbox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：腾讯云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AI Agent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安全沙箱（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Apache-2.0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），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rust-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vmm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+ KVM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MicroVM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E2B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兼容；冷启动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&lt;60ms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、单实例内存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&lt;5MB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占比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~48%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~11.5k stars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。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AgentENV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AENV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）：清华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MADSys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+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月之暗面（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aka Kimi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2026-07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开源（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MIT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），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Firecracker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MicroVM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Agentic RL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平台；宣称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boot/resume &lt;50ms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pause &lt;100ms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（阿里云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ecs.g9i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推测为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Xeon 6xxx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）、成本降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88.6-96.8%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。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商业价值：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Harness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环境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代码解释器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工具调用需强隔离高密度沙箱；竞争点在启动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恢复时延、单实例内存、快照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/fork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成本。</a:t>
            </a: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应用架构 </a:t>
            </a: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Rust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位置</a:t>
            </a:r>
            <a:endParaRPr lang="zh-CN" altLang="en-US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AgentENV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（主体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；本节聚焦单节点数据面）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API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Axum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）：调用入口，鉴权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E2B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兼容协议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Orchestrator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：生命周期状态机（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create/pause/resume/snapshot/fork/delete + auto-pause/resume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sandbox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FirecrackerBackend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Firecracker VM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管理（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spawn /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网络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块设备挂载）；每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VM = VMM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线程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vCPU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线程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API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线程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warm-pool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Firecracker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进程预热池（跳过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spawn + socket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轮询）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snapshot / template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：快照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fork /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模板（内存恢复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基页内存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CoW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，单机核心）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overlaybd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+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ublk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ublk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-daemon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）：分层镜像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用户态块设备（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io_uring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envd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guest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内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daemon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E2B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开源，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Go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）的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客户端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CubeSandbox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控制面；忽略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Go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开发集权交互面）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CubeAPI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axum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）：调用入口，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E2B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兼容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REST</a:t>
            </a:r>
          </a:p>
          <a:p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CubeHypervisor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/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CubeShim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KVM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microVM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Cloud Hypervisor fork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，自带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snapshot/restore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cube-agent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guest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侧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agent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tokio-vsock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CubeCoW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：快照引擎（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XFS FICLONE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reflink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，磁盘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CoW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；供节点侧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Go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组件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CGO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调用）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Common</a:t>
            </a:r>
          </a:p>
          <a:p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都基于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rust-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vmm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+ KVM</a:t>
            </a:r>
          </a:p>
          <a:p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CoW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路径差异：内存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CoW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/ template fork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AgentENV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vs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磁盘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CoW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/ XFS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reflink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CubeSandbox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Kunpeng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亲和优化点</a:t>
            </a:r>
            <a:endParaRPr lang="zh-CN" altLang="en-US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zh-CN" altLang="en-US" b="1" dirty="0">
                <a:solidFill>
                  <a:srgbClr val="C9D1D9"/>
                </a:solidFill>
                <a:effectLst/>
                <a:latin typeface="UbuntuMono Nerd Font Propo" panose="020B0509030602030204" pitchFamily="50" charset="0"/>
              </a:rPr>
              <a:t>**评估指标**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（背景节竞争点的鲲鹏化；上游数据为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Xeon g9i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，需先在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950/950 v200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复测）</a:t>
            </a: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启动时间：本地已有解析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OCI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缓存时的启动（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OCI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复用高，冷启动降权）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活跃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microVM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数量：单实例内存占用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线程调度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/NUMA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放置（每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VM =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VMM+vCPU+API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三线程，高密度数千线程；见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Sched-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ext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章）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pause/resume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时间：主指标（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harness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大多等待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LLM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生成，沙箱空闲占比高）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镜像解析速度：待分析，需要输入</a:t>
            </a: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zh-CN" altLang="en-US" b="1" dirty="0">
                <a:solidFill>
                  <a:srgbClr val="C9D1D9"/>
                </a:solidFill>
                <a:effectLst/>
                <a:latin typeface="UbuntuMono Nerd Font Propo" panose="020B0509030602030204" pitchFamily="50" charset="0"/>
              </a:rPr>
              <a:t>**优化方向**</a:t>
            </a:r>
            <a:endParaRPr lang="zh-CN" altLang="en-US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页大小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4K/64K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CoW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粒度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vs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缺页次数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trade-off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，贯穿恢复速度与内存密度（鲲鹏常用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64K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，需实测拐点）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CubeSandbox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CubeCoW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XFS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reflink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FICLONE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）在鲲鹏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NVMe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/64K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页下开销验证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overlaybd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+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ublk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数据路径：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lazy-load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解压（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lz4/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zstd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CRC32C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校验在运行时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IO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热路径（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920B+?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image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模块 下载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解压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映射，非重点路径，性能不关键（待确认，跨节点？）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跨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microVM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cow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内存共享，热点指令强制保留在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L3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缓存（仅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950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支持）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TODO more</a:t>
            </a:r>
          </a:p>
          <a:p>
            <a:b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技术难点 </a:t>
            </a: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团队能力 </a:t>
            </a: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项目推进</a:t>
            </a:r>
            <a:endParaRPr lang="zh-CN" altLang="en-US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需要提升团队对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OS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内核理解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需要提升团队对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ARM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硬件虚拟化理解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microVM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不可跨架构迁移，因此无法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Kunpeng 50% + x86 50%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组件集群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7930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6376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Runtime 层（管沙箱/容器生命周期与生态接入，OCI / K8s 侧）</a:t>
            </a:r>
          </a:p>
          <a:p>
            <a:pPr latinLnBrk="1"/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Kube-Shim：containerd shim v2 接口层。把沙箱伪装成 K8s 的容器运行时接进去，管 Pod 生命周期，并做 K8s 兼容与性能优化。CubeSandbox 的 CubeShim 就是这一格。</a:t>
            </a:r>
          </a:p>
          <a:p>
            <a:pPr latinLnBrk="1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E2B-orchestrator：E2B 开源协议的沙箱编排服务，负责创建、销毁、模板与 API。Cube 兼容 E2B SDK，这格是生态兼容入口，标注 Patch 合入。</a:t>
            </a:r>
          </a:p>
          <a:p>
            <a:pPr latinLnBrk="1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runc：OCI 参考运行时，基于 namespace + cgroup 的进程级容器，共享宿主内核。启动最快、隔离最弱，是容器基线。</a:t>
            </a:r>
          </a:p>
          <a:p>
            <a:pPr latinLnBrk="1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RunD：安全容器运行时，走 Kata 路线，兼容 OCI，但每个容器有独立轻量内核。</a:t>
            </a:r>
          </a:p>
          <a:p>
            <a:pPr latinLnBrk="1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Kata：Kata Containers，用轻量虚拟机跑 OCI 容器，独立 guest 内核且兼容 K8s。CubeSandbox 的 cube-agent 就是 Kata agent 的 fork。</a:t>
            </a:r>
          </a:p>
          <a:p>
            <a:pPr latinLnBrk="1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CubeSandbox：本项目对象。腾讯云 AI Agent 安全沙箱，rust-vmm + KVM MicroVM，E2B 兼容；控制面与网络面主要在 Rust，是主要 Patch 合入对象。</a:t>
            </a:r>
          </a:p>
          <a:p>
            <a:pPr latinLnBrk="1"/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VMM 层（管隔离与设备模型，决定隔离强度与启动/内存开销）</a:t>
            </a:r>
          </a:p>
          <a:p>
            <a:pPr latinLnBrk="1"/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QEMU：通用 VMM，设备模型最全、兼容性最好，但启动慢、开销大，C 实现，通常作兼容兜底。</a:t>
            </a:r>
          </a:p>
          <a:p>
            <a:pPr latinLnBrk="1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StratoVirt：openEuler 的轻量 VMM，Rust 实现，microvm 机型 50ms 内启动、内存小于 4MB，支持 x86 与 AArch64，是与鲲鹏最贴的可改 VMM。</a:t>
            </a:r>
          </a:p>
          <a:p>
            <a:pPr latinLnBrk="1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Firecracker：AWS 的 microVM VMM，Rust 实现，只模拟 5 个设备，启动不超过 125ms、自身开销不超过 5MiB；Lambda/Fargate 底座，AgentENV 也用它。</a:t>
            </a:r>
          </a:p>
          <a:p>
            <a:pPr latinLnBrk="1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Cloud-hypervisor：Rust 实现、面向云负载的 VMM，自带 snapshot/restore；CubeHypervisor 就是它的 fork。</a:t>
            </a:r>
          </a:p>
          <a:p>
            <a:pPr latinLnBrk="1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gVisor：Google 的用户态应用内核，OCI 运行时叫 runsc，在源码层拦截 syscall。它不是虚拟机、没有独立内核，隔离介于容器与虚拟机之间；syscall 密集场景开销明显，引用性能必须写明平台（ptrace 平台慢约 19.7 倍，KVM 平台接近 runc）。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709A71-914E-40D5-A5AD-CE91637DDB1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29738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沙箱超分数据来源</a:t>
            </a:r>
            <a:endParaRPr lang="en-US" altLang="zh-CN" dirty="0"/>
          </a:p>
          <a:p>
            <a:r>
              <a:rPr lang="zh-CN" altLang="zh-CN" dirty="0">
                <a:hlinkClick r:id="rId3"/>
              </a:rPr>
              <a:t>[2605.26297] Agentic AI Workload Characteristics</a:t>
            </a:r>
            <a:r>
              <a:rPr lang="en-US" altLang="zh-CN" dirty="0"/>
              <a:t> </a:t>
            </a:r>
            <a:r>
              <a:rPr lang="zh-CN" altLang="en-US" dirty="0"/>
              <a:t>第 </a:t>
            </a:r>
            <a:r>
              <a:rPr lang="en-US" altLang="zh-CN" dirty="0"/>
              <a:t>5 Section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当前优化点列表</a:t>
            </a:r>
            <a:endParaRPr lang="en-US" altLang="zh-CN" dirty="0"/>
          </a:p>
          <a:p>
            <a:r>
              <a:rPr lang="zh-CN" altLang="zh-CN" dirty="0">
                <a:hlinkClick r:id="rId4"/>
              </a:rPr>
              <a:t>PR汇总 · Issue #3 · Eulogizethesun/CubeSandbox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4643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Rust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用户态公用模块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(11,934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行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)</a:t>
            </a:r>
          </a:p>
          <a:p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scx_utils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核心共享库：拓扑、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cpumask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cgroup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energy_model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CLI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GPU/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netdev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/perf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等通用工具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scx_stats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指标传输库（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scx_stats_derive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派生宏）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scx_rustland_core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用户态调度框架（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scx_rustland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的决策核心）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scx_arena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初始化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BPF arena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（内存分配器）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scx_userspace_arena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用户态与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BPF arena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交互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scx_raw_pmu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PMU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计数器访问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scx_cargo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构建期工具：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BpfBuilder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在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build.rs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里编译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BPF C →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生成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skeleton</a:t>
            </a:r>
          </a:p>
          <a:p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scx_bpf_compat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BPF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兼容性探测工具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跨内核版本用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eBPF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内核态公用模块（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9,535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行）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collection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（堆 ，红黑树，位图，队列，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B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树）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allocator</a:t>
            </a:r>
          </a:p>
          <a:p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os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操作工具 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CPU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掩码，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cgroup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带宽控制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CPU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拓扑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BPF arena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scx_cosmos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(NIVIDIA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开发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用户态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1960 c-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内核态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1614)</a:t>
            </a:r>
          </a:p>
          <a:p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非饱和模式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Local DSQ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（各个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CPU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维护自己的队列， 简单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round-robin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饱和模式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Share DSQ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（若当前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cpu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利用率超过阈值，则进入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share DSQ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，则按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deadline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（累计运行时间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上次睡眠以来运行时间）排序分发到其他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CPU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执行）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优先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GPU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Numa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亲和（用户态感知，传递给内核）优先安排到对应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numa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的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cpu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上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scx_layered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(Meta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使用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用户态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14679 c-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内核态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5604)</a:t>
            </a:r>
          </a:p>
          <a:p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CPU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归属某个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Layer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Layer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根据自己资源决定占用的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CPU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，没有归属自动属于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open layer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，超分时按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weight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分配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三种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layer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Confined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（限专属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CPU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Grouped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（可溢出）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Open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（无专属，填空隙）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CPU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优先处理归属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layer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任务， 空闲时处理其他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layer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任务 ， 有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preempt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（抢占层）配置的层可以抢占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CPU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调度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线程会归属到某个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Layer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，规则匹配，根据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os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事件刷新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默认策略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分优先级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DL(deadline) &gt; RT(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realtime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) &gt; FAIR(CFS/EEVDF) &gt; IDLE</a:t>
            </a:r>
          </a:p>
          <a:p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高优先级无条件高于低优先级，每层按运行时间平衡，有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NUMA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时，按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NUMA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域管理，如果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NUMA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内资源不足，则其他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NUMA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分配，</a:t>
            </a: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双层结构：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用户态（加载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/CLI/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监控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拓扑）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C/BPF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内核态（</a:t>
            </a:r>
            <a:r>
              <a:rPr lang="en-US" altLang="zh-CN" b="0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`struct </a:t>
            </a:r>
            <a:r>
              <a:rPr lang="en-US" altLang="zh-CN" b="0" dirty="0" err="1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sched_ext_ops</a:t>
            </a:r>
            <a:r>
              <a:rPr lang="en-US" altLang="zh-CN" b="0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`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回调：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select_cpu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/enqueue/dispatch/running/stopping/tick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012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744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 </a:t>
            </a:r>
            <a:r>
              <a:rPr lang="en-US" altLang="zh-CN" b="1" dirty="0" err="1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SGLang</a:t>
            </a: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 &amp; </a:t>
            </a:r>
            <a:r>
              <a:rPr lang="en-US" altLang="zh-CN" b="1" dirty="0" err="1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vLLM</a:t>
            </a: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From Shilei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）</a:t>
            </a:r>
            <a:endParaRPr lang="en-US" altLang="zh-CN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b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当前进度：调研</a:t>
            </a: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背景 </a:t>
            </a: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应用价值 </a:t>
            </a: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商业价值</a:t>
            </a:r>
            <a:endParaRPr lang="zh-CN" altLang="en-US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vLLM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UC Berkeley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发起的高吞吐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LLM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推理框架（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Apache-2.0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）；核心创新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PagedAttention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通过分页和写时复制管理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KV Cache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，原始论文在特定实验条件下报告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2–4×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吞吐提升。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SGLang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: LMSYS/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学术团队的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LLM/VLM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推理框架（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Apache-2.0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;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核心机制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RadixAttention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复用跨请求的公共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prefix KV Cache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，原始论文在特定实验条件下报告最高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6.4×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吞吐提升；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两者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Python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调度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模型执行为主，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GPU/NPU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内核依赖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CUDA/HIP/Triton/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FlashInfer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；高并发解码下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CPU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侧调度、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KV/prefix-cache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管理成瓶颈。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商业价值：提高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batch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容量、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KV Cache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利用率和加速器利用率，降低每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token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成本；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vLLM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更偏通用内存与调度效率，充分利用昇腾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NPU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的显存；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SGLang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在多轮对话、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RAG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few-shot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Agent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等高重复长前缀场景中更具优势。</a:t>
            </a: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应用架构 </a:t>
            </a: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Rust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位置</a:t>
            </a:r>
            <a:endParaRPr lang="zh-CN" altLang="en-US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vLLM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V1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采用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API Server → Engine Core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（调度与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KV Cache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）→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GPU Worker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多进程架构；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前端是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Python API Server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的实验性替代，已覆盖核心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OpenAI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API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、流式输出、部分工具调用和多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Engine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路由，尚未完全达到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Python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前端功能对齐。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SGLang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Python SRT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负责模型运行时和调度；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Model Gateway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负责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HTTP/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gRPC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worker registry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、缓存感知路由、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Prefill/Decode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协调、限流、重试、熔断，以及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tokenizer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reasoning parser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tool-call parser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。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共性：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主要用于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API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、网络、路由、分词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解析和压测客户端，不是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GEMM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Attention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、量化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kernel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的主体；张量计算仍主要依赖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PyTorch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CUDA/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ROCm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Triton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C/C++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和厂商算子库。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vLLM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的第三方源码统计中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约占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7.4%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；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SGLang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暂无稳定、可信且可比的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占比数据。</a:t>
            </a: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ARM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性能亲和优化点</a:t>
            </a:r>
            <a:endParaRPr lang="zh-CN" altLang="en-US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vLLM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：已有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NEON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ARM BF16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ARMv8.6-A/FEAT_BF16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Arm Compute Library/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oneDNN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OpenMP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绑核及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Graviton3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验证基础；后续重点是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SVE/SVE2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INT8/INT4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PagedAttention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MoE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kernel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、运行时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ISA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分发，以及权重和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KV Cache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的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NUMA first-touch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。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SGLang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：已有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OpenMP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绑核、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TP rank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与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NUMA/SNC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映射、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torch.compile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CPU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路径；但现有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CPU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性能优化主要面向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Intel Xeon/AMX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ARM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仍需补齐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NEON/BF16/SVE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cache/thread blocking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、量化、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MoE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/Attention kernel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和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NUMA-aware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调度。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技术难点：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ARM CPU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代际与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ISA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差异大；量化和融合算子生态弱于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x86 AMX/CUDA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；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LLM CPU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推理易受内存带宽和跨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NUMA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访问限制；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Python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调度、分词和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detokenizer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可能在高并发、小模型场景成为单核瓶颈。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数据边界：目前未发现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vLLM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与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SGLang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在相同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ARM CPU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、模型、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dtype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、并发及输入输出长度下的官方对比数据，不能根据“支持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ARM”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直接判断其具有竞争力的性能。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268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来源  周逸文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3753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 </a:t>
            </a:r>
            <a:r>
              <a:rPr lang="en-US" altLang="zh-CN" b="1" dirty="0" err="1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AgentEnv</a:t>
            </a: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 &amp; CubeSandbox</a:t>
            </a:r>
            <a:endParaRPr lang="en-US" altLang="zh-CN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b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当前进度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: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调研</a:t>
            </a: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背景 </a:t>
            </a: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应用情况 </a:t>
            </a: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商业价值</a:t>
            </a:r>
            <a:endParaRPr lang="zh-CN" altLang="en-US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CubeSandbox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：腾讯云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AI Agent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安全沙箱（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Apache-2.0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），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rust-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vmm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+ KVM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MicroVM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E2B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兼容；冷启动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&lt;60ms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、单实例内存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&lt;5MB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占比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~48%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~11.5k stars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。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AgentENV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AENV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）：清华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MADSys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+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月之暗面（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aka Kimi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2026-07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开源（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MIT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），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Firecracker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MicroVM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Agentic RL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平台；宣称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boot/resume &lt;50ms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pause &lt;100ms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（阿里云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ecs.g9i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推测为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Xeon 6xxx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）、成本降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88.6-96.8%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。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商业价值：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Harness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环境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代码解释器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工具调用需强隔离高密度沙箱；竞争点在启动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恢复时延、单实例内存、快照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/fork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成本。</a:t>
            </a: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应用架构 </a:t>
            </a: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Rust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位置</a:t>
            </a:r>
            <a:endParaRPr lang="zh-CN" altLang="en-US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AgentENV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（主体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；本节聚焦单节点数据面）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API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Axum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）：调用入口，鉴权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E2B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兼容协议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Orchestrator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：生命周期状态机（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create/pause/resume/snapshot/fork/delete + auto-pause/resume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sandbox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FirecrackerBackend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Firecracker VM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管理（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spawn /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网络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块设备挂载）；每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VM = VMM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线程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vCPU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线程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API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线程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warm-pool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Firecracker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进程预热池（跳过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spawn + socket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轮询）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snapshot / template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：快照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fork /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模板（内存恢复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基页内存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CoW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，单机核心）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overlaybd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+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ublk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ublk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-daemon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）：分层镜像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用户态块设备（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io_uring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envd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guest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内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daemon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E2B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开源，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Go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）的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客户端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CubeSandbox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控制面；忽略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Go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开发集权交互面）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CubeAPI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axum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）：调用入口，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E2B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兼容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REST</a:t>
            </a:r>
          </a:p>
          <a:p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CubeHypervisor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/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CubeShim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KVM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microVM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Cloud Hypervisor fork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，自带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snapshot/restore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cube-agent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guest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侧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agent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tokio-vsock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</a:p>
          <a:p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CubeCoW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：快照引擎（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XFS FICLONE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reflink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，磁盘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CoW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；供节点侧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Go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组件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CGO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调用）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Common</a:t>
            </a:r>
          </a:p>
          <a:p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都基于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rust-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vmm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+ KVM</a:t>
            </a:r>
          </a:p>
          <a:p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CoW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路径差异：内存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CoW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/ template fork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AgentENV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vs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磁盘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CoW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/ XFS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reflink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CubeSandbox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Kunpeng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亲和优化点</a:t>
            </a:r>
            <a:endParaRPr lang="zh-CN" altLang="en-US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zh-CN" altLang="en-US" b="1" dirty="0">
                <a:solidFill>
                  <a:srgbClr val="C9D1D9"/>
                </a:solidFill>
                <a:effectLst/>
                <a:latin typeface="UbuntuMono Nerd Font Propo" panose="020B0509030602030204" pitchFamily="50" charset="0"/>
              </a:rPr>
              <a:t>**评估指标**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（背景节竞争点的鲲鹏化；上游数据为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Xeon g9i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，需先在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950/950 v200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复测）</a:t>
            </a: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启动时间：本地已有解析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OCI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缓存时的启动（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OCI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复用高，冷启动降权）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活跃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microVM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数量：单实例内存占用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线程调度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/NUMA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放置（每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VM =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VMM+vCPU+API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三线程，高密度数千线程；见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Sched-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ext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章）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pause/resume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时间：主指标（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harness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大多等待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LLM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生成，沙箱空闲占比高）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镜像解析速度：待分析，需要输入</a:t>
            </a: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zh-CN" altLang="en-US" b="1" dirty="0">
                <a:solidFill>
                  <a:srgbClr val="C9D1D9"/>
                </a:solidFill>
                <a:effectLst/>
                <a:latin typeface="UbuntuMono Nerd Font Propo" panose="020B0509030602030204" pitchFamily="50" charset="0"/>
              </a:rPr>
              <a:t>**优化方向**</a:t>
            </a:r>
            <a:endParaRPr lang="zh-CN" altLang="en-US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页大小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4K/64K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CoW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粒度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vs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缺页次数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trade-off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，贯穿恢复速度与内存密度（鲲鹏常用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64K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，需实测拐点）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CubeSandbox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CubeCoW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XFS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reflink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FICLONE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）在鲲鹏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NVMe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/64K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页下开销验证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overlaybd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+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ublk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数据路径：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lazy-load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解压（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lz4/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zstd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CRC32C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校验在运行时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IO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热路径（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920B+?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image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模块 下载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解压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映射，非重点路径，性能不关键（待确认，跨节点？）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跨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microVM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cow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内存共享，热点指令强制保留在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L3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缓存（仅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950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支持）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TODO more</a:t>
            </a:r>
          </a:p>
          <a:p>
            <a:b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技术难点 </a:t>
            </a: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团队能力 </a:t>
            </a:r>
            <a:r>
              <a:rPr lang="en-US" altLang="zh-CN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项目推进</a:t>
            </a:r>
            <a:endParaRPr lang="zh-CN" altLang="en-US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需要提升团队对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OS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内核理解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需要提升团队对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ARM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硬件虚拟化理解</a:t>
            </a:r>
          </a:p>
          <a:p>
            <a:r>
              <a:rPr lang="en-US" altLang="zh-CN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microVM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不可跨架构迁移，因此无法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Kunpeng 50% + x86 50% </a:t>
            </a:r>
            <a:r>
              <a:rPr lang="zh-CN" altLang="en-US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组件集群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4584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沙箱生态洞察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709A71-914E-40D5-A5AD-CE91637DDB1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86506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腾讯对</a:t>
            </a:r>
            <a:r>
              <a:rPr lang="en-US" altLang="zh-CN" dirty="0"/>
              <a:t>PVM</a:t>
            </a:r>
            <a:r>
              <a:rPr lang="zh-CN" altLang="en-US" dirty="0"/>
              <a:t>的需求。希望能尽快用起来。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09A71-914E-40D5-A5AD-CE91637DDB1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08988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2550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kumimoji="1"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、洞察了</a:t>
            </a:r>
            <a:r>
              <a:rPr kumimoji="1"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kumimoji="1" lang="zh-CN" altLang="en-US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社区，未达成一致，有</a:t>
            </a:r>
            <a:r>
              <a:rPr kumimoji="1"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rust SIMD</a:t>
            </a:r>
            <a:r>
              <a:rPr kumimoji="1" lang="zh-CN" altLang="en-US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空间</a:t>
            </a:r>
            <a:endParaRPr kumimoji="1" lang="en-US" altLang="zh-CN" sz="1600" dirty="0">
              <a:solidFill>
                <a:srgbClr val="00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kumimoji="1"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、再洞察相关</a:t>
            </a:r>
            <a:r>
              <a:rPr kumimoji="1"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kumimoji="1" lang="zh-CN" altLang="en-US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库，以及对比相似场景，</a:t>
            </a:r>
            <a:r>
              <a:rPr kumimoji="1"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kumimoji="1" lang="zh-CN" altLang="en-US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更优</a:t>
            </a:r>
            <a:endParaRPr kumimoji="1" lang="en-US" altLang="zh-CN" sz="1600" dirty="0">
              <a:solidFill>
                <a:srgbClr val="00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kumimoji="1"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、总结对比</a:t>
            </a:r>
            <a:r>
              <a:rPr kumimoji="1"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rust crate(std::arch)</a:t>
            </a:r>
            <a:r>
              <a:rPr kumimoji="1" lang="zh-CN" altLang="en-US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highway</a:t>
            </a:r>
            <a:r>
              <a:rPr kumimoji="1" lang="zh-CN" altLang="en-US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、等</a:t>
            </a:r>
            <a:r>
              <a:rPr kumimoji="1"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kumimoji="1" lang="zh-CN" altLang="en-US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主社区</a:t>
            </a:r>
            <a:r>
              <a:rPr kumimoji="1"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zh-CN" altLang="en-US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客户出现优化手搓汇编</a:t>
            </a:r>
            <a:r>
              <a:rPr kumimoji="1"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kumimoji="1" lang="zh-CN" altLang="en-US" sz="1600" dirty="0">
              <a:solidFill>
                <a:srgbClr val="00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微软雅黑" panose="020B0503020204020204" pitchFamily="34" charset="-122"/>
              </a:rPr>
              <a:t>23</a:t>
            </a:fld>
            <a:endParaRPr lang="en-US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Agentic AI</a:t>
            </a:r>
            <a:r>
              <a:rPr lang="zh-CN" altLang="en-US" dirty="0"/>
              <a:t>整体需求。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922162-40B6-4D7C-A5BB-73BFC3E5FE2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31871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Scheduler</a:t>
            </a:r>
            <a:r>
              <a:rPr lang="zh-CN" altLang="en-US" dirty="0"/>
              <a:t>包括了：</a:t>
            </a:r>
            <a:r>
              <a:rPr lang="en-US" altLang="zh-CN" dirty="0"/>
              <a:t>KV Block</a:t>
            </a:r>
            <a:r>
              <a:rPr lang="zh-CN" altLang="en-US" dirty="0"/>
              <a:t>前缀匹配</a:t>
            </a:r>
            <a:endParaRPr lang="en-US" altLang="zh-CN" dirty="0"/>
          </a:p>
          <a:p>
            <a:r>
              <a:rPr lang="en-US" altLang="zh-CN" dirty="0" err="1"/>
              <a:t>SGLang</a:t>
            </a:r>
            <a:r>
              <a:rPr lang="en-US" altLang="zh-CN" dirty="0"/>
              <a:t> Eager</a:t>
            </a:r>
            <a:r>
              <a:rPr lang="zh-CN" altLang="en-US" dirty="0"/>
              <a:t>模式下，也会通过</a:t>
            </a:r>
            <a:r>
              <a:rPr lang="en-US" altLang="zh-CN" dirty="0"/>
              <a:t>Python</a:t>
            </a:r>
            <a:r>
              <a:rPr lang="zh-CN" altLang="en-US" dirty="0"/>
              <a:t>完成算子下发，受</a:t>
            </a:r>
            <a:r>
              <a:rPr lang="en-US" altLang="zh-CN" dirty="0"/>
              <a:t>GIL</a:t>
            </a:r>
            <a:r>
              <a:rPr lang="zh-CN" altLang="en-US" dirty="0"/>
              <a:t>约束，但是因为</a:t>
            </a:r>
            <a:r>
              <a:rPr lang="en-US" altLang="zh-CN" dirty="0" err="1"/>
              <a:t>SGLang</a:t>
            </a:r>
            <a:r>
              <a:rPr lang="zh-CN" altLang="en-US" dirty="0"/>
              <a:t>对</a:t>
            </a:r>
            <a:r>
              <a:rPr lang="en-US" altLang="zh-CN" dirty="0"/>
              <a:t>GIL</a:t>
            </a:r>
            <a:r>
              <a:rPr lang="zh-CN" altLang="en-US" dirty="0"/>
              <a:t>锁的占用时间较少，因此受</a:t>
            </a:r>
            <a:r>
              <a:rPr lang="en-US" altLang="zh-CN" dirty="0"/>
              <a:t>GIL</a:t>
            </a:r>
            <a:r>
              <a:rPr lang="zh-CN" altLang="en-US" dirty="0"/>
              <a:t>的影响也比较小。</a:t>
            </a:r>
            <a:endParaRPr lang="en-US" altLang="zh-CN" dirty="0"/>
          </a:p>
          <a:p>
            <a:r>
              <a:rPr lang="zh-CN" altLang="en-US" dirty="0"/>
              <a:t>算子构建：负责输入到算子的元数据</a:t>
            </a:r>
            <a:r>
              <a:rPr lang="en-US" altLang="zh-CN" dirty="0"/>
              <a:t>tensor</a:t>
            </a:r>
            <a:r>
              <a:rPr lang="zh-CN" altLang="en-US" dirty="0"/>
              <a:t>构建。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Pytorch</a:t>
            </a:r>
            <a:r>
              <a:rPr lang="en-US" altLang="zh-CN" dirty="0"/>
              <a:t>-dispatcher</a:t>
            </a:r>
            <a:r>
              <a:rPr lang="zh-CN" altLang="en-US" dirty="0"/>
              <a:t>：</a:t>
            </a:r>
            <a:r>
              <a:rPr lang="en-US" altLang="zh-CN" dirty="0"/>
              <a:t>key</a:t>
            </a:r>
            <a:r>
              <a:rPr lang="zh-CN" altLang="en-US" dirty="0"/>
              <a:t>计算，查表，拦截链判断，这些操作都属于算子下发的过程。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09A71-914E-40D5-A5AD-CE91637DDB1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50910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58971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Cli</a:t>
            </a:r>
            <a:r>
              <a:rPr lang="en-US" altLang="zh-CN" dirty="0"/>
              <a:t> </a:t>
            </a:r>
            <a:r>
              <a:rPr lang="zh-CN" altLang="en-US" dirty="0"/>
              <a:t>工具 </a:t>
            </a:r>
            <a:r>
              <a:rPr lang="en-US" altLang="zh-CN" dirty="0"/>
              <a:t>/ </a:t>
            </a:r>
            <a:r>
              <a:rPr lang="en-US" altLang="zh-CN" dirty="0" err="1"/>
              <a:t>riggrep</a:t>
            </a:r>
            <a:r>
              <a:rPr lang="en-US" altLang="zh-CN" dirty="0"/>
              <a:t> </a:t>
            </a:r>
            <a:r>
              <a:rPr lang="en-US" altLang="zh-CN" dirty="0" err="1"/>
              <a:t>fd</a:t>
            </a:r>
            <a:r>
              <a:rPr lang="en-US" altLang="zh-CN" dirty="0"/>
              <a:t> bat fish </a:t>
            </a:r>
            <a:r>
              <a:rPr lang="zh-CN" altLang="en-US" dirty="0"/>
              <a:t>等， 此类项目活跃度高，但是用户感知不明显， 不作为主要目标。</a:t>
            </a:r>
            <a:endParaRPr lang="en-US" altLang="zh-CN" dirty="0"/>
          </a:p>
          <a:p>
            <a:r>
              <a:rPr lang="zh-CN" altLang="en-US" dirty="0"/>
              <a:t>单机 </a:t>
            </a:r>
            <a:r>
              <a:rPr lang="en-US" altLang="zh-CN" dirty="0"/>
              <a:t>10K </a:t>
            </a:r>
            <a:r>
              <a:rPr lang="zh-CN" altLang="en-US" dirty="0"/>
              <a:t>单机 </a:t>
            </a:r>
            <a:r>
              <a:rPr lang="en-US" altLang="zh-CN" dirty="0"/>
              <a:t>100k </a:t>
            </a:r>
            <a:r>
              <a:rPr lang="zh-CN" altLang="en-US" dirty="0"/>
              <a:t>链接数 是可以研究一下的方向，互联网</a:t>
            </a:r>
            <a:r>
              <a:rPr lang="en-US" altLang="zh-CN" dirty="0"/>
              <a:t>/LLM</a:t>
            </a:r>
            <a:r>
              <a:rPr lang="zh-CN" altLang="en-US" dirty="0"/>
              <a:t>训练数据收集场景较多，但目前主流实现还是在 </a:t>
            </a:r>
            <a:r>
              <a:rPr lang="en-US" altLang="zh-CN" dirty="0" err="1"/>
              <a:t>golang</a:t>
            </a:r>
            <a:r>
              <a:rPr lang="en-US" altLang="zh-CN" dirty="0"/>
              <a:t> /</a:t>
            </a:r>
            <a:r>
              <a:rPr lang="zh-CN" altLang="en-US" dirty="0"/>
              <a:t> </a:t>
            </a:r>
            <a:r>
              <a:rPr lang="en-US" altLang="zh-CN" dirty="0"/>
              <a:t>java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101BF5-084C-481B-8492-FB8A5BF4EC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73268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是否有快速更换 </a:t>
            </a:r>
            <a:r>
              <a:rPr lang="en-US" altLang="zh-CN" dirty="0"/>
              <a:t>LLVM </a:t>
            </a:r>
            <a:r>
              <a:rPr lang="zh-CN" altLang="en-US" dirty="0"/>
              <a:t>版本？ 或者直接提供 </a:t>
            </a:r>
            <a:r>
              <a:rPr lang="en-US" altLang="zh-CN" dirty="0"/>
              <a:t>Euler </a:t>
            </a:r>
            <a:r>
              <a:rPr lang="zh-CN" altLang="en-US" dirty="0"/>
              <a:t>版 </a:t>
            </a:r>
            <a:r>
              <a:rPr lang="en-US" altLang="zh-CN" dirty="0"/>
              <a:t>LLVM </a:t>
            </a:r>
            <a:r>
              <a:rPr lang="zh-CN" altLang="en-US" dirty="0"/>
              <a:t>的 </a:t>
            </a:r>
            <a:r>
              <a:rPr lang="en-US" altLang="zh-CN" dirty="0" err="1"/>
              <a:t>Rustc</a:t>
            </a:r>
            <a:r>
              <a:rPr lang="en-US" altLang="zh-CN" dirty="0"/>
              <a:t> </a:t>
            </a:r>
            <a:r>
              <a:rPr lang="zh-CN" altLang="en-US" dirty="0"/>
              <a:t>发行包尽快让客户使用。</a:t>
            </a:r>
            <a:endParaRPr lang="en-US" altLang="zh-CN" dirty="0"/>
          </a:p>
          <a:p>
            <a:r>
              <a:rPr lang="en-US" altLang="zh-CN" dirty="0"/>
              <a:t>LLVM </a:t>
            </a:r>
            <a:r>
              <a:rPr lang="zh-CN" altLang="en-US" dirty="0"/>
              <a:t>每年 </a:t>
            </a:r>
            <a:r>
              <a:rPr lang="en-US" altLang="zh-CN" dirty="0"/>
              <a:t>3 </a:t>
            </a:r>
            <a:r>
              <a:rPr lang="zh-CN" altLang="en-US" dirty="0"/>
              <a:t>月 </a:t>
            </a:r>
            <a:r>
              <a:rPr lang="en-US" altLang="zh-CN" dirty="0"/>
              <a:t>9 </a:t>
            </a:r>
            <a:r>
              <a:rPr lang="zh-CN" altLang="en-US" dirty="0"/>
              <a:t>月 各发布一个大版本，</a:t>
            </a:r>
            <a:r>
              <a:rPr lang="en-US" altLang="zh-CN" dirty="0"/>
              <a:t>LLVM22 </a:t>
            </a:r>
            <a:r>
              <a:rPr lang="zh-CN" altLang="en-US" dirty="0"/>
              <a:t>发布于 </a:t>
            </a:r>
            <a:r>
              <a:rPr lang="en-US" altLang="zh-CN" dirty="0"/>
              <a:t>2026</a:t>
            </a:r>
            <a:r>
              <a:rPr lang="zh-CN" altLang="en-US" dirty="0"/>
              <a:t>年</a:t>
            </a:r>
            <a:r>
              <a:rPr lang="en-US" altLang="zh-CN" dirty="0"/>
              <a:t>3</a:t>
            </a:r>
            <a:r>
              <a:rPr lang="zh-CN" altLang="en-US" dirty="0"/>
              <a:t>月。平均 </a:t>
            </a:r>
            <a:r>
              <a:rPr lang="en-US" altLang="zh-CN" dirty="0"/>
              <a:t>2 </a:t>
            </a:r>
            <a:r>
              <a:rPr lang="zh-CN" altLang="en-US" dirty="0"/>
              <a:t>个月后 </a:t>
            </a:r>
            <a:r>
              <a:rPr lang="en-US" altLang="zh-CN" dirty="0"/>
              <a:t>Rust </a:t>
            </a:r>
            <a:r>
              <a:rPr lang="zh-CN" altLang="en-US" dirty="0"/>
              <a:t>跟进版本，</a:t>
            </a:r>
            <a:r>
              <a:rPr lang="en-US" altLang="zh-CN" dirty="0"/>
              <a:t>LLVM22 </a:t>
            </a:r>
            <a:r>
              <a:rPr lang="zh-CN" altLang="en-US" dirty="0"/>
              <a:t>于 </a:t>
            </a:r>
            <a:r>
              <a:rPr lang="en-US" altLang="zh-CN" dirty="0"/>
              <a:t>Rust 1.95.0 </a:t>
            </a:r>
            <a:r>
              <a:rPr lang="zh-CN" altLang="en-US" dirty="0"/>
              <a:t>进入 </a:t>
            </a:r>
            <a:r>
              <a:rPr lang="en-US" altLang="zh-CN" dirty="0"/>
              <a:t>Stable </a:t>
            </a: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月</a:t>
            </a:r>
            <a:r>
              <a:rPr lang="en-US" altLang="zh-CN" dirty="0"/>
              <a:t>16</a:t>
            </a:r>
            <a:r>
              <a:rPr lang="zh-CN" altLang="en-US" dirty="0"/>
              <a:t>日发布）。</a:t>
            </a:r>
            <a:endParaRPr lang="en-US" altLang="zh-CN" dirty="0"/>
          </a:p>
          <a:p>
            <a:r>
              <a:rPr lang="en-US" altLang="zh-CN" dirty="0"/>
              <a:t>Kunpeng 950 </a:t>
            </a:r>
            <a:r>
              <a:rPr lang="zh-CN" altLang="en-US" dirty="0"/>
              <a:t>对应优化将于 </a:t>
            </a:r>
            <a:r>
              <a:rPr lang="en-US" altLang="zh-CN" dirty="0"/>
              <a:t>LLVM 23 </a:t>
            </a:r>
            <a:r>
              <a:rPr lang="zh-CN" altLang="en-US" dirty="0"/>
              <a:t>版本（</a:t>
            </a:r>
            <a:r>
              <a:rPr lang="en-US" altLang="zh-CN" dirty="0"/>
              <a:t>from </a:t>
            </a:r>
            <a:r>
              <a:rPr lang="zh-CN" altLang="en-US" dirty="0"/>
              <a:t>谢志恒 </a:t>
            </a:r>
            <a:r>
              <a:rPr lang="en-US" altLang="zh-CN" dirty="0"/>
              <a:t>00986486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调研</a:t>
            </a:r>
            <a:r>
              <a:rPr lang="en-US" altLang="zh-CN" dirty="0"/>
              <a:t>Daft </a:t>
            </a:r>
            <a:r>
              <a:rPr lang="zh-CN" altLang="en-US" dirty="0"/>
              <a:t>如何 打包</a:t>
            </a:r>
            <a:endParaRPr lang="en-US" altLang="zh-CN" dirty="0"/>
          </a:p>
          <a:p>
            <a:r>
              <a:rPr lang="en-US" altLang="zh-CN" dirty="0"/>
              <a:t>Daft wheel </a:t>
            </a:r>
            <a:r>
              <a:rPr lang="zh-CN" altLang="en-US" dirty="0"/>
              <a:t>包括 </a:t>
            </a:r>
            <a:r>
              <a:rPr lang="en-US" altLang="zh-CN" dirty="0"/>
              <a:t>5</a:t>
            </a:r>
            <a:r>
              <a:rPr lang="zh-CN" altLang="en-US" dirty="0"/>
              <a:t>种不同的 </a:t>
            </a:r>
            <a:r>
              <a:rPr lang="en-US" altLang="zh-CN" dirty="0"/>
              <a:t>so</a:t>
            </a:r>
            <a:r>
              <a:rPr lang="zh-CN" altLang="en-US" dirty="0"/>
              <a:t> （</a:t>
            </a:r>
            <a:r>
              <a:rPr lang="en-US" altLang="zh-CN" dirty="0"/>
              <a:t>linux-x86 </a:t>
            </a:r>
            <a:r>
              <a:rPr lang="en-US" altLang="zh-CN" dirty="0" err="1"/>
              <a:t>linux</a:t>
            </a:r>
            <a:r>
              <a:rPr lang="en-US" altLang="zh-CN" dirty="0"/>
              <a:t>-arm</a:t>
            </a:r>
            <a:r>
              <a:rPr lang="zh-CN" altLang="en-US" dirty="0"/>
              <a:t> </a:t>
            </a:r>
            <a:r>
              <a:rPr lang="en-US" altLang="zh-CN" dirty="0"/>
              <a:t>macos-x86 </a:t>
            </a:r>
            <a:r>
              <a:rPr lang="en-US" altLang="zh-CN" dirty="0" err="1"/>
              <a:t>macos</a:t>
            </a:r>
            <a:r>
              <a:rPr lang="en-US" altLang="zh-CN" dirty="0"/>
              <a:t>-arm win-amd64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其中 </a:t>
            </a:r>
            <a:r>
              <a:rPr lang="en-US" altLang="zh-CN" dirty="0"/>
              <a:t>arm target </a:t>
            </a:r>
            <a:r>
              <a:rPr lang="zh-CN" altLang="en-US" dirty="0"/>
              <a:t>使用 </a:t>
            </a:r>
            <a:r>
              <a:rPr lang="en-US" altLang="zh-CN" dirty="0"/>
              <a:t>ArmV8 </a:t>
            </a:r>
            <a:r>
              <a:rPr lang="zh-CN" altLang="en-US" dirty="0"/>
              <a:t>基线， 无法支持 </a:t>
            </a:r>
            <a:r>
              <a:rPr lang="en-US" altLang="zh-CN" dirty="0"/>
              <a:t>AVX2 AVX-512 NENO SVE SVE2 </a:t>
            </a:r>
            <a:r>
              <a:rPr lang="zh-CN" altLang="en-US" dirty="0"/>
              <a:t>等，因此 </a:t>
            </a:r>
            <a:r>
              <a:rPr lang="en-US" altLang="zh-CN" dirty="0"/>
              <a:t>Daft </a:t>
            </a:r>
            <a:r>
              <a:rPr lang="zh-CN" altLang="en-US" dirty="0"/>
              <a:t>需要专门编译才能利用 </a:t>
            </a:r>
            <a:r>
              <a:rPr lang="en-US" altLang="zh-CN" dirty="0"/>
              <a:t>LLVM </a:t>
            </a:r>
            <a:r>
              <a:rPr lang="zh-CN" altLang="en-US" dirty="0"/>
              <a:t>后端能力。</a:t>
            </a:r>
          </a:p>
          <a:p>
            <a:endParaRPr lang="en-US" altLang="zh-CN" dirty="0"/>
          </a:p>
          <a:p>
            <a:r>
              <a:rPr lang="zh-CN" altLang="en-US" dirty="0"/>
              <a:t>确保和 数据工程二期 目前发现的优化点一致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CuteSandbox</a:t>
            </a:r>
            <a:r>
              <a:rPr lang="en-US" altLang="zh-CN" dirty="0"/>
              <a:t>  </a:t>
            </a:r>
            <a:r>
              <a:rPr lang="zh-CN" altLang="en-US" dirty="0"/>
              <a:t>增加统一资源池， 解决 </a:t>
            </a:r>
            <a:r>
              <a:rPr lang="en-US" altLang="zh-CN" dirty="0"/>
              <a:t>CPU </a:t>
            </a:r>
            <a:r>
              <a:rPr lang="zh-CN" altLang="en-US" dirty="0"/>
              <a:t>和 内存使用不匹配问题，在不同节点间共享资源池， 减少资源浪费。（</a:t>
            </a:r>
            <a:r>
              <a:rPr lang="en-US" altLang="zh-CN" dirty="0"/>
              <a:t>UB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增加 快照 提升 沙箱启动时间。（沙箱是基于 </a:t>
            </a:r>
            <a:r>
              <a:rPr lang="en-US" altLang="zh-CN" dirty="0"/>
              <a:t>namespace </a:t>
            </a:r>
            <a:r>
              <a:rPr lang="zh-CN" altLang="en-US" dirty="0"/>
              <a:t>的类 </a:t>
            </a:r>
            <a:r>
              <a:rPr lang="en-US" altLang="zh-CN" dirty="0"/>
              <a:t>docker </a:t>
            </a:r>
            <a:r>
              <a:rPr lang="zh-CN" altLang="en-US" dirty="0"/>
              <a:t>实现）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18423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使用 </a:t>
            </a:r>
            <a:r>
              <a:rPr lang="en-US" altLang="zh-CN" dirty="0"/>
              <a:t>PyO3 </a:t>
            </a:r>
            <a:r>
              <a:rPr lang="zh-CN" altLang="en-US" dirty="0"/>
              <a:t>的项目列表 （</a:t>
            </a:r>
            <a:r>
              <a:rPr lang="en-US" altLang="zh-CN" dirty="0"/>
              <a:t>Lance Daft </a:t>
            </a:r>
            <a:r>
              <a:rPr lang="en-US" altLang="zh-CN" dirty="0" err="1"/>
              <a:t>HuggingFace</a:t>
            </a:r>
            <a:r>
              <a:rPr lang="zh-CN" altLang="en-US" dirty="0"/>
              <a:t>的</a:t>
            </a:r>
            <a:r>
              <a:rPr lang="en-US" altLang="zh-CN" dirty="0"/>
              <a:t>tokenizers ,</a:t>
            </a:r>
            <a:r>
              <a:rPr lang="en-US" altLang="zh-CN" dirty="0" err="1"/>
              <a:t>safetensors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/>
              <a:t>candle</a:t>
            </a:r>
            <a:r>
              <a:rPr lang="zh-CN" altLang="en-US" dirty="0"/>
              <a:t>。 </a:t>
            </a:r>
            <a:r>
              <a:rPr lang="en-US" altLang="zh-CN" dirty="0"/>
              <a:t>Polars </a:t>
            </a:r>
            <a:r>
              <a:rPr lang="en-US" altLang="zh-CN" dirty="0" err="1"/>
              <a:t>DafaFusion</a:t>
            </a:r>
            <a:r>
              <a:rPr lang="en-US" altLang="zh-CN" dirty="0"/>
              <a:t> delta-</a:t>
            </a:r>
            <a:r>
              <a:rPr lang="en-US" altLang="zh-CN" dirty="0" err="1"/>
              <a:t>rs</a:t>
            </a:r>
            <a:r>
              <a:rPr lang="en-US" altLang="zh-CN" dirty="0"/>
              <a:t> </a:t>
            </a:r>
            <a:r>
              <a:rPr lang="en-US" altLang="zh-CN" dirty="0" err="1"/>
              <a:t>hudi-rs</a:t>
            </a:r>
            <a:r>
              <a:rPr lang="en-US" altLang="zh-CN" dirty="0"/>
              <a:t> 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PyO3 </a:t>
            </a:r>
            <a:r>
              <a:rPr lang="zh-CN" altLang="en-US" dirty="0"/>
              <a:t>需要测试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相差约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30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7F0000">
                    <a:lumMod val="60000"/>
                    <a:lumOff val="4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7F0000">
                    <a:lumMod val="60000"/>
                    <a:lumOff val="4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7F0000">
                    <a:lumMod val="60000"/>
                    <a:lumOff val="4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需要在 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7F0000">
                    <a:lumMod val="60000"/>
                    <a:lumOff val="4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950 vs 9755 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7F0000">
                    <a:lumMod val="60000"/>
                    <a:lumOff val="4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测试一下</a:t>
            </a:r>
            <a:r>
              <a:rPr lang="zh-CN" altLang="en-US" dirty="0"/>
              <a:t>， 明确可验收指标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simd</a:t>
            </a:r>
            <a:r>
              <a:rPr lang="en-US" altLang="zh-CN" dirty="0"/>
              <a:t> </a:t>
            </a:r>
            <a:r>
              <a:rPr lang="zh-CN" altLang="en-US" dirty="0"/>
              <a:t>需要支持 动态 </a:t>
            </a:r>
            <a:r>
              <a:rPr lang="en-US" altLang="zh-CN" dirty="0"/>
              <a:t>/ </a:t>
            </a:r>
            <a:r>
              <a:rPr lang="zh-CN" altLang="en-US" dirty="0"/>
              <a:t>静态分发，关注 </a:t>
            </a:r>
            <a:r>
              <a:rPr lang="en-US" altLang="zh-CN" dirty="0"/>
              <a:t>Daft  / Lance </a:t>
            </a:r>
            <a:r>
              <a:rPr lang="zh-CN" altLang="en-US" dirty="0"/>
              <a:t>核心实现。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268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>
            <a:fillRect/>
          </a:stretch>
        </p:blipFill>
        <p:spPr>
          <a:xfrm>
            <a:off x="0" y="2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solidFill>
                <a:srgbClr val="666666"/>
              </a:solidFill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7" y="907094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2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099" y="360000"/>
            <a:ext cx="11831495" cy="360000"/>
          </a:xfrm>
        </p:spPr>
        <p:txBody>
          <a:bodyPr lIns="0" tIns="0" rIns="0" bIns="0" anchor="ctr"/>
          <a:lstStyle>
            <a:lvl1pPr algn="l">
              <a:lnSpc>
                <a:spcPct val="100000"/>
              </a:lnSpc>
              <a:defRPr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000" y="6315143"/>
            <a:ext cx="1273691" cy="278555"/>
          </a:xfrm>
          <a:prstGeom prst="rect">
            <a:avLst/>
          </a:prstGeom>
        </p:spPr>
      </p:pic>
      <p:sp>
        <p:nvSpPr>
          <p:cNvPr id="5" name="TextBox 2"/>
          <p:cNvSpPr txBox="1"/>
          <p:nvPr userDrawn="1"/>
        </p:nvSpPr>
        <p:spPr>
          <a:xfrm>
            <a:off x="1095471" y="6356950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130"/>
            <a:r>
              <a:rPr lang="en-US" sz="10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6" name="TextBox 3"/>
          <p:cNvSpPr txBox="1"/>
          <p:nvPr userDrawn="1"/>
        </p:nvSpPr>
        <p:spPr>
          <a:xfrm>
            <a:off x="734135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89635">
              <a:defRPr/>
            </a:pPr>
            <a:fld id="{3ADA8117-F262-4E91-B30B-B7B1D801D67D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8736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048" y="480690"/>
            <a:ext cx="10740640" cy="46440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6"/>
              </a:lnSpc>
              <a:spcBef>
                <a:spcPts val="0"/>
              </a:spcBef>
              <a:buNone/>
              <a:defRPr sz="2396" b="1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2777" indent="0" algn="ctr">
              <a:buNone/>
              <a:defRPr sz="2596"/>
            </a:lvl2pPr>
            <a:lvl3pPr marL="1186185" indent="0" algn="ctr">
              <a:buNone/>
              <a:defRPr sz="2336"/>
            </a:lvl3pPr>
            <a:lvl4pPr marL="1778961" indent="0" algn="ctr">
              <a:buNone/>
              <a:defRPr sz="2076"/>
            </a:lvl4pPr>
            <a:lvl5pPr marL="2371737" indent="0" algn="ctr">
              <a:buNone/>
              <a:defRPr sz="2076"/>
            </a:lvl5pPr>
            <a:lvl6pPr marL="2964512" indent="0" algn="ctr">
              <a:buNone/>
              <a:defRPr sz="2076"/>
            </a:lvl6pPr>
            <a:lvl7pPr marL="3557922" indent="0" algn="ctr">
              <a:buNone/>
              <a:defRPr sz="2076"/>
            </a:lvl7pPr>
            <a:lvl8pPr marL="4150697" indent="0" algn="ctr">
              <a:buNone/>
              <a:defRPr sz="2076"/>
            </a:lvl8pPr>
            <a:lvl9pPr marL="4743473" indent="0" algn="ctr">
              <a:buNone/>
              <a:defRPr sz="2076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110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368"/>
              </a:lnSpc>
              <a:spcBef>
                <a:spcPts val="0"/>
              </a:spcBef>
              <a:buNone/>
              <a:defRPr sz="2748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82952" indent="0" algn="ctr">
              <a:buNone/>
              <a:defRPr sz="2551"/>
            </a:lvl2pPr>
            <a:lvl3pPr marL="1165903" indent="0" algn="ctr">
              <a:buNone/>
              <a:defRPr sz="2295"/>
            </a:lvl3pPr>
            <a:lvl4pPr marL="1749479" indent="0" algn="ctr">
              <a:buNone/>
              <a:defRPr sz="2039"/>
            </a:lvl4pPr>
            <a:lvl5pPr marL="2332431" indent="0" algn="ctr">
              <a:buNone/>
              <a:defRPr sz="2039"/>
            </a:lvl5pPr>
            <a:lvl6pPr marL="2915382" indent="0" algn="ctr">
              <a:buNone/>
              <a:defRPr sz="2039"/>
            </a:lvl6pPr>
            <a:lvl7pPr marL="3498333" indent="0" algn="ctr">
              <a:buNone/>
              <a:defRPr sz="2039"/>
            </a:lvl7pPr>
            <a:lvl8pPr marL="4081909" indent="0" algn="ctr">
              <a:buNone/>
              <a:defRPr sz="2039"/>
            </a:lvl8pPr>
            <a:lvl9pPr marL="4664861" indent="0" algn="ctr">
              <a:buNone/>
              <a:defRPr sz="203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065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>
            <a:extLst>
              <a:ext uri="{FF2B5EF4-FFF2-40B4-BE49-F238E27FC236}">
                <a16:creationId xmlns:a16="http://schemas.microsoft.com/office/drawing/2014/main" id="{A30EC6CF-69EC-8935-D0EF-0C5D2344E4E3}"/>
              </a:ext>
            </a:extLst>
          </p:cNvPr>
          <p:cNvSpPr txBox="1"/>
          <p:nvPr userDrawn="1"/>
        </p:nvSpPr>
        <p:spPr>
          <a:xfrm>
            <a:off x="1095469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F36AF80C-F191-5C2A-6D02-40092197E450}"/>
              </a:ext>
            </a:extLst>
          </p:cNvPr>
          <p:cNvSpPr txBox="1"/>
          <p:nvPr userDrawn="1"/>
        </p:nvSpPr>
        <p:spPr>
          <a:xfrm>
            <a:off x="734133" y="6402810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46">
            <a:extLst>
              <a:ext uri="{FF2B5EF4-FFF2-40B4-BE49-F238E27FC236}">
                <a16:creationId xmlns:a16="http://schemas.microsoft.com/office/drawing/2014/main" id="{11709F02-FE8C-74DE-3288-FCA2E7E9021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1274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5"/>
              </a:lnSpc>
              <a:spcBef>
                <a:spcPts val="0"/>
              </a:spcBef>
              <a:buNone/>
              <a:defRPr sz="3195" b="1" i="0" baseline="0">
                <a:solidFill>
                  <a:srgbClr val="C00000"/>
                </a:solidFill>
                <a:latin typeface="Microsoft YaHei" panose="020B0503020204020204" pitchFamily="34" charset="-122"/>
                <a:ea typeface="黑体" panose="02010609060101010101" pitchFamily="49" charset="-122"/>
              </a:defRPr>
            </a:lvl1pPr>
            <a:lvl2pPr marL="592714" indent="0" algn="ctr">
              <a:buNone/>
              <a:defRPr sz="2593"/>
            </a:lvl2pPr>
            <a:lvl3pPr marL="1185424" indent="0" algn="ctr">
              <a:buNone/>
              <a:defRPr sz="2332"/>
            </a:lvl3pPr>
            <a:lvl4pPr marL="1778138" indent="0" algn="ctr">
              <a:buNone/>
              <a:defRPr sz="2073"/>
            </a:lvl4pPr>
            <a:lvl5pPr marL="2370850" indent="0" algn="ctr">
              <a:buNone/>
              <a:defRPr sz="2073"/>
            </a:lvl5pPr>
            <a:lvl6pPr marL="2963562" indent="0" algn="ctr">
              <a:buNone/>
              <a:defRPr sz="2073"/>
            </a:lvl6pPr>
            <a:lvl7pPr marL="3556274" indent="0" algn="ctr">
              <a:buNone/>
              <a:defRPr sz="2073"/>
            </a:lvl7pPr>
            <a:lvl8pPr marL="4148989" indent="0" algn="ctr">
              <a:buNone/>
              <a:defRPr sz="2073"/>
            </a:lvl8pPr>
            <a:lvl9pPr marL="4741700" indent="0" algn="ctr">
              <a:buNone/>
              <a:defRPr sz="2073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14" y="1501998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47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6006" algn="ctr"/>
              </a:tabLst>
              <a:defRPr sz="1794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4799" indent="-170819">
              <a:buFont typeface="Arial" panose="020B0604020202020204" pitchFamily="34" charset="0"/>
              <a:buChar char="•"/>
              <a:tabLst>
                <a:tab pos="1206006" algn="ctr"/>
              </a:tabLst>
              <a:defRPr sz="1295" baseline="0"/>
            </a:lvl2pPr>
            <a:lvl3pPr marL="524799" indent="-170819">
              <a:buFont typeface="Arial" panose="020B0604020202020204" pitchFamily="34" charset="0"/>
              <a:buChar char="•"/>
              <a:tabLst>
                <a:tab pos="1206006" algn="ctr"/>
              </a:tabLst>
              <a:defRPr sz="1295" baseline="0"/>
            </a:lvl3pPr>
            <a:lvl4pPr marL="524799" indent="-170819">
              <a:buFont typeface="Arial" panose="020B0604020202020204" pitchFamily="34" charset="0"/>
              <a:buChar char="•"/>
              <a:tabLst>
                <a:tab pos="1206006" algn="ctr"/>
              </a:tabLst>
              <a:defRPr sz="1295" baseline="0"/>
            </a:lvl4pPr>
            <a:lvl5pPr marL="524799" indent="-170819">
              <a:buFont typeface="Arial" panose="020B0604020202020204" pitchFamily="34" charset="0"/>
              <a:buChar char="•"/>
              <a:tabLst>
                <a:tab pos="1206006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695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31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425" indent="0" algn="ctr">
              <a:buNone/>
              <a:defRPr sz="2596"/>
            </a:lvl2pPr>
            <a:lvl3pPr marL="1186848" indent="0" algn="ctr">
              <a:buNone/>
              <a:defRPr sz="2336"/>
            </a:lvl3pPr>
            <a:lvl4pPr marL="1780274" indent="0" algn="ctr">
              <a:buNone/>
              <a:defRPr sz="2077"/>
            </a:lvl4pPr>
            <a:lvl5pPr marL="2373698" indent="0" algn="ctr">
              <a:buNone/>
              <a:defRPr sz="2077"/>
            </a:lvl5pPr>
            <a:lvl6pPr marL="2967122" indent="0" algn="ctr">
              <a:buNone/>
              <a:defRPr sz="2077"/>
            </a:lvl6pPr>
            <a:lvl7pPr marL="3560546" indent="0" algn="ctr">
              <a:buNone/>
              <a:defRPr sz="2077"/>
            </a:lvl7pPr>
            <a:lvl8pPr marL="4153972" indent="0" algn="ctr">
              <a:buNone/>
              <a:defRPr sz="2077"/>
            </a:lvl8pPr>
            <a:lvl9pPr marL="4747395" indent="0" algn="ctr">
              <a:buNone/>
              <a:defRPr sz="2077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3" y="151287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244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 sz="17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762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122" algn="ctr"/>
              </a:tabLst>
              <a:defRPr sz="1598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7697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122" algn="ctr"/>
              </a:tabLst>
              <a:defRPr sz="1297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430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7" baseline="0"/>
            </a:lvl4pPr>
            <a:lvl5pPr marL="525430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7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762" marR="0" lvl="1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697" marR="0" lvl="2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697" marR="0" lvl="2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604800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101" y="360000"/>
            <a:ext cx="11831495" cy="360000"/>
          </a:xfrm>
        </p:spPr>
        <p:txBody>
          <a:bodyPr lIns="0" tIns="0" rIns="0" bIns="0" anchor="ctr"/>
          <a:lstStyle>
            <a:lvl1pPr algn="l">
              <a:lnSpc>
                <a:spcPct val="100000"/>
              </a:lnSpc>
              <a:defRPr sz="1998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FEBF516-E0ED-4AFB-A214-F19EE3B7E9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002" y="6315147"/>
            <a:ext cx="1273691" cy="27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509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15BF137-D807-42F2-AB26-AAC0FC1D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D5452-1D16-4BDA-AF79-7B1941DEABBF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A3485F6-6E3D-4EB0-9CFF-F9273A39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1D47F9-2CA0-4BD5-B841-6FF95801F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A3D21-DB2E-4FCD-8B9C-76A35F00C7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5180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F7C7B5-0135-F749-B910-7325E96AE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463">
              <a:lnSpc>
                <a:spcPct val="70000"/>
              </a:lnSpc>
              <a:buFont typeface="+mj-lt"/>
              <a:buAutoNum type="arabicPeriod"/>
              <a:tabLst/>
              <a:defRPr sz="2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12750" indent="-398463">
              <a:buFont typeface="+mj-lt"/>
              <a:buAutoNum type="arabicPeriod"/>
              <a:tabLst/>
              <a:defRPr/>
            </a:lvl2pPr>
            <a:lvl3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3746743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2796" y="150675"/>
            <a:ext cx="11164484" cy="539749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l" defTabSz="913765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7938175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101" y="360000"/>
            <a:ext cx="11831495" cy="360000"/>
          </a:xfrm>
        </p:spPr>
        <p:txBody>
          <a:bodyPr lIns="0" tIns="0" rIns="0" bIns="0" anchor="ctr"/>
          <a:lstStyle>
            <a:lvl1pPr algn="l">
              <a:lnSpc>
                <a:spcPct val="100000"/>
              </a:lnSpc>
              <a:defRPr sz="1998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3347688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>
            <a:fillRect/>
          </a:stretch>
        </p:blipFill>
        <p:spPr>
          <a:xfrm>
            <a:off x="0" y="8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solidFill>
                <a:srgbClr val="666666"/>
              </a:solidFill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9000" y="907100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197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397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8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366856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1" hasCustomPrompt="1"/>
          </p:nvPr>
        </p:nvSpPr>
        <p:spPr>
          <a:xfrm>
            <a:off x="726024" y="1512881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489" marR="0" indent="-168074" algn="l" defTabSz="1186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321" algn="ctr"/>
              </a:tabLst>
              <a:defRPr sz="1797" baseline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45870" marR="0" indent="-285408" algn="l" defTabSz="1186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321" algn="ctr"/>
              </a:tabLst>
              <a:defRPr sz="1597" baseline="0">
                <a:latin typeface="+mn-lt"/>
                <a:ea typeface="微软雅黑" panose="020B0503020204020204" pitchFamily="34" charset="-122"/>
              </a:defRPr>
            </a:lvl2pPr>
            <a:lvl3pPr marL="1097233" marR="0" indent="-168074" algn="l" defTabSz="1186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6321" algn="ctr"/>
              </a:tabLst>
              <a:defRPr sz="1297" baseline="0">
                <a:latin typeface="+mn-lt"/>
                <a:ea typeface="微软雅黑" panose="020B0503020204020204" pitchFamily="34" charset="-122"/>
              </a:defRPr>
            </a:lvl3pPr>
            <a:lvl4pPr marL="525150" indent="-171243">
              <a:buFont typeface="Arial" panose="020B0604020202020204" pitchFamily="34" charset="0"/>
              <a:buChar char="•"/>
              <a:tabLst>
                <a:tab pos="1206956" algn="ctr"/>
              </a:tabLst>
              <a:defRPr sz="1297" baseline="0"/>
            </a:lvl4pPr>
            <a:lvl5pPr marL="525150" indent="-171243">
              <a:buFont typeface="Arial" panose="020B0604020202020204" pitchFamily="34" charset="0"/>
              <a:buChar char="•"/>
              <a:tabLst>
                <a:tab pos="1206956" algn="ctr"/>
              </a:tabLst>
              <a:defRPr sz="1297" baseline="0"/>
            </a:lvl5pPr>
          </a:lstStyle>
          <a:p>
            <a:pPr lvl="0"/>
            <a:r>
              <a:rPr lang="en-US" dirty="0"/>
              <a:t>Click to edit Master text style</a:t>
            </a:r>
          </a:p>
          <a:p>
            <a:pPr marL="328535" marR="0" lvl="1" indent="-168074" algn="l" defTabSz="1186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321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7233" marR="0" lvl="2" indent="-168074" algn="l" defTabSz="1186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321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7233" marR="0" lvl="2" indent="-168074" algn="l" defTabSz="1186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321" algn="ctr"/>
              </a:tabLst>
              <a:defRPr/>
            </a:pPr>
            <a:endParaRPr lang="en-US" altLang="zh-C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7"/>
              </a:lnSpc>
              <a:spcBef>
                <a:spcPts val="0"/>
              </a:spcBef>
              <a:buNone/>
              <a:defRPr sz="3197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014" indent="0" algn="ctr">
              <a:buNone/>
              <a:defRPr sz="2597"/>
            </a:lvl2pPr>
            <a:lvl3pPr marL="1186660" indent="0" algn="ctr">
              <a:buNone/>
              <a:defRPr sz="2337"/>
            </a:lvl3pPr>
            <a:lvl4pPr marL="1779673" indent="0" algn="ctr">
              <a:buNone/>
              <a:defRPr sz="2077"/>
            </a:lvl4pPr>
            <a:lvl5pPr marL="2372686" indent="0" algn="ctr">
              <a:buNone/>
              <a:defRPr sz="2077"/>
            </a:lvl5pPr>
            <a:lvl6pPr marL="2965698" indent="0" algn="ctr">
              <a:buNone/>
              <a:defRPr sz="2077"/>
            </a:lvl6pPr>
            <a:lvl7pPr marL="3559346" indent="0" algn="ctr">
              <a:buNone/>
              <a:defRPr sz="2077"/>
            </a:lvl7pPr>
            <a:lvl8pPr marL="4152358" indent="0" algn="ctr">
              <a:buNone/>
              <a:defRPr sz="2077"/>
            </a:lvl8pPr>
            <a:lvl9pPr marL="4745371" indent="0" algn="ctr">
              <a:buNone/>
              <a:defRPr sz="2077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232177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70489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37207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F7C7B5-0135-F749-B910-7325E96AE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9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1925" indent="-397668">
              <a:lnSpc>
                <a:spcPct val="70000"/>
              </a:lnSpc>
              <a:buFont typeface="+mj-lt"/>
              <a:buAutoNum type="arabicPeriod"/>
              <a:tabLst/>
              <a:defRPr sz="2195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11925" indent="-397668">
              <a:buFont typeface="+mj-lt"/>
              <a:buAutoNum type="arabicPeriod"/>
              <a:tabLst/>
              <a:defRPr/>
            </a:lvl2pPr>
            <a:lvl3pPr marL="14257" indent="0">
              <a:buFont typeface="+mj-lt"/>
              <a:buNone/>
              <a:tabLst/>
              <a:defRPr sz="2195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4257" indent="0">
              <a:buFont typeface="+mj-lt"/>
              <a:buNone/>
              <a:tabLst/>
              <a:defRPr sz="2195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4257" indent="0">
              <a:buFont typeface="+mj-lt"/>
              <a:buNone/>
              <a:tabLst/>
              <a:defRPr sz="2195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23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21" y="630376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595" dirty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3538726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589A3A4E-2CCF-4B6D-A1D1-2BDBC0984C86}"/>
              </a:ext>
            </a:extLst>
          </p:cNvPr>
          <p:cNvSpPr txBox="1">
            <a:spLocks/>
          </p:cNvSpPr>
          <p:nvPr userDrawn="1"/>
        </p:nvSpPr>
        <p:spPr>
          <a:xfrm>
            <a:off x="7979362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4" name="Subtitle 6">
            <a:extLst>
              <a:ext uri="{FF2B5EF4-FFF2-40B4-BE49-F238E27FC236}">
                <a16:creationId xmlns:a16="http://schemas.microsoft.com/office/drawing/2014/main" id="{2F8511BE-4D89-4323-8D69-C1810B0A0046}"/>
              </a:ext>
            </a:extLst>
          </p:cNvPr>
          <p:cNvSpPr txBox="1">
            <a:spLocks/>
          </p:cNvSpPr>
          <p:nvPr userDrawn="1"/>
        </p:nvSpPr>
        <p:spPr>
          <a:xfrm>
            <a:off x="7987281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76"/>
              </a:lnSpc>
              <a:spcBef>
                <a:spcPts val="0"/>
              </a:spcBef>
            </a:pPr>
            <a:r>
              <a:rPr kumimoji="1" lang="zh-CN" altLang="en-US" sz="1295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295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295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5" name="Subtitle 6">
            <a:extLst>
              <a:ext uri="{FF2B5EF4-FFF2-40B4-BE49-F238E27FC236}">
                <a16:creationId xmlns:a16="http://schemas.microsoft.com/office/drawing/2014/main" id="{D66FB2C4-54F1-40C3-BCC1-2A69C6416394}"/>
              </a:ext>
            </a:extLst>
          </p:cNvPr>
          <p:cNvSpPr txBox="1">
            <a:spLocks/>
          </p:cNvSpPr>
          <p:nvPr userDrawn="1"/>
        </p:nvSpPr>
        <p:spPr>
          <a:xfrm>
            <a:off x="7977677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89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B4F34C77-86B9-4A37-B5B0-C0D6E8460F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2408EA23-F47C-4766-A59E-B965C78FB6A3}"/>
              </a:ext>
            </a:extLst>
          </p:cNvPr>
          <p:cNvSpPr txBox="1"/>
          <p:nvPr userDrawn="1"/>
        </p:nvSpPr>
        <p:spPr>
          <a:xfrm>
            <a:off x="607491" y="1402067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79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234826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9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tiff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.tiff"/><Relationship Id="rId5" Type="http://schemas.openxmlformats.org/officeDocument/2006/relationships/theme" Target="../theme/theme7.xml"/><Relationship Id="rId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90" r:id="rId3"/>
    <p:sldLayoutId id="2147483697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图像" descr="图像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991508" y="5240516"/>
            <a:ext cx="1863691" cy="40761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像" descr="图像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14420" y="6271070"/>
            <a:ext cx="1152200" cy="252000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368370" y="6402806"/>
            <a:ext cx="62915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/32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909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9" r:id="rId2"/>
    <p:sldLayoutId id="2147483660" r:id="rId3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8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4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49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0" y="2625391"/>
            <a:ext cx="1967973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43946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5590909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32" tIns="45666" rIns="91332" bIns="45666" numCol="1" spcCol="0" rtlCol="0" fromWordArt="0" anchor="ctr" anchorCtr="0" forceAA="0" compatLnSpc="1">
            <a:noAutofit/>
          </a:bodyPr>
          <a:lstStyle/>
          <a:p>
            <a:pPr algn="ctr"/>
            <a:endParaRPr lang="en-US" sz="1797" dirty="0"/>
          </a:p>
        </p:txBody>
      </p:sp>
    </p:spTree>
    <p:extLst>
      <p:ext uri="{BB962C8B-B14F-4D97-AF65-F5344CB8AC3E}">
        <p14:creationId xmlns:p14="http://schemas.microsoft.com/office/powerpoint/2010/main" val="3098825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hf hdr="0" ftr="0" dt="0"/>
  <p:txStyles>
    <p:titleStyle>
      <a:lvl1pPr algn="l" defTabSz="913303" rtl="0" eaLnBrk="1" latinLnBrk="0" hangingPunct="1">
        <a:lnSpc>
          <a:spcPts val="3437"/>
        </a:lnSpc>
        <a:spcBef>
          <a:spcPct val="0"/>
        </a:spcBef>
        <a:buNone/>
        <a:defRPr sz="3197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3303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456651" indent="0" algn="l" defTabSz="913303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3303" indent="0" algn="l" defTabSz="913303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69955" indent="0" algn="l" defTabSz="913303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6606" indent="0" algn="l" defTabSz="913303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1584" indent="-228327" algn="l" defTabSz="9133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7" kern="1200">
          <a:solidFill>
            <a:schemeClr val="tx1"/>
          </a:solidFill>
          <a:latin typeface="+mn-lt"/>
          <a:ea typeface="+mn-ea"/>
          <a:cs typeface="+mn-cs"/>
        </a:defRPr>
      </a:lvl6pPr>
      <a:lvl7pPr marL="2968235" indent="-228327" algn="l" defTabSz="9133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7" kern="1200">
          <a:solidFill>
            <a:schemeClr val="tx1"/>
          </a:solidFill>
          <a:latin typeface="+mn-lt"/>
          <a:ea typeface="+mn-ea"/>
          <a:cs typeface="+mn-cs"/>
        </a:defRPr>
      </a:lvl7pPr>
      <a:lvl8pPr marL="3424886" indent="-228327" algn="l" defTabSz="9133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7" kern="1200">
          <a:solidFill>
            <a:schemeClr val="tx1"/>
          </a:solidFill>
          <a:latin typeface="+mn-lt"/>
          <a:ea typeface="+mn-ea"/>
          <a:cs typeface="+mn-cs"/>
        </a:defRPr>
      </a:lvl8pPr>
      <a:lvl9pPr marL="3881539" indent="-228327" algn="l" defTabSz="9133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303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1pPr>
      <a:lvl2pPr marL="456651" algn="l" defTabSz="913303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2pPr>
      <a:lvl3pPr marL="913303" algn="l" defTabSz="913303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3pPr>
      <a:lvl4pPr marL="1369955" algn="l" defTabSz="913303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4pPr>
      <a:lvl5pPr marL="1826606" algn="l" defTabSz="913303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5pPr>
      <a:lvl6pPr marL="2283258" algn="l" defTabSz="913303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6pPr>
      <a:lvl7pPr marL="2739910" algn="l" defTabSz="913303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7pPr>
      <a:lvl8pPr marL="3196561" algn="l" defTabSz="913303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8pPr>
      <a:lvl9pPr marL="3653213" algn="l" defTabSz="913303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6" y="640281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890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890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0" y="2625399"/>
            <a:ext cx="1967973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65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65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65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932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</p:sldLayoutIdLst>
  <p:hf hdr="0" ftr="0" dt="0"/>
  <p:txStyles>
    <p:titleStyle>
      <a:lvl1pPr algn="l" defTabSz="1185424" rtl="0" eaLnBrk="1" latinLnBrk="0" hangingPunct="1">
        <a:lnSpc>
          <a:spcPct val="90000"/>
        </a:lnSpc>
        <a:spcBef>
          <a:spcPct val="0"/>
        </a:spcBef>
        <a:buNone/>
        <a:defRPr sz="570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355" indent="-296355" algn="l" defTabSz="1185424" rtl="0" eaLnBrk="1" latinLnBrk="0" hangingPunct="1">
        <a:lnSpc>
          <a:spcPct val="90000"/>
        </a:lnSpc>
        <a:spcBef>
          <a:spcPts val="1294"/>
        </a:spcBef>
        <a:buFont typeface="Arial" panose="020B0604020202020204" pitchFamily="34" charset="0"/>
        <a:buChar char="•"/>
        <a:defRPr sz="3631" kern="1200">
          <a:solidFill>
            <a:schemeClr val="tx1"/>
          </a:solidFill>
          <a:latin typeface="+mn-lt"/>
          <a:ea typeface="+mn-ea"/>
          <a:cs typeface="+mn-cs"/>
        </a:defRPr>
      </a:lvl1pPr>
      <a:lvl2pPr marL="889069" indent="-296355" algn="l" defTabSz="1185424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3" kern="1200">
          <a:solidFill>
            <a:schemeClr val="tx1"/>
          </a:solidFill>
          <a:latin typeface="+mn-lt"/>
          <a:ea typeface="+mn-ea"/>
          <a:cs typeface="+mn-cs"/>
        </a:defRPr>
      </a:lvl2pPr>
      <a:lvl3pPr marL="1481781" indent="-296355" algn="l" defTabSz="1185424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3" kern="1200">
          <a:solidFill>
            <a:schemeClr val="tx1"/>
          </a:solidFill>
          <a:latin typeface="+mn-lt"/>
          <a:ea typeface="+mn-ea"/>
          <a:cs typeface="+mn-cs"/>
        </a:defRPr>
      </a:lvl3pPr>
      <a:lvl4pPr marL="2074495" indent="-296355" algn="l" defTabSz="1185424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3" kern="1200">
          <a:solidFill>
            <a:schemeClr val="tx1"/>
          </a:solidFill>
          <a:latin typeface="+mn-lt"/>
          <a:ea typeface="+mn-ea"/>
          <a:cs typeface="+mn-cs"/>
        </a:defRPr>
      </a:lvl4pPr>
      <a:lvl5pPr marL="2667206" indent="-296355" algn="l" defTabSz="1185424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3" kern="1200">
          <a:solidFill>
            <a:schemeClr val="tx1"/>
          </a:solidFill>
          <a:latin typeface="+mn-lt"/>
          <a:ea typeface="+mn-ea"/>
          <a:cs typeface="+mn-cs"/>
        </a:defRPr>
      </a:lvl5pPr>
      <a:lvl6pPr marL="3259919" indent="-296355" algn="l" defTabSz="1185424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3" kern="1200">
          <a:solidFill>
            <a:schemeClr val="tx1"/>
          </a:solidFill>
          <a:latin typeface="+mn-lt"/>
          <a:ea typeface="+mn-ea"/>
          <a:cs typeface="+mn-cs"/>
        </a:defRPr>
      </a:lvl6pPr>
      <a:lvl7pPr marL="3852631" indent="-296355" algn="l" defTabSz="1185424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3" kern="1200">
          <a:solidFill>
            <a:schemeClr val="tx1"/>
          </a:solidFill>
          <a:latin typeface="+mn-lt"/>
          <a:ea typeface="+mn-ea"/>
          <a:cs typeface="+mn-cs"/>
        </a:defRPr>
      </a:lvl7pPr>
      <a:lvl8pPr marL="4445343" indent="-296355" algn="l" defTabSz="1185424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3" kern="1200">
          <a:solidFill>
            <a:schemeClr val="tx1"/>
          </a:solidFill>
          <a:latin typeface="+mn-lt"/>
          <a:ea typeface="+mn-ea"/>
          <a:cs typeface="+mn-cs"/>
        </a:defRPr>
      </a:lvl8pPr>
      <a:lvl9pPr marL="5038056" indent="-296355" algn="l" defTabSz="1185424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5424" rtl="0" eaLnBrk="1" latinLnBrk="0" hangingPunct="1">
        <a:defRPr sz="2333" kern="1200">
          <a:solidFill>
            <a:schemeClr val="tx1"/>
          </a:solidFill>
          <a:latin typeface="+mn-lt"/>
          <a:ea typeface="+mn-ea"/>
          <a:cs typeface="+mn-cs"/>
        </a:defRPr>
      </a:lvl1pPr>
      <a:lvl2pPr marL="592714" algn="l" defTabSz="1185424" rtl="0" eaLnBrk="1" latinLnBrk="0" hangingPunct="1"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1185424" algn="l" defTabSz="1185424" rtl="0" eaLnBrk="1" latinLnBrk="0" hangingPunct="1">
        <a:defRPr sz="2333" kern="1200">
          <a:solidFill>
            <a:schemeClr val="tx1"/>
          </a:solidFill>
          <a:latin typeface="+mn-lt"/>
          <a:ea typeface="+mn-ea"/>
          <a:cs typeface="+mn-cs"/>
        </a:defRPr>
      </a:lvl3pPr>
      <a:lvl4pPr marL="1778138" algn="l" defTabSz="1185424" rtl="0" eaLnBrk="1" latinLnBrk="0" hangingPunct="1">
        <a:defRPr sz="2333" kern="1200">
          <a:solidFill>
            <a:schemeClr val="tx1"/>
          </a:solidFill>
          <a:latin typeface="+mn-lt"/>
          <a:ea typeface="+mn-ea"/>
          <a:cs typeface="+mn-cs"/>
        </a:defRPr>
      </a:lvl4pPr>
      <a:lvl5pPr marL="2370851" algn="l" defTabSz="1185424" rtl="0" eaLnBrk="1" latinLnBrk="0" hangingPunct="1">
        <a:defRPr sz="2333" kern="1200">
          <a:solidFill>
            <a:schemeClr val="tx1"/>
          </a:solidFill>
          <a:latin typeface="+mn-lt"/>
          <a:ea typeface="+mn-ea"/>
          <a:cs typeface="+mn-cs"/>
        </a:defRPr>
      </a:lvl5pPr>
      <a:lvl6pPr marL="2963563" algn="l" defTabSz="1185424" rtl="0" eaLnBrk="1" latinLnBrk="0" hangingPunct="1">
        <a:defRPr sz="2333" kern="1200">
          <a:solidFill>
            <a:schemeClr val="tx1"/>
          </a:solidFill>
          <a:latin typeface="+mn-lt"/>
          <a:ea typeface="+mn-ea"/>
          <a:cs typeface="+mn-cs"/>
        </a:defRPr>
      </a:lvl6pPr>
      <a:lvl7pPr marL="3556275" algn="l" defTabSz="1185424" rtl="0" eaLnBrk="1" latinLnBrk="0" hangingPunct="1">
        <a:defRPr sz="2333" kern="1200">
          <a:solidFill>
            <a:schemeClr val="tx1"/>
          </a:solidFill>
          <a:latin typeface="+mn-lt"/>
          <a:ea typeface="+mn-ea"/>
          <a:cs typeface="+mn-cs"/>
        </a:defRPr>
      </a:lvl7pPr>
      <a:lvl8pPr marL="4148989" algn="l" defTabSz="1185424" rtl="0" eaLnBrk="1" latinLnBrk="0" hangingPunct="1">
        <a:defRPr sz="2333" kern="1200">
          <a:solidFill>
            <a:schemeClr val="tx1"/>
          </a:solidFill>
          <a:latin typeface="+mn-lt"/>
          <a:ea typeface="+mn-ea"/>
          <a:cs typeface="+mn-cs"/>
        </a:defRPr>
      </a:lvl8pPr>
      <a:lvl9pPr marL="4741701" algn="l" defTabSz="1185424" rtl="0" eaLnBrk="1" latinLnBrk="0" hangingPunct="1">
        <a:defRPr sz="23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ulogizethesun/CubeSandbox/issues/3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virt-pvm/linux/tree/pvm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ust-lang/portable-simd/issues/364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rust-lang/rfcs/pull/2948/changes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10" Type="http://schemas.openxmlformats.org/officeDocument/2006/relationships/chart" Target="../charts/chart8.xml"/><Relationship Id="rId4" Type="http://schemas.openxmlformats.org/officeDocument/2006/relationships/chart" Target="../charts/chart2.xml"/><Relationship Id="rId9" Type="http://schemas.openxmlformats.org/officeDocument/2006/relationships/chart" Target="../charts/char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340835" y="4584447"/>
            <a:ext cx="10271003" cy="94666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/>
              <a:t>部门：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zh-CN" altLang="en-US" b="1" dirty="0"/>
              <a:t>作者：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zh-CN" altLang="en-US" b="1" dirty="0"/>
              <a:t>日期：</a:t>
            </a:r>
          </a:p>
        </p:txBody>
      </p:sp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844751" y="945838"/>
            <a:ext cx="7976161" cy="690255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b="1" dirty="0">
                <a:solidFill>
                  <a:srgbClr val="C00000"/>
                </a:solidFill>
              </a:rPr>
              <a:t>Rust</a:t>
            </a:r>
            <a:r>
              <a:rPr lang="zh-CN" altLang="en-US" b="1" dirty="0">
                <a:solidFill>
                  <a:srgbClr val="C00000"/>
                </a:solidFill>
              </a:rPr>
              <a:t>软件生态技术项目中期规划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E97E43-F7B2-4D27-A31C-4540EA559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266E8B-6AAB-4B1E-91FB-B1D0D7622A42}"/>
              </a:ext>
            </a:extLst>
          </p:cNvPr>
          <p:cNvSpPr txBox="1"/>
          <p:nvPr/>
        </p:nvSpPr>
        <p:spPr>
          <a:xfrm>
            <a:off x="962108" y="882595"/>
            <a:ext cx="5750741" cy="29546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514350" indent="-514350" algn="l">
              <a:buAutoNum type="arabicPeriod"/>
            </a:pPr>
            <a:endParaRPr kumimoji="1"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FontTx/>
              <a:buAutoNum type="arabicPeriod"/>
            </a:pPr>
            <a:r>
              <a:rPr kumimoji="1" lang="en-US" altLang="zh-CN" sz="24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AgentEnv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CubeSandbox 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（调研）</a:t>
            </a:r>
            <a:endParaRPr kumimoji="1"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FontTx/>
              <a:buAutoNum type="arabicPeriod"/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Sched-</a:t>
            </a:r>
            <a:r>
              <a:rPr kumimoji="1" lang="en-US" altLang="zh-CN" sz="24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（调研）</a:t>
            </a:r>
            <a:endParaRPr kumimoji="1"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FontTx/>
              <a:buAutoNum type="arabicPeriod"/>
            </a:pPr>
            <a:r>
              <a:rPr kumimoji="1" lang="en-US" altLang="zh-CN" sz="24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SGLang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kumimoji="1" lang="en-US" altLang="zh-CN" sz="24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vLLM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（调研）</a:t>
            </a:r>
            <a:endParaRPr kumimoji="1"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FontTx/>
              <a:buAutoNum type="arabicPeriod"/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Daft &amp; Lance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（实施）</a:t>
            </a:r>
            <a:endParaRPr kumimoji="1"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FontTx/>
              <a:buAutoNum type="arabicPeriod"/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Portable-</a:t>
            </a:r>
            <a:r>
              <a:rPr kumimoji="1" lang="en-US" altLang="zh-CN" sz="24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Simd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（立项）</a:t>
            </a:r>
            <a:endParaRPr kumimoji="1"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FontTx/>
              <a:buAutoNum type="arabicPeriod"/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PyO3 &amp; rust-std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（立项）</a:t>
            </a:r>
            <a:endParaRPr kumimoji="1"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 algn="l">
              <a:buAutoNum type="arabicPeriod"/>
            </a:pPr>
            <a:endParaRPr kumimoji="1"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23579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7D28C0B1-42FD-DE3E-522B-1FC7A77527FB}"/>
              </a:ext>
            </a:extLst>
          </p:cNvPr>
          <p:cNvSpPr/>
          <p:nvPr/>
        </p:nvSpPr>
        <p:spPr>
          <a:xfrm>
            <a:off x="252099" y="4750064"/>
            <a:ext cx="11024853" cy="119606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zh-CN" altLang="en-US" sz="1100" dirty="0" err="1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1D887E3-71F0-4A05-B2DB-485C658B4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遗留问题闭环情况</a:t>
            </a:r>
          </a:p>
        </p:txBody>
      </p:sp>
      <p:graphicFrame>
        <p:nvGraphicFramePr>
          <p:cNvPr id="8" name="表格 45">
            <a:extLst>
              <a:ext uri="{FF2B5EF4-FFF2-40B4-BE49-F238E27FC236}">
                <a16:creationId xmlns:a16="http://schemas.microsoft.com/office/drawing/2014/main" id="{0592C6C3-7CF0-FF62-2E43-429BBB6B3E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5449136"/>
              </p:ext>
            </p:extLst>
          </p:nvPr>
        </p:nvGraphicFramePr>
        <p:xfrm>
          <a:off x="5752391" y="963049"/>
          <a:ext cx="5524562" cy="3619647"/>
        </p:xfrm>
        <a:graphic>
          <a:graphicData uri="http://schemas.openxmlformats.org/drawingml/2006/table">
            <a:tbl>
              <a:tblPr/>
              <a:tblGrid>
                <a:gridCol w="566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40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3436">
                  <a:extLst>
                    <a:ext uri="{9D8B030D-6E8A-4147-A177-3AD203B41FA5}">
                      <a16:colId xmlns:a16="http://schemas.microsoft.com/office/drawing/2014/main" val="921733131"/>
                    </a:ext>
                  </a:extLst>
                </a:gridCol>
                <a:gridCol w="2500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9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No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方向</a:t>
                      </a: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对接人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进展情况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637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①</a:t>
                      </a:r>
                      <a:endParaRPr lang="en-US" sz="1400" b="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CubeSandbox</a:t>
                      </a:r>
                      <a:endParaRPr lang="en-US" altLang="zh-CN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b="0" kern="1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Boostkit</a:t>
                      </a: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基础加速开发（王有航</a:t>
                      </a: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与王有航对齐 </a:t>
                      </a:r>
                      <a:r>
                        <a:rPr lang="en-US" altLang="zh-CN" sz="1050" b="0" kern="1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CubeSandbox</a:t>
                      </a: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用户应用场景，对齐超分场景的交付内容、指标口径，明确当前进展与计划。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637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②</a:t>
                      </a:r>
                      <a:endParaRPr lang="en-US" sz="1400" b="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CubeSandbox</a:t>
                      </a:r>
                      <a:endParaRPr lang="zh-CN" altLang="zh-CN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公共开发部</a:t>
                      </a: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(</a:t>
                      </a:r>
                      <a:r>
                        <a:rPr lang="zh-CN" altLang="en-US" sz="1050" dirty="0"/>
                        <a:t>楼智豪</a:t>
                      </a: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)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与楼智豪对齐 </a:t>
                      </a:r>
                      <a:r>
                        <a:rPr lang="en-US" altLang="zh-CN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CubeSandbox</a:t>
                      </a:r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en-US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用户场景与交付内容边界，对齐公共开发部的投入模块与指标口径，明确分工与推进计划。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766220"/>
                  </a:ext>
                </a:extLst>
              </a:tr>
              <a:tr h="7968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③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PVM</a:t>
                      </a:r>
                      <a:endParaRPr lang="zh-CN" altLang="zh-CN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zh-CN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dirty="0"/>
                        <a:t>计算</a:t>
                      </a:r>
                      <a:r>
                        <a:rPr lang="en-US" altLang="zh-CN" sz="1050" dirty="0"/>
                        <a:t>UBS Core</a:t>
                      </a:r>
                      <a:r>
                        <a:rPr lang="zh-CN" altLang="en-US" sz="1050" dirty="0"/>
                        <a:t>软件开发部</a:t>
                      </a:r>
                      <a:r>
                        <a:rPr lang="en-US" altLang="zh-CN" sz="1050" dirty="0"/>
                        <a:t>(</a:t>
                      </a:r>
                      <a:r>
                        <a:rPr lang="zh-CN" altLang="en-US" sz="1050" dirty="0"/>
                        <a:t>陈小禹</a:t>
                      </a:r>
                      <a:r>
                        <a:rPr lang="en-US" altLang="zh-CN" sz="1050" dirty="0"/>
                        <a:t>)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与陈小禹对齐 </a:t>
                      </a: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PVM </a:t>
                      </a: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的应用场景（云原生 </a:t>
                      </a: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 Agent </a:t>
                      </a: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安全沙箱嵌套虚拟化）与功能范围，对齐交付位置与验收口径，明确功能交付与性能规划的进展和计划。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536182"/>
                  </a:ext>
                </a:extLst>
              </a:tr>
              <a:tr h="6820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kern="12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④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SGLang</a:t>
                      </a:r>
                      <a:endParaRPr lang="zh-CN" altLang="zh-CN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生态软件开发部门（周逸文）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与周逸文对齐 </a:t>
                      </a:r>
                      <a:r>
                        <a:rPr lang="en-US" altLang="zh-CN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SGLang</a:t>
                      </a:r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en-US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的应用场景与用户使用情况，对齐优化方向与交付物口径，明确当前进展与交付计划。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6901DAC4-790A-58A7-C9E9-BF19972E4B98}"/>
              </a:ext>
            </a:extLst>
          </p:cNvPr>
          <p:cNvSpPr/>
          <p:nvPr/>
        </p:nvSpPr>
        <p:spPr>
          <a:xfrm>
            <a:off x="252100" y="903314"/>
            <a:ext cx="5103672" cy="3679383"/>
          </a:xfrm>
          <a:prstGeom prst="rect">
            <a:avLst/>
          </a:prstGeom>
          <a:solidFill>
            <a:srgbClr val="FAFAFA"/>
          </a:solidFill>
          <a:ln w="9525" cap="flat" cmpd="sng" algn="ctr">
            <a:gradFill flip="none" rotWithShape="1">
              <a:gsLst>
                <a:gs pos="94000">
                  <a:srgbClr val="FFFFFF"/>
                </a:gs>
                <a:gs pos="100000">
                  <a:srgbClr val="C7000B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108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遗留问题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72060B1-5568-FA41-3796-3B737C030194}"/>
              </a:ext>
            </a:extLst>
          </p:cNvPr>
          <p:cNvSpPr txBox="1"/>
          <p:nvPr/>
        </p:nvSpPr>
        <p:spPr>
          <a:xfrm>
            <a:off x="367003" y="1217867"/>
            <a:ext cx="4882634" cy="30571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分析悬红目标来源，确认客户使用场景，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POC/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交付计划。</a:t>
            </a:r>
            <a:b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harness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沙箱，主要用户场景是来自腾讯，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930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完成了针对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Zen 4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的比拼，当前计划为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1230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达成与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Zen 5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持平目标。其他客户仍在探索阶段（字节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美团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京东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小艺）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  <a:defRPr/>
            </a:pPr>
            <a:r>
              <a:rPr kumimoji="1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明确当前沙箱场景投入人员，模块，方向，以及对应客户场景是否相同。</a:t>
            </a:r>
            <a:b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已经明确，当前已知沙箱场景对外出口均为</a:t>
            </a:r>
            <a:r>
              <a:rPr lang="zh-CN" altLang="en-US" sz="1200" dirty="0"/>
              <a:t>王有航，明确各个模块投入场景（见分工页）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分析 </a:t>
            </a:r>
            <a:r>
              <a:rPr kumimoji="1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CuteSandbox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，从 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 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语言角度分析，有哪些可以优化的。</a:t>
            </a:r>
            <a:b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br>
            <a:r>
              <a:rPr lang="zh-CN" altLang="en-US" sz="1200" dirty="0"/>
              <a:t>完成初步分析，分析了执行时间，各个步骤的耗时，从时间超分角度，又可以优化的场景（见初步分析结论页）。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C84B1D9-02DE-9EF5-8768-3EC9013A7F8B}"/>
              </a:ext>
            </a:extLst>
          </p:cNvPr>
          <p:cNvSpPr txBox="1"/>
          <p:nvPr/>
        </p:nvSpPr>
        <p:spPr>
          <a:xfrm>
            <a:off x="595000" y="4908379"/>
            <a:ext cx="7081810" cy="86177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zh-CN" sz="1400" dirty="0"/>
              <a:t>① 目标：腾讯 AI harness 沙箱为主场景，930 与 Zen 4 持平、1230 目标与 Zen 5 持平。 </a:t>
            </a:r>
            <a:endParaRPr lang="en-US" altLang="zh-CN" sz="1400" dirty="0"/>
          </a:p>
          <a:p>
            <a:r>
              <a:rPr lang="zh-CN" altLang="zh-CN" sz="1400" dirty="0"/>
              <a:t>② 分工：四方向对接人与交付边界已明确，沙箱对外出口统一为王有航。</a:t>
            </a:r>
            <a:endParaRPr lang="en-US" altLang="zh-CN" sz="1400" dirty="0"/>
          </a:p>
          <a:p>
            <a:r>
              <a:rPr lang="zh-CN" altLang="zh-CN" sz="1400" dirty="0"/>
              <a:t>③ 计划：各方向的交付内容、指标口径与节奏已对齐</a:t>
            </a:r>
            <a:endParaRPr lang="en-US" altLang="zh-CN" sz="1400" dirty="0"/>
          </a:p>
          <a:p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求助：</a:t>
            </a:r>
            <a:r>
              <a:rPr kumimoji="1" lang="en-US" altLang="zh-CN" sz="14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SGLang</a:t>
            </a:r>
            <a:r>
              <a:rPr kumimoji="1"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投入穿刺需要环境。</a:t>
            </a:r>
          </a:p>
        </p:txBody>
      </p:sp>
    </p:spTree>
    <p:extLst>
      <p:ext uri="{BB962C8B-B14F-4D97-AF65-F5344CB8AC3E}">
        <p14:creationId xmlns:p14="http://schemas.microsoft.com/office/powerpoint/2010/main" val="2851528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6EC9AD9-2ADF-41CE-89D3-1054AC58388C}"/>
              </a:ext>
            </a:extLst>
          </p:cNvPr>
          <p:cNvSpPr txBox="1"/>
          <p:nvPr/>
        </p:nvSpPr>
        <p:spPr>
          <a:xfrm>
            <a:off x="1082585" y="1717482"/>
            <a:ext cx="10031592" cy="320087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明确测试方案包括（硬件 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BIOS 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运行配置， 软件版本， 依赖， 测试脚本等）</a:t>
            </a: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整理 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950 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测试结果， 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9755 /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9654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测试结果</a:t>
            </a: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明确 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1230 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后计划，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1230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阶段目标 ， 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1230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后长期目标（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1230 Zen4 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倍）（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630 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初步定 持平 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Zen5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NUMA 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绑定是否影响 性能？（有影响，客户不接受绑定）</a:t>
            </a: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⑤ 创建一个 沙箱有哪些参数可选 （是否可以配置 内存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kumimoji="1" lang="en-US" altLang="zh-CN" sz="1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占比）</a:t>
            </a: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⑥ 单层虚拟机和嵌套虚拟机场景，谁在用， 什么情况下用（也是腾讯， 有 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PVM 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也有 裸机）</a:t>
            </a: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裸机器  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950 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 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Zen4/ Zen5</a:t>
            </a:r>
          </a:p>
          <a:p>
            <a:pPr algn="l"/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虚拟机上 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PVM  950 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 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Zen4/Zen5</a:t>
            </a:r>
          </a:p>
          <a:p>
            <a:pPr algn="l"/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0.5.1  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雨晴 给我们 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9654 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950 </a:t>
            </a:r>
          </a:p>
          <a:p>
            <a:pPr algn="l"/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0.7.1 950 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我们有，  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9654 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两方都没有 需要我们跑 </a:t>
            </a: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540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A0523CEA-1C49-46A5-BDC9-E9AD81FF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99" y="360000"/>
            <a:ext cx="11831495" cy="360000"/>
          </a:xfrm>
        </p:spPr>
        <p:txBody>
          <a:bodyPr/>
          <a:lstStyle/>
          <a:p>
            <a:r>
              <a:rPr lang="en-US" altLang="zh-CN" sz="2400" dirty="0"/>
              <a:t>AI </a:t>
            </a:r>
            <a:r>
              <a:rPr lang="zh-CN" altLang="en-US" sz="2400" dirty="0"/>
              <a:t>推理场景安全加固沙箱优化，实现大规模 </a:t>
            </a:r>
            <a:r>
              <a:rPr lang="en-US" altLang="zh-CN" sz="2400" dirty="0"/>
              <a:t>Harness </a:t>
            </a:r>
            <a:r>
              <a:rPr lang="zh-CN" altLang="en-US" sz="2400" dirty="0"/>
              <a:t>验证环境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75757B-22A8-422E-8A36-532ACF00D1F6}"/>
              </a:ext>
            </a:extLst>
          </p:cNvPr>
          <p:cNvSpPr/>
          <p:nvPr/>
        </p:nvSpPr>
        <p:spPr>
          <a:xfrm>
            <a:off x="478724" y="851746"/>
            <a:ext cx="706020" cy="1086679"/>
          </a:xfrm>
          <a:prstGeom prst="rect">
            <a:avLst/>
          </a:prstGeom>
          <a:solidFill>
            <a:srgbClr val="C7000A"/>
          </a:solidFill>
          <a:ln w="3175" cap="flat">
            <a:noFill/>
            <a:miter lim="400000"/>
          </a:ln>
          <a:effectLst/>
        </p:spPr>
        <p:txBody>
          <a:bodyPr wrap="square" lIns="35944" tIns="35944" rIns="35944" bIns="35944" numCol="1" anchor="ctr">
            <a:noAutofit/>
          </a:bodyPr>
          <a:lstStyle/>
          <a:p>
            <a:pPr marL="0" marR="0" lvl="0" indent="0" algn="ctr" defTabSz="171825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/>
              </a:rPr>
              <a:t>生态</a:t>
            </a:r>
            <a:endParaRPr kumimoji="0" lang="en-US" altLang="zh-CN" sz="1599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Calibri"/>
            </a:endParaRPr>
          </a:p>
          <a:p>
            <a:pPr marL="0" marR="0" lvl="0" indent="0" algn="ctr" defTabSz="171825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/>
              </a:rPr>
              <a:t>目标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8C1BEC4-C531-478B-852D-E2108AE3CA2D}"/>
              </a:ext>
            </a:extLst>
          </p:cNvPr>
          <p:cNvSpPr/>
          <p:nvPr/>
        </p:nvSpPr>
        <p:spPr>
          <a:xfrm>
            <a:off x="1216949" y="851746"/>
            <a:ext cx="10501089" cy="1086679"/>
          </a:xfrm>
          <a:prstGeom prst="rect">
            <a:avLst/>
          </a:prstGeom>
          <a:solidFill>
            <a:srgbClr val="FFFFFF">
              <a:lumMod val="95000"/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42900" marR="0" lvl="0" indent="-342900" algn="l" defTabSz="914034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CubeSandbox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：腾讯云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 Agent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安全沙箱，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rust-</a:t>
            </a:r>
            <a:r>
              <a:rPr kumimoji="1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vmm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+ KVM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E2B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兼容；冷启动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&lt;60ms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、单实例内存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&lt;5MB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1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7F0000">
                  <a:lumMod val="60000"/>
                  <a:lumOff val="4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034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en-US" altLang="zh-CN" sz="1400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AgentENV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AENV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）：清华 </a:t>
            </a:r>
            <a:r>
              <a:rPr kumimoji="1" lang="en-US" altLang="zh-CN" sz="1400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MADSys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月之暗面（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aka Kimi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开发，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Firecracker </a:t>
            </a:r>
            <a:r>
              <a:rPr kumimoji="1" lang="en-US" altLang="zh-CN" sz="1400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MicroVM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Agentic RL 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平台；宣称 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boot/resume &lt;50ms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pause &lt;100ms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en-US" altLang="zh-CN" sz="1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034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商业价值：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Harness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环境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代码解释器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工具调用需强隔离高密度沙箱；竞争点在启动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恢复时延、单实例内存、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fork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成本。</a:t>
            </a:r>
            <a:endParaRPr kumimoji="1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7F0000">
                  <a:lumMod val="60000"/>
                  <a:lumOff val="4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71324AF-8D04-42EC-A456-89F9A7C81B29}"/>
              </a:ext>
            </a:extLst>
          </p:cNvPr>
          <p:cNvSpPr/>
          <p:nvPr/>
        </p:nvSpPr>
        <p:spPr>
          <a:xfrm>
            <a:off x="5321289" y="2086875"/>
            <a:ext cx="6534028" cy="1201045"/>
          </a:xfrm>
          <a:prstGeom prst="rect">
            <a:avLst/>
          </a:prstGeom>
          <a:solidFill>
            <a:srgbClr val="FAFAFA"/>
          </a:solidFill>
          <a:ln w="9525" cap="flat" cmpd="sng" algn="ctr">
            <a:gradFill flip="none" rotWithShape="1">
              <a:gsLst>
                <a:gs pos="94000">
                  <a:srgbClr val="FFFFFF"/>
                </a:gs>
                <a:gs pos="100000">
                  <a:srgbClr val="C7000B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108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关键</a:t>
            </a: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E34893F6-4ECD-4C05-A1FC-8A212989812F}"/>
              </a:ext>
            </a:extLst>
          </p:cNvPr>
          <p:cNvSpPr txBox="1"/>
          <p:nvPr/>
        </p:nvSpPr>
        <p:spPr>
          <a:xfrm>
            <a:off x="5436192" y="2401428"/>
            <a:ext cx="6264354" cy="696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启动时间：本地已有解析镜像时缓存时的启动（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镜像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复用度高，冷启动指标不关键）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活跃 </a:t>
            </a:r>
            <a:r>
              <a:rPr kumimoji="1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microVM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数量：单实例内存占用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+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线程调度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/NUMA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放置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pause/resume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时间：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harness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大多等待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LLM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生成，沙箱空闲占比高，可提升并发度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56" name="表格 55">
            <a:extLst>
              <a:ext uri="{FF2B5EF4-FFF2-40B4-BE49-F238E27FC236}">
                <a16:creationId xmlns:a16="http://schemas.microsoft.com/office/drawing/2014/main" id="{351DDCEC-7C33-4119-8994-026DBD9FB8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2474725"/>
              </p:ext>
            </p:extLst>
          </p:nvPr>
        </p:nvGraphicFramePr>
        <p:xfrm>
          <a:off x="5321289" y="3508892"/>
          <a:ext cx="6534028" cy="2819843"/>
        </p:xfrm>
        <a:graphic>
          <a:graphicData uri="http://schemas.openxmlformats.org/drawingml/2006/table">
            <a:tbl>
              <a:tblPr/>
              <a:tblGrid>
                <a:gridCol w="499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3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8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6816">
                  <a:extLst>
                    <a:ext uri="{9D8B030D-6E8A-4147-A177-3AD203B41FA5}">
                      <a16:colId xmlns:a16="http://schemas.microsoft.com/office/drawing/2014/main" val="4148593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编号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优化点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对应指标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交付物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难点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40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1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①</a:t>
                      </a:r>
                      <a:r>
                        <a:rPr lang="en-US" sz="1050" b="1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 </a:t>
                      </a:r>
                      <a:endParaRPr lang="en-US" sz="1050" b="1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页大小配置，</a:t>
                      </a:r>
                      <a:r>
                        <a:rPr lang="en-US" altLang="zh-CN" sz="1050" b="0" dirty="0" err="1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CoW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粒度 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vs 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缺页次数 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trade-off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，贯穿恢复速度与内存密度。</a:t>
                      </a:r>
                      <a:endParaRPr lang="zh-CN" sz="1050" b="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pause/resume </a:t>
                      </a:r>
                      <a:r>
                        <a:rPr kumimoji="1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时间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推荐配置方案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不同负载情况下，最优配置可能不同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61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②</a:t>
                      </a:r>
                      <a:endParaRPr lang="zh-CN" altLang="en-US" sz="105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内存压缩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/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解压，内存交换压缩解压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Arm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亲和指令级别优化。</a:t>
                      </a:r>
                      <a:endParaRPr lang="zh-CN" altLang="zh-CN" sz="1050" b="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启动时间</a:t>
                      </a:r>
                      <a:r>
                        <a:rPr kumimoji="1" lang="en-US" altLang="zh-CN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pause/resume </a:t>
                      </a:r>
                      <a:r>
                        <a:rPr kumimoji="1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时间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回合上游仓库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需要提升 </a:t>
                      </a:r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ARM </a:t>
                      </a: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硬件虚拟化理解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③</a:t>
                      </a:r>
                      <a:endParaRPr lang="zh-CN" altLang="en-US" sz="105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跨 </a:t>
                      </a:r>
                      <a:r>
                        <a:rPr lang="en-US" altLang="zh-CN" sz="1050" b="0" dirty="0" err="1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microVM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cow 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内存共享，热点内存强制保留在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L3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缓存（仅 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950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）</a:t>
                      </a:r>
                      <a:endParaRPr lang="zh-CN" sz="1050" b="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活跃 </a:t>
                      </a:r>
                      <a:r>
                        <a:rPr kumimoji="1" lang="en-US" altLang="zh-CN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microVM</a:t>
                      </a:r>
                      <a:r>
                        <a:rPr kumimoji="1" lang="en-US" altLang="zh-CN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数量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回合上游仓库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需 </a:t>
                      </a:r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OS </a:t>
                      </a: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内核开发能力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75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④</a:t>
                      </a:r>
                      <a:endParaRPr lang="zh-CN" altLang="en-US" sz="105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KVM 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内内核裁剪，减少内核空间占用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/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启动时间。</a:t>
                      </a:r>
                      <a:endParaRPr lang="zh-CN" sz="1050" b="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启动时间</a:t>
                      </a:r>
                      <a:endParaRPr kumimoji="1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活跃 </a:t>
                      </a:r>
                      <a:r>
                        <a:rPr kumimoji="1" lang="en-US" altLang="zh-CN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microVM</a:t>
                      </a:r>
                      <a:r>
                        <a:rPr kumimoji="1" lang="en-US" altLang="zh-CN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数量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sched_ext </a:t>
                      </a:r>
                      <a:r>
                        <a:rPr lang="zh-CN" altLang="en-US" sz="105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仓库交付</a:t>
                      </a:r>
                      <a:endParaRPr lang="zh-CN" altLang="en-US" sz="1050" b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需 </a:t>
                      </a:r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OS </a:t>
                      </a: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内核开发能力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99DA6290-9F5B-445F-ADBD-66372F5A3D31}"/>
              </a:ext>
            </a:extLst>
          </p:cNvPr>
          <p:cNvSpPr/>
          <p:nvPr/>
        </p:nvSpPr>
        <p:spPr>
          <a:xfrm>
            <a:off x="111501" y="3951645"/>
            <a:ext cx="5120598" cy="2026009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应用面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1BF84A5-61CC-4D93-B70C-49C423A6DB21}"/>
              </a:ext>
            </a:extLst>
          </p:cNvPr>
          <p:cNvSpPr/>
          <p:nvPr/>
        </p:nvSpPr>
        <p:spPr>
          <a:xfrm>
            <a:off x="111501" y="2070171"/>
            <a:ext cx="5120598" cy="1798341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控制面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DAEB73-8BF1-4EA2-BF95-15380334132F}"/>
              </a:ext>
            </a:extLst>
          </p:cNvPr>
          <p:cNvSpPr/>
          <p:nvPr/>
        </p:nvSpPr>
        <p:spPr>
          <a:xfrm>
            <a:off x="2774963" y="4684743"/>
            <a:ext cx="2345374" cy="1215125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Guest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侧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F2AFE2C-CA26-4DE9-B945-C19887798C12}"/>
              </a:ext>
            </a:extLst>
          </p:cNvPr>
          <p:cNvSpPr/>
          <p:nvPr/>
        </p:nvSpPr>
        <p:spPr>
          <a:xfrm>
            <a:off x="202402" y="4684743"/>
            <a:ext cx="2483370" cy="1215125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Host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侧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686A97-AC8C-49A1-9FE5-CE78D0F10975}"/>
              </a:ext>
            </a:extLst>
          </p:cNvPr>
          <p:cNvSpPr/>
          <p:nvPr/>
        </p:nvSpPr>
        <p:spPr>
          <a:xfrm>
            <a:off x="235576" y="2862621"/>
            <a:ext cx="4808970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API(Axum)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307427A-0D0D-47B1-BE86-1DD97D5B8C9D}"/>
              </a:ext>
            </a:extLst>
          </p:cNvPr>
          <p:cNvSpPr/>
          <p:nvPr/>
        </p:nvSpPr>
        <p:spPr>
          <a:xfrm>
            <a:off x="235576" y="3305516"/>
            <a:ext cx="1116000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生命周期管理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6B84571-0245-4D8A-8CCD-306C5C00026B}"/>
              </a:ext>
            </a:extLst>
          </p:cNvPr>
          <p:cNvSpPr/>
          <p:nvPr/>
        </p:nvSpPr>
        <p:spPr>
          <a:xfrm>
            <a:off x="233030" y="2343474"/>
            <a:ext cx="1769547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集群模式对外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Gateway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E41EC6C-0B96-4B7F-A291-A689055BD925}"/>
              </a:ext>
            </a:extLst>
          </p:cNvPr>
          <p:cNvSpPr/>
          <p:nvPr/>
        </p:nvSpPr>
        <p:spPr>
          <a:xfrm>
            <a:off x="189865" y="4188582"/>
            <a:ext cx="4930471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Firecracker VM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88EC586-EAF6-4BF8-BC45-58B01EED430A}"/>
              </a:ext>
            </a:extLst>
          </p:cNvPr>
          <p:cNvSpPr/>
          <p:nvPr/>
        </p:nvSpPr>
        <p:spPr>
          <a:xfrm>
            <a:off x="3928546" y="3305516"/>
            <a:ext cx="1116000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vmm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预热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D3E463F-DFA4-434B-A1FB-F602BCB98AB9}"/>
              </a:ext>
            </a:extLst>
          </p:cNvPr>
          <p:cNvSpPr/>
          <p:nvPr/>
        </p:nvSpPr>
        <p:spPr>
          <a:xfrm>
            <a:off x="3975651" y="5387925"/>
            <a:ext cx="1080000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envd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守护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进程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C8EB952-FA86-45D4-A0F5-59B686DABE8C}"/>
              </a:ext>
            </a:extLst>
          </p:cNvPr>
          <p:cNvSpPr/>
          <p:nvPr/>
        </p:nvSpPr>
        <p:spPr>
          <a:xfrm>
            <a:off x="1466566" y="3305516"/>
            <a:ext cx="1116000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镜像管理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EDDE418-6364-4B66-8C45-3780DACFDDA8}"/>
              </a:ext>
            </a:extLst>
          </p:cNvPr>
          <p:cNvSpPr/>
          <p:nvPr/>
        </p:nvSpPr>
        <p:spPr>
          <a:xfrm>
            <a:off x="240204" y="4937381"/>
            <a:ext cx="1170000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overlaybd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虚拟块文件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-client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AE382A8-FF83-4C48-8B95-2D376DCF3CEC}"/>
              </a:ext>
            </a:extLst>
          </p:cNvPr>
          <p:cNvSpPr/>
          <p:nvPr/>
        </p:nvSpPr>
        <p:spPr>
          <a:xfrm>
            <a:off x="1460674" y="4931517"/>
            <a:ext cx="1170000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rust-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vvm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(KVM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用户态套件）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92C516B-416A-484D-826C-4ED34DF4F014}"/>
              </a:ext>
            </a:extLst>
          </p:cNvPr>
          <p:cNvSpPr/>
          <p:nvPr/>
        </p:nvSpPr>
        <p:spPr>
          <a:xfrm>
            <a:off x="240204" y="5418624"/>
            <a:ext cx="1170000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KVM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（内核）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9E2994F-B18B-4B55-AE63-B20E4EDC9743}"/>
              </a:ext>
            </a:extLst>
          </p:cNvPr>
          <p:cNvSpPr/>
          <p:nvPr/>
        </p:nvSpPr>
        <p:spPr>
          <a:xfrm>
            <a:off x="2697556" y="3305516"/>
            <a:ext cx="1116000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快照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07C30A5-ED41-4935-827A-EEC2FB480124}"/>
              </a:ext>
            </a:extLst>
          </p:cNvPr>
          <p:cNvSpPr/>
          <p:nvPr/>
        </p:nvSpPr>
        <p:spPr>
          <a:xfrm>
            <a:off x="2112901" y="2343474"/>
            <a:ext cx="1410660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集群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Scheduler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F1CC902-34CE-4997-8DD5-3F4F30255F60}"/>
              </a:ext>
            </a:extLst>
          </p:cNvPr>
          <p:cNvSpPr/>
          <p:nvPr/>
        </p:nvSpPr>
        <p:spPr>
          <a:xfrm>
            <a:off x="3633886" y="2343474"/>
            <a:ext cx="1410660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P2P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镜像共享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9A9FBF7-6D87-421E-8610-CCF6B17F68F4}"/>
              </a:ext>
            </a:extLst>
          </p:cNvPr>
          <p:cNvSpPr/>
          <p:nvPr/>
        </p:nvSpPr>
        <p:spPr>
          <a:xfrm>
            <a:off x="2612774" y="6058219"/>
            <a:ext cx="1210174" cy="288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AC4548B-0462-47CD-A7D3-1EAA3A3D49A6}"/>
              </a:ext>
            </a:extLst>
          </p:cNvPr>
          <p:cNvSpPr/>
          <p:nvPr/>
        </p:nvSpPr>
        <p:spPr>
          <a:xfrm>
            <a:off x="3910162" y="6058219"/>
            <a:ext cx="1210174" cy="2889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非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部分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88434BD-201B-4A6F-94DB-1C384B40B464}"/>
              </a:ext>
            </a:extLst>
          </p:cNvPr>
          <p:cNvSpPr txBox="1"/>
          <p:nvPr/>
        </p:nvSpPr>
        <p:spPr>
          <a:xfrm>
            <a:off x="2275331" y="6133438"/>
            <a:ext cx="230832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图例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0D16F86-69EA-43FF-9D76-FF6285CF9F7C}"/>
              </a:ext>
            </a:extLst>
          </p:cNvPr>
          <p:cNvSpPr/>
          <p:nvPr/>
        </p:nvSpPr>
        <p:spPr>
          <a:xfrm>
            <a:off x="2832633" y="4924259"/>
            <a:ext cx="1080000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内核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DD31117-94DE-4907-B8E5-DA0B653F2F68}"/>
              </a:ext>
            </a:extLst>
          </p:cNvPr>
          <p:cNvSpPr/>
          <p:nvPr/>
        </p:nvSpPr>
        <p:spPr>
          <a:xfrm>
            <a:off x="3975651" y="4931517"/>
            <a:ext cx="1080000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文件系统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B268035-FB72-45F2-B271-7B8F414AC8E5}"/>
              </a:ext>
            </a:extLst>
          </p:cNvPr>
          <p:cNvSpPr/>
          <p:nvPr/>
        </p:nvSpPr>
        <p:spPr>
          <a:xfrm>
            <a:off x="2832633" y="5386089"/>
            <a:ext cx="1080000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网络设备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378B577-0A8F-4668-91AC-D75969EF4DE0}"/>
              </a:ext>
            </a:extLst>
          </p:cNvPr>
          <p:cNvSpPr/>
          <p:nvPr/>
        </p:nvSpPr>
        <p:spPr>
          <a:xfrm>
            <a:off x="1460674" y="5418624"/>
            <a:ext cx="1170000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Stage-2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内存管理（内核）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4ADF001-5CBA-40BB-9466-69E74889B660}"/>
              </a:ext>
            </a:extLst>
          </p:cNvPr>
          <p:cNvSpPr txBox="1"/>
          <p:nvPr/>
        </p:nvSpPr>
        <p:spPr>
          <a:xfrm>
            <a:off x="400173" y="6133437"/>
            <a:ext cx="1101264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ENV </a:t>
            </a:r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主要组件</a:t>
            </a:r>
          </a:p>
        </p:txBody>
      </p:sp>
    </p:spTree>
    <p:extLst>
      <p:ext uri="{BB962C8B-B14F-4D97-AF65-F5344CB8AC3E}">
        <p14:creationId xmlns:p14="http://schemas.microsoft.com/office/powerpoint/2010/main" val="3160313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A97C56-D586-43BA-92C0-5319F6FE8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CubeSandbox</a:t>
            </a:r>
            <a:r>
              <a:rPr lang="en-US" altLang="zh-CN" dirty="0"/>
              <a:t> </a:t>
            </a:r>
            <a:r>
              <a:rPr lang="zh-CN" altLang="en-US" dirty="0"/>
              <a:t>当前对接为腾讯，应用场景集中在 </a:t>
            </a:r>
            <a:r>
              <a:rPr lang="en-US" altLang="zh-CN" dirty="0"/>
              <a:t>Agent </a:t>
            </a:r>
            <a:r>
              <a:rPr lang="zh-CN" altLang="en-US" dirty="0"/>
              <a:t>代码执行、多租户隔离与 </a:t>
            </a:r>
            <a:r>
              <a:rPr lang="en-US" altLang="zh-CN" dirty="0"/>
              <a:t>RL </a:t>
            </a:r>
            <a:r>
              <a:rPr lang="zh-CN" altLang="en-US" dirty="0"/>
              <a:t>训练等场景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ADA03D3-62CC-3BCB-120A-63D7BA409073}"/>
              </a:ext>
            </a:extLst>
          </p:cNvPr>
          <p:cNvSpPr/>
          <p:nvPr/>
        </p:nvSpPr>
        <p:spPr>
          <a:xfrm>
            <a:off x="1464844" y="6052916"/>
            <a:ext cx="1110344" cy="3013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zh-CN" altLang="en-US" sz="110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其他应用场景</a:t>
            </a:r>
            <a:endParaRPr lang="zh-CN" altLang="en-US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B4AF7E-5E02-8B0F-D81F-8C37555856FE}"/>
              </a:ext>
            </a:extLst>
          </p:cNvPr>
          <p:cNvSpPr/>
          <p:nvPr/>
        </p:nvSpPr>
        <p:spPr>
          <a:xfrm>
            <a:off x="279886" y="6052917"/>
            <a:ext cx="1110344" cy="3013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腾讯应用场景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2E17D9E-B732-5A52-B25E-B934AAEAF3A3}"/>
              </a:ext>
            </a:extLst>
          </p:cNvPr>
          <p:cNvGrpSpPr/>
          <p:nvPr/>
        </p:nvGrpSpPr>
        <p:grpSpPr>
          <a:xfrm>
            <a:off x="161251" y="880512"/>
            <a:ext cx="2141766" cy="1947705"/>
            <a:chOff x="252099" y="1244531"/>
            <a:chExt cx="2141766" cy="194770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D5C4FC4-0883-03AF-3092-BC067D7B72FF}"/>
                </a:ext>
              </a:extLst>
            </p:cNvPr>
            <p:cNvSpPr/>
            <p:nvPr/>
          </p:nvSpPr>
          <p:spPr>
            <a:xfrm>
              <a:off x="252099" y="1244531"/>
              <a:ext cx="2141766" cy="1947705"/>
            </a:xfrm>
            <a:prstGeom prst="rect">
              <a:avLst/>
            </a:prstGeom>
            <a:solidFill>
              <a:srgbClr val="D4F1F5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zh-CN" altLang="en-US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4B8B6D06-6F77-1B1D-6924-4A1261D592CF}"/>
                </a:ext>
              </a:extLst>
            </p:cNvPr>
            <p:cNvSpPr txBox="1"/>
            <p:nvPr/>
          </p:nvSpPr>
          <p:spPr>
            <a:xfrm>
              <a:off x="372835" y="1354066"/>
              <a:ext cx="18995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kumimoji="1"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代码执行隔离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B8CCC4BE-1E80-1486-DF4A-BE7D4EE18A0D}"/>
                </a:ext>
              </a:extLst>
            </p:cNvPr>
            <p:cNvSpPr txBox="1"/>
            <p:nvPr/>
          </p:nvSpPr>
          <p:spPr>
            <a:xfrm>
              <a:off x="372835" y="1771378"/>
              <a:ext cx="1899556" cy="123110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kumimoji="1"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模型生成的命令、脚本与工具调用都在独立 </a:t>
              </a:r>
              <a:r>
                <a:rPr kumimoji="1" lang="en-US" altLang="zh-CN" sz="10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MicroVM</a:t>
              </a:r>
              <a:r>
                <a:rPr kumimoji="1"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内执行，平台只放行白名单命令，出站访问按域名收敛。即使 </a:t>
              </a:r>
              <a:r>
                <a:rPr kumimoji="1"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Harness </a:t>
              </a:r>
              <a:r>
                <a:rPr kumimoji="1"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被提示注入，破坏也被关在沙箱里，逃不出独立内核。代表：腾讯 </a:t>
              </a:r>
              <a:r>
                <a:rPr kumimoji="1" lang="en-US" altLang="zh-CN" sz="10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tRPC</a:t>
              </a:r>
              <a:r>
                <a:rPr kumimoji="1"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 </a:t>
              </a:r>
              <a:r>
                <a:rPr kumimoji="1" lang="en-US" altLang="zh-CN" sz="10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trpc</a:t>
              </a:r>
              <a:r>
                <a:rPr kumimoji="1"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-agent-go </a:t>
              </a:r>
              <a:r>
                <a:rPr kumimoji="1"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安全代码执行后端。</a:t>
              </a:r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B7835DBF-97F2-AC02-16D5-CF7896FE18D2}"/>
                </a:ext>
              </a:extLst>
            </p:cNvPr>
            <p:cNvCxnSpPr/>
            <p:nvPr/>
          </p:nvCxnSpPr>
          <p:spPr>
            <a:xfrm>
              <a:off x="348343" y="1706066"/>
              <a:ext cx="1934935" cy="0"/>
            </a:xfrm>
            <a:prstGeom prst="line">
              <a:avLst/>
            </a:prstGeom>
            <a:ln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CF16C28A-F2C9-ED63-2135-70E791A46094}"/>
              </a:ext>
            </a:extLst>
          </p:cNvPr>
          <p:cNvGrpSpPr/>
          <p:nvPr/>
        </p:nvGrpSpPr>
        <p:grpSpPr>
          <a:xfrm>
            <a:off x="2322350" y="870970"/>
            <a:ext cx="2497817" cy="1947704"/>
            <a:chOff x="252099" y="1244531"/>
            <a:chExt cx="2141766" cy="1947705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EBD482F-B75B-3D5E-F377-97BF3ACD7AFF}"/>
                </a:ext>
              </a:extLst>
            </p:cNvPr>
            <p:cNvSpPr/>
            <p:nvPr/>
          </p:nvSpPr>
          <p:spPr>
            <a:xfrm>
              <a:off x="252099" y="1244531"/>
              <a:ext cx="2141766" cy="194770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zh-CN" altLang="en-US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712DAB6-CC9B-D00C-DDB2-E739AE68B604}"/>
                </a:ext>
              </a:extLst>
            </p:cNvPr>
            <p:cNvSpPr txBox="1"/>
            <p:nvPr/>
          </p:nvSpPr>
          <p:spPr>
            <a:xfrm>
              <a:off x="372835" y="1354066"/>
              <a:ext cx="18995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kumimoji="1"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RL rollout </a:t>
              </a:r>
              <a:r>
                <a:rPr kumimoji="1"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与数据合成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8BCEFAB-310F-240C-5E12-90C51A34AFDE}"/>
                </a:ext>
              </a:extLst>
            </p:cNvPr>
            <p:cNvSpPr txBox="1"/>
            <p:nvPr/>
          </p:nvSpPr>
          <p:spPr>
            <a:xfrm>
              <a:off x="372835" y="1771378"/>
              <a:ext cx="1899556" cy="7694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kumimoji="1"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批量并行拉起 </a:t>
              </a:r>
              <a:r>
                <a:rPr kumimoji="1"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episode</a:t>
              </a:r>
              <a:r>
                <a:rPr kumimoji="1"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，每个 </a:t>
              </a:r>
              <a:r>
                <a:rPr kumimoji="1"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episode </a:t>
              </a:r>
              <a:r>
                <a:rPr kumimoji="1"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一份干净可复现的环境，跑的正是模型自己写的不可信代码：死循环、内存泄漏、</a:t>
              </a:r>
              <a:r>
                <a:rPr kumimoji="1"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fork </a:t>
              </a:r>
              <a:r>
                <a:rPr kumimoji="1"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炸弹、异常网络调用都被限制在沙箱内。</a:t>
              </a: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4F6DAB42-4739-9374-35A4-04E5F7660E7B}"/>
                </a:ext>
              </a:extLst>
            </p:cNvPr>
            <p:cNvCxnSpPr/>
            <p:nvPr/>
          </p:nvCxnSpPr>
          <p:spPr>
            <a:xfrm>
              <a:off x="348343" y="1706066"/>
              <a:ext cx="1934935" cy="0"/>
            </a:xfrm>
            <a:prstGeom prst="line">
              <a:avLst/>
            </a:prstGeom>
            <a:ln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EA52625-C110-F323-CE18-331271F93FD0}"/>
              </a:ext>
            </a:extLst>
          </p:cNvPr>
          <p:cNvGrpSpPr/>
          <p:nvPr/>
        </p:nvGrpSpPr>
        <p:grpSpPr>
          <a:xfrm>
            <a:off x="4827264" y="875968"/>
            <a:ext cx="2497817" cy="1947704"/>
            <a:chOff x="252099" y="1244531"/>
            <a:chExt cx="2141766" cy="1947705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7B878E0E-A985-2EFD-8F09-780270D7064F}"/>
                </a:ext>
              </a:extLst>
            </p:cNvPr>
            <p:cNvSpPr/>
            <p:nvPr/>
          </p:nvSpPr>
          <p:spPr>
            <a:xfrm>
              <a:off x="252099" y="1244531"/>
              <a:ext cx="2141766" cy="1947705"/>
            </a:xfrm>
            <a:prstGeom prst="rect">
              <a:avLst/>
            </a:prstGeom>
            <a:solidFill>
              <a:srgbClr val="D4F1F5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zh-CN" altLang="en-US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2E5372D1-48B9-5924-8761-31C54D4009FF}"/>
                </a:ext>
              </a:extLst>
            </p:cNvPr>
            <p:cNvSpPr txBox="1"/>
            <p:nvPr/>
          </p:nvSpPr>
          <p:spPr>
            <a:xfrm>
              <a:off x="372835" y="1354066"/>
              <a:ext cx="18995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kumimoji="1"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多租户沙箱平台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0FA4592-383F-177E-F922-B6975D40D843}"/>
                </a:ext>
              </a:extLst>
            </p:cNvPr>
            <p:cNvSpPr txBox="1"/>
            <p:nvPr/>
          </p:nvSpPr>
          <p:spPr>
            <a:xfrm>
              <a:off x="372835" y="1771378"/>
              <a:ext cx="1899556" cy="7694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kumimoji="1"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把 </a:t>
              </a:r>
              <a:r>
                <a:rPr kumimoji="1"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 </a:t>
              </a:r>
              <a:r>
                <a:rPr kumimoji="1"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中台里每个租户、每个会话放进独立沙箱，用户之间文件与网络物理隔离；再用 </a:t>
              </a:r>
              <a:r>
                <a:rPr kumimoji="1" lang="en-US" altLang="zh-CN" sz="10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owner_id</a:t>
              </a:r>
              <a:r>
                <a:rPr kumimoji="1"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、租约与 </a:t>
              </a:r>
              <a:r>
                <a:rPr kumimoji="1"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fencing token </a:t>
              </a:r>
              <a:r>
                <a:rPr kumimoji="1"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统一记账，避免迟到请求误删他人沙箱、僵尸租约占满配额。</a:t>
              </a:r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A2E48C69-7334-FEBF-8D24-C2A3BA84A227}"/>
                </a:ext>
              </a:extLst>
            </p:cNvPr>
            <p:cNvCxnSpPr/>
            <p:nvPr/>
          </p:nvCxnSpPr>
          <p:spPr>
            <a:xfrm>
              <a:off x="348343" y="1706066"/>
              <a:ext cx="1934935" cy="0"/>
            </a:xfrm>
            <a:prstGeom prst="line">
              <a:avLst/>
            </a:prstGeom>
            <a:ln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2BDA131-B47F-9955-408F-76A24D487BAC}"/>
              </a:ext>
            </a:extLst>
          </p:cNvPr>
          <p:cNvGrpSpPr/>
          <p:nvPr/>
        </p:nvGrpSpPr>
        <p:grpSpPr>
          <a:xfrm>
            <a:off x="157024" y="2838114"/>
            <a:ext cx="1907072" cy="1947704"/>
            <a:chOff x="252099" y="1244531"/>
            <a:chExt cx="2141766" cy="1947705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3C5F3B0F-7BFC-58BE-39D9-9A826E361999}"/>
                </a:ext>
              </a:extLst>
            </p:cNvPr>
            <p:cNvSpPr/>
            <p:nvPr/>
          </p:nvSpPr>
          <p:spPr>
            <a:xfrm>
              <a:off x="252099" y="1244531"/>
              <a:ext cx="2141766" cy="1947705"/>
            </a:xfrm>
            <a:prstGeom prst="rect">
              <a:avLst/>
            </a:prstGeom>
            <a:solidFill>
              <a:srgbClr val="D4F1F5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zh-CN" altLang="en-US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761D08E-619B-3FB7-9769-43888C636E8F}"/>
                </a:ext>
              </a:extLst>
            </p:cNvPr>
            <p:cNvSpPr txBox="1"/>
            <p:nvPr/>
          </p:nvSpPr>
          <p:spPr>
            <a:xfrm>
              <a:off x="372835" y="1354066"/>
              <a:ext cx="18995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kumimoji="1"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代码解释器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047A7297-79A7-6EAF-5A48-B49E367910AB}"/>
                </a:ext>
              </a:extLst>
            </p:cNvPr>
            <p:cNvSpPr txBox="1"/>
            <p:nvPr/>
          </p:nvSpPr>
          <p:spPr>
            <a:xfrm>
              <a:off x="372835" y="1771378"/>
              <a:ext cx="1899556" cy="92333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kumimoji="1"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给大模型一个会写代码、能自愈、可并行的解释器：数据分析、画图、跑脚本都在沙箱里完成，工具时延与推理时延错峰，理论上支撑大比例超分。代表：腾讯混元 </a:t>
              </a:r>
              <a:r>
                <a:rPr kumimoji="1"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hy3 × Cube Sandbox </a:t>
              </a:r>
              <a:r>
                <a:rPr kumimoji="1"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的实战组合。</a:t>
              </a:r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B0BBA08-7701-E283-BF39-E25381817AFE}"/>
                </a:ext>
              </a:extLst>
            </p:cNvPr>
            <p:cNvCxnSpPr/>
            <p:nvPr/>
          </p:nvCxnSpPr>
          <p:spPr>
            <a:xfrm>
              <a:off x="348343" y="1706066"/>
              <a:ext cx="1934935" cy="0"/>
            </a:xfrm>
            <a:prstGeom prst="line">
              <a:avLst/>
            </a:prstGeom>
            <a:ln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555B5143-FA83-1D88-6E5E-9CD19D1E1895}"/>
              </a:ext>
            </a:extLst>
          </p:cNvPr>
          <p:cNvGrpSpPr/>
          <p:nvPr/>
        </p:nvGrpSpPr>
        <p:grpSpPr>
          <a:xfrm>
            <a:off x="3818435" y="2838114"/>
            <a:ext cx="1578362" cy="1947704"/>
            <a:chOff x="252099" y="1244531"/>
            <a:chExt cx="2141766" cy="1947705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3B3A6A4B-8246-8207-8CF7-63665653C9A6}"/>
                </a:ext>
              </a:extLst>
            </p:cNvPr>
            <p:cNvSpPr/>
            <p:nvPr/>
          </p:nvSpPr>
          <p:spPr>
            <a:xfrm>
              <a:off x="252099" y="1244531"/>
              <a:ext cx="2141766" cy="194770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zh-CN" altLang="en-US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586BEC1D-AB30-C1D3-75CB-C4C24451D2FE}"/>
                </a:ext>
              </a:extLst>
            </p:cNvPr>
            <p:cNvSpPr txBox="1"/>
            <p:nvPr/>
          </p:nvSpPr>
          <p:spPr>
            <a:xfrm>
              <a:off x="372835" y="1354066"/>
              <a:ext cx="18995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kumimoji="1"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浏览器 </a:t>
              </a:r>
              <a:r>
                <a:rPr kumimoji="1"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Agent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744CF5A9-278C-287B-9D0E-864B8C05C055}"/>
                </a:ext>
              </a:extLst>
            </p:cNvPr>
            <p:cNvSpPr txBox="1"/>
            <p:nvPr/>
          </p:nvSpPr>
          <p:spPr>
            <a:xfrm>
              <a:off x="372835" y="1771378"/>
              <a:ext cx="1899556" cy="7694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kumimoji="1"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把浏览器运行时整体搬进沙箱，页面渲染、点击、抓取都在隔离环境内完成，避免自动化脚本把宿主环境或用户数据带出去；沙箱回收后不留运行痕迹。代表：</a:t>
              </a:r>
              <a:r>
                <a:rPr kumimoji="1" lang="en-US" altLang="zh-CN" sz="10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Lexmount</a:t>
              </a:r>
              <a:r>
                <a:rPr kumimoji="1"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AI </a:t>
              </a:r>
              <a:r>
                <a:rPr kumimoji="1"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的浏览器 </a:t>
              </a:r>
              <a:r>
                <a:rPr kumimoji="1"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Agent</a:t>
              </a:r>
              <a:r>
                <a:rPr kumimoji="1"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6B165C85-3D34-3765-14D1-BA4200AC2CB3}"/>
                </a:ext>
              </a:extLst>
            </p:cNvPr>
            <p:cNvCxnSpPr/>
            <p:nvPr/>
          </p:nvCxnSpPr>
          <p:spPr>
            <a:xfrm>
              <a:off x="348343" y="1706066"/>
              <a:ext cx="1934935" cy="0"/>
            </a:xfrm>
            <a:prstGeom prst="line">
              <a:avLst/>
            </a:prstGeom>
            <a:ln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63500551-AFCF-361B-8390-35A386F92FBF}"/>
              </a:ext>
            </a:extLst>
          </p:cNvPr>
          <p:cNvGrpSpPr/>
          <p:nvPr/>
        </p:nvGrpSpPr>
        <p:grpSpPr>
          <a:xfrm>
            <a:off x="5423683" y="2838114"/>
            <a:ext cx="1897171" cy="1947704"/>
            <a:chOff x="252099" y="1244531"/>
            <a:chExt cx="2141766" cy="1947705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8F7E7AAA-AF83-C440-7F63-8D9710382AA9}"/>
                </a:ext>
              </a:extLst>
            </p:cNvPr>
            <p:cNvSpPr/>
            <p:nvPr/>
          </p:nvSpPr>
          <p:spPr>
            <a:xfrm>
              <a:off x="252099" y="1244531"/>
              <a:ext cx="2141766" cy="1947705"/>
            </a:xfrm>
            <a:prstGeom prst="rect">
              <a:avLst/>
            </a:prstGeom>
            <a:solidFill>
              <a:srgbClr val="D4F1F5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zh-CN" altLang="en-US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45A651E7-882A-3649-02C1-C334C0C68F93}"/>
                </a:ext>
              </a:extLst>
            </p:cNvPr>
            <p:cNvSpPr txBox="1"/>
            <p:nvPr/>
          </p:nvSpPr>
          <p:spPr>
            <a:xfrm>
              <a:off x="372835" y="1354066"/>
              <a:ext cx="18995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kumimoji="1"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Agent </a:t>
              </a:r>
              <a:r>
                <a:rPr kumimoji="1"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平台底座</a:t>
              </a:r>
              <a:endPara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644E1884-AA76-AE05-DE84-7F3A4735BB3D}"/>
                </a:ext>
              </a:extLst>
            </p:cNvPr>
            <p:cNvSpPr txBox="1"/>
            <p:nvPr/>
          </p:nvSpPr>
          <p:spPr>
            <a:xfrm>
              <a:off x="372835" y="1771378"/>
              <a:ext cx="1899556" cy="7694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kumimoji="1"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作为腾讯云侧数字助手与 </a:t>
              </a:r>
              <a:r>
                <a:rPr kumimoji="1" lang="en-US" altLang="zh-CN" sz="10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AgentHub</a:t>
              </a:r>
              <a:r>
                <a:rPr kumimoji="1"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的默认执行环境，</a:t>
              </a:r>
              <a:r>
                <a:rPr kumimoji="1"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OpenClaw </a:t>
              </a:r>
              <a:r>
                <a:rPr kumimoji="1"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一类助手的创建、托管与运行直接落在 </a:t>
              </a:r>
              <a:r>
                <a:rPr kumimoji="1"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Cube Sandbox </a:t>
              </a:r>
              <a:r>
                <a:rPr kumimoji="1"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上，开箱即用，无需自建 </a:t>
              </a:r>
              <a:r>
                <a:rPr kumimoji="1"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warm pool</a:t>
              </a:r>
              <a:r>
                <a:rPr kumimoji="1"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E1F0970-2F93-DA72-B192-DBEEA2697522}"/>
                </a:ext>
              </a:extLst>
            </p:cNvPr>
            <p:cNvCxnSpPr/>
            <p:nvPr/>
          </p:nvCxnSpPr>
          <p:spPr>
            <a:xfrm>
              <a:off x="348343" y="1706066"/>
              <a:ext cx="1934935" cy="0"/>
            </a:xfrm>
            <a:prstGeom prst="line">
              <a:avLst/>
            </a:prstGeom>
            <a:ln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ADC076CC-5157-3F85-1CE4-862C498EB9E7}"/>
              </a:ext>
            </a:extLst>
          </p:cNvPr>
          <p:cNvGrpSpPr/>
          <p:nvPr/>
        </p:nvGrpSpPr>
        <p:grpSpPr>
          <a:xfrm>
            <a:off x="2090983" y="2838114"/>
            <a:ext cx="1716882" cy="1947704"/>
            <a:chOff x="252099" y="1244531"/>
            <a:chExt cx="2141766" cy="1947705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2BAC6FE8-506C-AC04-CB20-25495D04847B}"/>
                </a:ext>
              </a:extLst>
            </p:cNvPr>
            <p:cNvSpPr/>
            <p:nvPr/>
          </p:nvSpPr>
          <p:spPr>
            <a:xfrm>
              <a:off x="252099" y="1244531"/>
              <a:ext cx="2141766" cy="1947705"/>
            </a:xfrm>
            <a:prstGeom prst="rect">
              <a:avLst/>
            </a:prstGeom>
            <a:solidFill>
              <a:srgbClr val="D4F1F5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zh-CN" altLang="en-US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EF6FE0FC-4863-7679-3AFA-5AE86A8A2D65}"/>
                </a:ext>
              </a:extLst>
            </p:cNvPr>
            <p:cNvSpPr txBox="1"/>
            <p:nvPr/>
          </p:nvSpPr>
          <p:spPr>
            <a:xfrm>
              <a:off x="372835" y="1354066"/>
              <a:ext cx="18995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kumimoji="1"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知识库 </a:t>
              </a:r>
              <a:r>
                <a:rPr kumimoji="1"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Agent </a:t>
              </a:r>
              <a:r>
                <a:rPr kumimoji="1"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持久化</a:t>
              </a:r>
              <a:endPara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7589BA11-F142-0AA1-9A87-EB1C88551151}"/>
                </a:ext>
              </a:extLst>
            </p:cNvPr>
            <p:cNvSpPr txBox="1"/>
            <p:nvPr/>
          </p:nvSpPr>
          <p:spPr>
            <a:xfrm>
              <a:off x="351706" y="2018737"/>
              <a:ext cx="1899556" cy="92333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kumimoji="1"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会话级常驻沙箱：装好的技能打成快照当模板，新会话秒级就位；空闲自动暂停保住内存态，下一轮连接自动唤醒，用户体感</a:t>
              </a:r>
              <a:r>
                <a:rPr kumimoji="1"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"</a:t>
              </a:r>
              <a:r>
                <a:rPr kumimoji="1"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对话还在、环境还在</a:t>
              </a:r>
              <a:r>
                <a:rPr kumimoji="1"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"</a:t>
              </a:r>
              <a:r>
                <a:rPr kumimoji="1"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65EE530D-406B-AA9D-973C-83369F40883E}"/>
                </a:ext>
              </a:extLst>
            </p:cNvPr>
            <p:cNvCxnSpPr/>
            <p:nvPr/>
          </p:nvCxnSpPr>
          <p:spPr>
            <a:xfrm>
              <a:off x="355145" y="1893845"/>
              <a:ext cx="1934935" cy="0"/>
            </a:xfrm>
            <a:prstGeom prst="line">
              <a:avLst/>
            </a:prstGeom>
            <a:ln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01E52772-C84B-A95E-134C-6C4EC5092C11}"/>
              </a:ext>
            </a:extLst>
          </p:cNvPr>
          <p:cNvGrpSpPr/>
          <p:nvPr/>
        </p:nvGrpSpPr>
        <p:grpSpPr>
          <a:xfrm>
            <a:off x="149753" y="4809385"/>
            <a:ext cx="3534134" cy="1121260"/>
            <a:chOff x="252099" y="1244531"/>
            <a:chExt cx="2141766" cy="1947705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6657C5C5-9C4D-B529-2785-BF1C2BB7C373}"/>
                </a:ext>
              </a:extLst>
            </p:cNvPr>
            <p:cNvSpPr/>
            <p:nvPr/>
          </p:nvSpPr>
          <p:spPr>
            <a:xfrm>
              <a:off x="252099" y="1244531"/>
              <a:ext cx="2141766" cy="194770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zh-CN" altLang="en-US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AA43020D-9989-7FBF-C9D7-A089C4873B60}"/>
                </a:ext>
              </a:extLst>
            </p:cNvPr>
            <p:cNvSpPr txBox="1"/>
            <p:nvPr/>
          </p:nvSpPr>
          <p:spPr>
            <a:xfrm>
              <a:off x="372835" y="1354066"/>
              <a:ext cx="18995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kumimoji="1"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平台化与集成</a:t>
              </a:r>
              <a:endPara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08073CC7-2CCC-DA7F-E367-E252DCA61F6B}"/>
                </a:ext>
              </a:extLst>
            </p:cNvPr>
            <p:cNvSpPr txBox="1"/>
            <p:nvPr/>
          </p:nvSpPr>
          <p:spPr>
            <a:xfrm>
              <a:off x="355145" y="2036309"/>
              <a:ext cx="1899556" cy="8019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kumimoji="1"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沙箱作为集群底座被编排与运维：</a:t>
              </a:r>
              <a:r>
                <a:rPr kumimoji="1"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K8s </a:t>
              </a:r>
              <a:r>
                <a:rPr kumimoji="1"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上部署控制面与计算节点（</a:t>
              </a:r>
              <a:r>
                <a:rPr kumimoji="1" lang="en-US" altLang="zh-CN" sz="10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openFuyao</a:t>
              </a:r>
              <a:r>
                <a:rPr kumimoji="1"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）、常驻 </a:t>
              </a:r>
              <a:r>
                <a:rPr kumimoji="1"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Agent </a:t>
              </a:r>
              <a:r>
                <a:rPr kumimoji="1"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平台（</a:t>
              </a:r>
              <a:r>
                <a:rPr kumimoji="1"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Hermes</a:t>
              </a:r>
              <a:r>
                <a:rPr kumimoji="1"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）、</a:t>
              </a:r>
              <a:r>
                <a:rPr kumimoji="1" lang="en-US" altLang="zh-CN" sz="100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noVNC</a:t>
              </a:r>
              <a:r>
                <a:rPr kumimoji="1"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桌面沙箱做 </a:t>
              </a:r>
              <a:r>
                <a:rPr kumimoji="1"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GUI </a:t>
              </a:r>
              <a:r>
                <a:rPr kumimoji="1"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自动化</a:t>
              </a:r>
            </a:p>
          </p:txBody>
        </p: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F13FED38-E670-0ACA-3E79-B0546E0876F5}"/>
                </a:ext>
              </a:extLst>
            </p:cNvPr>
            <p:cNvCxnSpPr/>
            <p:nvPr/>
          </p:nvCxnSpPr>
          <p:spPr>
            <a:xfrm>
              <a:off x="337456" y="1897425"/>
              <a:ext cx="1934935" cy="0"/>
            </a:xfrm>
            <a:prstGeom prst="line">
              <a:avLst/>
            </a:prstGeom>
            <a:ln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E4BF0A08-181B-C4E7-D535-BFCFAFEEECC1}"/>
              </a:ext>
            </a:extLst>
          </p:cNvPr>
          <p:cNvGrpSpPr/>
          <p:nvPr/>
        </p:nvGrpSpPr>
        <p:grpSpPr>
          <a:xfrm>
            <a:off x="3707718" y="4809385"/>
            <a:ext cx="3617363" cy="1116262"/>
            <a:chOff x="252099" y="1244531"/>
            <a:chExt cx="2141766" cy="1947705"/>
          </a:xfrm>
        </p:grpSpPr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19910628-0783-7611-EF3F-A0AA150650C6}"/>
                </a:ext>
              </a:extLst>
            </p:cNvPr>
            <p:cNvSpPr/>
            <p:nvPr/>
          </p:nvSpPr>
          <p:spPr>
            <a:xfrm>
              <a:off x="252099" y="1244531"/>
              <a:ext cx="2141766" cy="194770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zh-CN" altLang="en-US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3CFED042-77FF-409E-F328-2666B9E7A6BD}"/>
                </a:ext>
              </a:extLst>
            </p:cNvPr>
            <p:cNvSpPr txBox="1"/>
            <p:nvPr/>
          </p:nvSpPr>
          <p:spPr>
            <a:xfrm>
              <a:off x="372835" y="1354066"/>
              <a:ext cx="18995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kumimoji="1"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Android </a:t>
              </a:r>
              <a:r>
                <a:rPr kumimoji="1"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模拟</a:t>
              </a:r>
              <a:endPara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C09C79C8-1FA4-3123-8E48-A0446C274D9C}"/>
                </a:ext>
              </a:extLst>
            </p:cNvPr>
            <p:cNvSpPr txBox="1"/>
            <p:nvPr/>
          </p:nvSpPr>
          <p:spPr>
            <a:xfrm>
              <a:off x="352838" y="2080424"/>
              <a:ext cx="1899556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kumimoji="1"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在微 </a:t>
              </a:r>
              <a:r>
                <a:rPr kumimoji="1"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VM </a:t>
              </a:r>
              <a:r>
                <a:rPr kumimoji="1"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内运行 </a:t>
              </a:r>
              <a:r>
                <a:rPr kumimoji="1"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Android </a:t>
              </a:r>
              <a:r>
                <a:rPr kumimoji="1"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虚拟设备（</a:t>
              </a:r>
              <a:r>
                <a:rPr kumimoji="1"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Cuttlefish </a:t>
              </a:r>
              <a:r>
                <a:rPr kumimoji="1"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一类），为手机 </a:t>
              </a:r>
              <a:r>
                <a:rPr kumimoji="1"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App </a:t>
              </a:r>
              <a:r>
                <a:rPr kumimoji="1"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的自动化操作与兼容性验证提供模拟场景；</a:t>
              </a:r>
            </a:p>
          </p:txBody>
        </p: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46EBE13D-23DF-B72E-A145-32C0FBEDBFB0}"/>
                </a:ext>
              </a:extLst>
            </p:cNvPr>
            <p:cNvCxnSpPr/>
            <p:nvPr/>
          </p:nvCxnSpPr>
          <p:spPr>
            <a:xfrm>
              <a:off x="344288" y="1900349"/>
              <a:ext cx="1934935" cy="0"/>
            </a:xfrm>
            <a:prstGeom prst="line">
              <a:avLst/>
            </a:prstGeom>
            <a:ln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矩形 77">
            <a:extLst>
              <a:ext uri="{FF2B5EF4-FFF2-40B4-BE49-F238E27FC236}">
                <a16:creationId xmlns:a16="http://schemas.microsoft.com/office/drawing/2014/main" id="{E8FC96A8-3809-2155-65F5-8D984E0FC5CC}"/>
              </a:ext>
            </a:extLst>
          </p:cNvPr>
          <p:cNvSpPr/>
          <p:nvPr/>
        </p:nvSpPr>
        <p:spPr>
          <a:xfrm>
            <a:off x="7460704" y="1012076"/>
            <a:ext cx="4230553" cy="2181794"/>
          </a:xfrm>
          <a:prstGeom prst="rect">
            <a:avLst/>
          </a:prstGeom>
          <a:solidFill>
            <a:srgbClr val="FAFAFA"/>
          </a:solidFill>
          <a:ln w="9525" cap="flat" cmpd="sng" algn="ctr">
            <a:gradFill flip="none" rotWithShape="1">
              <a:gsLst>
                <a:gs pos="94000">
                  <a:srgbClr val="FFFFFF"/>
                </a:gs>
                <a:gs pos="100000">
                  <a:srgbClr val="C7000B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108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关键</a:t>
            </a: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0E121FC2-A1E6-0EF9-1FD1-F66BE3CCFBDD}"/>
              </a:ext>
            </a:extLst>
          </p:cNvPr>
          <p:cNvSpPr txBox="1"/>
          <p:nvPr/>
        </p:nvSpPr>
        <p:spPr>
          <a:xfrm>
            <a:off x="7759426" y="1416589"/>
            <a:ext cx="3633108" cy="16435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多租户隔离：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租户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会话物理隔离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+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租约治理，高密度下拼的是调度与内存，是沙箱超分的主要场景。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沙箱超分：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沙箱约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71–98%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的时间在等大模型输出，这段空转可以直接超卖出去，为了降低用户感知度，沙箱启动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停止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恢复时间至关重要。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并发时时延放大：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单并发已接近达标，差距集中在百并发场景，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Resume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场景放大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倍。</a:t>
            </a:r>
            <a:endParaRPr kumimoji="1" lang="en-US" altLang="zh-CN" sz="1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82" name="表格 81">
            <a:extLst>
              <a:ext uri="{FF2B5EF4-FFF2-40B4-BE49-F238E27FC236}">
                <a16:creationId xmlns:a16="http://schemas.microsoft.com/office/drawing/2014/main" id="{EE69B8E6-7B15-B1B4-4543-5D1C50F5A5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6438385"/>
              </p:ext>
            </p:extLst>
          </p:nvPr>
        </p:nvGraphicFramePr>
        <p:xfrm>
          <a:off x="7495225" y="3449576"/>
          <a:ext cx="4067267" cy="2054500"/>
        </p:xfrm>
        <a:graphic>
          <a:graphicData uri="http://schemas.openxmlformats.org/drawingml/2006/table">
            <a:tbl>
              <a:tblPr/>
              <a:tblGrid>
                <a:gridCol w="858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5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3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81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指标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950 单并发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950 </a:t>
                      </a: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百并发</a:t>
                      </a: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40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Start</a:t>
                      </a:r>
                      <a:r>
                        <a:rPr lang="en-US" sz="1050" b="1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49 </a:t>
                      </a:r>
                      <a:r>
                        <a:rPr lang="en-US" altLang="zh-CN" sz="1050" b="0" dirty="0" err="1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ms</a:t>
                      </a:r>
                      <a:endParaRPr lang="zh-CN" sz="1050" b="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390 </a:t>
                      </a:r>
                      <a:r>
                        <a:rPr kumimoji="1" lang="en-US" altLang="zh-CN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ms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61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Pause</a:t>
                      </a:r>
                      <a:endParaRPr lang="zh-CN" altLang="en-US" sz="105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166 </a:t>
                      </a:r>
                      <a:r>
                        <a:rPr lang="en-US" altLang="zh-CN" sz="1050" b="0" dirty="0" err="1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ms</a:t>
                      </a:r>
                      <a:endParaRPr lang="zh-CN" altLang="zh-CN" sz="1050" b="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1705 </a:t>
                      </a:r>
                      <a:r>
                        <a:rPr kumimoji="1" lang="en-US" altLang="zh-CN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ms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Resume</a:t>
                      </a:r>
                      <a:endParaRPr lang="zh-CN" altLang="en-US" sz="105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101 </a:t>
                      </a:r>
                      <a:r>
                        <a:rPr lang="en-US" altLang="zh-CN" sz="1050" b="0" dirty="0" err="1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ms</a:t>
                      </a:r>
                      <a:endParaRPr lang="zh-CN" sz="1050" b="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1920 </a:t>
                      </a:r>
                      <a:r>
                        <a:rPr kumimoji="1" lang="en-US" altLang="zh-CN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ms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1884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C79025D-24E5-4DCA-815B-710A6B4F4623}"/>
              </a:ext>
            </a:extLst>
          </p:cNvPr>
          <p:cNvSpPr txBox="1"/>
          <p:nvPr/>
        </p:nvSpPr>
        <p:spPr>
          <a:xfrm>
            <a:off x="120354" y="246787"/>
            <a:ext cx="12071648" cy="461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034">
              <a:defRPr/>
            </a:pPr>
            <a:r>
              <a:rPr lang="zh-CN" altLang="en-US" sz="2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沙箱系统：软件生态多样，需要高并发，低时延，高密度部署，可大比例超分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646565E-1C92-4912-9CC6-D601892CC837}"/>
              </a:ext>
            </a:extLst>
          </p:cNvPr>
          <p:cNvGrpSpPr/>
          <p:nvPr/>
        </p:nvGrpSpPr>
        <p:grpSpPr>
          <a:xfrm>
            <a:off x="260191" y="844520"/>
            <a:ext cx="6528548" cy="5436809"/>
            <a:chOff x="257810" y="1111305"/>
            <a:chExt cx="6824892" cy="5170023"/>
          </a:xfrm>
        </p:grpSpPr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BEE71C73-7AF0-447F-8BDE-F6209AD27E72}"/>
                </a:ext>
              </a:extLst>
            </p:cNvPr>
            <p:cNvSpPr/>
            <p:nvPr/>
          </p:nvSpPr>
          <p:spPr>
            <a:xfrm>
              <a:off x="1224467" y="2226171"/>
              <a:ext cx="3289675" cy="616395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沙箱镜像生态</a:t>
              </a:r>
              <a:r>
                <a:rPr kumimoji="1" lang="en-US" altLang="zh-CN" sz="12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kumimoji="1" lang="en-US" altLang="zh-CN" sz="11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openEuler</a:t>
              </a:r>
              <a:r>
                <a:rPr kumimoji="1" lang="zh-CN" altLang="en-US" sz="11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提供多种</a:t>
              </a:r>
              <a:r>
                <a:rPr kumimoji="1" lang="en-US" altLang="zh-CN" sz="11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agent</a:t>
              </a:r>
              <a:r>
                <a:rPr kumimoji="1" lang="zh-CN" altLang="en-US" sz="11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类沙箱</a:t>
              </a:r>
              <a:r>
                <a:rPr kumimoji="1" lang="en-US" altLang="zh-CN" sz="12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2581F7DF-3924-41E2-B668-526E363F83D4}"/>
                </a:ext>
              </a:extLst>
            </p:cNvPr>
            <p:cNvSpPr/>
            <p:nvPr/>
          </p:nvSpPr>
          <p:spPr>
            <a:xfrm>
              <a:off x="257810" y="5640258"/>
              <a:ext cx="6822611" cy="641070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endParaRPr kumimoji="1" lang="en-US" altLang="zh-CN" sz="1399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914034">
                <a:defRPr/>
              </a:pPr>
              <a:endParaRPr kumimoji="1" lang="en-US" altLang="zh-CN" sz="1399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914034">
                <a:defRPr/>
              </a:pPr>
              <a:endParaRPr kumimoji="1" lang="en-US" altLang="zh-CN" sz="1399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28D01EED-E5DF-455A-BB2D-7FD243B33332}"/>
                </a:ext>
              </a:extLst>
            </p:cNvPr>
            <p:cNvSpPr/>
            <p:nvPr/>
          </p:nvSpPr>
          <p:spPr>
            <a:xfrm>
              <a:off x="260091" y="4620907"/>
              <a:ext cx="6822611" cy="662719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endParaRPr lang="zh-CN" altLang="en-US" sz="1399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7075AE8C-9F64-49C9-9A81-B4555331639A}"/>
                </a:ext>
              </a:extLst>
            </p:cNvPr>
            <p:cNvSpPr txBox="1"/>
            <p:nvPr/>
          </p:nvSpPr>
          <p:spPr>
            <a:xfrm>
              <a:off x="313466" y="4852658"/>
              <a:ext cx="553162" cy="2047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034">
                <a:defRPr/>
              </a:pPr>
              <a:r>
                <a:rPr kumimoji="1" lang="en-US" altLang="zh-CN" sz="1399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VMM</a:t>
              </a:r>
              <a:endParaRPr kumimoji="1" lang="zh-CN" altLang="en-US" sz="1399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263036A6-62AF-4FEC-A266-57B0AD5F6A8D}"/>
                </a:ext>
              </a:extLst>
            </p:cNvPr>
            <p:cNvSpPr/>
            <p:nvPr/>
          </p:nvSpPr>
          <p:spPr>
            <a:xfrm>
              <a:off x="1224467" y="4687717"/>
              <a:ext cx="841534" cy="536008"/>
            </a:xfrm>
            <a:prstGeom prst="rect">
              <a:avLst/>
            </a:prstGeom>
            <a:solidFill>
              <a:srgbClr val="A8E0E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 err="1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Qemu</a:t>
              </a:r>
              <a:endParaRPr lang="en-US" altLang="zh-CN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9FFD7D5E-9977-4E90-B37C-A1410D2B64CA}"/>
                </a:ext>
              </a:extLst>
            </p:cNvPr>
            <p:cNvSpPr/>
            <p:nvPr/>
          </p:nvSpPr>
          <p:spPr>
            <a:xfrm>
              <a:off x="2178952" y="4692681"/>
              <a:ext cx="1100363" cy="531043"/>
            </a:xfrm>
            <a:prstGeom prst="rect">
              <a:avLst/>
            </a:prstGeom>
            <a:solidFill>
              <a:srgbClr val="BEE7A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 err="1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Stratovirt</a:t>
              </a:r>
              <a:endParaRPr lang="en-US" altLang="zh-CN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1DF91530-6BC4-4AEC-8D65-97D7495E665D}"/>
                </a:ext>
              </a:extLst>
            </p:cNvPr>
            <p:cNvSpPr/>
            <p:nvPr/>
          </p:nvSpPr>
          <p:spPr>
            <a:xfrm>
              <a:off x="4577697" y="4692682"/>
              <a:ext cx="1156608" cy="53104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Cloud-hypervisor</a:t>
              </a:r>
              <a:endParaRPr lang="en-US" altLang="zh-CN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AA24A91D-414E-43CF-8B8B-411EEB3C1AFC}"/>
                </a:ext>
              </a:extLst>
            </p:cNvPr>
            <p:cNvSpPr/>
            <p:nvPr/>
          </p:nvSpPr>
          <p:spPr>
            <a:xfrm>
              <a:off x="3385295" y="4692681"/>
              <a:ext cx="1100363" cy="531043"/>
            </a:xfrm>
            <a:prstGeom prst="rect">
              <a:avLst/>
            </a:prstGeom>
            <a:solidFill>
              <a:srgbClr val="BEE7A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Firecracker</a:t>
              </a:r>
              <a:endParaRPr lang="en-US" altLang="zh-CN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BA117236-9177-44D8-BCF9-2C8476ECA057}"/>
                </a:ext>
              </a:extLst>
            </p:cNvPr>
            <p:cNvSpPr/>
            <p:nvPr/>
          </p:nvSpPr>
          <p:spPr>
            <a:xfrm>
              <a:off x="5833316" y="4692681"/>
              <a:ext cx="1100363" cy="531042"/>
            </a:xfrm>
            <a:prstGeom prst="rect">
              <a:avLst/>
            </a:prstGeom>
            <a:solidFill>
              <a:srgbClr val="FFB2B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 err="1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gVisor</a:t>
              </a:r>
              <a:endParaRPr lang="en-US" altLang="zh-CN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0FB163BA-70A3-4DDF-BE90-C2929042ABF1}"/>
                </a:ext>
              </a:extLst>
            </p:cNvPr>
            <p:cNvSpPr/>
            <p:nvPr/>
          </p:nvSpPr>
          <p:spPr>
            <a:xfrm>
              <a:off x="257811" y="2963098"/>
              <a:ext cx="6822611" cy="665555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endParaRPr lang="zh-CN" altLang="en-US" sz="1399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1BD93D75-638E-40B7-A5B0-A9B504174FCF}"/>
                </a:ext>
              </a:extLst>
            </p:cNvPr>
            <p:cNvSpPr txBox="1"/>
            <p:nvPr/>
          </p:nvSpPr>
          <p:spPr>
            <a:xfrm>
              <a:off x="313466" y="3194562"/>
              <a:ext cx="911000" cy="2047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034">
                <a:defRPr/>
              </a:pPr>
              <a:r>
                <a:rPr kumimoji="1" lang="en-US" altLang="zh-CN" sz="1399" b="1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GuestOS</a:t>
              </a:r>
              <a:endParaRPr kumimoji="1" lang="zh-CN" altLang="en-US" sz="1399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1FACDA6A-11B4-45E5-90B2-B7A65CC8B051}"/>
                </a:ext>
              </a:extLst>
            </p:cNvPr>
            <p:cNvSpPr/>
            <p:nvPr/>
          </p:nvSpPr>
          <p:spPr>
            <a:xfrm>
              <a:off x="1225715" y="4178645"/>
              <a:ext cx="1599494" cy="358661"/>
            </a:xfrm>
            <a:prstGeom prst="rect">
              <a:avLst/>
            </a:prstGeom>
            <a:solidFill>
              <a:srgbClr val="FFB2B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E2B-orchestrator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273C7045-A3FD-466A-94B1-91B04195A6F3}"/>
                </a:ext>
              </a:extLst>
            </p:cNvPr>
            <p:cNvSpPr txBox="1"/>
            <p:nvPr/>
          </p:nvSpPr>
          <p:spPr>
            <a:xfrm>
              <a:off x="308699" y="5770101"/>
              <a:ext cx="658372" cy="4095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034">
                <a:defRPr/>
              </a:pPr>
              <a:r>
                <a:rPr kumimoji="1" lang="en-US" altLang="zh-CN" sz="1399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Linux</a:t>
              </a:r>
            </a:p>
            <a:p>
              <a:pPr defTabSz="914034">
                <a:defRPr/>
              </a:pPr>
              <a:r>
                <a:rPr kumimoji="1" lang="en-US" altLang="zh-CN" sz="1399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Kernel</a:t>
              </a:r>
              <a:endParaRPr kumimoji="1" lang="zh-CN" altLang="en-US" sz="1399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682E3E43-88B9-4C46-8FC6-16C5861D19F3}"/>
                </a:ext>
              </a:extLst>
            </p:cNvPr>
            <p:cNvSpPr/>
            <p:nvPr/>
          </p:nvSpPr>
          <p:spPr>
            <a:xfrm>
              <a:off x="1224466" y="5717216"/>
              <a:ext cx="2904660" cy="422090"/>
            </a:xfrm>
            <a:prstGeom prst="rect">
              <a:avLst/>
            </a:prstGeom>
            <a:solidFill>
              <a:srgbClr val="FFC49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kumimoji="1" lang="en-US" altLang="zh-CN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KVM</a:t>
              </a:r>
            </a:p>
            <a:p>
              <a:pPr algn="ctr" defTabSz="914034">
                <a:defRPr/>
              </a:pPr>
              <a:r>
                <a:rPr kumimoji="1" lang="zh-CN" altLang="en-US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kumimoji="1" lang="en-US" altLang="zh-CN" sz="1100" b="1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vTimer</a:t>
              </a:r>
              <a:r>
                <a:rPr kumimoji="1" lang="zh-CN" altLang="en-US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kumimoji="1" lang="en-US" altLang="zh-CN" sz="1100" b="1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vIPI</a:t>
              </a:r>
              <a:r>
                <a:rPr kumimoji="1" lang="zh-CN" altLang="en-US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kumimoji="1" lang="en-US" altLang="zh-CN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…</a:t>
              </a:r>
              <a:r>
                <a:rPr kumimoji="1" lang="zh-CN" altLang="en-US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kumimoji="1" lang="en-US" altLang="zh-CN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9ECF773E-0FDE-40FB-ABC9-004C5DDA6886}"/>
                </a:ext>
              </a:extLst>
            </p:cNvPr>
            <p:cNvSpPr/>
            <p:nvPr/>
          </p:nvSpPr>
          <p:spPr>
            <a:xfrm>
              <a:off x="4395260" y="5717216"/>
              <a:ext cx="2538418" cy="422090"/>
            </a:xfrm>
            <a:prstGeom prst="rect">
              <a:avLst/>
            </a:prstGeom>
            <a:solidFill>
              <a:srgbClr val="FFC49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kumimoji="1" lang="en-US" altLang="zh-CN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PVM</a:t>
              </a:r>
            </a:p>
            <a:p>
              <a:pPr algn="ctr" defTabSz="914034">
                <a:defRPr/>
              </a:pPr>
              <a:r>
                <a:rPr kumimoji="1" lang="zh-CN" altLang="en-US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zh-CN" altLang="en-US" sz="11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影子页表</a:t>
              </a:r>
              <a:r>
                <a:rPr kumimoji="1" lang="zh-CN" altLang="en-US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1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地址空间隔离</a:t>
              </a:r>
              <a:r>
                <a:rPr kumimoji="1" lang="zh-CN" altLang="en-US" sz="11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kumimoji="1" lang="en-US" altLang="zh-CN" sz="11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…</a:t>
              </a:r>
              <a:r>
                <a:rPr kumimoji="1" lang="zh-CN" altLang="en-US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kumimoji="1" lang="en-US" altLang="zh-CN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A563A9E6-BD6A-4C4F-BCA1-4A5B0121FEC8}"/>
                </a:ext>
              </a:extLst>
            </p:cNvPr>
            <p:cNvSpPr/>
            <p:nvPr/>
          </p:nvSpPr>
          <p:spPr>
            <a:xfrm>
              <a:off x="257811" y="3721626"/>
              <a:ext cx="6822611" cy="875246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endParaRPr lang="zh-CN" altLang="en-US" sz="1399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B610C165-F1D9-4571-A019-2DDDBD9138D2}"/>
                </a:ext>
              </a:extLst>
            </p:cNvPr>
            <p:cNvSpPr txBox="1"/>
            <p:nvPr/>
          </p:nvSpPr>
          <p:spPr>
            <a:xfrm>
              <a:off x="313466" y="4005457"/>
              <a:ext cx="856593" cy="4095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034">
                <a:defRPr/>
              </a:pPr>
              <a:endParaRPr kumimoji="1" lang="en-US" altLang="zh-CN" sz="1399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defTabSz="914034">
                <a:defRPr/>
              </a:pPr>
              <a:r>
                <a:rPr kumimoji="1" lang="en-US" altLang="zh-CN" sz="1399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Runtime</a:t>
              </a:r>
              <a:endParaRPr kumimoji="1" lang="zh-CN" altLang="en-US" sz="1399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ACDE30F8-36F7-4606-8BF4-2F92F3C4473E}"/>
                </a:ext>
              </a:extLst>
            </p:cNvPr>
            <p:cNvSpPr/>
            <p:nvPr/>
          </p:nvSpPr>
          <p:spPr>
            <a:xfrm>
              <a:off x="1225715" y="3798688"/>
              <a:ext cx="5688332" cy="310729"/>
            </a:xfrm>
            <a:prstGeom prst="rect">
              <a:avLst/>
            </a:prstGeom>
            <a:solidFill>
              <a:srgbClr val="BEE7A6"/>
            </a:solidFill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lgDash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 err="1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Kube</a:t>
              </a: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-Shim (K8S</a:t>
              </a: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兼容 </a:t>
              </a: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性能优化</a:t>
              </a: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84ADB054-3CF7-41E9-8859-A136EB5885C7}"/>
                </a:ext>
              </a:extLst>
            </p:cNvPr>
            <p:cNvSpPr/>
            <p:nvPr/>
          </p:nvSpPr>
          <p:spPr>
            <a:xfrm>
              <a:off x="5134252" y="4170065"/>
              <a:ext cx="1779796" cy="379258"/>
            </a:xfrm>
            <a:prstGeom prst="rect">
              <a:avLst/>
            </a:prstGeom>
            <a:solidFill>
              <a:srgbClr val="BEE7A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CubeSandbox</a:t>
              </a:r>
            </a:p>
            <a:p>
              <a:pPr algn="ctr" defTabSz="914034">
                <a:defRPr/>
              </a:pPr>
              <a:endParaRPr lang="en-US" altLang="zh-CN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BC3FC571-5188-43DC-8877-343B6266CBE6}"/>
                </a:ext>
              </a:extLst>
            </p:cNvPr>
            <p:cNvSpPr/>
            <p:nvPr/>
          </p:nvSpPr>
          <p:spPr>
            <a:xfrm>
              <a:off x="2025461" y="4383297"/>
              <a:ext cx="743109" cy="166026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kumimoji="1" lang="en-US" altLang="zh-CN" sz="9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Patch</a:t>
              </a:r>
              <a:r>
                <a:rPr kumimoji="1" lang="zh-CN" altLang="en-US" sz="9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合入</a:t>
              </a:r>
              <a:endParaRPr kumimoji="1" lang="en-US" altLang="zh-CN" sz="9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F2041F6C-BCA1-4558-B724-74414C6592B0}"/>
                </a:ext>
              </a:extLst>
            </p:cNvPr>
            <p:cNvSpPr/>
            <p:nvPr/>
          </p:nvSpPr>
          <p:spPr>
            <a:xfrm>
              <a:off x="5201492" y="4380632"/>
              <a:ext cx="743109" cy="166026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kumimoji="1" lang="en-US" altLang="zh-CN" sz="9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Patch</a:t>
              </a:r>
              <a:r>
                <a:rPr kumimoji="1" lang="zh-CN" altLang="en-US" sz="9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合入</a:t>
              </a:r>
              <a:endParaRPr kumimoji="1" lang="en-US" altLang="zh-CN" sz="9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DEA947CF-1CD0-4441-B920-15AC25610A7E}"/>
                </a:ext>
              </a:extLst>
            </p:cNvPr>
            <p:cNvSpPr/>
            <p:nvPr/>
          </p:nvSpPr>
          <p:spPr>
            <a:xfrm>
              <a:off x="4445432" y="4170065"/>
              <a:ext cx="612327" cy="375821"/>
            </a:xfrm>
            <a:prstGeom prst="rect">
              <a:avLst/>
            </a:prstGeom>
            <a:solidFill>
              <a:srgbClr val="FFB2B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Kata</a:t>
              </a: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3D24A15E-9509-483F-819C-D50CDA4F6302}"/>
                </a:ext>
              </a:extLst>
            </p:cNvPr>
            <p:cNvSpPr/>
            <p:nvPr/>
          </p:nvSpPr>
          <p:spPr>
            <a:xfrm>
              <a:off x="3613677" y="4178645"/>
              <a:ext cx="723168" cy="353517"/>
            </a:xfrm>
            <a:prstGeom prst="rect">
              <a:avLst/>
            </a:prstGeom>
            <a:solidFill>
              <a:srgbClr val="FFB2B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 err="1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RunD</a:t>
              </a:r>
              <a:endParaRPr lang="en-US" altLang="zh-CN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891209EE-D432-4FA2-B13E-746C9974007B}"/>
                </a:ext>
              </a:extLst>
            </p:cNvPr>
            <p:cNvSpPr/>
            <p:nvPr/>
          </p:nvSpPr>
          <p:spPr>
            <a:xfrm>
              <a:off x="2901700" y="4173502"/>
              <a:ext cx="666616" cy="358661"/>
            </a:xfrm>
            <a:prstGeom prst="rect">
              <a:avLst/>
            </a:prstGeom>
            <a:solidFill>
              <a:srgbClr val="FFB2B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 err="1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runc</a:t>
              </a:r>
              <a:endParaRPr lang="en-US" altLang="zh-CN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116E4B37-A0D1-471E-B251-D0E7B2DDFA5D}"/>
                </a:ext>
              </a:extLst>
            </p:cNvPr>
            <p:cNvSpPr/>
            <p:nvPr/>
          </p:nvSpPr>
          <p:spPr>
            <a:xfrm>
              <a:off x="1477088" y="2515825"/>
              <a:ext cx="1362772" cy="330776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快照制作工具链</a:t>
              </a:r>
              <a:endParaRPr lang="en-US" altLang="zh-CN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914034">
                <a:defRPr/>
              </a:pP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OCI-&gt;</a:t>
              </a: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快照）</a:t>
              </a:r>
              <a:endParaRPr lang="en-US" altLang="zh-CN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2354B089-183D-44A7-97DF-595A7064658D}"/>
                </a:ext>
              </a:extLst>
            </p:cNvPr>
            <p:cNvSpPr/>
            <p:nvPr/>
          </p:nvSpPr>
          <p:spPr>
            <a:xfrm>
              <a:off x="1225715" y="3143149"/>
              <a:ext cx="1459639" cy="398428"/>
            </a:xfrm>
            <a:prstGeom prst="rect">
              <a:avLst/>
            </a:prstGeom>
            <a:solidFill>
              <a:srgbClr val="BEE7A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 err="1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Debain</a:t>
              </a: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/Ubuntu</a:t>
              </a: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34C6C23E-F83C-4916-A026-3078860900E0}"/>
                </a:ext>
              </a:extLst>
            </p:cNvPr>
            <p:cNvSpPr/>
            <p:nvPr/>
          </p:nvSpPr>
          <p:spPr>
            <a:xfrm>
              <a:off x="3871505" y="3153452"/>
              <a:ext cx="1490335" cy="398428"/>
            </a:xfrm>
            <a:prstGeom prst="rect">
              <a:avLst/>
            </a:prstGeom>
            <a:solidFill>
              <a:srgbClr val="BEE7A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702" rIns="0" bIns="457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异构</a:t>
              </a: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OS</a:t>
              </a:r>
            </a:p>
            <a:p>
              <a:pPr algn="ctr" defTabSz="914034">
                <a:defRPr/>
              </a:pPr>
              <a:r>
                <a:rPr lang="zh-CN" altLang="en-US" sz="105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05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Android-Cuttlefish</a:t>
              </a:r>
              <a:r>
                <a:rPr lang="zh-CN" altLang="en-US" sz="105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en-US" altLang="zh-CN" sz="105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ADE6ABA0-0AC5-476B-BA18-47D264D6905F}"/>
                </a:ext>
              </a:extLst>
            </p:cNvPr>
            <p:cNvSpPr/>
            <p:nvPr/>
          </p:nvSpPr>
          <p:spPr>
            <a:xfrm>
              <a:off x="2909698" y="2506930"/>
              <a:ext cx="1308217" cy="335636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ARM</a:t>
              </a: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转换</a:t>
              </a:r>
              <a:endParaRPr lang="en-US" altLang="zh-CN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914034">
                <a:defRPr/>
              </a:pP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X86-&gt;ARM</a:t>
              </a: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en-US" altLang="zh-CN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5CA5DE42-084C-4258-A54B-C115988C79E7}"/>
                </a:ext>
              </a:extLst>
            </p:cNvPr>
            <p:cNvSpPr/>
            <p:nvPr/>
          </p:nvSpPr>
          <p:spPr>
            <a:xfrm>
              <a:off x="1820723" y="3381559"/>
              <a:ext cx="836601" cy="166026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kumimoji="1" lang="zh-CN" altLang="en-US" sz="9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内核</a:t>
              </a:r>
              <a:r>
                <a:rPr kumimoji="1" lang="en-US" altLang="zh-CN" sz="9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Patch</a:t>
              </a:r>
              <a:r>
                <a:rPr kumimoji="1" lang="zh-CN" altLang="en-US" sz="9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合入</a:t>
              </a:r>
              <a:endParaRPr kumimoji="1" lang="en-US" altLang="zh-CN" sz="9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90664F66-2C5D-41E0-871E-8934C48ADD82}"/>
                </a:ext>
              </a:extLst>
            </p:cNvPr>
            <p:cNvSpPr/>
            <p:nvPr/>
          </p:nvSpPr>
          <p:spPr>
            <a:xfrm>
              <a:off x="257810" y="5355400"/>
              <a:ext cx="6822611" cy="249017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kumimoji="1" lang="zh-CN" altLang="en-US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中间件 （</a:t>
              </a:r>
              <a:r>
                <a:rPr kumimoji="1" lang="en-US" altLang="zh-CN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UBS</a:t>
              </a:r>
              <a:r>
                <a:rPr kumimoji="1" lang="zh-CN" altLang="en-US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kumimoji="1" lang="en-US" altLang="zh-CN" sz="1100" b="1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MoonCake</a:t>
              </a: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kumimoji="1" lang="en-US" altLang="zh-CN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…</a:t>
              </a:r>
              <a:r>
                <a:rPr kumimoji="1" lang="zh-CN" altLang="en-US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kumimoji="1" lang="en-US" altLang="zh-CN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5DDE4A3A-5A80-477D-BEBE-D3A937B3C481}"/>
                </a:ext>
              </a:extLst>
            </p:cNvPr>
            <p:cNvSpPr/>
            <p:nvPr/>
          </p:nvSpPr>
          <p:spPr>
            <a:xfrm>
              <a:off x="4752195" y="2226171"/>
              <a:ext cx="2222949" cy="616395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kumimoji="1" lang="en-US" altLang="zh-CN" sz="12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Skills</a:t>
              </a:r>
              <a:r>
                <a:rPr kumimoji="1" lang="zh-CN" altLang="en-US" sz="12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层 </a:t>
              </a:r>
              <a:endParaRPr kumimoji="1" lang="en-US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914034">
                <a:defRPr/>
              </a:pPr>
              <a:r>
                <a:rPr kumimoji="1" lang="zh-CN" altLang="en-US" sz="12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（安全扫描、兼容测试）</a:t>
              </a:r>
              <a:endPara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4C7BC076-5283-43EA-84A4-3F6F68662CFE}"/>
                </a:ext>
              </a:extLst>
            </p:cNvPr>
            <p:cNvSpPr/>
            <p:nvPr/>
          </p:nvSpPr>
          <p:spPr>
            <a:xfrm>
              <a:off x="257810" y="2204279"/>
              <a:ext cx="6822611" cy="665555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endParaRPr lang="zh-CN" altLang="en-US" sz="1399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C6DAFC71-BAC6-4BF0-90A4-6914B05E2A5A}"/>
                </a:ext>
              </a:extLst>
            </p:cNvPr>
            <p:cNvSpPr txBox="1"/>
            <p:nvPr/>
          </p:nvSpPr>
          <p:spPr>
            <a:xfrm>
              <a:off x="327093" y="2415808"/>
              <a:ext cx="827535" cy="2047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034">
                <a:defRPr/>
              </a:pPr>
              <a:r>
                <a:rPr kumimoji="1" lang="zh-CN" altLang="en-US" sz="1399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镜像生态</a:t>
              </a: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6BBA9A17-C405-4733-86B5-2348E638AC2D}"/>
                </a:ext>
              </a:extLst>
            </p:cNvPr>
            <p:cNvSpPr/>
            <p:nvPr/>
          </p:nvSpPr>
          <p:spPr>
            <a:xfrm>
              <a:off x="2735292" y="3150609"/>
              <a:ext cx="1087876" cy="398428"/>
            </a:xfrm>
            <a:prstGeom prst="rect">
              <a:avLst/>
            </a:prstGeom>
            <a:solidFill>
              <a:srgbClr val="BEE7A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Other OS</a:t>
              </a: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76D8AC90-169E-4153-BB74-2BCFE4ADE163}"/>
                </a:ext>
              </a:extLst>
            </p:cNvPr>
            <p:cNvSpPr/>
            <p:nvPr/>
          </p:nvSpPr>
          <p:spPr>
            <a:xfrm>
              <a:off x="2969811" y="3378952"/>
              <a:ext cx="853358" cy="166026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kumimoji="1" lang="zh-CN" altLang="en-US" sz="9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内核</a:t>
              </a:r>
              <a:r>
                <a:rPr kumimoji="1" lang="en-US" altLang="zh-CN" sz="9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Patch</a:t>
              </a:r>
              <a:r>
                <a:rPr kumimoji="1" lang="zh-CN" altLang="en-US" sz="9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合入</a:t>
              </a:r>
              <a:endParaRPr kumimoji="1" lang="en-US" altLang="zh-CN" sz="9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8A1AF8DD-9466-42CB-A813-064A2837D39E}"/>
                </a:ext>
              </a:extLst>
            </p:cNvPr>
            <p:cNvSpPr/>
            <p:nvPr/>
          </p:nvSpPr>
          <p:spPr>
            <a:xfrm>
              <a:off x="5431591" y="3148608"/>
              <a:ext cx="1490335" cy="398428"/>
            </a:xfrm>
            <a:prstGeom prst="rect">
              <a:avLst/>
            </a:prstGeom>
            <a:solidFill>
              <a:srgbClr val="BEE7A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异构</a:t>
              </a: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OS</a:t>
              </a:r>
            </a:p>
            <a:p>
              <a:pPr algn="ctr" defTabSz="914034">
                <a:defRPr/>
              </a:pP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ARM Windows</a:t>
              </a: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en-US" altLang="zh-CN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C945C91E-AA7B-4894-8DCF-A647D7E5CD69}"/>
                </a:ext>
              </a:extLst>
            </p:cNvPr>
            <p:cNvSpPr/>
            <p:nvPr/>
          </p:nvSpPr>
          <p:spPr>
            <a:xfrm>
              <a:off x="6468957" y="3138817"/>
              <a:ext cx="452969" cy="166026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kumimoji="1" lang="zh-CN" altLang="en-US" sz="1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驱动</a:t>
              </a:r>
              <a:endParaRPr kumimoji="1" lang="en-US" altLang="zh-CN" sz="1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C15E5A61-15D6-464F-85BD-B9F4AF58D872}"/>
                </a:ext>
              </a:extLst>
            </p:cNvPr>
            <p:cNvSpPr/>
            <p:nvPr/>
          </p:nvSpPr>
          <p:spPr>
            <a:xfrm>
              <a:off x="4824743" y="3145206"/>
              <a:ext cx="535993" cy="166026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kumimoji="1" lang="zh-CN" altLang="en-US" sz="1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渲染加速</a:t>
              </a:r>
              <a:endParaRPr kumimoji="1" lang="en-US" altLang="zh-CN" sz="1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3" name="连接符: 曲线 82">
              <a:extLst>
                <a:ext uri="{FF2B5EF4-FFF2-40B4-BE49-F238E27FC236}">
                  <a16:creationId xmlns:a16="http://schemas.microsoft.com/office/drawing/2014/main" id="{46F1B5AD-121C-4FF6-9848-85F9B220D39C}"/>
                </a:ext>
              </a:extLst>
            </p:cNvPr>
            <p:cNvCxnSpPr>
              <a:cxnSpLocks/>
              <a:stCxn id="49" idx="2"/>
              <a:endCxn id="53" idx="1"/>
            </p:cNvCxnSpPr>
            <p:nvPr/>
          </p:nvCxnSpPr>
          <p:spPr>
            <a:xfrm rot="5400000">
              <a:off x="1680614" y="2986711"/>
              <a:ext cx="617971" cy="337752"/>
            </a:xfrm>
            <a:prstGeom prst="curvedConnector4">
              <a:avLst>
                <a:gd name="adj1" fmla="val 43283"/>
                <a:gd name="adj2" fmla="val 170755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连接符: 曲线 84">
              <a:extLst>
                <a:ext uri="{FF2B5EF4-FFF2-40B4-BE49-F238E27FC236}">
                  <a16:creationId xmlns:a16="http://schemas.microsoft.com/office/drawing/2014/main" id="{2DF24A61-693F-4FB5-8698-81C14CC42A9C}"/>
                </a:ext>
              </a:extLst>
            </p:cNvPr>
            <p:cNvCxnSpPr>
              <a:cxnSpLocks/>
              <a:stCxn id="49" idx="2"/>
              <a:endCxn id="78" idx="0"/>
            </p:cNvCxnSpPr>
            <p:nvPr/>
          </p:nvCxnSpPr>
          <p:spPr>
            <a:xfrm rot="16200000" flipH="1">
              <a:off x="2511307" y="2493768"/>
              <a:ext cx="532350" cy="1238015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2F34B4D4-74B5-43B5-BE90-D1672A858B4E}"/>
                </a:ext>
              </a:extLst>
            </p:cNvPr>
            <p:cNvSpPr/>
            <p:nvPr/>
          </p:nvSpPr>
          <p:spPr>
            <a:xfrm>
              <a:off x="1224467" y="1173420"/>
              <a:ext cx="1859523" cy="902570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12">
                <a:defRPr/>
              </a:pPr>
              <a:r>
                <a:rPr lang="zh-CN" altLang="en-US" sz="1200" b="1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用户级沙箱负载</a:t>
              </a:r>
              <a:endParaRPr lang="en-US" altLang="zh-CN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914112">
                <a:defRPr/>
              </a:pPr>
              <a:r>
                <a:rPr lang="zh-CN" altLang="en-US" sz="12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如每用户</a:t>
              </a:r>
              <a:r>
                <a:rPr lang="en-US" altLang="zh-CN" sz="1200" dirty="0" err="1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Openclaw</a:t>
              </a:r>
              <a:r>
                <a:rPr lang="zh-CN" altLang="en-US" sz="12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、长期开发者环境</a:t>
              </a:r>
              <a:endParaRPr lang="en-US" altLang="zh-CN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45EEC0E3-8A30-4909-8D35-09960FCCBE0E}"/>
                </a:ext>
              </a:extLst>
            </p:cNvPr>
            <p:cNvSpPr/>
            <p:nvPr/>
          </p:nvSpPr>
          <p:spPr>
            <a:xfrm>
              <a:off x="3171070" y="1173420"/>
              <a:ext cx="1859523" cy="902570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12">
                <a:defRPr/>
              </a:pPr>
              <a:r>
                <a:rPr lang="zh-CN" altLang="en-US" sz="1200" b="1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会话级沙箱负载</a:t>
              </a:r>
              <a:endParaRPr lang="en-US" altLang="zh-CN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914112">
                <a:defRPr/>
              </a:pPr>
              <a:r>
                <a:rPr lang="zh-CN" altLang="en-US" sz="12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</a:t>
              </a:r>
              <a:r>
                <a:rPr lang="en-US" altLang="zh-CN" sz="12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Browser Use</a:t>
              </a:r>
              <a:r>
                <a:rPr lang="zh-CN" altLang="en-US" sz="12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、多轮数据分析等</a:t>
              </a:r>
              <a:endParaRPr lang="en-US" altLang="zh-CN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4F0A0A6A-FCFA-4464-8F96-A49FA052EC28}"/>
                </a:ext>
              </a:extLst>
            </p:cNvPr>
            <p:cNvSpPr/>
            <p:nvPr/>
          </p:nvSpPr>
          <p:spPr>
            <a:xfrm>
              <a:off x="5117673" y="1173420"/>
              <a:ext cx="1857471" cy="902570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12">
                <a:defRPr/>
              </a:pPr>
              <a:r>
                <a:rPr lang="zh-CN" altLang="en-US" sz="1200" b="1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任务级沙箱负载</a:t>
              </a:r>
              <a:endParaRPr lang="en-US" altLang="zh-CN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914112">
                <a:defRPr/>
              </a:pPr>
              <a:r>
                <a:rPr lang="zh-CN" altLang="en-US" sz="12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纯单次 </a:t>
              </a:r>
              <a:r>
                <a:rPr lang="en-US" altLang="zh-CN" sz="12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Code Interpreter</a:t>
              </a:r>
              <a:r>
                <a:rPr lang="zh-CN" altLang="en-US" sz="12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、一次性脚本执行</a:t>
              </a:r>
              <a:endParaRPr lang="en-US" altLang="zh-CN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446A8A45-35DB-4293-9EFD-EED7B212E135}"/>
                </a:ext>
              </a:extLst>
            </p:cNvPr>
            <p:cNvSpPr/>
            <p:nvPr/>
          </p:nvSpPr>
          <p:spPr>
            <a:xfrm>
              <a:off x="257810" y="1111305"/>
              <a:ext cx="6822611" cy="1026801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endParaRPr lang="zh-CN" altLang="en-US" sz="1399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5645B5B5-F6C2-4337-AEAA-3385DE784917}"/>
                </a:ext>
              </a:extLst>
            </p:cNvPr>
            <p:cNvSpPr txBox="1"/>
            <p:nvPr/>
          </p:nvSpPr>
          <p:spPr>
            <a:xfrm>
              <a:off x="308699" y="1522881"/>
              <a:ext cx="827535" cy="2047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034">
                <a:defRPr/>
              </a:pPr>
              <a:r>
                <a:rPr kumimoji="1" lang="zh-CN" altLang="en-US" sz="1399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沙箱负载</a:t>
              </a:r>
            </a:p>
          </p:txBody>
        </p:sp>
      </p:grpSp>
      <p:graphicFrame>
        <p:nvGraphicFramePr>
          <p:cNvPr id="8" name="表格 45">
            <a:extLst>
              <a:ext uri="{FF2B5EF4-FFF2-40B4-BE49-F238E27FC236}">
                <a16:creationId xmlns:a16="http://schemas.microsoft.com/office/drawing/2014/main" id="{9CC484AB-EBC7-5D4E-A914-8D3E2A2681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5031491"/>
              </p:ext>
            </p:extLst>
          </p:nvPr>
        </p:nvGraphicFramePr>
        <p:xfrm>
          <a:off x="6913137" y="876485"/>
          <a:ext cx="5206570" cy="4811622"/>
        </p:xfrm>
        <a:graphic>
          <a:graphicData uri="http://schemas.openxmlformats.org/drawingml/2006/table">
            <a:tbl>
              <a:tblPr/>
              <a:tblGrid>
                <a:gridCol w="1344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7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81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竞争点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相关组件</a:t>
                      </a: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主要指标</a:t>
                      </a: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368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沙箱超分</a:t>
                      </a:r>
                      <a:r>
                        <a:rPr lang="en-US" altLang="zh-CN" sz="140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(</a:t>
                      </a:r>
                      <a:r>
                        <a:rPr lang="zh-CN" altLang="en-US" sz="140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时间）</a:t>
                      </a:r>
                      <a:endParaRPr lang="en-US" sz="1400" b="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CubeSandbox</a:t>
                      </a:r>
                      <a:endParaRPr lang="en-US" altLang="zh-CN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Cloud-hypervisor</a:t>
                      </a:r>
                    </a:p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KVM</a:t>
                      </a:r>
                    </a:p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GuestOS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Debian/Ubuntu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lang="en-US" altLang="zh-CN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Start </a:t>
                      </a: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时间</a:t>
                      </a:r>
                      <a:endParaRPr lang="en-US" altLang="zh-CN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Pause </a:t>
                      </a: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时间</a:t>
                      </a:r>
                      <a:endParaRPr lang="en-US" altLang="zh-CN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Resume </a:t>
                      </a: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时间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368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沙箱超分</a:t>
                      </a:r>
                      <a:r>
                        <a:rPr lang="en-US" altLang="zh-CN" sz="140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(</a:t>
                      </a:r>
                      <a:r>
                        <a:rPr lang="zh-CN" altLang="en-US" sz="140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空间</a:t>
                      </a:r>
                      <a:r>
                        <a:rPr lang="en-US" altLang="zh-CN" sz="140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)</a:t>
                      </a:r>
                      <a:endParaRPr lang="en-US" sz="1400" b="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KVM</a:t>
                      </a:r>
                    </a:p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GuestOS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Debian/Ubuntu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lang="en-US" altLang="zh-CN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Cloud-hypervisor</a:t>
                      </a:r>
                      <a:endParaRPr lang="zh-CN" altLang="zh-CN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并发沙箱数量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766220"/>
                  </a:ext>
                </a:extLst>
              </a:tr>
              <a:tr h="6261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PVM </a:t>
                      </a:r>
                      <a:r>
                        <a:rPr lang="zh-CN" altLang="en-US" sz="1400" b="0" kern="12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沙箱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PVM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KVM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HostOS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（中间层）</a:t>
                      </a:r>
                      <a:endParaRPr lang="zh-CN" altLang="zh-CN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功能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61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kern="12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安全沙箱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Cloud-hypervisor / Firecracker</a:t>
                      </a:r>
                    </a:p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KVM</a:t>
                      </a:r>
                    </a:p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Kube-Shim</a:t>
                      </a:r>
                      <a:endParaRPr lang="zh-CN" altLang="zh-CN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主要针对虚拟机逃逸问题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5547576"/>
                  </a:ext>
                </a:extLst>
              </a:tr>
              <a:tr h="6261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UB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总线替换 </a:t>
                      </a:r>
                      <a:r>
                        <a:rPr lang="en-US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rpc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zh-CN" alt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UBS</a:t>
                      </a:r>
                    </a:p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CubeSandbox</a:t>
                      </a:r>
                      <a:endParaRPr lang="en-US" altLang="zh-CN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Cloud-hypervisor</a:t>
                      </a:r>
                      <a:endParaRPr lang="zh-CN" altLang="zh-CN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Snap-Port-Resume </a:t>
                      </a: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时间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0225021"/>
                  </a:ext>
                </a:extLst>
              </a:tr>
              <a:tr h="6261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集群调度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Kube-Shim</a:t>
                      </a:r>
                    </a:p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E2B-orchestrator</a:t>
                      </a:r>
                      <a:endParaRPr lang="zh-CN" altLang="zh-CN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集群规模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68963"/>
                  </a:ext>
                </a:extLst>
              </a:tr>
            </a:tbl>
          </a:graphicData>
        </a:graphic>
      </p:graphicFrame>
      <p:grpSp>
        <p:nvGrpSpPr>
          <p:cNvPr id="9" name="Group 20">
            <a:extLst>
              <a:ext uri="{FF2B5EF4-FFF2-40B4-BE49-F238E27FC236}">
                <a16:creationId xmlns:a16="http://schemas.microsoft.com/office/drawing/2014/main" id="{005A18E6-915D-C4B5-7AD1-CD79E70FC7AE}"/>
              </a:ext>
            </a:extLst>
          </p:cNvPr>
          <p:cNvGrpSpPr/>
          <p:nvPr/>
        </p:nvGrpSpPr>
        <p:grpSpPr>
          <a:xfrm>
            <a:off x="308870" y="6469763"/>
            <a:ext cx="859558" cy="138499"/>
            <a:chOff x="367361" y="3955794"/>
            <a:chExt cx="859558" cy="138499"/>
          </a:xfrm>
        </p:grpSpPr>
        <p:sp>
          <p:nvSpPr>
            <p:cNvPr id="10" name="Rectangle 18">
              <a:extLst>
                <a:ext uri="{FF2B5EF4-FFF2-40B4-BE49-F238E27FC236}">
                  <a16:creationId xmlns:a16="http://schemas.microsoft.com/office/drawing/2014/main" id="{4082782D-1AA4-5A56-1465-55AAE5474462}"/>
                </a:ext>
              </a:extLst>
            </p:cNvPr>
            <p:cNvSpPr/>
            <p:nvPr/>
          </p:nvSpPr>
          <p:spPr>
            <a:xfrm>
              <a:off x="367361" y="3960518"/>
              <a:ext cx="272720" cy="129050"/>
            </a:xfrm>
            <a:prstGeom prst="rect">
              <a:avLst/>
            </a:prstGeom>
            <a:solidFill>
              <a:srgbClr val="BEE7A6"/>
            </a:solidFill>
            <a:ln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zh-CN" altLang="en-US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TextBox 19">
              <a:extLst>
                <a:ext uri="{FF2B5EF4-FFF2-40B4-BE49-F238E27FC236}">
                  <a16:creationId xmlns:a16="http://schemas.microsoft.com/office/drawing/2014/main" id="{26731BE0-BC51-A08D-9A61-4DC8CA8A0D1F}"/>
                </a:ext>
              </a:extLst>
            </p:cNvPr>
            <p:cNvSpPr txBox="1"/>
            <p:nvPr/>
          </p:nvSpPr>
          <p:spPr>
            <a:xfrm>
              <a:off x="720370" y="3955794"/>
              <a:ext cx="506549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zh-CN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Rust </a:t>
              </a:r>
              <a:r>
                <a:rPr kumimoji="1" lang="zh-CN" altLang="en-US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组件</a:t>
              </a:r>
            </a:p>
          </p:txBody>
        </p:sp>
      </p:grpSp>
      <p:grpSp>
        <p:nvGrpSpPr>
          <p:cNvPr id="12" name="Group 23">
            <a:extLst>
              <a:ext uri="{FF2B5EF4-FFF2-40B4-BE49-F238E27FC236}">
                <a16:creationId xmlns:a16="http://schemas.microsoft.com/office/drawing/2014/main" id="{8F221744-00A4-D1C8-E7CA-B28437FC5335}"/>
              </a:ext>
            </a:extLst>
          </p:cNvPr>
          <p:cNvGrpSpPr/>
          <p:nvPr/>
        </p:nvGrpSpPr>
        <p:grpSpPr>
          <a:xfrm>
            <a:off x="1281089" y="6469763"/>
            <a:ext cx="1470303" cy="138499"/>
            <a:chOff x="367361" y="3955794"/>
            <a:chExt cx="1470303" cy="138499"/>
          </a:xfrm>
        </p:grpSpPr>
        <p:sp>
          <p:nvSpPr>
            <p:cNvPr id="13" name="Rectangle 24">
              <a:extLst>
                <a:ext uri="{FF2B5EF4-FFF2-40B4-BE49-F238E27FC236}">
                  <a16:creationId xmlns:a16="http://schemas.microsoft.com/office/drawing/2014/main" id="{E9F809DD-5683-4554-A0BD-FAF30027F6C9}"/>
                </a:ext>
              </a:extLst>
            </p:cNvPr>
            <p:cNvSpPr/>
            <p:nvPr/>
          </p:nvSpPr>
          <p:spPr>
            <a:xfrm>
              <a:off x="367361" y="3960518"/>
              <a:ext cx="272720" cy="129050"/>
            </a:xfrm>
            <a:prstGeom prst="rect">
              <a:avLst/>
            </a:prstGeom>
            <a:solidFill>
              <a:srgbClr val="A8E0E8"/>
            </a:solidFill>
            <a:ln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zh-CN" altLang="en-US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TextBox 25">
              <a:extLst>
                <a:ext uri="{FF2B5EF4-FFF2-40B4-BE49-F238E27FC236}">
                  <a16:creationId xmlns:a16="http://schemas.microsoft.com/office/drawing/2014/main" id="{37C7CC66-9D9A-5E07-CBC5-72DC52AA38A2}"/>
                </a:ext>
              </a:extLst>
            </p:cNvPr>
            <p:cNvSpPr txBox="1"/>
            <p:nvPr/>
          </p:nvSpPr>
          <p:spPr>
            <a:xfrm>
              <a:off x="720370" y="3955794"/>
              <a:ext cx="1117294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zh-CN" altLang="en-US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非 </a:t>
              </a:r>
              <a:r>
                <a:rPr kumimoji="1" lang="en-US" altLang="zh-CN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Rust </a:t>
              </a:r>
              <a:r>
                <a:rPr kumimoji="1" lang="zh-CN" altLang="en-US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组件（用户）</a:t>
              </a:r>
            </a:p>
          </p:txBody>
        </p:sp>
      </p:grpSp>
      <p:grpSp>
        <p:nvGrpSpPr>
          <p:cNvPr id="15" name="Group 26">
            <a:extLst>
              <a:ext uri="{FF2B5EF4-FFF2-40B4-BE49-F238E27FC236}">
                <a16:creationId xmlns:a16="http://schemas.microsoft.com/office/drawing/2014/main" id="{B1A0E851-27C7-1580-73FA-12F8001621A7}"/>
              </a:ext>
            </a:extLst>
          </p:cNvPr>
          <p:cNvGrpSpPr/>
          <p:nvPr/>
        </p:nvGrpSpPr>
        <p:grpSpPr>
          <a:xfrm>
            <a:off x="2810827" y="6465038"/>
            <a:ext cx="1470303" cy="138499"/>
            <a:chOff x="367361" y="3955794"/>
            <a:chExt cx="1470303" cy="138499"/>
          </a:xfrm>
        </p:grpSpPr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3B9618AF-0D90-33EB-D2F6-D3715F0D0258}"/>
                </a:ext>
              </a:extLst>
            </p:cNvPr>
            <p:cNvSpPr/>
            <p:nvPr/>
          </p:nvSpPr>
          <p:spPr>
            <a:xfrm>
              <a:off x="367361" y="3960518"/>
              <a:ext cx="272720" cy="129050"/>
            </a:xfrm>
            <a:prstGeom prst="rect">
              <a:avLst/>
            </a:prstGeom>
            <a:solidFill>
              <a:srgbClr val="FFC492"/>
            </a:solidFill>
            <a:ln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zh-CN" altLang="en-US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TextBox 28">
              <a:extLst>
                <a:ext uri="{FF2B5EF4-FFF2-40B4-BE49-F238E27FC236}">
                  <a16:creationId xmlns:a16="http://schemas.microsoft.com/office/drawing/2014/main" id="{6BD63051-A130-197E-907B-30C6EDC6C5F3}"/>
                </a:ext>
              </a:extLst>
            </p:cNvPr>
            <p:cNvSpPr txBox="1"/>
            <p:nvPr/>
          </p:nvSpPr>
          <p:spPr>
            <a:xfrm>
              <a:off x="720370" y="3955794"/>
              <a:ext cx="1117294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zh-CN" altLang="en-US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非 </a:t>
              </a:r>
              <a:r>
                <a:rPr kumimoji="1" lang="en-US" altLang="zh-CN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Rust </a:t>
              </a:r>
              <a:r>
                <a:rPr kumimoji="1" lang="zh-CN" altLang="en-US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组件（内核）</a:t>
              </a:r>
            </a:p>
          </p:txBody>
        </p:sp>
      </p:grpSp>
      <p:grpSp>
        <p:nvGrpSpPr>
          <p:cNvPr id="18" name="Group 29">
            <a:extLst>
              <a:ext uri="{FF2B5EF4-FFF2-40B4-BE49-F238E27FC236}">
                <a16:creationId xmlns:a16="http://schemas.microsoft.com/office/drawing/2014/main" id="{A89C4A38-D17E-855C-E3CA-F80CAA01805F}"/>
              </a:ext>
            </a:extLst>
          </p:cNvPr>
          <p:cNvGrpSpPr/>
          <p:nvPr/>
        </p:nvGrpSpPr>
        <p:grpSpPr>
          <a:xfrm>
            <a:off x="4393790" y="6465038"/>
            <a:ext cx="1024668" cy="138499"/>
            <a:chOff x="367361" y="3955794"/>
            <a:chExt cx="1024668" cy="138499"/>
          </a:xfrm>
        </p:grpSpPr>
        <p:sp>
          <p:nvSpPr>
            <p:cNvPr id="19" name="Rectangle 30">
              <a:extLst>
                <a:ext uri="{FF2B5EF4-FFF2-40B4-BE49-F238E27FC236}">
                  <a16:creationId xmlns:a16="http://schemas.microsoft.com/office/drawing/2014/main" id="{6F223DDA-240D-4383-C43F-1E99CB539121}"/>
                </a:ext>
              </a:extLst>
            </p:cNvPr>
            <p:cNvSpPr/>
            <p:nvPr/>
          </p:nvSpPr>
          <p:spPr>
            <a:xfrm>
              <a:off x="367361" y="3960518"/>
              <a:ext cx="272720" cy="129050"/>
            </a:xfrm>
            <a:prstGeom prst="rect">
              <a:avLst/>
            </a:prstGeom>
            <a:solidFill>
              <a:srgbClr val="FFB2B2"/>
            </a:solidFill>
            <a:ln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zh-CN" altLang="en-US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TextBox 31">
              <a:extLst>
                <a:ext uri="{FF2B5EF4-FFF2-40B4-BE49-F238E27FC236}">
                  <a16:creationId xmlns:a16="http://schemas.microsoft.com/office/drawing/2014/main" id="{AEA81C9E-EEC4-479F-E834-FA94590CE7BA}"/>
                </a:ext>
              </a:extLst>
            </p:cNvPr>
            <p:cNvSpPr txBox="1"/>
            <p:nvPr/>
          </p:nvSpPr>
          <p:spPr>
            <a:xfrm>
              <a:off x="720370" y="3955794"/>
              <a:ext cx="671659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zh-CN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go-rust </a:t>
              </a:r>
              <a:r>
                <a:rPr kumimoji="1" lang="zh-CN" altLang="en-US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边界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0873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FAD2D50F-4429-A605-6CC7-AADF5E9CF196}"/>
              </a:ext>
            </a:extLst>
          </p:cNvPr>
          <p:cNvSpPr/>
          <p:nvPr/>
        </p:nvSpPr>
        <p:spPr>
          <a:xfrm>
            <a:off x="10476084" y="2201463"/>
            <a:ext cx="1354857" cy="129963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zh-CN" altLang="en-US" sz="1100" dirty="0" err="1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9E2459-E927-C8ED-D55C-D4A8EC1F34C5}"/>
              </a:ext>
            </a:extLst>
          </p:cNvPr>
          <p:cNvSpPr txBox="1"/>
          <p:nvPr/>
        </p:nvSpPr>
        <p:spPr>
          <a:xfrm>
            <a:off x="11463741" y="1835486"/>
            <a:ext cx="554639" cy="904785"/>
          </a:xfrm>
          <a:prstGeom prst="rect">
            <a:avLst/>
          </a:prstGeom>
          <a:noFill/>
        </p:spPr>
        <p:txBody>
          <a:bodyPr vert="eaVert" wrap="square" lIns="0" tIns="0" rIns="0" bIns="0" rtlCol="0">
            <a:spAutoFit/>
          </a:bodyPr>
          <a:lstStyle/>
          <a:p>
            <a:pPr algn="ctr"/>
            <a:r>
              <a:rPr kumimoji="1" lang="en-US" altLang="zh-CN" sz="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 </a:t>
            </a:r>
            <a:r>
              <a:rPr kumimoji="1" lang="zh-CN" altLang="en-US" sz="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相关性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FDAB65-8F80-C9C6-64D0-6030AC1BF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401" y="360000"/>
            <a:ext cx="10877194" cy="360000"/>
          </a:xfrm>
        </p:spPr>
        <p:txBody>
          <a:bodyPr/>
          <a:lstStyle/>
          <a:p>
            <a:r>
              <a:rPr lang="zh-CN" altLang="en-US" dirty="0"/>
              <a:t>当前沙箱场景，有多个团队从不同角度投入，需仔细选择发力点</a:t>
            </a:r>
          </a:p>
        </p:txBody>
      </p:sp>
      <p:graphicFrame>
        <p:nvGraphicFramePr>
          <p:cNvPr id="4" name="表格 45">
            <a:extLst>
              <a:ext uri="{FF2B5EF4-FFF2-40B4-BE49-F238E27FC236}">
                <a16:creationId xmlns:a16="http://schemas.microsoft.com/office/drawing/2014/main" id="{F23498C4-24D7-C6EE-430E-7A20F6BD7B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5097945"/>
              </p:ext>
            </p:extLst>
          </p:nvPr>
        </p:nvGraphicFramePr>
        <p:xfrm>
          <a:off x="241928" y="870770"/>
          <a:ext cx="8788280" cy="5770481"/>
        </p:xfrm>
        <a:graphic>
          <a:graphicData uri="http://schemas.openxmlformats.org/drawingml/2006/table">
            <a:tbl>
              <a:tblPr/>
              <a:tblGrid>
                <a:gridCol w="1344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6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4285">
                  <a:extLst>
                    <a:ext uri="{9D8B030D-6E8A-4147-A177-3AD203B41FA5}">
                      <a16:colId xmlns:a16="http://schemas.microsoft.com/office/drawing/2014/main" val="1135105679"/>
                    </a:ext>
                  </a:extLst>
                </a:gridCol>
                <a:gridCol w="12042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3140">
                  <a:extLst>
                    <a:ext uri="{9D8B030D-6E8A-4147-A177-3AD203B41FA5}">
                      <a16:colId xmlns:a16="http://schemas.microsoft.com/office/drawing/2014/main" val="414859368"/>
                    </a:ext>
                  </a:extLst>
                </a:gridCol>
              </a:tblGrid>
              <a:tr h="33781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竞争点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详细说明</a:t>
                      </a: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主要指标</a:t>
                      </a: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交付位置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开发团队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当前进展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368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沙箱超分</a:t>
                      </a:r>
                      <a:r>
                        <a:rPr lang="en-US" altLang="zh-CN" sz="140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(</a:t>
                      </a:r>
                      <a:r>
                        <a:rPr lang="zh-CN" altLang="en-US" sz="140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时间）</a:t>
                      </a:r>
                      <a:endParaRPr lang="en-US" sz="1400" b="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沙箱约 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71–98%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时间在等大模型，可趁空转超卖：时间上错开并发</a:t>
                      </a:r>
                      <a:endParaRPr lang="en-US" altLang="zh-CN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Start </a:t>
                      </a: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时间</a:t>
                      </a:r>
                      <a:endParaRPr lang="en-US" altLang="zh-CN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Pause </a:t>
                      </a: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时间</a:t>
                      </a:r>
                      <a:endParaRPr lang="en-US" altLang="zh-CN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Resume </a:t>
                      </a: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时间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  <a:hlinkClick r:id="rId3"/>
                        </a:rPr>
                        <a:t>CubeSandbox </a:t>
                      </a:r>
                      <a:r>
                        <a:rPr lang="en-US" altLang="zh-CN" sz="1050" b="0" kern="1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  <a:hlinkClick r:id="rId3"/>
                        </a:rPr>
                        <a:t>Github</a:t>
                      </a: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  <a:hlinkClick r:id="rId3"/>
                        </a:rPr>
                        <a:t> Repo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鲲鹏</a:t>
                      </a:r>
                      <a:r>
                        <a:rPr lang="en-US" altLang="zh-CN" sz="1050" b="0" kern="1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Booskit</a:t>
                      </a: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开发（王有航</a:t>
                      </a: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,</a:t>
                      </a:r>
                      <a:r>
                        <a:rPr lang="zh-CN" altLang="en-US" sz="1050" b="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刘雨晴</a:t>
                      </a:r>
                      <a:r>
                        <a:rPr lang="en-US" altLang="zh-CN" sz="1050" b="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)</a:t>
                      </a:r>
                      <a:endParaRPr lang="en-US" altLang="zh-CN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+mn-ea"/>
                      </a:endParaRPr>
                    </a:p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公共开发部</a:t>
                      </a: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(</a:t>
                      </a:r>
                      <a:r>
                        <a:rPr lang="zh-CN" altLang="en-US" sz="1050" dirty="0"/>
                        <a:t>楼智豪</a:t>
                      </a: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)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930 </a:t>
                      </a: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达成和 </a:t>
                      </a: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Zen4 </a:t>
                      </a: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持平</a:t>
                      </a:r>
                      <a:endParaRPr lang="en-US" altLang="zh-CN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+mn-ea"/>
                      </a:endParaRPr>
                    </a:p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计划 </a:t>
                      </a: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1230 </a:t>
                      </a: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缩小与 </a:t>
                      </a: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Zen5 </a:t>
                      </a: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差距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368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沙箱超分</a:t>
                      </a:r>
                      <a:r>
                        <a:rPr lang="en-US" altLang="zh-CN" sz="140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(</a:t>
                      </a:r>
                      <a:r>
                        <a:rPr lang="zh-CN" altLang="en-US" sz="140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空间</a:t>
                      </a:r>
                      <a:r>
                        <a:rPr lang="en-US" altLang="zh-CN" sz="140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)</a:t>
                      </a:r>
                      <a:endParaRPr lang="en-US" sz="1400" b="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沙箱间约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60%~90%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内存重复，利用 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cow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机制可以节约内存，减少背景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CPU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占用，以提高总体效率。</a:t>
                      </a:r>
                      <a:endParaRPr lang="zh-CN" altLang="zh-CN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并发沙箱数量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CubeSandbox Repo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+mn-ea"/>
                      </a:endParaRPr>
                    </a:p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dirty="0"/>
                        <a:t>鲲鹏计算架构设计（</a:t>
                      </a:r>
                      <a:r>
                        <a:rPr lang="zh-CN" altLang="en-US" sz="1050" dirty="0">
                          <a:highlight>
                            <a:srgbClr val="FFFF00"/>
                          </a:highlight>
                        </a:rPr>
                        <a:t>李洋</a:t>
                      </a:r>
                      <a:r>
                        <a:rPr lang="zh-CN" altLang="en-US" sz="1050" dirty="0"/>
                        <a:t>）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暂无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766220"/>
                  </a:ext>
                </a:extLst>
              </a:tr>
              <a:tr h="6261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PVM </a:t>
                      </a:r>
                      <a:r>
                        <a:rPr lang="zh-CN" altLang="en-US" sz="1400" b="0" kern="12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沙箱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公有云默认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运行在虚拟机中</a:t>
                      </a:r>
                      <a:r>
                        <a:rPr lang="zh-C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启动</a:t>
                      </a:r>
                      <a:r>
                        <a:rPr lang="zh-C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沙箱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导致虚拟机中启动虚拟机，征用硬件虚拟化指令和页表支持</a:t>
                      </a:r>
                      <a:r>
                        <a:rPr lang="zh-C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；PVM 用页表方案绕开，腾讯已部署x86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，华为已经实施 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Arm</a:t>
                      </a:r>
                      <a:endParaRPr lang="zh-CN" altLang="zh-CN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功能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hlinkClick r:id="rId4"/>
                        </a:rPr>
                        <a:t>Linux </a:t>
                      </a: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hlinkClick r:id="rId4"/>
                        </a:rPr>
                        <a:t>内核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dirty="0"/>
                        <a:t>计算软件平台部</a:t>
                      </a:r>
                      <a:r>
                        <a:rPr lang="en-US" altLang="zh-CN" sz="1050" dirty="0"/>
                        <a:t>-UBS(</a:t>
                      </a:r>
                      <a:r>
                        <a:rPr lang="zh-CN" altLang="en-US" sz="1050" dirty="0"/>
                        <a:t>陈小禹</a:t>
                      </a:r>
                      <a:r>
                        <a:rPr lang="en-US" altLang="zh-CN" sz="1050" dirty="0"/>
                        <a:t>)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功能验收交付阶段</a:t>
                      </a: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(930 </a:t>
                      </a: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交付</a:t>
                      </a: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)</a:t>
                      </a:r>
                      <a:b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</a:b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性能规划阶段（预计</a:t>
                      </a: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1230</a:t>
                      </a: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交付）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61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kern="12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安全沙箱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防止大模型生成的代码逃出沙箱：每沙箱独立内核、eBPF 网络隔离、密钥不进沙箱、多租户隔离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主要针对虚拟机逃逸问题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内部仓库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鲲鹏</a:t>
                      </a:r>
                      <a:r>
                        <a:rPr lang="en-US" altLang="zh-CN" sz="1050" b="0" kern="1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Booskit</a:t>
                      </a: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开发</a:t>
                      </a:r>
                      <a:r>
                        <a:rPr lang="zh-CN" altLang="en-US" sz="1050" dirty="0"/>
                        <a:t>（李煳桦</a:t>
                      </a:r>
                      <a:r>
                        <a:rPr lang="en-US" altLang="zh-CN" sz="1050" dirty="0"/>
                        <a:t>)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930 </a:t>
                      </a: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完成功能开发，准备</a:t>
                      </a: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POC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5547576"/>
                  </a:ext>
                </a:extLst>
              </a:tr>
              <a:tr h="6261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UB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总线替换 </a:t>
                      </a:r>
                      <a:r>
                        <a:rPr lang="en-US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rpc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zh-CN" alt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利用 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UB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总线实现：借用其他节点内存，快速节点间沙箱迁移，高速集群节点间通信</a:t>
                      </a:r>
                      <a:endParaRPr lang="zh-CN" altLang="zh-CN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Snap-Port-Resume </a:t>
                      </a: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时间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暂无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暂无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暂无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0225021"/>
                  </a:ext>
                </a:extLst>
              </a:tr>
              <a:tr h="6261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集群调度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适配大规模集群场景，避免中心模块造成单点瓶颈</a:t>
                      </a:r>
                      <a:endParaRPr lang="zh-CN" altLang="zh-CN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集群规模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暂无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暂无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暂无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6896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3D9AAFB-34CC-1836-9F34-18A0E9C8C8B6}"/>
              </a:ext>
            </a:extLst>
          </p:cNvPr>
          <p:cNvSpPr txBox="1"/>
          <p:nvPr/>
        </p:nvSpPr>
        <p:spPr>
          <a:xfrm>
            <a:off x="2570869" y="6407468"/>
            <a:ext cx="3390352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zh-CN" sz="700" dirty="0"/>
              <a:t>数据来源：Yuan et al., </a:t>
            </a:r>
            <a:r>
              <a:rPr lang="zh-CN" altLang="zh-CN" sz="700" i="1" dirty="0"/>
              <a:t>Agentic AI Workload Characteristics</a:t>
            </a:r>
            <a:r>
              <a:rPr lang="zh-CN" altLang="zh-CN" sz="700" dirty="0"/>
              <a:t>, arXiv:2605.26297, Fig. 7</a:t>
            </a:r>
            <a:endParaRPr kumimoji="1" lang="zh-CN" altLang="en-US" sz="7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0C2D752-BC39-2B4C-5A5C-AE8D01858AB9}"/>
              </a:ext>
            </a:extLst>
          </p:cNvPr>
          <p:cNvCxnSpPr/>
          <p:nvPr/>
        </p:nvCxnSpPr>
        <p:spPr>
          <a:xfrm>
            <a:off x="9241423" y="2201463"/>
            <a:ext cx="2589520" cy="0"/>
          </a:xfrm>
          <a:prstGeom prst="straightConnector1">
            <a:avLst/>
          </a:prstGeom>
          <a:ln w="19050">
            <a:solidFill>
              <a:srgbClr val="8C8C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56D9CD4-1A1C-5332-367A-A85635BDB2DE}"/>
              </a:ext>
            </a:extLst>
          </p:cNvPr>
          <p:cNvCxnSpPr/>
          <p:nvPr/>
        </p:nvCxnSpPr>
        <p:spPr>
          <a:xfrm flipV="1">
            <a:off x="10447817" y="918229"/>
            <a:ext cx="0" cy="2566467"/>
          </a:xfrm>
          <a:prstGeom prst="straightConnector1">
            <a:avLst/>
          </a:prstGeom>
          <a:ln w="19050">
            <a:solidFill>
              <a:srgbClr val="8C8C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4">
            <a:extLst>
              <a:ext uri="{FF2B5EF4-FFF2-40B4-BE49-F238E27FC236}">
                <a16:creationId xmlns:a16="http://schemas.microsoft.com/office/drawing/2014/main" id="{F6E27899-6859-8FDA-9C11-710D3A27FD22}"/>
              </a:ext>
            </a:extLst>
          </p:cNvPr>
          <p:cNvSpPr/>
          <p:nvPr/>
        </p:nvSpPr>
        <p:spPr>
          <a:xfrm>
            <a:off x="367360" y="228412"/>
            <a:ext cx="706020" cy="626808"/>
          </a:xfrm>
          <a:prstGeom prst="rect">
            <a:avLst/>
          </a:prstGeom>
          <a:solidFill>
            <a:srgbClr val="C7000A"/>
          </a:solidFill>
          <a:ln w="3175" cap="flat">
            <a:noFill/>
            <a:miter lim="400000"/>
          </a:ln>
          <a:effectLst/>
        </p:spPr>
        <p:txBody>
          <a:bodyPr wrap="square" lIns="35944" tIns="35944" rIns="35944" bIns="35944" numCol="1" anchor="ctr">
            <a:noAutofit/>
          </a:bodyPr>
          <a:lstStyle/>
          <a:p>
            <a:pPr marL="0" marR="0" lvl="0" indent="0" algn="ctr" defTabSz="171825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/>
              </a:rPr>
              <a:t>投入</a:t>
            </a:r>
            <a:endParaRPr kumimoji="0" lang="en-US" altLang="zh-CN" sz="1599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Calibri"/>
            </a:endParaRPr>
          </a:p>
          <a:p>
            <a:pPr marL="0" marR="0" lvl="0" indent="0" algn="ctr" defTabSz="171825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/>
              </a:rPr>
              <a:t>分析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6956DD-258D-72F6-5CD5-86827F9EB361}"/>
              </a:ext>
            </a:extLst>
          </p:cNvPr>
          <p:cNvSpPr txBox="1"/>
          <p:nvPr/>
        </p:nvSpPr>
        <p:spPr>
          <a:xfrm>
            <a:off x="9813204" y="743145"/>
            <a:ext cx="1269226" cy="123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内核</a:t>
            </a:r>
            <a:r>
              <a:rPr kumimoji="1" lang="en-US" altLang="zh-CN" sz="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虚拟化相关性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CAC63FA-64A9-DDDA-E4A8-9D790033961E}"/>
              </a:ext>
            </a:extLst>
          </p:cNvPr>
          <p:cNvGrpSpPr/>
          <p:nvPr/>
        </p:nvGrpSpPr>
        <p:grpSpPr>
          <a:xfrm>
            <a:off x="10514314" y="3143585"/>
            <a:ext cx="568116" cy="138499"/>
            <a:chOff x="10208868" y="3904254"/>
            <a:chExt cx="568116" cy="138499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F1DC398E-4F7E-D6C2-C5CF-87253AE04DC1}"/>
                </a:ext>
              </a:extLst>
            </p:cNvPr>
            <p:cNvSpPr/>
            <p:nvPr/>
          </p:nvSpPr>
          <p:spPr>
            <a:xfrm>
              <a:off x="10704984" y="3935657"/>
              <a:ext cx="72000" cy="72000"/>
            </a:xfrm>
            <a:prstGeom prst="ellipse">
              <a:avLst/>
            </a:prstGeom>
            <a:solidFill>
              <a:srgbClr val="2E7D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 sz="100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A536E07-812A-E912-1061-C828BAB734EC}"/>
                </a:ext>
              </a:extLst>
            </p:cNvPr>
            <p:cNvSpPr txBox="1"/>
            <p:nvPr/>
          </p:nvSpPr>
          <p:spPr>
            <a:xfrm>
              <a:off x="10208868" y="3904254"/>
              <a:ext cx="461665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zh-CN" altLang="en-US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集群调度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E677EB0-0124-5639-9190-EB9EAD6B7E57}"/>
              </a:ext>
            </a:extLst>
          </p:cNvPr>
          <p:cNvGrpSpPr/>
          <p:nvPr/>
        </p:nvGrpSpPr>
        <p:grpSpPr>
          <a:xfrm>
            <a:off x="10476084" y="1017440"/>
            <a:ext cx="855574" cy="138499"/>
            <a:chOff x="9371933" y="3343630"/>
            <a:chExt cx="855574" cy="138499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CB0EA25-56E0-6DE5-2755-1B2A694C8DB9}"/>
                </a:ext>
              </a:extLst>
            </p:cNvPr>
            <p:cNvSpPr/>
            <p:nvPr/>
          </p:nvSpPr>
          <p:spPr>
            <a:xfrm>
              <a:off x="10155507" y="3375033"/>
              <a:ext cx="72000" cy="72000"/>
            </a:xfrm>
            <a:prstGeom prst="ellipse">
              <a:avLst/>
            </a:prstGeom>
            <a:solidFill>
              <a:srgbClr val="2E7D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 sz="100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942C1D0-B23E-DA4A-678D-68D035E7189D}"/>
                </a:ext>
              </a:extLst>
            </p:cNvPr>
            <p:cNvSpPr txBox="1"/>
            <p:nvPr/>
          </p:nvSpPr>
          <p:spPr>
            <a:xfrm>
              <a:off x="9371933" y="3343630"/>
              <a:ext cx="769441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zh-CN" altLang="en-US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沙箱超分</a:t>
              </a:r>
              <a:r>
                <a:rPr kumimoji="1" lang="en-US" altLang="zh-CN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kumimoji="1" lang="zh-CN" altLang="en-US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空间</a:t>
              </a:r>
              <a:r>
                <a:rPr kumimoji="1" lang="en-US" altLang="zh-CN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2DF503C-3EB8-E6FF-9D94-5973C5225AC6}"/>
              </a:ext>
            </a:extLst>
          </p:cNvPr>
          <p:cNvGrpSpPr/>
          <p:nvPr/>
        </p:nvGrpSpPr>
        <p:grpSpPr>
          <a:xfrm>
            <a:off x="9384214" y="1093733"/>
            <a:ext cx="633781" cy="138499"/>
            <a:chOff x="10277891" y="4459464"/>
            <a:chExt cx="633781" cy="138499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7924D9B0-6290-220B-62BA-E671D7D97906}"/>
                </a:ext>
              </a:extLst>
            </p:cNvPr>
            <p:cNvSpPr/>
            <p:nvPr/>
          </p:nvSpPr>
          <p:spPr>
            <a:xfrm>
              <a:off x="10277891" y="4492713"/>
              <a:ext cx="72000" cy="72000"/>
            </a:xfrm>
            <a:prstGeom prst="ellipse">
              <a:avLst/>
            </a:prstGeom>
            <a:solidFill>
              <a:srgbClr val="9AA5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 sz="100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13D5351-6195-2D6B-8905-739A63CEB887}"/>
                </a:ext>
              </a:extLst>
            </p:cNvPr>
            <p:cNvSpPr txBox="1"/>
            <p:nvPr/>
          </p:nvSpPr>
          <p:spPr>
            <a:xfrm>
              <a:off x="10419550" y="4459464"/>
              <a:ext cx="492122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zh-CN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PVM</a:t>
              </a:r>
              <a:r>
                <a:rPr kumimoji="1" lang="zh-CN" altLang="en-US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沙箱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70B3D09-930A-FE48-FBE0-83A748AC0A99}"/>
              </a:ext>
            </a:extLst>
          </p:cNvPr>
          <p:cNvGrpSpPr/>
          <p:nvPr/>
        </p:nvGrpSpPr>
        <p:grpSpPr>
          <a:xfrm>
            <a:off x="9581027" y="1347695"/>
            <a:ext cx="603324" cy="138499"/>
            <a:chOff x="10277891" y="4459464"/>
            <a:chExt cx="603324" cy="138499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6E7835A7-683D-2949-1DAE-8604AAD06FC9}"/>
                </a:ext>
              </a:extLst>
            </p:cNvPr>
            <p:cNvSpPr/>
            <p:nvPr/>
          </p:nvSpPr>
          <p:spPr>
            <a:xfrm>
              <a:off x="10277891" y="4492713"/>
              <a:ext cx="72000" cy="72000"/>
            </a:xfrm>
            <a:prstGeom prst="ellipse">
              <a:avLst/>
            </a:prstGeom>
            <a:solidFill>
              <a:srgbClr val="9AA5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 sz="100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F183922-0BED-A7DC-5E28-3D9BEE4FA10A}"/>
                </a:ext>
              </a:extLst>
            </p:cNvPr>
            <p:cNvSpPr txBox="1"/>
            <p:nvPr/>
          </p:nvSpPr>
          <p:spPr>
            <a:xfrm>
              <a:off x="10419550" y="4459464"/>
              <a:ext cx="461665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zh-CN" altLang="en-US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安全沙箱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0BC4782-4FB2-FF06-A262-8B16A401876A}"/>
              </a:ext>
            </a:extLst>
          </p:cNvPr>
          <p:cNvGrpSpPr/>
          <p:nvPr/>
        </p:nvGrpSpPr>
        <p:grpSpPr>
          <a:xfrm>
            <a:off x="9589902" y="2386175"/>
            <a:ext cx="531189" cy="138499"/>
            <a:chOff x="10277891" y="4459464"/>
            <a:chExt cx="531189" cy="138499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26A6EB1-31B8-44E9-D842-4FE11F22A662}"/>
                </a:ext>
              </a:extLst>
            </p:cNvPr>
            <p:cNvSpPr/>
            <p:nvPr/>
          </p:nvSpPr>
          <p:spPr>
            <a:xfrm>
              <a:off x="10277891" y="4492713"/>
              <a:ext cx="72000" cy="72000"/>
            </a:xfrm>
            <a:prstGeom prst="ellipse">
              <a:avLst/>
            </a:prstGeom>
            <a:solidFill>
              <a:srgbClr val="9AA5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 sz="100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BD78D6C-01A8-0544-4C7E-4EF6E7A3D74B}"/>
                </a:ext>
              </a:extLst>
            </p:cNvPr>
            <p:cNvSpPr txBox="1"/>
            <p:nvPr/>
          </p:nvSpPr>
          <p:spPr>
            <a:xfrm>
              <a:off x="10419550" y="4459464"/>
              <a:ext cx="389530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zh-CN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UB</a:t>
              </a:r>
              <a:r>
                <a:rPr kumimoji="1" lang="zh-CN" altLang="en-US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总线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64583871-3439-244A-B5FE-0D9E746AF3B1}"/>
              </a:ext>
            </a:extLst>
          </p:cNvPr>
          <p:cNvGrpSpPr/>
          <p:nvPr/>
        </p:nvGrpSpPr>
        <p:grpSpPr>
          <a:xfrm>
            <a:off x="10805242" y="1907078"/>
            <a:ext cx="906639" cy="798633"/>
            <a:chOff x="10092824" y="4176136"/>
            <a:chExt cx="906639" cy="798633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6F730DD6-FB80-00B0-A3D8-A0231241D147}"/>
                </a:ext>
              </a:extLst>
            </p:cNvPr>
            <p:cNvSpPr txBox="1"/>
            <p:nvPr/>
          </p:nvSpPr>
          <p:spPr>
            <a:xfrm>
              <a:off x="10092824" y="4516978"/>
              <a:ext cx="769441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zh-CN" altLang="en-US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沙箱超分</a:t>
              </a:r>
              <a:r>
                <a:rPr kumimoji="1" lang="en-US" altLang="zh-CN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kumimoji="1" lang="zh-CN" altLang="en-US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</a:t>
              </a:r>
              <a:r>
                <a:rPr kumimoji="1" lang="en-US" altLang="zh-CN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</p:txBody>
        </p:sp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57D96A4E-3452-7B12-3DD1-1F7F8940F9C0}"/>
                </a:ext>
              </a:extLst>
            </p:cNvPr>
            <p:cNvSpPr/>
            <p:nvPr/>
          </p:nvSpPr>
          <p:spPr>
            <a:xfrm>
              <a:off x="10927463" y="4176136"/>
              <a:ext cx="72000" cy="798633"/>
            </a:xfrm>
            <a:prstGeom prst="roundRect">
              <a:avLst/>
            </a:prstGeom>
            <a:solidFill>
              <a:srgbClr val="2E7D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 sz="100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2" name="矩形: 圆角 86">
            <a:extLst>
              <a:ext uri="{FF2B5EF4-FFF2-40B4-BE49-F238E27FC236}">
                <a16:creationId xmlns:a16="http://schemas.microsoft.com/office/drawing/2014/main" id="{9C062E65-F261-863C-385C-CA574A170DF8}"/>
              </a:ext>
            </a:extLst>
          </p:cNvPr>
          <p:cNvSpPr/>
          <p:nvPr/>
        </p:nvSpPr>
        <p:spPr>
          <a:xfrm>
            <a:off x="9197444" y="3944265"/>
            <a:ext cx="2776957" cy="2399383"/>
          </a:xfrm>
          <a:prstGeom prst="roundRect">
            <a:avLst>
              <a:gd name="adj" fmla="val 6246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endParaRPr lang="zh-CN" altLang="en-US" sz="1799">
              <a:solidFill>
                <a:srgbClr val="666666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74" name="文本框 87">
            <a:extLst>
              <a:ext uri="{FF2B5EF4-FFF2-40B4-BE49-F238E27FC236}">
                <a16:creationId xmlns:a16="http://schemas.microsoft.com/office/drawing/2014/main" id="{71192FE7-882D-346C-97B0-B7C5CB8570A0}"/>
              </a:ext>
            </a:extLst>
          </p:cNvPr>
          <p:cNvSpPr txBox="1"/>
          <p:nvPr/>
        </p:nvSpPr>
        <p:spPr>
          <a:xfrm>
            <a:off x="9332996" y="3794158"/>
            <a:ext cx="1233617" cy="276999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 defTabSz="914034">
              <a:defRPr/>
            </a:pPr>
            <a:r>
              <a:rPr kumimoji="1" lang="zh-CN" altLang="en-US" sz="1200" b="1" dirty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建议方向</a:t>
            </a:r>
            <a:endParaRPr kumimoji="1" lang="zh-CN" altLang="en-US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7837765-D965-84BA-65A8-7729725FEA2D}"/>
              </a:ext>
            </a:extLst>
          </p:cNvPr>
          <p:cNvSpPr txBox="1"/>
          <p:nvPr/>
        </p:nvSpPr>
        <p:spPr>
          <a:xfrm>
            <a:off x="9342519" y="4023505"/>
            <a:ext cx="2494232" cy="22621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latinLnBrk="1">
              <a:buFont typeface="Wingdings" panose="05000000000000000000" pitchFamily="2" charset="2"/>
              <a:buChar char="Ø"/>
            </a:pPr>
            <a:r>
              <a:rPr lang="zh-CN" altLang="zh-CN" sz="1050" dirty="0"/>
              <a:t>建议发力点为 集群调度、沙箱超分，建议从 沙箱超分（时间）开始：</a:t>
            </a:r>
            <a:r>
              <a:rPr lang="zh-CN" altLang="en-US" sz="1050" dirty="0"/>
              <a:t>当前距离目标仍然差距较大</a:t>
            </a:r>
            <a:r>
              <a:rPr lang="zh-CN" altLang="zh-CN" sz="1050" dirty="0"/>
              <a:t>、</a:t>
            </a:r>
            <a:r>
              <a:rPr lang="zh-CN" altLang="en-US" sz="1050" dirty="0"/>
              <a:t>有专门</a:t>
            </a:r>
            <a:r>
              <a:rPr lang="en-US" altLang="zh-CN" sz="1050" dirty="0"/>
              <a:t>Bench</a:t>
            </a:r>
            <a:r>
              <a:rPr lang="zh-CN" altLang="en-US" sz="1050" dirty="0"/>
              <a:t>，</a:t>
            </a:r>
            <a:r>
              <a:rPr lang="zh-CN" altLang="zh-CN" sz="1050" dirty="0"/>
              <a:t>指标可测，且</a:t>
            </a:r>
            <a:r>
              <a:rPr lang="zh-CN" altLang="en-US" sz="1050" dirty="0"/>
              <a:t>有不依赖</a:t>
            </a:r>
            <a:r>
              <a:rPr lang="zh-CN" altLang="zh-CN" sz="1050" dirty="0"/>
              <a:t>内核</a:t>
            </a:r>
            <a:r>
              <a:rPr lang="zh-CN" altLang="en-US" sz="1050" dirty="0"/>
              <a:t>的优化点</a:t>
            </a:r>
            <a:r>
              <a:rPr lang="zh-CN" altLang="zh-CN" sz="1050" dirty="0"/>
              <a:t>。</a:t>
            </a:r>
            <a:endParaRPr lang="en-US" altLang="zh-CN" sz="1050" dirty="0"/>
          </a:p>
          <a:p>
            <a:pPr marL="171450" indent="-171450" latinLnBrk="1">
              <a:buFont typeface="Wingdings" panose="05000000000000000000" pitchFamily="2" charset="2"/>
              <a:buChar char="Ø"/>
            </a:pPr>
            <a:endParaRPr lang="zh-CN" altLang="zh-CN" sz="1050" dirty="0"/>
          </a:p>
          <a:p>
            <a:pPr marL="171450" indent="-171450" latinLnBrk="1">
              <a:buFont typeface="Wingdings" panose="05000000000000000000" pitchFamily="2" charset="2"/>
              <a:buChar char="Ø"/>
            </a:pPr>
            <a:r>
              <a:rPr lang="zh-CN" altLang="zh-CN" sz="1050" dirty="0"/>
              <a:t>不建议投入 PVM 沙箱、安全沙箱</a:t>
            </a:r>
            <a:r>
              <a:rPr lang="zh-CN" altLang="en-US" sz="1050" dirty="0"/>
              <a:t>和</a:t>
            </a:r>
            <a:r>
              <a:rPr lang="en-US" altLang="zh-CN" sz="1050" dirty="0"/>
              <a:t>UB</a:t>
            </a:r>
            <a:r>
              <a:rPr lang="zh-CN" altLang="en-US" sz="1050" dirty="0"/>
              <a:t>总线</a:t>
            </a:r>
            <a:r>
              <a:rPr lang="zh-CN" altLang="zh-CN" sz="1050" dirty="0"/>
              <a:t>：Rust 相关性低且核心在虚拟化层，我方仅能做外围。</a:t>
            </a:r>
            <a:br>
              <a:rPr lang="en-US" altLang="zh-CN" sz="1050" dirty="0"/>
            </a:br>
            <a:endParaRPr lang="en-US" altLang="zh-CN" sz="1050" dirty="0"/>
          </a:p>
          <a:p>
            <a:pPr marL="171450" indent="-171450" latinLnBrk="1">
              <a:buFont typeface="Wingdings" panose="05000000000000000000" pitchFamily="2" charset="2"/>
              <a:buChar char="Ø"/>
            </a:pPr>
            <a:r>
              <a:rPr lang="zh-CN" altLang="en-US" sz="1050" dirty="0"/>
              <a:t>投入方式：</a:t>
            </a:r>
            <a:br>
              <a:rPr lang="en-US" altLang="zh-CN" sz="1050" dirty="0"/>
            </a:br>
            <a:r>
              <a:rPr lang="zh-CN" altLang="en-US" sz="1050" dirty="0"/>
              <a:t>前序项目为</a:t>
            </a:r>
            <a:r>
              <a:rPr lang="zh-CN" altLang="en-US" sz="105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从上到下，先分工，然后明确责任田，各自田内分析。</a:t>
            </a:r>
            <a:br>
              <a:rPr lang="en-US" altLang="zh-CN" sz="105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05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当前状态：以优化点为基础，不划分责任田，按各自擅长方向分析。</a:t>
            </a:r>
            <a:endParaRPr lang="en-US" altLang="zh-CN" sz="1050" dirty="0"/>
          </a:p>
        </p:txBody>
      </p:sp>
    </p:spTree>
    <p:extLst>
      <p:ext uri="{BB962C8B-B14F-4D97-AF65-F5344CB8AC3E}">
        <p14:creationId xmlns:p14="http://schemas.microsoft.com/office/powerpoint/2010/main" val="2452304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33B9A19-E741-FD24-7746-5D26AE4EA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401" y="364225"/>
            <a:ext cx="10877194" cy="360000"/>
          </a:xfrm>
        </p:spPr>
        <p:txBody>
          <a:bodyPr/>
          <a:lstStyle/>
          <a:p>
            <a:r>
              <a:rPr lang="zh-CN" altLang="en-US" dirty="0"/>
              <a:t>初步分析</a:t>
            </a:r>
            <a:r>
              <a:rPr lang="en-US" altLang="zh-CN" dirty="0"/>
              <a:t>Rust</a:t>
            </a:r>
            <a:r>
              <a:rPr lang="zh-CN" altLang="en-US" dirty="0"/>
              <a:t>占比，以及可能的优化点穿刺</a:t>
            </a:r>
          </a:p>
        </p:txBody>
      </p:sp>
      <p:sp>
        <p:nvSpPr>
          <p:cNvPr id="4" name="矩形 4">
            <a:extLst>
              <a:ext uri="{FF2B5EF4-FFF2-40B4-BE49-F238E27FC236}">
                <a16:creationId xmlns:a16="http://schemas.microsoft.com/office/drawing/2014/main" id="{D769F9C7-36C4-0496-6C7D-7BD3CB5360B0}"/>
              </a:ext>
            </a:extLst>
          </p:cNvPr>
          <p:cNvSpPr/>
          <p:nvPr/>
        </p:nvSpPr>
        <p:spPr>
          <a:xfrm>
            <a:off x="367360" y="228412"/>
            <a:ext cx="706020" cy="626808"/>
          </a:xfrm>
          <a:prstGeom prst="rect">
            <a:avLst/>
          </a:prstGeom>
          <a:solidFill>
            <a:srgbClr val="C7000A"/>
          </a:solidFill>
          <a:ln w="3175" cap="flat">
            <a:noFill/>
            <a:miter lim="400000"/>
          </a:ln>
          <a:effectLst/>
        </p:spPr>
        <p:txBody>
          <a:bodyPr wrap="square" lIns="35944" tIns="35944" rIns="35944" bIns="35944" numCol="1" anchor="ctr">
            <a:noAutofit/>
          </a:bodyPr>
          <a:lstStyle/>
          <a:p>
            <a:pPr marL="0" marR="0" lvl="0" indent="0" algn="ctr" defTabSz="171825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599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应用</a:t>
            </a:r>
            <a:endParaRPr lang="en-US" altLang="zh-CN" sz="1599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  <a:p>
            <a:pPr marL="0" marR="0" lvl="0" indent="0" algn="ctr" defTabSz="171825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599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分析</a:t>
            </a:r>
            <a:endParaRPr kumimoji="0" lang="zh-CN" altLang="en-US" sz="1599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4667D1-B626-F07E-239B-145901313F5F}"/>
              </a:ext>
            </a:extLst>
          </p:cNvPr>
          <p:cNvSpPr/>
          <p:nvPr/>
        </p:nvSpPr>
        <p:spPr>
          <a:xfrm>
            <a:off x="367360" y="1120032"/>
            <a:ext cx="3672000" cy="2700000"/>
          </a:xfrm>
          <a:prstGeom prst="rect">
            <a:avLst/>
          </a:prstGeom>
          <a:noFill/>
          <a:ln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zh-CN" altLang="en-US" sz="1100" dirty="0" err="1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7AFE6C-800A-B2FC-ED52-F37241B2B8A8}"/>
              </a:ext>
            </a:extLst>
          </p:cNvPr>
          <p:cNvSpPr/>
          <p:nvPr/>
        </p:nvSpPr>
        <p:spPr>
          <a:xfrm>
            <a:off x="1582330" y="942205"/>
            <a:ext cx="1242060" cy="34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Start ● 8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4D5819-1F92-05A7-8DAB-B4AC97A4EB31}"/>
              </a:ext>
            </a:extLst>
          </p:cNvPr>
          <p:cNvSpPr/>
          <p:nvPr/>
        </p:nvSpPr>
        <p:spPr>
          <a:xfrm>
            <a:off x="4235310" y="1120032"/>
            <a:ext cx="3672000" cy="2700000"/>
          </a:xfrm>
          <a:prstGeom prst="rect">
            <a:avLst/>
          </a:prstGeom>
          <a:noFill/>
          <a:ln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zh-CN" altLang="en-US" sz="1100" dirty="0" err="1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E8BCA7-4550-F346-EE7D-E017ABF02D48}"/>
              </a:ext>
            </a:extLst>
          </p:cNvPr>
          <p:cNvSpPr/>
          <p:nvPr/>
        </p:nvSpPr>
        <p:spPr>
          <a:xfrm>
            <a:off x="8103260" y="1120032"/>
            <a:ext cx="3672000" cy="2700000"/>
          </a:xfrm>
          <a:prstGeom prst="rect">
            <a:avLst/>
          </a:prstGeom>
          <a:noFill/>
          <a:ln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zh-CN" altLang="en-US" sz="1100" dirty="0" err="1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9973D7-4469-305A-A4B5-775E59736C39}"/>
              </a:ext>
            </a:extLst>
          </p:cNvPr>
          <p:cNvSpPr/>
          <p:nvPr/>
        </p:nvSpPr>
        <p:spPr>
          <a:xfrm>
            <a:off x="5450280" y="948582"/>
            <a:ext cx="1242060" cy="34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Pause ● 6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7F20C9-CCDB-92C8-56DC-36964B3FC83A}"/>
              </a:ext>
            </a:extLst>
          </p:cNvPr>
          <p:cNvSpPr/>
          <p:nvPr/>
        </p:nvSpPr>
        <p:spPr>
          <a:xfrm>
            <a:off x="9318230" y="952284"/>
            <a:ext cx="1242060" cy="34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Resume ● 8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84DC09-3F86-B469-7905-5323DA5E5D84}"/>
              </a:ext>
            </a:extLst>
          </p:cNvPr>
          <p:cNvSpPr/>
          <p:nvPr/>
        </p:nvSpPr>
        <p:spPr>
          <a:xfrm>
            <a:off x="494554" y="1247439"/>
            <a:ext cx="3483085" cy="252000"/>
          </a:xfrm>
          <a:prstGeom prst="rect">
            <a:avLst/>
          </a:prstGeom>
          <a:solidFill>
            <a:srgbClr val="BEE7A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r>
              <a:rPr lang="zh-CN" altLang="zh-CN" sz="1400" dirty="0"/>
              <a:t>API 接入 · CubeAPI</a:t>
            </a:r>
            <a:endParaRPr lang="zh-CN" altLang="en-US" sz="10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5E3AEFD-5E68-29FE-C2AE-AF877ABAB3C7}"/>
              </a:ext>
            </a:extLst>
          </p:cNvPr>
          <p:cNvGrpSpPr/>
          <p:nvPr/>
        </p:nvGrpSpPr>
        <p:grpSpPr>
          <a:xfrm>
            <a:off x="381868" y="4466515"/>
            <a:ext cx="859558" cy="138499"/>
            <a:chOff x="367361" y="3955794"/>
            <a:chExt cx="859558" cy="138499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F310EB6-F9DB-C130-4916-B8A267FDE839}"/>
                </a:ext>
              </a:extLst>
            </p:cNvPr>
            <p:cNvSpPr/>
            <p:nvPr/>
          </p:nvSpPr>
          <p:spPr>
            <a:xfrm>
              <a:off x="367361" y="3960518"/>
              <a:ext cx="272720" cy="129050"/>
            </a:xfrm>
            <a:prstGeom prst="rect">
              <a:avLst/>
            </a:prstGeom>
            <a:solidFill>
              <a:srgbClr val="BEE7A6"/>
            </a:solidFill>
            <a:ln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zh-CN" altLang="en-US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127624F-DA18-120B-E9D8-AD77AFE9E410}"/>
                </a:ext>
              </a:extLst>
            </p:cNvPr>
            <p:cNvSpPr txBox="1"/>
            <p:nvPr/>
          </p:nvSpPr>
          <p:spPr>
            <a:xfrm>
              <a:off x="720370" y="3955794"/>
              <a:ext cx="506549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zh-CN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Rust </a:t>
              </a:r>
              <a:r>
                <a:rPr kumimoji="1" lang="zh-CN" altLang="en-US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3B5A184-46F2-2D83-9C79-D1E921A615D6}"/>
              </a:ext>
            </a:extLst>
          </p:cNvPr>
          <p:cNvGrpSpPr/>
          <p:nvPr/>
        </p:nvGrpSpPr>
        <p:grpSpPr>
          <a:xfrm>
            <a:off x="1354087" y="4466515"/>
            <a:ext cx="1470303" cy="138499"/>
            <a:chOff x="367361" y="3955794"/>
            <a:chExt cx="1470303" cy="138499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7819A-1ECC-B50F-BFA0-9A38DD9558FD}"/>
                </a:ext>
              </a:extLst>
            </p:cNvPr>
            <p:cNvSpPr/>
            <p:nvPr/>
          </p:nvSpPr>
          <p:spPr>
            <a:xfrm>
              <a:off x="367361" y="3960518"/>
              <a:ext cx="272720" cy="129050"/>
            </a:xfrm>
            <a:prstGeom prst="rect">
              <a:avLst/>
            </a:prstGeom>
            <a:solidFill>
              <a:srgbClr val="A8E0E8"/>
            </a:solidFill>
            <a:ln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zh-CN" altLang="en-US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A413D60-8F5D-8888-6352-EC7C3925FF38}"/>
                </a:ext>
              </a:extLst>
            </p:cNvPr>
            <p:cNvSpPr txBox="1"/>
            <p:nvPr/>
          </p:nvSpPr>
          <p:spPr>
            <a:xfrm>
              <a:off x="720370" y="3955794"/>
              <a:ext cx="1117294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zh-CN" altLang="en-US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非 </a:t>
              </a:r>
              <a:r>
                <a:rPr kumimoji="1" lang="en-US" altLang="zh-CN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Rust </a:t>
              </a:r>
              <a:r>
                <a:rPr kumimoji="1" lang="zh-CN" altLang="en-US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步骤（用户）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FB68926-8589-65DA-4C4B-DF4B48D17DE7}"/>
              </a:ext>
            </a:extLst>
          </p:cNvPr>
          <p:cNvGrpSpPr/>
          <p:nvPr/>
        </p:nvGrpSpPr>
        <p:grpSpPr>
          <a:xfrm>
            <a:off x="2937051" y="4466515"/>
            <a:ext cx="1470303" cy="138499"/>
            <a:chOff x="367361" y="3955794"/>
            <a:chExt cx="1470303" cy="138499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84AD7F0-4CD8-44CC-2F4E-6808C3E88D0B}"/>
                </a:ext>
              </a:extLst>
            </p:cNvPr>
            <p:cNvSpPr/>
            <p:nvPr/>
          </p:nvSpPr>
          <p:spPr>
            <a:xfrm>
              <a:off x="367361" y="3960518"/>
              <a:ext cx="272720" cy="129050"/>
            </a:xfrm>
            <a:prstGeom prst="rect">
              <a:avLst/>
            </a:prstGeom>
            <a:solidFill>
              <a:srgbClr val="FFC492"/>
            </a:solidFill>
            <a:ln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zh-CN" altLang="en-US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D99C2B7-730D-D79E-3A1D-6F1A48075095}"/>
                </a:ext>
              </a:extLst>
            </p:cNvPr>
            <p:cNvSpPr txBox="1"/>
            <p:nvPr/>
          </p:nvSpPr>
          <p:spPr>
            <a:xfrm>
              <a:off x="720370" y="3955794"/>
              <a:ext cx="1117294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zh-CN" altLang="en-US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非 </a:t>
              </a:r>
              <a:r>
                <a:rPr kumimoji="1" lang="en-US" altLang="zh-CN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Rust </a:t>
              </a:r>
              <a:r>
                <a:rPr kumimoji="1" lang="zh-CN" altLang="en-US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步骤（内核）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94E9384-4909-BFFA-BFAA-2587D11A5DE2}"/>
              </a:ext>
            </a:extLst>
          </p:cNvPr>
          <p:cNvGrpSpPr/>
          <p:nvPr/>
        </p:nvGrpSpPr>
        <p:grpSpPr>
          <a:xfrm>
            <a:off x="4520014" y="4466515"/>
            <a:ext cx="1024668" cy="138499"/>
            <a:chOff x="367361" y="3955794"/>
            <a:chExt cx="1024668" cy="138499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07F68FF-1ECD-FF58-EFF3-023B9447D335}"/>
                </a:ext>
              </a:extLst>
            </p:cNvPr>
            <p:cNvSpPr/>
            <p:nvPr/>
          </p:nvSpPr>
          <p:spPr>
            <a:xfrm>
              <a:off x="367361" y="3960518"/>
              <a:ext cx="272720" cy="129050"/>
            </a:xfrm>
            <a:prstGeom prst="rect">
              <a:avLst/>
            </a:prstGeom>
            <a:solidFill>
              <a:srgbClr val="FFB2B2"/>
            </a:solidFill>
            <a:ln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zh-CN" altLang="en-US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CB8082F-3FF7-2B06-8339-D94F5D01B197}"/>
                </a:ext>
              </a:extLst>
            </p:cNvPr>
            <p:cNvSpPr txBox="1"/>
            <p:nvPr/>
          </p:nvSpPr>
          <p:spPr>
            <a:xfrm>
              <a:off x="720370" y="3955794"/>
              <a:ext cx="671659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en-US" altLang="zh-CN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go-rust </a:t>
              </a:r>
              <a:r>
                <a:rPr kumimoji="1" lang="zh-CN" altLang="en-US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边界</a:t>
              </a: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F116D086-0148-07DC-4725-9AAADDE918B7}"/>
              </a:ext>
            </a:extLst>
          </p:cNvPr>
          <p:cNvSpPr/>
          <p:nvPr/>
        </p:nvSpPr>
        <p:spPr>
          <a:xfrm>
            <a:off x="494554" y="1559602"/>
            <a:ext cx="3483085" cy="252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r>
              <a:rPr lang="zh-CN" altLang="en-US" sz="1400" dirty="0"/>
              <a:t>编排选点 </a:t>
            </a:r>
            <a:r>
              <a:rPr lang="en-US" altLang="zh-CN" sz="1400" dirty="0"/>
              <a:t>· </a:t>
            </a:r>
            <a:r>
              <a:rPr lang="en-US" altLang="zh-CN" sz="1400" dirty="0" err="1"/>
              <a:t>CubeMaster</a:t>
            </a:r>
            <a:endParaRPr lang="zh-CN" altLang="en-US" sz="10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9098BC-54A1-E8F2-DFE4-5C7425D9778B}"/>
              </a:ext>
            </a:extLst>
          </p:cNvPr>
          <p:cNvSpPr/>
          <p:nvPr/>
        </p:nvSpPr>
        <p:spPr>
          <a:xfrm>
            <a:off x="494554" y="1871765"/>
            <a:ext cx="3483085" cy="252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r>
              <a:rPr lang="zh-CN" altLang="en-US" sz="1400" dirty="0"/>
              <a:t>模板镜像 </a:t>
            </a:r>
            <a:r>
              <a:rPr lang="en-US" altLang="zh-CN" sz="1400" dirty="0"/>
              <a:t>· P2P </a:t>
            </a:r>
            <a:r>
              <a:rPr lang="zh-CN" altLang="en-US" sz="1400" dirty="0"/>
              <a:t>分发</a:t>
            </a:r>
            <a:endParaRPr lang="zh-CN" altLang="en-US" sz="10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61A8C32-3AB5-6A6A-B2F5-8A203B903650}"/>
              </a:ext>
            </a:extLst>
          </p:cNvPr>
          <p:cNvSpPr/>
          <p:nvPr/>
        </p:nvSpPr>
        <p:spPr>
          <a:xfrm>
            <a:off x="494554" y="2183928"/>
            <a:ext cx="3483085" cy="252000"/>
          </a:xfrm>
          <a:prstGeom prst="rect">
            <a:avLst/>
          </a:prstGeom>
          <a:solidFill>
            <a:srgbClr val="BEE7A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r>
              <a:rPr lang="en-US" altLang="zh-CN" sz="1400" dirty="0">
                <a:solidFill>
                  <a:schemeClr val="accent1"/>
                </a:solidFill>
              </a:rPr>
              <a:t>★</a:t>
            </a:r>
            <a:r>
              <a:rPr lang="en-US" altLang="zh-CN" sz="1400" dirty="0"/>
              <a:t> </a:t>
            </a:r>
            <a:r>
              <a:rPr lang="en-US" altLang="zh-CN" sz="1400" dirty="0" err="1"/>
              <a:t>MicroVM</a:t>
            </a:r>
            <a:r>
              <a:rPr lang="en-US" altLang="zh-CN" sz="1400" dirty="0"/>
              <a:t> </a:t>
            </a:r>
            <a:r>
              <a:rPr lang="zh-CN" altLang="en-US" sz="1400" dirty="0"/>
              <a:t>创建 </a:t>
            </a:r>
            <a:r>
              <a:rPr lang="en-US" altLang="zh-CN" sz="1400" dirty="0"/>
              <a:t>· </a:t>
            </a:r>
            <a:r>
              <a:rPr lang="en-US" altLang="zh-CN" sz="1400" dirty="0" err="1"/>
              <a:t>CubeHypervisor</a:t>
            </a:r>
            <a:endParaRPr lang="zh-CN" altLang="en-US" sz="10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328947B-E35B-8CD8-334C-904CA7C6F7B1}"/>
              </a:ext>
            </a:extLst>
          </p:cNvPr>
          <p:cNvSpPr/>
          <p:nvPr/>
        </p:nvSpPr>
        <p:spPr>
          <a:xfrm>
            <a:off x="494554" y="2496091"/>
            <a:ext cx="3483085" cy="252000"/>
          </a:xfrm>
          <a:prstGeom prst="rect">
            <a:avLst/>
          </a:prstGeom>
          <a:solidFill>
            <a:srgbClr val="BEE7A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r>
              <a:rPr lang="en-US" altLang="zh-CN" sz="1400" dirty="0"/>
              <a:t>Shim </a:t>
            </a:r>
            <a:r>
              <a:rPr lang="zh-CN" altLang="en-US" sz="1400" dirty="0"/>
              <a:t>集成 </a:t>
            </a:r>
            <a:r>
              <a:rPr lang="en-US" altLang="zh-CN" sz="1400" dirty="0"/>
              <a:t>· </a:t>
            </a:r>
            <a:r>
              <a:rPr lang="en-US" altLang="zh-CN" sz="1400" dirty="0" err="1"/>
              <a:t>CubeShim</a:t>
            </a:r>
            <a:endParaRPr lang="zh-CN" altLang="en-US" sz="10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5DEB9C5-1E7A-F335-CDB0-7056DFB86842}"/>
              </a:ext>
            </a:extLst>
          </p:cNvPr>
          <p:cNvSpPr/>
          <p:nvPr/>
        </p:nvSpPr>
        <p:spPr>
          <a:xfrm>
            <a:off x="494554" y="2808254"/>
            <a:ext cx="3483085" cy="252000"/>
          </a:xfrm>
          <a:prstGeom prst="rect">
            <a:avLst/>
          </a:prstGeom>
          <a:solidFill>
            <a:srgbClr val="FFC49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r>
              <a:rPr lang="en-US" altLang="zh-CN" sz="1400" dirty="0"/>
              <a:t>KVM </a:t>
            </a:r>
            <a:r>
              <a:rPr lang="zh-CN" altLang="en-US" sz="1400" dirty="0"/>
              <a:t>创建 </a:t>
            </a:r>
            <a:r>
              <a:rPr lang="en-US" altLang="zh-CN" sz="1400" dirty="0"/>
              <a:t>VM/vCPU · </a:t>
            </a:r>
            <a:r>
              <a:rPr lang="zh-CN" altLang="en-US" sz="1400" dirty="0"/>
              <a:t>内核</a:t>
            </a:r>
            <a:endParaRPr lang="zh-CN" altLang="en-US" sz="10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00F5D88-56CF-E841-1CC9-FDE3F42A37AC}"/>
              </a:ext>
            </a:extLst>
          </p:cNvPr>
          <p:cNvSpPr/>
          <p:nvPr/>
        </p:nvSpPr>
        <p:spPr>
          <a:xfrm>
            <a:off x="494554" y="3120417"/>
            <a:ext cx="3483085" cy="252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r>
              <a:rPr lang="en-US" altLang="zh-CN" sz="1400" dirty="0"/>
              <a:t>Guest </a:t>
            </a:r>
            <a:r>
              <a:rPr lang="zh-CN" altLang="en-US" sz="1400" dirty="0"/>
              <a:t>启动 </a:t>
            </a:r>
            <a:r>
              <a:rPr lang="en-US" altLang="zh-CN" sz="1400" dirty="0"/>
              <a:t>· cube-agent</a:t>
            </a:r>
            <a:endParaRPr lang="zh-CN" altLang="en-US" sz="10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01584AA-BFED-2974-791A-E6DE9DEECA00}"/>
              </a:ext>
            </a:extLst>
          </p:cNvPr>
          <p:cNvSpPr/>
          <p:nvPr/>
        </p:nvSpPr>
        <p:spPr>
          <a:xfrm>
            <a:off x="494554" y="3432579"/>
            <a:ext cx="3483085" cy="252000"/>
          </a:xfrm>
          <a:prstGeom prst="rect">
            <a:avLst/>
          </a:prstGeom>
          <a:solidFill>
            <a:srgbClr val="BEE6A7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r>
              <a:rPr lang="zh-CN" altLang="en-US" sz="1400" dirty="0"/>
              <a:t>容器启动 </a:t>
            </a:r>
            <a:r>
              <a:rPr lang="en-US" altLang="zh-CN" sz="1400" dirty="0"/>
              <a:t>· </a:t>
            </a:r>
            <a:r>
              <a:rPr lang="en-US" altLang="zh-CN" sz="1400" dirty="0" err="1"/>
              <a:t>CubeShim×Agent</a:t>
            </a:r>
            <a:endParaRPr lang="zh-CN" altLang="en-US" sz="10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7F9ADA7-6DD4-3705-181E-2AD0CD3578F1}"/>
              </a:ext>
            </a:extLst>
          </p:cNvPr>
          <p:cNvSpPr/>
          <p:nvPr/>
        </p:nvSpPr>
        <p:spPr>
          <a:xfrm>
            <a:off x="3364061" y="1270569"/>
            <a:ext cx="576000" cy="20574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N/A</a:t>
            </a:r>
            <a:endParaRPr lang="zh-CN" altLang="en-US" sz="8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02EBE2E-D4D3-2282-4AF4-2E680C4EC1D2}"/>
              </a:ext>
            </a:extLst>
          </p:cNvPr>
          <p:cNvSpPr/>
          <p:nvPr/>
        </p:nvSpPr>
        <p:spPr>
          <a:xfrm>
            <a:off x="3364061" y="1582732"/>
            <a:ext cx="576000" cy="20574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6.4 </a:t>
            </a:r>
            <a:r>
              <a:rPr lang="en-US" altLang="zh-CN" sz="8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endParaRPr lang="zh-CN" altLang="en-US" sz="800" dirty="0" err="1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3D2072C-C6F4-B80C-F164-23189F545126}"/>
              </a:ext>
            </a:extLst>
          </p:cNvPr>
          <p:cNvSpPr/>
          <p:nvPr/>
        </p:nvSpPr>
        <p:spPr>
          <a:xfrm>
            <a:off x="3364061" y="1894895"/>
            <a:ext cx="576000" cy="20574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en-US" altLang="zh-CN" sz="8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endParaRPr lang="zh-CN" altLang="en-US" sz="800" dirty="0" err="1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44B830A-788F-DF9D-E550-053902CFCCB7}"/>
              </a:ext>
            </a:extLst>
          </p:cNvPr>
          <p:cNvSpPr/>
          <p:nvPr/>
        </p:nvSpPr>
        <p:spPr>
          <a:xfrm>
            <a:off x="3364061" y="2207058"/>
            <a:ext cx="576000" cy="20574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en-US" altLang="zh-CN" sz="8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endParaRPr lang="zh-CN" altLang="en-US" sz="800" dirty="0" err="1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547CD16-F1F3-5A82-4FA9-0916305F7140}"/>
              </a:ext>
            </a:extLst>
          </p:cNvPr>
          <p:cNvSpPr/>
          <p:nvPr/>
        </p:nvSpPr>
        <p:spPr>
          <a:xfrm>
            <a:off x="3364061" y="2519221"/>
            <a:ext cx="576000" cy="20574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 </a:t>
            </a:r>
            <a:r>
              <a:rPr lang="en-US" altLang="zh-CN" sz="8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endParaRPr lang="zh-CN" altLang="en-US" sz="800" dirty="0" err="1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B072AFB-3F3D-C710-AE37-AC46A8FFA82B}"/>
              </a:ext>
            </a:extLst>
          </p:cNvPr>
          <p:cNvSpPr/>
          <p:nvPr/>
        </p:nvSpPr>
        <p:spPr>
          <a:xfrm>
            <a:off x="3364061" y="2831384"/>
            <a:ext cx="576000" cy="20574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 </a:t>
            </a:r>
            <a:r>
              <a:rPr lang="en-US" altLang="zh-CN" sz="8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endParaRPr lang="zh-CN" altLang="en-US" sz="800" dirty="0" err="1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89B0D8A-6545-F794-8DFB-7E6BCCB13066}"/>
              </a:ext>
            </a:extLst>
          </p:cNvPr>
          <p:cNvSpPr/>
          <p:nvPr/>
        </p:nvSpPr>
        <p:spPr>
          <a:xfrm>
            <a:off x="3364061" y="3143547"/>
            <a:ext cx="576000" cy="20574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23.3 </a:t>
            </a:r>
            <a:r>
              <a:rPr lang="en-US" altLang="zh-CN" sz="8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endParaRPr lang="zh-CN" altLang="en-US" sz="800" dirty="0" err="1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5DA25DB-6899-2796-A653-046899051A6D}"/>
              </a:ext>
            </a:extLst>
          </p:cNvPr>
          <p:cNvSpPr/>
          <p:nvPr/>
        </p:nvSpPr>
        <p:spPr>
          <a:xfrm>
            <a:off x="3364061" y="3455709"/>
            <a:ext cx="576000" cy="20574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800" b="0" i="0" dirty="0">
                <a:solidFill>
                  <a:srgbClr val="52514E"/>
                </a:solidFill>
                <a:effectLst/>
                <a:latin typeface="SFMono-Regular"/>
              </a:rPr>
              <a:t>9.2 </a:t>
            </a:r>
            <a:r>
              <a:rPr lang="en-US" altLang="zh-CN" sz="800" b="0" i="0" dirty="0" err="1">
                <a:solidFill>
                  <a:srgbClr val="52514E"/>
                </a:solidFill>
                <a:effectLst/>
                <a:latin typeface="SFMono-Regular"/>
              </a:rPr>
              <a:t>ms</a:t>
            </a:r>
            <a:endParaRPr lang="zh-CN" altLang="en-US" sz="800" dirty="0" err="1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66F1228-C72F-9E23-E410-DD8AD310582D}"/>
              </a:ext>
            </a:extLst>
          </p:cNvPr>
          <p:cNvSpPr/>
          <p:nvPr/>
        </p:nvSpPr>
        <p:spPr>
          <a:xfrm>
            <a:off x="4329767" y="1247439"/>
            <a:ext cx="3483085" cy="252000"/>
          </a:xfrm>
          <a:prstGeom prst="rect">
            <a:avLst/>
          </a:prstGeom>
          <a:solidFill>
            <a:srgbClr val="A8E0E8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r>
              <a:rPr lang="zh-CN" altLang="en-US" sz="1400" dirty="0"/>
              <a:t>编排触发 </a:t>
            </a:r>
            <a:r>
              <a:rPr lang="en-US" altLang="zh-CN" sz="1400" dirty="0"/>
              <a:t>· </a:t>
            </a:r>
            <a:r>
              <a:rPr lang="en-US" altLang="zh-CN" sz="1400" dirty="0" err="1"/>
              <a:t>AutoPause</a:t>
            </a:r>
            <a:endParaRPr lang="zh-CN" altLang="en-US" sz="10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9CDE05F-1ED0-502D-3DF8-74B5D99F931F}"/>
              </a:ext>
            </a:extLst>
          </p:cNvPr>
          <p:cNvSpPr/>
          <p:nvPr/>
        </p:nvSpPr>
        <p:spPr>
          <a:xfrm>
            <a:off x="4329767" y="1559602"/>
            <a:ext cx="3483085" cy="252000"/>
          </a:xfrm>
          <a:prstGeom prst="rect">
            <a:avLst/>
          </a:prstGeom>
          <a:solidFill>
            <a:srgbClr val="FFC49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r>
              <a:rPr lang="zh-CN" altLang="en-US" sz="1400" dirty="0"/>
              <a:t>冻结 </a:t>
            </a:r>
            <a:r>
              <a:rPr lang="en-US" altLang="zh-CN" sz="1400" dirty="0"/>
              <a:t>vCPU · KVM</a:t>
            </a:r>
            <a:endParaRPr lang="zh-CN" altLang="en-US" sz="10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2D07877-D2CF-9224-A7A0-A5A77702E3B6}"/>
              </a:ext>
            </a:extLst>
          </p:cNvPr>
          <p:cNvSpPr/>
          <p:nvPr/>
        </p:nvSpPr>
        <p:spPr>
          <a:xfrm>
            <a:off x="4329767" y="1871765"/>
            <a:ext cx="3483085" cy="252000"/>
          </a:xfrm>
          <a:prstGeom prst="rect">
            <a:avLst/>
          </a:prstGeom>
          <a:solidFill>
            <a:srgbClr val="BEE7A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r>
              <a:rPr lang="zh-CN" altLang="en-US" sz="1400" dirty="0">
                <a:solidFill>
                  <a:schemeClr val="accent1"/>
                </a:solidFill>
              </a:rPr>
              <a:t>★ </a:t>
            </a:r>
            <a:r>
              <a:rPr lang="zh-CN" altLang="en-US" sz="1400" dirty="0">
                <a:solidFill>
                  <a:schemeClr val="tx1"/>
                </a:solidFill>
              </a:rPr>
              <a:t>内存快照 </a:t>
            </a:r>
            <a:r>
              <a:rPr lang="en-US" altLang="zh-CN" sz="1400" dirty="0">
                <a:solidFill>
                  <a:schemeClr val="tx1"/>
                </a:solidFill>
              </a:rPr>
              <a:t>· </a:t>
            </a:r>
            <a:r>
              <a:rPr lang="en-US" altLang="zh-CN" sz="1400" dirty="0" err="1">
                <a:solidFill>
                  <a:schemeClr val="tx1"/>
                </a:solidFill>
              </a:rPr>
              <a:t>CubeHypervisor</a:t>
            </a:r>
            <a:endParaRPr lang="zh-CN" altLang="en-US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A5280AE-A62A-92D1-D442-C163930A6656}"/>
              </a:ext>
            </a:extLst>
          </p:cNvPr>
          <p:cNvSpPr/>
          <p:nvPr/>
        </p:nvSpPr>
        <p:spPr>
          <a:xfrm>
            <a:off x="4329767" y="2183928"/>
            <a:ext cx="3483085" cy="252000"/>
          </a:xfrm>
          <a:prstGeom prst="rect">
            <a:avLst/>
          </a:prstGeom>
          <a:solidFill>
            <a:srgbClr val="BEE7A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设备状态保存 </a:t>
            </a:r>
            <a:r>
              <a:rPr lang="en-US" altLang="zh-CN" sz="1400" dirty="0">
                <a:solidFill>
                  <a:schemeClr val="tx1"/>
                </a:solidFill>
                <a:latin typeface="+mn-ea"/>
              </a:rPr>
              <a:t>· </a:t>
            </a:r>
            <a:r>
              <a:rPr lang="en-US" altLang="zh-CN" sz="1400" dirty="0" err="1">
                <a:solidFill>
                  <a:schemeClr val="tx1"/>
                </a:solidFill>
                <a:latin typeface="+mn-ea"/>
              </a:rPr>
              <a:t>virtio</a:t>
            </a:r>
            <a:endParaRPr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DE51752-4752-F760-9A85-90954EE04557}"/>
              </a:ext>
            </a:extLst>
          </p:cNvPr>
          <p:cNvSpPr/>
          <p:nvPr/>
        </p:nvSpPr>
        <p:spPr>
          <a:xfrm>
            <a:off x="4329767" y="2496091"/>
            <a:ext cx="3483085" cy="252000"/>
          </a:xfrm>
          <a:prstGeom prst="rect">
            <a:avLst/>
          </a:prstGeom>
          <a:solidFill>
            <a:srgbClr val="FFB2B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r>
              <a:rPr lang="zh-CN" altLang="en-US" sz="1400" dirty="0"/>
              <a:t>磁盘快照 </a:t>
            </a:r>
            <a:r>
              <a:rPr lang="en-US" altLang="zh-CN" sz="1400" dirty="0"/>
              <a:t>· </a:t>
            </a:r>
            <a:r>
              <a:rPr lang="en-US" altLang="zh-CN" sz="1400" dirty="0" err="1"/>
              <a:t>CubeCoW</a:t>
            </a:r>
            <a:r>
              <a:rPr lang="zh-CN" altLang="en-US" sz="1400" dirty="0"/>
              <a:t>（</a:t>
            </a:r>
            <a:r>
              <a:rPr lang="en-US" altLang="zh-CN" sz="1400" dirty="0"/>
              <a:t>CGO</a:t>
            </a:r>
            <a:r>
              <a:rPr lang="zh-CN" altLang="en-US" sz="1400" dirty="0"/>
              <a:t>）</a:t>
            </a:r>
            <a:endParaRPr lang="zh-CN" altLang="en-US" sz="10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15F3173-EC29-C930-47F5-421BE7C5E828}"/>
              </a:ext>
            </a:extLst>
          </p:cNvPr>
          <p:cNvSpPr/>
          <p:nvPr/>
        </p:nvSpPr>
        <p:spPr>
          <a:xfrm>
            <a:off x="4329767" y="2808254"/>
            <a:ext cx="3483085" cy="252000"/>
          </a:xfrm>
          <a:prstGeom prst="rect">
            <a:avLst/>
          </a:prstGeom>
          <a:solidFill>
            <a:srgbClr val="FFC49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r>
              <a:rPr lang="zh-CN" altLang="en-US" sz="1400" dirty="0"/>
              <a:t>快照落盘 </a:t>
            </a:r>
            <a:r>
              <a:rPr lang="en-US" altLang="zh-CN" sz="1400" dirty="0"/>
              <a:t>· </a:t>
            </a:r>
            <a:r>
              <a:rPr lang="zh-CN" altLang="en-US" sz="1400" dirty="0"/>
              <a:t>存储</a:t>
            </a:r>
            <a:endParaRPr lang="zh-CN" altLang="en-US" sz="10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FB2B1A4-C7BB-7B80-E6B6-96B30CA6CB2F}"/>
              </a:ext>
            </a:extLst>
          </p:cNvPr>
          <p:cNvSpPr/>
          <p:nvPr/>
        </p:nvSpPr>
        <p:spPr>
          <a:xfrm>
            <a:off x="7191329" y="1270569"/>
            <a:ext cx="576000" cy="20574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26.9 </a:t>
            </a:r>
            <a:r>
              <a:rPr lang="en-US" altLang="zh-CN" sz="8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endParaRPr lang="zh-CN" altLang="en-US" sz="800" dirty="0" err="1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0CA1EE6-92EC-EA07-4D36-9FFAEE31F3A0}"/>
              </a:ext>
            </a:extLst>
          </p:cNvPr>
          <p:cNvSpPr/>
          <p:nvPr/>
        </p:nvSpPr>
        <p:spPr>
          <a:xfrm>
            <a:off x="7191329" y="1582732"/>
            <a:ext cx="576000" cy="20574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51.4 </a:t>
            </a:r>
            <a:r>
              <a:rPr lang="en-US" altLang="zh-CN" sz="8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endParaRPr lang="zh-CN" altLang="en-US" sz="800" dirty="0" err="1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5AA3F3A-5D7D-9FBB-78DB-3A418A04BBA4}"/>
              </a:ext>
            </a:extLst>
          </p:cNvPr>
          <p:cNvSpPr/>
          <p:nvPr/>
        </p:nvSpPr>
        <p:spPr>
          <a:xfrm>
            <a:off x="7191329" y="1894895"/>
            <a:ext cx="576000" cy="20574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129 </a:t>
            </a:r>
            <a:r>
              <a:rPr lang="en-US" altLang="zh-CN" sz="8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endParaRPr lang="zh-CN" altLang="en-US" sz="800" dirty="0" err="1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7E9F335-B427-EB03-2FF1-C57E580715F1}"/>
              </a:ext>
            </a:extLst>
          </p:cNvPr>
          <p:cNvSpPr/>
          <p:nvPr/>
        </p:nvSpPr>
        <p:spPr>
          <a:xfrm>
            <a:off x="7191329" y="2207058"/>
            <a:ext cx="576000" cy="20574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en-US" altLang="zh-CN" sz="8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endParaRPr lang="zh-CN" altLang="en-US" sz="800" dirty="0" err="1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E309FF7-84AB-26C9-E5EA-C636C866A016}"/>
              </a:ext>
            </a:extLst>
          </p:cNvPr>
          <p:cNvSpPr/>
          <p:nvPr/>
        </p:nvSpPr>
        <p:spPr>
          <a:xfrm>
            <a:off x="7191329" y="2519221"/>
            <a:ext cx="576000" cy="20574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en-US" altLang="zh-CN" sz="8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endParaRPr lang="zh-CN" altLang="en-US" sz="800" dirty="0" err="1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01C7F2E-588F-C3DB-0064-A1BC910E750F}"/>
              </a:ext>
            </a:extLst>
          </p:cNvPr>
          <p:cNvSpPr/>
          <p:nvPr/>
        </p:nvSpPr>
        <p:spPr>
          <a:xfrm>
            <a:off x="7191329" y="2831384"/>
            <a:ext cx="576000" cy="20574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N/A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E2D273A-0498-E2B8-1785-9265E9F35518}"/>
              </a:ext>
            </a:extLst>
          </p:cNvPr>
          <p:cNvSpPr/>
          <p:nvPr/>
        </p:nvSpPr>
        <p:spPr>
          <a:xfrm>
            <a:off x="8183508" y="1247439"/>
            <a:ext cx="3483085" cy="252000"/>
          </a:xfrm>
          <a:prstGeom prst="rect">
            <a:avLst/>
          </a:prstGeom>
          <a:solidFill>
            <a:srgbClr val="A8E0E8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r>
              <a:rPr lang="zh-CN" altLang="en-US" sz="1400" dirty="0"/>
              <a:t>编排触发 </a:t>
            </a:r>
            <a:r>
              <a:rPr lang="en-US" altLang="zh-CN" sz="1400" dirty="0"/>
              <a:t>· </a:t>
            </a:r>
            <a:r>
              <a:rPr lang="en-US" altLang="zh-CN" sz="1400" dirty="0" err="1"/>
              <a:t>AutoResume</a:t>
            </a:r>
            <a:endParaRPr lang="zh-CN" altLang="en-US" sz="10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3F7A59B-5ABD-02E1-F3C5-38EA6BFDAC05}"/>
              </a:ext>
            </a:extLst>
          </p:cNvPr>
          <p:cNvSpPr/>
          <p:nvPr/>
        </p:nvSpPr>
        <p:spPr>
          <a:xfrm>
            <a:off x="8183508" y="1559602"/>
            <a:ext cx="3483085" cy="252000"/>
          </a:xfrm>
          <a:prstGeom prst="rect">
            <a:avLst/>
          </a:prstGeom>
          <a:solidFill>
            <a:srgbClr val="BEE7A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★</a:t>
            </a:r>
            <a:r>
              <a:rPr lang="zh-CN" altLang="en-US" sz="1400" dirty="0"/>
              <a:t> 内存恢复 </a:t>
            </a:r>
            <a:r>
              <a:rPr lang="en-US" altLang="zh-CN" sz="1400" dirty="0"/>
              <a:t>· </a:t>
            </a:r>
            <a:r>
              <a:rPr lang="en-US" altLang="zh-CN" sz="1400" dirty="0" err="1"/>
              <a:t>CubeHypervisor</a:t>
            </a:r>
            <a:endParaRPr lang="zh-CN" altLang="en-US" sz="10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4F83FA7-BCA5-E232-3185-ADD649028572}"/>
              </a:ext>
            </a:extLst>
          </p:cNvPr>
          <p:cNvSpPr/>
          <p:nvPr/>
        </p:nvSpPr>
        <p:spPr>
          <a:xfrm>
            <a:off x="8183508" y="2189832"/>
            <a:ext cx="3483085" cy="252000"/>
          </a:xfrm>
          <a:prstGeom prst="rect">
            <a:avLst/>
          </a:prstGeom>
          <a:solidFill>
            <a:srgbClr val="FFB2B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r>
              <a:rPr lang="en-US" altLang="zh-CN" sz="1400" dirty="0" err="1"/>
              <a:t>reflink</a:t>
            </a:r>
            <a:r>
              <a:rPr lang="en-US" altLang="zh-CN" sz="1400" dirty="0"/>
              <a:t> </a:t>
            </a:r>
            <a:r>
              <a:rPr lang="zh-CN" altLang="en-US" sz="1400" dirty="0"/>
              <a:t>恢复 </a:t>
            </a:r>
            <a:r>
              <a:rPr lang="en-US" altLang="zh-CN" sz="1400" dirty="0"/>
              <a:t>· </a:t>
            </a:r>
            <a:r>
              <a:rPr lang="en-US" altLang="zh-CN" sz="1400" dirty="0" err="1"/>
              <a:t>CubeCoW</a:t>
            </a:r>
            <a:r>
              <a:rPr lang="zh-CN" altLang="en-US" sz="1400" dirty="0"/>
              <a:t>（</a:t>
            </a:r>
            <a:r>
              <a:rPr lang="en-US" altLang="zh-CN" sz="1400" dirty="0"/>
              <a:t>CGO</a:t>
            </a:r>
            <a:r>
              <a:rPr lang="zh-CN" altLang="en-US" sz="1400" dirty="0"/>
              <a:t>）</a:t>
            </a:r>
            <a:endParaRPr lang="zh-CN" altLang="en-US" sz="10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824186B-91B1-A280-0965-D7414BDA16B5}"/>
              </a:ext>
            </a:extLst>
          </p:cNvPr>
          <p:cNvSpPr/>
          <p:nvPr/>
        </p:nvSpPr>
        <p:spPr>
          <a:xfrm>
            <a:off x="8183508" y="2501995"/>
            <a:ext cx="3483085" cy="252000"/>
          </a:xfrm>
          <a:prstGeom prst="rect">
            <a:avLst/>
          </a:prstGeom>
          <a:solidFill>
            <a:srgbClr val="BEE7A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r>
              <a:rPr lang="zh-CN" altLang="en-US" sz="1400" dirty="0">
                <a:solidFill>
                  <a:schemeClr val="tx1"/>
                </a:solidFill>
              </a:rPr>
              <a:t>设备状态恢复 </a:t>
            </a:r>
            <a:r>
              <a:rPr lang="en-US" altLang="zh-CN" sz="1400" dirty="0">
                <a:solidFill>
                  <a:schemeClr val="tx1"/>
                </a:solidFill>
              </a:rPr>
              <a:t>· </a:t>
            </a:r>
            <a:r>
              <a:rPr lang="en-US" altLang="zh-CN" sz="1400" dirty="0" err="1">
                <a:solidFill>
                  <a:schemeClr val="tx1"/>
                </a:solidFill>
              </a:rPr>
              <a:t>virtio</a:t>
            </a:r>
            <a:endParaRPr lang="zh-CN" altLang="en-US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6511EB9-561B-2ABA-FE8C-5B151B511730}"/>
              </a:ext>
            </a:extLst>
          </p:cNvPr>
          <p:cNvSpPr/>
          <p:nvPr/>
        </p:nvSpPr>
        <p:spPr>
          <a:xfrm>
            <a:off x="8183508" y="2814158"/>
            <a:ext cx="3483085" cy="252000"/>
          </a:xfrm>
          <a:prstGeom prst="rect">
            <a:avLst/>
          </a:prstGeom>
          <a:solidFill>
            <a:srgbClr val="FFC49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r>
              <a:rPr lang="en-US" altLang="zh-CN" sz="1400" dirty="0"/>
              <a:t>vCPU </a:t>
            </a:r>
            <a:r>
              <a:rPr lang="zh-CN" altLang="en-US" sz="1400" dirty="0"/>
              <a:t>恢复 </a:t>
            </a:r>
            <a:r>
              <a:rPr lang="en-US" altLang="zh-CN" sz="1400" dirty="0"/>
              <a:t>· KVM</a:t>
            </a:r>
            <a:endParaRPr lang="zh-CN" altLang="en-US" sz="10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56AF705-6888-6314-D887-C8728CFB64D8}"/>
              </a:ext>
            </a:extLst>
          </p:cNvPr>
          <p:cNvSpPr/>
          <p:nvPr/>
        </p:nvSpPr>
        <p:spPr>
          <a:xfrm>
            <a:off x="8183508" y="3126321"/>
            <a:ext cx="3483085" cy="252000"/>
          </a:xfrm>
          <a:prstGeom prst="rect">
            <a:avLst/>
          </a:prstGeom>
          <a:solidFill>
            <a:srgbClr val="FFC49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r>
              <a:rPr lang="zh-CN" altLang="en-US" sz="1400" dirty="0"/>
              <a:t>网络策略重下发 </a:t>
            </a:r>
            <a:r>
              <a:rPr lang="en-US" altLang="zh-CN" sz="1400" dirty="0"/>
              <a:t>· </a:t>
            </a:r>
            <a:r>
              <a:rPr lang="en-US" altLang="zh-CN" sz="1400" dirty="0" err="1"/>
              <a:t>CubeVS</a:t>
            </a:r>
            <a:endParaRPr lang="zh-CN" altLang="en-US" sz="10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CE584682-0489-1EA3-0F23-324EDEA81243}"/>
              </a:ext>
            </a:extLst>
          </p:cNvPr>
          <p:cNvSpPr/>
          <p:nvPr/>
        </p:nvSpPr>
        <p:spPr>
          <a:xfrm>
            <a:off x="8183508" y="3438484"/>
            <a:ext cx="3483085" cy="252000"/>
          </a:xfrm>
          <a:prstGeom prst="rect">
            <a:avLst/>
          </a:prstGeom>
          <a:solidFill>
            <a:srgbClr val="BEE7A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r>
              <a:rPr lang="zh-CN" altLang="en-US" sz="1400" dirty="0"/>
              <a:t>就绪返回 </a:t>
            </a:r>
            <a:r>
              <a:rPr lang="en-US" altLang="zh-CN" sz="1400" dirty="0"/>
              <a:t>· </a:t>
            </a:r>
            <a:r>
              <a:rPr lang="en-US" altLang="zh-CN" sz="1400" dirty="0" err="1"/>
              <a:t>CubeAPI</a:t>
            </a:r>
            <a:endParaRPr lang="zh-CN" altLang="en-US" sz="10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2DD1C29-EC88-AE00-0B08-4ED0967E5F3E}"/>
              </a:ext>
            </a:extLst>
          </p:cNvPr>
          <p:cNvSpPr/>
          <p:nvPr/>
        </p:nvSpPr>
        <p:spPr>
          <a:xfrm>
            <a:off x="11045070" y="1270569"/>
            <a:ext cx="576000" cy="20574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37.6 </a:t>
            </a:r>
            <a:r>
              <a:rPr lang="en-US" altLang="zh-CN" sz="8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endParaRPr lang="zh-CN" altLang="en-US" sz="800" dirty="0" err="1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8445B09E-601D-96DE-FDCD-8DF0B0C8F22C}"/>
              </a:ext>
            </a:extLst>
          </p:cNvPr>
          <p:cNvSpPr/>
          <p:nvPr/>
        </p:nvSpPr>
        <p:spPr>
          <a:xfrm>
            <a:off x="11045070" y="1582732"/>
            <a:ext cx="576000" cy="20574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37.1 </a:t>
            </a:r>
            <a:r>
              <a:rPr lang="en-US" altLang="zh-CN" sz="8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endParaRPr lang="zh-CN" altLang="en-US" sz="800" dirty="0" err="1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4E62C8B7-B0F3-3AE4-D23E-BFD36BEADB77}"/>
              </a:ext>
            </a:extLst>
          </p:cNvPr>
          <p:cNvSpPr/>
          <p:nvPr/>
        </p:nvSpPr>
        <p:spPr>
          <a:xfrm>
            <a:off x="11045070" y="2212962"/>
            <a:ext cx="576000" cy="20574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1.6 </a:t>
            </a:r>
            <a:r>
              <a:rPr lang="en-US" altLang="zh-CN" sz="8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endParaRPr lang="zh-CN" altLang="en-US" sz="800" dirty="0" err="1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783771EC-B3AE-3947-F02D-94804FA5F89A}"/>
              </a:ext>
            </a:extLst>
          </p:cNvPr>
          <p:cNvSpPr/>
          <p:nvPr/>
        </p:nvSpPr>
        <p:spPr>
          <a:xfrm>
            <a:off x="11045070" y="2525125"/>
            <a:ext cx="576000" cy="20574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N/A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8AF37CC9-DC27-7686-99A7-393501E1B7D0}"/>
              </a:ext>
            </a:extLst>
          </p:cNvPr>
          <p:cNvSpPr/>
          <p:nvPr/>
        </p:nvSpPr>
        <p:spPr>
          <a:xfrm>
            <a:off x="11045070" y="2837288"/>
            <a:ext cx="576000" cy="20574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en-US" altLang="zh-CN" sz="8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endParaRPr lang="zh-CN" altLang="en-US" sz="800" dirty="0" err="1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F7342099-7E48-F5FC-0D77-DE9E455F813A}"/>
              </a:ext>
            </a:extLst>
          </p:cNvPr>
          <p:cNvSpPr/>
          <p:nvPr/>
        </p:nvSpPr>
        <p:spPr>
          <a:xfrm>
            <a:off x="11045070" y="3149451"/>
            <a:ext cx="576000" cy="20574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N/A</a:t>
            </a:r>
            <a:endParaRPr lang="zh-CN" altLang="en-US" sz="800" dirty="0" err="1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BD640028-985E-6C37-2D8F-3C542E45253D}"/>
              </a:ext>
            </a:extLst>
          </p:cNvPr>
          <p:cNvSpPr/>
          <p:nvPr/>
        </p:nvSpPr>
        <p:spPr>
          <a:xfrm>
            <a:off x="11045070" y="3461614"/>
            <a:ext cx="576000" cy="20574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800" b="0" i="0" dirty="0">
                <a:solidFill>
                  <a:srgbClr val="1A2230"/>
                </a:solidFill>
                <a:effectLst/>
                <a:latin typeface="SFMono-Regular"/>
              </a:rPr>
              <a:t>7.4</a:t>
            </a:r>
            <a:r>
              <a:rPr lang="en-US" altLang="zh-CN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8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endParaRPr lang="zh-CN" altLang="en-US" sz="800" dirty="0" err="1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7" name="表格 45">
            <a:extLst>
              <a:ext uri="{FF2B5EF4-FFF2-40B4-BE49-F238E27FC236}">
                <a16:creationId xmlns:a16="http://schemas.microsoft.com/office/drawing/2014/main" id="{09731234-52BA-1A22-7055-F2B3AD8A5D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7875396"/>
              </p:ext>
            </p:extLst>
          </p:nvPr>
        </p:nvGraphicFramePr>
        <p:xfrm>
          <a:off x="367360" y="4937259"/>
          <a:ext cx="11397919" cy="1299980"/>
        </p:xfrm>
        <a:graphic>
          <a:graphicData uri="http://schemas.openxmlformats.org/drawingml/2006/table">
            <a:tbl>
              <a:tblPr/>
              <a:tblGrid>
                <a:gridCol w="5851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4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6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1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414859368"/>
                    </a:ext>
                  </a:extLst>
                </a:gridCol>
              </a:tblGrid>
              <a:tr h="33781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编号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优化点</a:t>
                      </a: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</a:t>
                      </a: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代码量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优化结果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32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①</a:t>
                      </a:r>
                      <a:endParaRPr lang="en-US" sz="1400" b="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TODO  </a:t>
                      </a:r>
                      <a:r>
                        <a:rPr lang="zh-CN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穿刺优化点</a:t>
                      </a:r>
                      <a:endParaRPr lang="en-US" altLang="zh-CN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xxx</a:t>
                      </a:r>
                      <a:endParaRPr lang="zh-CN" altLang="en-US" sz="10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xxx</a:t>
                      </a:r>
                      <a:endParaRPr lang="zh-CN" altLang="en-US" sz="10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Start </a:t>
                      </a:r>
                      <a:r>
                        <a:rPr lang="zh-CN" altLang="en-US" sz="10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时间减少 </a:t>
                      </a:r>
                      <a:r>
                        <a:rPr lang="en-US" altLang="zh-CN" sz="10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xx </a:t>
                      </a:r>
                      <a:r>
                        <a:rPr lang="en-US" altLang="zh-CN" sz="1000" b="0" kern="1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ms</a:t>
                      </a:r>
                      <a:endParaRPr lang="zh-CN" altLang="en-US" sz="10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②</a:t>
                      </a:r>
                      <a:endParaRPr lang="en-US" sz="1400" b="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zh-CN" sz="1000" b="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766220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zh-CN" sz="1000" b="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6113786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6FE83E2B-3EB9-46E9-939B-60B55E17F85E}"/>
              </a:ext>
            </a:extLst>
          </p:cNvPr>
          <p:cNvSpPr txBox="1"/>
          <p:nvPr/>
        </p:nvSpPr>
        <p:spPr>
          <a:xfrm>
            <a:off x="466824" y="3880194"/>
            <a:ext cx="340426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单并发：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950 49 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(50 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/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百并发：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950 390 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(300 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挑战目标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 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kumimoji="1" lang="zh-CN" altLang="en-US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CF257143-476B-4E5F-B599-EC77EF33B41B}"/>
              </a:ext>
            </a:extLst>
          </p:cNvPr>
          <p:cNvSpPr txBox="1"/>
          <p:nvPr/>
        </p:nvSpPr>
        <p:spPr>
          <a:xfrm>
            <a:off x="4235310" y="3880194"/>
            <a:ext cx="2519921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单并发：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950 166 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150 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十并发：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950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？ （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9654 1.2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倍）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百并发：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950 1705 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 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6A0E819-A001-4C42-B4FF-1A431ACAD43A}"/>
              </a:ext>
            </a:extLst>
          </p:cNvPr>
          <p:cNvSpPr txBox="1"/>
          <p:nvPr/>
        </p:nvSpPr>
        <p:spPr>
          <a:xfrm>
            <a:off x="8103260" y="3895447"/>
            <a:ext cx="2475037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单并发：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950 </a:t>
            </a:r>
            <a:r>
              <a:rPr kumimoji="1" lang="en-US" altLang="zh-CN" sz="12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101 </a:t>
            </a:r>
            <a:r>
              <a:rPr kumimoji="1" lang="en-US" altLang="zh-CN" sz="1200" dirty="0" err="1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r>
              <a:rPr kumimoji="1" lang="en-US" altLang="zh-CN" sz="12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 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十并发：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950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？ （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9654 1.2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倍）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百并发：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950 1920 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 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B39B091-B2C6-4C9E-99BE-74B7B79AB74F}"/>
              </a:ext>
            </a:extLst>
          </p:cNvPr>
          <p:cNvSpPr txBox="1"/>
          <p:nvPr/>
        </p:nvSpPr>
        <p:spPr>
          <a:xfrm>
            <a:off x="5752132" y="4469742"/>
            <a:ext cx="3581109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※</a:t>
            </a:r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括号内为目标 </a:t>
            </a:r>
            <a:r>
              <a:rPr kumimoji="1" lang="en-US" altLang="zh-CN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百并发测试为全体端到端，</a:t>
            </a:r>
            <a:r>
              <a:rPr kumimoji="1" lang="en-US" altLang="zh-CN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breakdown </a:t>
            </a:r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为单个端到端</a:t>
            </a:r>
          </a:p>
        </p:txBody>
      </p:sp>
      <p:sp>
        <p:nvSpPr>
          <p:cNvPr id="72" name="Rectangle 66">
            <a:extLst>
              <a:ext uri="{FF2B5EF4-FFF2-40B4-BE49-F238E27FC236}">
                <a16:creationId xmlns:a16="http://schemas.microsoft.com/office/drawing/2014/main" id="{81348661-78C0-4E16-9594-0D515F3634DC}"/>
              </a:ext>
            </a:extLst>
          </p:cNvPr>
          <p:cNvSpPr/>
          <p:nvPr/>
        </p:nvSpPr>
        <p:spPr>
          <a:xfrm>
            <a:off x="8183508" y="1872542"/>
            <a:ext cx="3483085" cy="252000"/>
          </a:xfrm>
          <a:prstGeom prst="rect">
            <a:avLst/>
          </a:prstGeom>
          <a:solidFill>
            <a:srgbClr val="FEC493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r>
              <a:rPr lang="en-US" altLang="zh-CN" sz="1400" dirty="0">
                <a:solidFill>
                  <a:schemeClr val="tx1"/>
                </a:solidFill>
              </a:rPr>
              <a:t>VM </a:t>
            </a:r>
            <a:r>
              <a:rPr lang="zh-CN" altLang="en-US" sz="1400" dirty="0">
                <a:solidFill>
                  <a:schemeClr val="tx1"/>
                </a:solidFill>
              </a:rPr>
              <a:t>恢复</a:t>
            </a:r>
            <a:r>
              <a:rPr lang="en-US" altLang="zh-CN" sz="1400" dirty="0">
                <a:solidFill>
                  <a:schemeClr val="tx1"/>
                </a:solidFill>
              </a:rPr>
              <a:t>· Guest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tx1"/>
                </a:solidFill>
              </a:rPr>
              <a:t>OS</a:t>
            </a:r>
          </a:p>
        </p:txBody>
      </p:sp>
      <p:sp>
        <p:nvSpPr>
          <p:cNvPr id="74" name="Rectangle 82">
            <a:extLst>
              <a:ext uri="{FF2B5EF4-FFF2-40B4-BE49-F238E27FC236}">
                <a16:creationId xmlns:a16="http://schemas.microsoft.com/office/drawing/2014/main" id="{024C13FB-230E-4AA8-BDB6-913FD857B017}"/>
              </a:ext>
            </a:extLst>
          </p:cNvPr>
          <p:cNvSpPr/>
          <p:nvPr/>
        </p:nvSpPr>
        <p:spPr>
          <a:xfrm>
            <a:off x="11045070" y="1895672"/>
            <a:ext cx="576000" cy="20574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800" b="0" i="0" dirty="0">
                <a:solidFill>
                  <a:srgbClr val="52514E"/>
                </a:solidFill>
                <a:effectLst/>
                <a:latin typeface="SFMono-Regular"/>
              </a:rPr>
              <a:t>145</a:t>
            </a:r>
            <a:r>
              <a:rPr lang="en-US" altLang="zh-CN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8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endParaRPr lang="zh-CN" altLang="en-US" sz="800" dirty="0" err="1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6391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矩形 63">
            <a:extLst>
              <a:ext uri="{FF2B5EF4-FFF2-40B4-BE49-F238E27FC236}">
                <a16:creationId xmlns:a16="http://schemas.microsoft.com/office/drawing/2014/main" id="{66B7718B-45C7-49AC-BA54-E005250C8025}"/>
              </a:ext>
            </a:extLst>
          </p:cNvPr>
          <p:cNvSpPr/>
          <p:nvPr/>
        </p:nvSpPr>
        <p:spPr>
          <a:xfrm>
            <a:off x="119923" y="2446536"/>
            <a:ext cx="3232443" cy="3624565"/>
          </a:xfrm>
          <a:prstGeom prst="rect">
            <a:avLst/>
          </a:prstGeom>
          <a:solidFill>
            <a:schemeClr val="tx2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内核态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/clang -&gt; </a:t>
            </a:r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eBPF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80C52578-B827-49B7-839C-CEC37D8BB388}"/>
              </a:ext>
            </a:extLst>
          </p:cNvPr>
          <p:cNvSpPr/>
          <p:nvPr/>
        </p:nvSpPr>
        <p:spPr>
          <a:xfrm>
            <a:off x="341446" y="2831967"/>
            <a:ext cx="2882902" cy="212524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altLang="zh-CN" sz="1100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1945DE36-2E6A-41BE-94BC-914E6F5CD15F}"/>
              </a:ext>
            </a:extLst>
          </p:cNvPr>
          <p:cNvSpPr/>
          <p:nvPr/>
        </p:nvSpPr>
        <p:spPr>
          <a:xfrm>
            <a:off x="241831" y="2731271"/>
            <a:ext cx="2882902" cy="212524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CPU/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物理线程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928DC62-5DC7-4104-88A1-F6BE5DE87ADF}"/>
              </a:ext>
            </a:extLst>
          </p:cNvPr>
          <p:cNvSpPr/>
          <p:nvPr/>
        </p:nvSpPr>
        <p:spPr>
          <a:xfrm>
            <a:off x="129082" y="2088040"/>
            <a:ext cx="4848435" cy="266167"/>
          </a:xfrm>
          <a:prstGeom prst="rect">
            <a:avLst/>
          </a:prstGeom>
          <a:solidFill>
            <a:schemeClr val="tx2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sched_ext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scx_cosmos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5EB89554-FC4D-4DCB-9832-6735608A3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99" y="180000"/>
            <a:ext cx="11831495" cy="360000"/>
          </a:xfrm>
        </p:spPr>
        <p:txBody>
          <a:bodyPr/>
          <a:lstStyle/>
          <a:p>
            <a:r>
              <a:rPr lang="zh-CN" altLang="en-US" sz="2400" dirty="0"/>
              <a:t>定制线程调度方案，降低 </a:t>
            </a:r>
            <a:r>
              <a:rPr lang="en-US" altLang="zh-CN" sz="2400" dirty="0"/>
              <a:t>K+A/K+X </a:t>
            </a:r>
            <a:r>
              <a:rPr lang="zh-CN" altLang="en-US" sz="2400" dirty="0"/>
              <a:t>场景 </a:t>
            </a:r>
            <a:r>
              <a:rPr lang="en-US" altLang="zh-CN" sz="2400" dirty="0"/>
              <a:t>NPU/GPU </a:t>
            </a:r>
            <a:r>
              <a:rPr lang="zh-CN" altLang="en-US" sz="2400" dirty="0"/>
              <a:t>空闲等待间隔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58FD0DD-BB3D-49DC-BCC5-7735D60FB6F2}"/>
              </a:ext>
            </a:extLst>
          </p:cNvPr>
          <p:cNvSpPr/>
          <p:nvPr/>
        </p:nvSpPr>
        <p:spPr>
          <a:xfrm>
            <a:off x="252099" y="607342"/>
            <a:ext cx="706020" cy="1320635"/>
          </a:xfrm>
          <a:prstGeom prst="rect">
            <a:avLst/>
          </a:prstGeom>
          <a:solidFill>
            <a:srgbClr val="C7000A"/>
          </a:solidFill>
          <a:ln w="3175" cap="flat">
            <a:noFill/>
            <a:miter lim="400000"/>
          </a:ln>
          <a:effectLst/>
        </p:spPr>
        <p:txBody>
          <a:bodyPr wrap="square" lIns="35944" tIns="35944" rIns="35944" bIns="35944" numCol="1" anchor="ctr">
            <a:noAutofit/>
          </a:bodyPr>
          <a:lstStyle/>
          <a:p>
            <a:pPr marL="0" marR="0" lvl="0" indent="0" algn="ctr" defTabSz="171825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/>
              </a:rPr>
              <a:t>应用</a:t>
            </a:r>
            <a:endParaRPr kumimoji="0" lang="en-US" altLang="zh-CN" sz="1599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Calibri"/>
            </a:endParaRPr>
          </a:p>
          <a:p>
            <a:pPr marL="0" marR="0" lvl="0" indent="0" algn="ctr" defTabSz="171825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/>
              </a:rPr>
              <a:t>背景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EEDD60B-3CBB-4509-8613-C85DFDEE771F}"/>
              </a:ext>
            </a:extLst>
          </p:cNvPr>
          <p:cNvSpPr/>
          <p:nvPr/>
        </p:nvSpPr>
        <p:spPr>
          <a:xfrm>
            <a:off x="1080644" y="650541"/>
            <a:ext cx="10790653" cy="1277436"/>
          </a:xfrm>
          <a:prstGeom prst="rect">
            <a:avLst/>
          </a:prstGeom>
          <a:solidFill>
            <a:srgbClr val="FFFFFF">
              <a:lumMod val="95000"/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42900" marR="0" lvl="0" indent="-342900" algn="l" defTabSz="914034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eBPF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extended BPF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）：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Linux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内核沙箱化字节码执行环境，接收</a:t>
            </a:r>
            <a:r>
              <a:rPr kumimoji="1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eBPF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字节码，经静态校验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+ JIT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编译后在内核态运行。</a:t>
            </a:r>
            <a:endParaRPr kumimoji="1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034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en-US" altLang="zh-CN" sz="1400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sched_ext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1400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scx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，可扩展调度器）：利用 </a:t>
            </a:r>
            <a:r>
              <a:rPr kumimoji="1" lang="en-US" altLang="zh-CN" sz="1400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eBPF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程序实现定制 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调度器并支持动态加载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热更新，规避内核编译。</a:t>
            </a:r>
            <a:endParaRPr kumimoji="1" lang="en-US" altLang="zh-CN" sz="1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034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商业价值：针对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训练和推理场景，当前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Kunpeng CPU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无法满足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NPU / GPU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训练数据推入，导致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NPU / GPU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调度有空闲，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训练效率。</a:t>
            </a:r>
            <a:endParaRPr kumimoji="1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7F0000">
                  <a:lumMod val="60000"/>
                  <a:lumOff val="4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519CCCE-FA85-4031-B89E-56CC8701101B}"/>
              </a:ext>
            </a:extLst>
          </p:cNvPr>
          <p:cNvSpPr/>
          <p:nvPr/>
        </p:nvSpPr>
        <p:spPr>
          <a:xfrm>
            <a:off x="703579" y="3147764"/>
            <a:ext cx="972000" cy="457155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 DSQ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F077002A-ED0D-4868-90A2-AFC6DD0CD3EC}"/>
              </a:ext>
            </a:extLst>
          </p:cNvPr>
          <p:cNvSpPr/>
          <p:nvPr/>
        </p:nvSpPr>
        <p:spPr>
          <a:xfrm>
            <a:off x="310467" y="5173637"/>
            <a:ext cx="972000" cy="360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C618DF21-7685-4E78-BD7C-F58FC940836E}"/>
              </a:ext>
            </a:extLst>
          </p:cNvPr>
          <p:cNvSpPr/>
          <p:nvPr/>
        </p:nvSpPr>
        <p:spPr>
          <a:xfrm>
            <a:off x="1963566" y="3890888"/>
            <a:ext cx="972000" cy="5453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/>
              <a:t>运行</a:t>
            </a: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A43CFEFB-3153-4199-ABA6-FE67FF2AF5D4}"/>
              </a:ext>
            </a:extLst>
          </p:cNvPr>
          <p:cNvSpPr/>
          <p:nvPr/>
        </p:nvSpPr>
        <p:spPr>
          <a:xfrm>
            <a:off x="1974411" y="3142385"/>
            <a:ext cx="972000" cy="5453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/>
              <a:t>阻塞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205D2EEB-7716-43FB-A914-0735CDC03720}"/>
              </a:ext>
            </a:extLst>
          </p:cNvPr>
          <p:cNvSpPr/>
          <p:nvPr/>
        </p:nvSpPr>
        <p:spPr>
          <a:xfrm>
            <a:off x="3527256" y="2446537"/>
            <a:ext cx="1450261" cy="3624564"/>
          </a:xfrm>
          <a:prstGeom prst="rect">
            <a:avLst/>
          </a:prstGeom>
          <a:solidFill>
            <a:schemeClr val="tx2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用户态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/Rust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C659E728-7E6D-4908-8917-68EE335B0B25}"/>
              </a:ext>
            </a:extLst>
          </p:cNvPr>
          <p:cNvSpPr/>
          <p:nvPr/>
        </p:nvSpPr>
        <p:spPr>
          <a:xfrm>
            <a:off x="3586801" y="2751764"/>
            <a:ext cx="1313069" cy="39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配置读取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9166581B-8AAC-45CB-9D59-6BC0AAA1FD20}"/>
              </a:ext>
            </a:extLst>
          </p:cNvPr>
          <p:cNvSpPr/>
          <p:nvPr/>
        </p:nvSpPr>
        <p:spPr>
          <a:xfrm>
            <a:off x="703579" y="3306284"/>
            <a:ext cx="972000" cy="457155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 DSQ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D544FDB3-9F59-492C-B944-5C3759CDEBBA}"/>
              </a:ext>
            </a:extLst>
          </p:cNvPr>
          <p:cNvSpPr/>
          <p:nvPr/>
        </p:nvSpPr>
        <p:spPr>
          <a:xfrm>
            <a:off x="703579" y="3464804"/>
            <a:ext cx="972000" cy="457155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 DSQ</a:t>
            </a:r>
          </a:p>
        </p:txBody>
      </p:sp>
      <p:sp>
        <p:nvSpPr>
          <p:cNvPr id="73" name="箭头: 下 72">
            <a:extLst>
              <a:ext uri="{FF2B5EF4-FFF2-40B4-BE49-F238E27FC236}">
                <a16:creationId xmlns:a16="http://schemas.microsoft.com/office/drawing/2014/main" id="{CAAC3253-15F9-493C-A48F-6CD48A4EA2A1}"/>
              </a:ext>
            </a:extLst>
          </p:cNvPr>
          <p:cNvSpPr/>
          <p:nvPr/>
        </p:nvSpPr>
        <p:spPr>
          <a:xfrm>
            <a:off x="229058" y="2973369"/>
            <a:ext cx="519142" cy="1740457"/>
          </a:xfrm>
          <a:prstGeom prst="downArrow">
            <a:avLst>
              <a:gd name="adj1" fmla="val 42716"/>
              <a:gd name="adj2" fmla="val 75493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/>
              <a:t>顺序调度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DDD2910C-962B-48D7-BAC9-458EE7FAA628}"/>
              </a:ext>
            </a:extLst>
          </p:cNvPr>
          <p:cNvSpPr/>
          <p:nvPr/>
        </p:nvSpPr>
        <p:spPr>
          <a:xfrm>
            <a:off x="703579" y="3623324"/>
            <a:ext cx="972000" cy="457155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 DSQ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B9C45784-0E56-4BA9-90BE-90BB138DF93B}"/>
              </a:ext>
            </a:extLst>
          </p:cNvPr>
          <p:cNvSpPr/>
          <p:nvPr/>
        </p:nvSpPr>
        <p:spPr>
          <a:xfrm>
            <a:off x="703579" y="3781844"/>
            <a:ext cx="972000" cy="457155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 DSQ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CA595178-F566-41CA-B75B-5FABD97876FC}"/>
              </a:ext>
            </a:extLst>
          </p:cNvPr>
          <p:cNvSpPr/>
          <p:nvPr/>
        </p:nvSpPr>
        <p:spPr>
          <a:xfrm>
            <a:off x="703579" y="3940365"/>
            <a:ext cx="972000" cy="457155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 DSQ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B8E3CD34-95FD-468D-AC03-3B8AE6795F7F}"/>
              </a:ext>
            </a:extLst>
          </p:cNvPr>
          <p:cNvSpPr/>
          <p:nvPr/>
        </p:nvSpPr>
        <p:spPr>
          <a:xfrm>
            <a:off x="604953" y="5173637"/>
            <a:ext cx="972000" cy="360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87C99495-4341-4647-9C85-24C4488EEBBE}"/>
              </a:ext>
            </a:extLst>
          </p:cNvPr>
          <p:cNvSpPr/>
          <p:nvPr/>
        </p:nvSpPr>
        <p:spPr>
          <a:xfrm>
            <a:off x="899439" y="5173637"/>
            <a:ext cx="972000" cy="360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08973502-89BD-4A1C-AAAE-48324FE77544}"/>
              </a:ext>
            </a:extLst>
          </p:cNvPr>
          <p:cNvSpPr/>
          <p:nvPr/>
        </p:nvSpPr>
        <p:spPr>
          <a:xfrm>
            <a:off x="1193925" y="5173637"/>
            <a:ext cx="972000" cy="360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3EA157D2-2DDC-4D62-98B5-E21938166FF4}"/>
              </a:ext>
            </a:extLst>
          </p:cNvPr>
          <p:cNvSpPr/>
          <p:nvPr/>
        </p:nvSpPr>
        <p:spPr>
          <a:xfrm>
            <a:off x="1488411" y="5173637"/>
            <a:ext cx="972000" cy="360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912EF431-5A22-4508-BBB2-10ED5D62E772}"/>
              </a:ext>
            </a:extLst>
          </p:cNvPr>
          <p:cNvSpPr/>
          <p:nvPr/>
        </p:nvSpPr>
        <p:spPr>
          <a:xfrm>
            <a:off x="1782897" y="5173637"/>
            <a:ext cx="972000" cy="360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B8FD252B-C0F1-4693-8A17-21E1AACE352C}"/>
              </a:ext>
            </a:extLst>
          </p:cNvPr>
          <p:cNvSpPr/>
          <p:nvPr/>
        </p:nvSpPr>
        <p:spPr>
          <a:xfrm>
            <a:off x="2077381" y="5173637"/>
            <a:ext cx="972000" cy="360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Share DSQ</a:t>
            </a:r>
          </a:p>
        </p:txBody>
      </p:sp>
      <p:sp>
        <p:nvSpPr>
          <p:cNvPr id="84" name="箭头: 右 83">
            <a:extLst>
              <a:ext uri="{FF2B5EF4-FFF2-40B4-BE49-F238E27FC236}">
                <a16:creationId xmlns:a16="http://schemas.microsoft.com/office/drawing/2014/main" id="{DC76A93B-2216-4C30-B42A-DF76567D27C2}"/>
              </a:ext>
            </a:extLst>
          </p:cNvPr>
          <p:cNvSpPr/>
          <p:nvPr/>
        </p:nvSpPr>
        <p:spPr>
          <a:xfrm>
            <a:off x="310467" y="5479335"/>
            <a:ext cx="2743200" cy="621733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/>
              <a:t>Deadline </a:t>
            </a:r>
            <a:r>
              <a:rPr lang="zh-CN" altLang="en-US" dirty="0"/>
              <a:t>优先队列</a:t>
            </a:r>
          </a:p>
        </p:txBody>
      </p: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9B18D19C-1AE1-41FD-800E-8B8EC1DDAA9B}"/>
              </a:ext>
            </a:extLst>
          </p:cNvPr>
          <p:cNvCxnSpPr>
            <a:cxnSpLocks/>
            <a:stCxn id="77" idx="3"/>
            <a:endCxn id="62" idx="2"/>
          </p:cNvCxnSpPr>
          <p:nvPr/>
        </p:nvCxnSpPr>
        <p:spPr>
          <a:xfrm flipV="1">
            <a:off x="1675579" y="4163564"/>
            <a:ext cx="287987" cy="5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676E12FE-5E7B-48E1-BF99-3D5F6CA791B1}"/>
              </a:ext>
            </a:extLst>
          </p:cNvPr>
          <p:cNvCxnSpPr>
            <a:cxnSpLocks/>
            <a:stCxn id="62" idx="0"/>
            <a:endCxn id="63" idx="4"/>
          </p:cNvCxnSpPr>
          <p:nvPr/>
        </p:nvCxnSpPr>
        <p:spPr>
          <a:xfrm flipV="1">
            <a:off x="2449566" y="3687737"/>
            <a:ext cx="10845" cy="203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737AB623-AF96-4F54-9725-B225FDDE2A17}"/>
              </a:ext>
            </a:extLst>
          </p:cNvPr>
          <p:cNvCxnSpPr>
            <a:cxnSpLocks/>
            <a:stCxn id="63" idx="2"/>
            <a:endCxn id="109" idx="0"/>
          </p:cNvCxnSpPr>
          <p:nvPr/>
        </p:nvCxnSpPr>
        <p:spPr>
          <a:xfrm flipH="1">
            <a:off x="1610825" y="3415061"/>
            <a:ext cx="363586" cy="1138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1CC5B2DC-A5CA-400F-A787-0E1783D1F62D}"/>
              </a:ext>
            </a:extLst>
          </p:cNvPr>
          <p:cNvCxnSpPr>
            <a:cxnSpLocks/>
            <a:stCxn id="62" idx="3"/>
            <a:endCxn id="109" idx="0"/>
          </p:cNvCxnSpPr>
          <p:nvPr/>
        </p:nvCxnSpPr>
        <p:spPr>
          <a:xfrm flipH="1">
            <a:off x="1610825" y="4356375"/>
            <a:ext cx="495087" cy="197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流程图: 决策 108">
            <a:extLst>
              <a:ext uri="{FF2B5EF4-FFF2-40B4-BE49-F238E27FC236}">
                <a16:creationId xmlns:a16="http://schemas.microsoft.com/office/drawing/2014/main" id="{E8251084-9485-472B-824B-91A3C2BD5B55}"/>
              </a:ext>
            </a:extLst>
          </p:cNvPr>
          <p:cNvSpPr/>
          <p:nvPr/>
        </p:nvSpPr>
        <p:spPr>
          <a:xfrm>
            <a:off x="802547" y="4553669"/>
            <a:ext cx="1616556" cy="461844"/>
          </a:xfrm>
          <a:prstGeom prst="flowChartDecision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占用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超阈值</a:t>
            </a:r>
          </a:p>
        </p:txBody>
      </p: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3874162B-BAC8-4634-B0AB-FD3D50613042}"/>
              </a:ext>
            </a:extLst>
          </p:cNvPr>
          <p:cNvCxnSpPr>
            <a:cxnSpLocks/>
            <a:endCxn id="77" idx="2"/>
          </p:cNvCxnSpPr>
          <p:nvPr/>
        </p:nvCxnSpPr>
        <p:spPr>
          <a:xfrm flipH="1" flipV="1">
            <a:off x="1189579" y="4397520"/>
            <a:ext cx="4346" cy="2847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8504EF92-72DD-4B78-B69A-5798D3282797}"/>
              </a:ext>
            </a:extLst>
          </p:cNvPr>
          <p:cNvCxnSpPr>
            <a:cxnSpLocks/>
          </p:cNvCxnSpPr>
          <p:nvPr/>
        </p:nvCxnSpPr>
        <p:spPr>
          <a:xfrm>
            <a:off x="1193925" y="4904531"/>
            <a:ext cx="0" cy="269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文本框 119">
            <a:extLst>
              <a:ext uri="{FF2B5EF4-FFF2-40B4-BE49-F238E27FC236}">
                <a16:creationId xmlns:a16="http://schemas.microsoft.com/office/drawing/2014/main" id="{55A01261-05B1-4777-92A0-87303FCB6D33}"/>
              </a:ext>
            </a:extLst>
          </p:cNvPr>
          <p:cNvSpPr txBox="1"/>
          <p:nvPr/>
        </p:nvSpPr>
        <p:spPr>
          <a:xfrm>
            <a:off x="131951" y="6131585"/>
            <a:ext cx="486285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800" dirty="0"/>
              <a:t>在四 </a:t>
            </a:r>
            <a:r>
              <a:rPr lang="en-US" altLang="zh-CN" sz="800" dirty="0"/>
              <a:t>GPU </a:t>
            </a:r>
            <a:r>
              <a:rPr lang="zh-CN" altLang="en-US" sz="800" dirty="0"/>
              <a:t>的 </a:t>
            </a:r>
            <a:r>
              <a:rPr lang="en-US" altLang="zh-CN" sz="800" dirty="0"/>
              <a:t>GB200 </a:t>
            </a:r>
            <a:r>
              <a:rPr lang="en-US" altLang="zh-CN" sz="800" dirty="0" err="1"/>
              <a:t>RegNet</a:t>
            </a:r>
            <a:r>
              <a:rPr lang="en-US" altLang="zh-CN" sz="800" dirty="0"/>
              <a:t> </a:t>
            </a:r>
            <a:r>
              <a:rPr lang="zh-CN" altLang="en-US" sz="800" dirty="0"/>
              <a:t>测试中，相对手动绑核，此方案性能提升约 </a:t>
            </a:r>
            <a:r>
              <a:rPr lang="en-US" altLang="zh-CN" sz="800" dirty="0"/>
              <a:t>4%</a:t>
            </a:r>
            <a:r>
              <a:rPr lang="zh-CN" altLang="en-US" sz="800" dirty="0"/>
              <a:t>。</a:t>
            </a:r>
            <a:r>
              <a:rPr lang="pt-BR" altLang="zh-CN" sz="800" dirty="0"/>
              <a:t>[OSPM 2026 NVIDIA </a:t>
            </a:r>
            <a:r>
              <a:rPr lang="zh-CN" altLang="pt-BR" sz="800" dirty="0"/>
              <a:t>演讲</a:t>
            </a:r>
            <a:r>
              <a:rPr lang="pt-BR" altLang="zh-CN" sz="800" dirty="0"/>
              <a:t>](https://www.youtube.com/watch?v=GqMQknB0v4A)</a:t>
            </a:r>
            <a:endParaRPr kumimoji="1" lang="zh-CN" altLang="en-US" sz="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901DA3F5-674D-487B-BEBA-D37A0E465CB4}"/>
              </a:ext>
            </a:extLst>
          </p:cNvPr>
          <p:cNvCxnSpPr>
            <a:cxnSpLocks/>
          </p:cNvCxnSpPr>
          <p:nvPr/>
        </p:nvCxnSpPr>
        <p:spPr>
          <a:xfrm flipH="1" flipV="1">
            <a:off x="2568272" y="4436241"/>
            <a:ext cx="87464" cy="737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文本框 131">
            <a:extLst>
              <a:ext uri="{FF2B5EF4-FFF2-40B4-BE49-F238E27FC236}">
                <a16:creationId xmlns:a16="http://schemas.microsoft.com/office/drawing/2014/main" id="{C593A7D8-6027-417B-9A7B-FE69824606F4}"/>
              </a:ext>
            </a:extLst>
          </p:cNvPr>
          <p:cNvSpPr txBox="1"/>
          <p:nvPr/>
        </p:nvSpPr>
        <p:spPr>
          <a:xfrm>
            <a:off x="2655736" y="4689143"/>
            <a:ext cx="42252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NUMA </a:t>
            </a:r>
            <a:r>
              <a:rPr kumimoji="1"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</a:t>
            </a: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E05F4D1B-959C-410A-AF86-C659A612FE08}"/>
              </a:ext>
            </a:extLst>
          </p:cNvPr>
          <p:cNvSpPr/>
          <p:nvPr/>
        </p:nvSpPr>
        <p:spPr>
          <a:xfrm>
            <a:off x="3586801" y="3323504"/>
            <a:ext cx="1313069" cy="39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拓扑发现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3DA86670-AF16-4A35-AA71-68E957D2459C}"/>
              </a:ext>
            </a:extLst>
          </p:cNvPr>
          <p:cNvSpPr/>
          <p:nvPr/>
        </p:nvSpPr>
        <p:spPr>
          <a:xfrm>
            <a:off x="3586801" y="5038724"/>
            <a:ext cx="1313069" cy="39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指标监控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B2895AD6-0D41-4EB6-B77D-0B5731B2CA70}"/>
              </a:ext>
            </a:extLst>
          </p:cNvPr>
          <p:cNvSpPr/>
          <p:nvPr/>
        </p:nvSpPr>
        <p:spPr>
          <a:xfrm>
            <a:off x="3586801" y="3895244"/>
            <a:ext cx="1313069" cy="39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 NUMA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感知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1BB52840-F060-4CA1-B703-F485676BFB33}"/>
              </a:ext>
            </a:extLst>
          </p:cNvPr>
          <p:cNvSpPr/>
          <p:nvPr/>
        </p:nvSpPr>
        <p:spPr>
          <a:xfrm>
            <a:off x="3586801" y="4466984"/>
            <a:ext cx="1313069" cy="39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动态阈值自调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A2132964-0EB8-4E3C-904C-218ADF28BCC4}"/>
              </a:ext>
            </a:extLst>
          </p:cNvPr>
          <p:cNvSpPr/>
          <p:nvPr/>
        </p:nvSpPr>
        <p:spPr>
          <a:xfrm>
            <a:off x="3586801" y="5610466"/>
            <a:ext cx="1313069" cy="39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装载卸载调度器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B46C894C-FD62-4D62-9F55-29FBA21BCF43}"/>
              </a:ext>
            </a:extLst>
          </p:cNvPr>
          <p:cNvSpPr/>
          <p:nvPr/>
        </p:nvSpPr>
        <p:spPr>
          <a:xfrm>
            <a:off x="5321289" y="2086876"/>
            <a:ext cx="6534028" cy="1060888"/>
          </a:xfrm>
          <a:prstGeom prst="rect">
            <a:avLst/>
          </a:prstGeom>
          <a:solidFill>
            <a:srgbClr val="FAFAFA"/>
          </a:solidFill>
          <a:ln w="9525" cap="flat" cmpd="sng" algn="ctr">
            <a:gradFill flip="none" rotWithShape="1">
              <a:gsLst>
                <a:gs pos="94000">
                  <a:srgbClr val="FFFFFF"/>
                </a:gs>
                <a:gs pos="100000">
                  <a:srgbClr val="C7000B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108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关键</a:t>
            </a: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6D37F6B-AA80-400F-9F19-915D58BE43BC}"/>
              </a:ext>
            </a:extLst>
          </p:cNvPr>
          <p:cNvSpPr txBox="1"/>
          <p:nvPr/>
        </p:nvSpPr>
        <p:spPr>
          <a:xfrm>
            <a:off x="5436192" y="2401428"/>
            <a:ext cx="6264354" cy="696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架构适配：基于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Kunpeng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Ascend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特定，定制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优化 线程调度方案。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调度优化：典型配置下，分别针对 训练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推理场景，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K+A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K+X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部署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，降低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GPU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空闲占比。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140" name="表格 139">
            <a:extLst>
              <a:ext uri="{FF2B5EF4-FFF2-40B4-BE49-F238E27FC236}">
                <a16:creationId xmlns:a16="http://schemas.microsoft.com/office/drawing/2014/main" id="{22ECFC89-1741-4283-BA14-FB1A934C3B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2201585"/>
              </p:ext>
            </p:extLst>
          </p:nvPr>
        </p:nvGraphicFramePr>
        <p:xfrm>
          <a:off x="5321289" y="3287921"/>
          <a:ext cx="6534028" cy="2993103"/>
        </p:xfrm>
        <a:graphic>
          <a:graphicData uri="http://schemas.openxmlformats.org/drawingml/2006/table">
            <a:tbl>
              <a:tblPr/>
              <a:tblGrid>
                <a:gridCol w="499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3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8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6816">
                  <a:extLst>
                    <a:ext uri="{9D8B030D-6E8A-4147-A177-3AD203B41FA5}">
                      <a16:colId xmlns:a16="http://schemas.microsoft.com/office/drawing/2014/main" val="414859368"/>
                    </a:ext>
                  </a:extLst>
                </a:gridCol>
              </a:tblGrid>
              <a:tr h="33781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编号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优化点</a:t>
                      </a: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对应指标</a:t>
                      </a: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交付物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难点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40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1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①</a:t>
                      </a:r>
                      <a:r>
                        <a:rPr lang="en-US" sz="1050" b="1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Ascend NPU 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拓扑感知，感知 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NPU 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对应 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NUMA 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配置，感知线程和 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NPU 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对应关系。</a:t>
                      </a:r>
                      <a:endParaRPr lang="zh-CN" sz="1050" b="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架构适配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dirty="0" err="1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sched_ext</a:t>
                      </a:r>
                      <a:r>
                        <a:rPr lang="en-US" altLang="zh-CN" sz="10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0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仓库交付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需要深入理解 </a:t>
                      </a:r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Ascend </a:t>
                      </a: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硬件，可能需要 </a:t>
                      </a:r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Ascend </a:t>
                      </a: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驱动支持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61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②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针对 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Kunpeng 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硬件众核优势，拆分算子预处理和算子下发线程，将预计算算子缓存到下发线程中。</a:t>
                      </a:r>
                      <a:endParaRPr lang="zh-CN" altLang="zh-CN" sz="1050" b="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调度优化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dirty="0" err="1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sched_ext</a:t>
                      </a:r>
                      <a:r>
                        <a:rPr lang="en-US" altLang="zh-CN" sz="10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0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仓库交付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需要修改 </a:t>
                      </a:r>
                      <a:r>
                        <a:rPr lang="en-US" altLang="zh-CN" sz="1050" b="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vLLM</a:t>
                      </a:r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/</a:t>
                      </a:r>
                      <a:r>
                        <a:rPr lang="en-US" altLang="zh-CN" sz="1050" b="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SGLang</a:t>
                      </a:r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或其下发模块，可能涉及侵入式通知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③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Arm 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指令适配，</a:t>
                      </a:r>
                      <a:r>
                        <a:rPr kumimoji="1" lang="en-US" altLang="zh-CN" sz="105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eBPF</a:t>
                      </a:r>
                      <a:r>
                        <a:rPr kumimoji="1" lang="zh-CN" altLang="en-US" sz="105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基本实现，但项目中存在部分可能导致 </a:t>
                      </a:r>
                      <a:r>
                        <a:rPr kumimoji="1" lang="en-US" altLang="zh-CN" sz="105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Arm </a:t>
                      </a:r>
                      <a:r>
                        <a:rPr kumimoji="1" lang="zh-CN" altLang="en-US" sz="105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执行故障的问题（例如 </a:t>
                      </a:r>
                      <a:r>
                        <a:rPr kumimoji="1" lang="en-US" altLang="zh-CN" sz="105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asan.h</a:t>
                      </a:r>
                      <a:r>
                        <a:rPr kumimoji="1" lang="en-US" altLang="zh-CN" sz="105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zh-CN" altLang="en-US" sz="105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硬编码 </a:t>
                      </a:r>
                      <a:r>
                        <a:rPr kumimoji="1" lang="en-US" altLang="zh-CN" sz="105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PAGE_SIZE=4K</a:t>
                      </a:r>
                      <a:r>
                        <a:rPr kumimoji="1" lang="zh-CN" altLang="en-US" sz="105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zh-CN" sz="1050" b="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架构适配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dirty="0" err="1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sched_ext</a:t>
                      </a:r>
                      <a:r>
                        <a:rPr lang="en-US" altLang="zh-CN" sz="10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0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仓库交付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需 </a:t>
                      </a:r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OS </a:t>
                      </a: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内核开发能力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75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④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移除大小核心适配逻辑，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Kunpeng 950 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所有核心能力等价，移除后可降低调度性能消耗。</a:t>
                      </a:r>
                      <a:endParaRPr lang="zh-CN" sz="1050" b="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架构适配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dirty="0" err="1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sched_ext</a:t>
                      </a:r>
                      <a:r>
                        <a:rPr lang="en-US" altLang="zh-CN" sz="10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0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仓库交付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可能优化不明显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8090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4809FFD2-36DE-4217-94D6-8E3236CE155D}"/>
              </a:ext>
            </a:extLst>
          </p:cNvPr>
          <p:cNvSpPr/>
          <p:nvPr/>
        </p:nvSpPr>
        <p:spPr>
          <a:xfrm>
            <a:off x="7736618" y="1415909"/>
            <a:ext cx="4086972" cy="2653490"/>
          </a:xfrm>
          <a:prstGeom prst="rect">
            <a:avLst/>
          </a:prstGeom>
          <a:solidFill>
            <a:schemeClr val="tx2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内核态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/clang -&gt; </a:t>
            </a:r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eBPF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FF7E2F4-4CFC-4541-A8C8-0A123A0FCFB5}"/>
              </a:ext>
            </a:extLst>
          </p:cNvPr>
          <p:cNvSpPr/>
          <p:nvPr/>
        </p:nvSpPr>
        <p:spPr>
          <a:xfrm>
            <a:off x="8794135" y="1896693"/>
            <a:ext cx="2017963" cy="209591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539C8DE-BF54-4F7E-A840-56063141CAF7}"/>
              </a:ext>
            </a:extLst>
          </p:cNvPr>
          <p:cNvSpPr/>
          <p:nvPr/>
        </p:nvSpPr>
        <p:spPr>
          <a:xfrm>
            <a:off x="8713098" y="1828489"/>
            <a:ext cx="2017963" cy="209591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Layer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70F0304-31FC-4EBD-AF5B-A6FD7AD058D4}"/>
              </a:ext>
            </a:extLst>
          </p:cNvPr>
          <p:cNvSpPr/>
          <p:nvPr/>
        </p:nvSpPr>
        <p:spPr>
          <a:xfrm>
            <a:off x="7736618" y="1052281"/>
            <a:ext cx="4086972" cy="266167"/>
          </a:xfrm>
          <a:prstGeom prst="rect">
            <a:avLst/>
          </a:prstGeom>
          <a:solidFill>
            <a:schemeClr val="tx2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sched_ext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scx_layer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FB4E91C7-6743-4A0F-9156-4FF4D96C6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99" y="180000"/>
            <a:ext cx="11831495" cy="360000"/>
          </a:xfrm>
        </p:spPr>
        <p:txBody>
          <a:bodyPr/>
          <a:lstStyle/>
          <a:p>
            <a:r>
              <a:rPr lang="zh-CN" altLang="en-US" sz="2400" dirty="0"/>
              <a:t>定制线程调度方案，降低 </a:t>
            </a:r>
            <a:r>
              <a:rPr lang="en-US" altLang="zh-CN" sz="2400" dirty="0"/>
              <a:t>K+A/K+X </a:t>
            </a:r>
            <a:r>
              <a:rPr lang="zh-CN" altLang="en-US" sz="2400" dirty="0"/>
              <a:t>场景 </a:t>
            </a:r>
            <a:r>
              <a:rPr lang="en-US" altLang="zh-CN" sz="2400" dirty="0"/>
              <a:t>NPU/GPU </a:t>
            </a:r>
            <a:r>
              <a:rPr lang="zh-CN" altLang="en-US" sz="2400" dirty="0"/>
              <a:t>空闲等待间隔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886AEB9-4774-4194-BADF-1FA4440F99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4288679"/>
              </p:ext>
            </p:extLst>
          </p:nvPr>
        </p:nvGraphicFramePr>
        <p:xfrm>
          <a:off x="196439" y="709005"/>
          <a:ext cx="7126712" cy="5454356"/>
        </p:xfrm>
        <a:graphic>
          <a:graphicData uri="http://schemas.openxmlformats.org/drawingml/2006/table">
            <a:tbl>
              <a:tblPr/>
              <a:tblGrid>
                <a:gridCol w="1258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4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0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4156">
                  <a:extLst>
                    <a:ext uri="{9D8B030D-6E8A-4147-A177-3AD203B41FA5}">
                      <a16:colId xmlns:a16="http://schemas.microsoft.com/office/drawing/2014/main" val="382404890"/>
                    </a:ext>
                  </a:extLst>
                </a:gridCol>
                <a:gridCol w="675861">
                  <a:extLst>
                    <a:ext uri="{9D8B030D-6E8A-4147-A177-3AD203B41FA5}">
                      <a16:colId xmlns:a16="http://schemas.microsoft.com/office/drawing/2014/main" val="708649745"/>
                    </a:ext>
                  </a:extLst>
                </a:gridCol>
                <a:gridCol w="1184745">
                  <a:extLst>
                    <a:ext uri="{9D8B030D-6E8A-4147-A177-3AD203B41FA5}">
                      <a16:colId xmlns:a16="http://schemas.microsoft.com/office/drawing/2014/main" val="3405813009"/>
                    </a:ext>
                  </a:extLst>
                </a:gridCol>
              </a:tblGrid>
              <a:tr h="33781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effectLst/>
                        </a:rPr>
                        <a:t>调度器</a:t>
                      </a:r>
                    </a:p>
                  </a:txBody>
                  <a:tcPr marL="152400" marR="152400" marT="22860" marB="22860" anchor="ctr">
                    <a:lnL>
                      <a:noFill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effectLst/>
                        </a:rPr>
                        <a:t>核心策略</a:t>
                      </a:r>
                    </a:p>
                  </a:txBody>
                  <a:tcPr marL="152400" marR="152400" marT="22860" marB="22860"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effectLst/>
                        </a:rPr>
                        <a:t>应用场景</a:t>
                      </a:r>
                      <a:r>
                        <a:rPr lang="en-US" altLang="zh-CN" sz="1100" dirty="0">
                          <a:effectLst/>
                        </a:rPr>
                        <a:t>/</a:t>
                      </a:r>
                      <a:r>
                        <a:rPr lang="zh-CN" altLang="en-US" sz="1100" dirty="0">
                          <a:effectLst/>
                        </a:rPr>
                        <a:t>目标平台</a:t>
                      </a:r>
                    </a:p>
                  </a:txBody>
                  <a:tcPr marL="152400" marR="152400" marT="22860" marB="22860"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effectLst/>
                        </a:rPr>
                        <a:t>开发者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effectLst/>
                        </a:rPr>
                        <a:t>生产就绪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>
                          <a:effectLst/>
                        </a:rPr>
                        <a:t>代码量</a:t>
                      </a:r>
                      <a:r>
                        <a:rPr lang="en-US" altLang="zh-CN" sz="1100" dirty="0">
                          <a:effectLst/>
                        </a:rPr>
                        <a:t>(</a:t>
                      </a:r>
                      <a:r>
                        <a:rPr lang="en-US" sz="1100" dirty="0">
                          <a:effectLst/>
                        </a:rPr>
                        <a:t>Rust/BPF)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81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effectLst/>
                        </a:rPr>
                        <a:t>scx_bpfland</a:t>
                      </a:r>
                      <a:endParaRPr lang="en-US" sz="1200" dirty="0">
                        <a:effectLst/>
                      </a:endParaRPr>
                    </a:p>
                  </a:txBody>
                  <a:tcPr marL="152400" marR="152400" marT="22860" marB="22860"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effectLst/>
                        </a:rPr>
                        <a:t>按任务性质分类的优先级调度（拓扑感知）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effectLst/>
                        </a:rPr>
                        <a:t>延迟敏感</a:t>
                      </a:r>
                      <a:r>
                        <a:rPr lang="en-US" altLang="zh-CN" sz="1000" dirty="0">
                          <a:effectLst/>
                        </a:rPr>
                        <a:t>+</a:t>
                      </a:r>
                      <a:r>
                        <a:rPr lang="zh-CN" altLang="en-US" sz="1000" dirty="0">
                          <a:effectLst/>
                        </a:rPr>
                        <a:t>批处理混合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</a:rPr>
                        <a:t>Canonical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effectLst/>
                        </a:rPr>
                        <a:t>✅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effectLst/>
                        </a:rPr>
                        <a:t>994/1523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95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effectLst/>
                        </a:rPr>
                        <a:t>scx_cosmos</a:t>
                      </a:r>
                      <a:endParaRPr lang="en-US" sz="1200" dirty="0">
                        <a:effectLst/>
                      </a:endParaRPr>
                    </a:p>
                  </a:txBody>
                  <a:tcPr marL="152400" marR="152400" marT="22860" marB="22860"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effectLst/>
                        </a:rPr>
                        <a:t>局部性优先 </a:t>
                      </a:r>
                      <a:r>
                        <a:rPr lang="en-US" altLang="zh-CN" sz="1000" dirty="0">
                          <a:effectLst/>
                        </a:rPr>
                        <a:t>+ </a:t>
                      </a:r>
                      <a:r>
                        <a:rPr lang="en-US" sz="1000" dirty="0">
                          <a:effectLst/>
                        </a:rPr>
                        <a:t>deadline </a:t>
                      </a:r>
                      <a:r>
                        <a:rPr lang="zh-CN" altLang="en-US" sz="1000" dirty="0">
                          <a:effectLst/>
                        </a:rPr>
                        <a:t>双模式（</a:t>
                      </a:r>
                      <a:r>
                        <a:rPr lang="en-US" sz="1000" dirty="0" err="1">
                          <a:effectLst/>
                        </a:rPr>
                        <a:t>vtime+exec_vruntime</a:t>
                      </a:r>
                      <a:r>
                        <a:rPr lang="en-US" sz="1000" dirty="0">
                          <a:effectLst/>
                        </a:rPr>
                        <a:t>）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NVIDIA GPU </a:t>
                      </a:r>
                      <a:r>
                        <a:rPr lang="zh-CN" altLang="en-US" sz="1000" dirty="0">
                          <a:effectLst/>
                        </a:rPr>
                        <a:t>工作负载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</a:rPr>
                        <a:t>NVIDIA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effectLst/>
                        </a:rPr>
                        <a:t>✅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dirty="0">
                          <a:effectLst/>
                        </a:rPr>
                        <a:t>1960/1614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10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effectLst/>
                        </a:rPr>
                        <a:t>scx_rusty</a:t>
                      </a:r>
                      <a:endParaRPr lang="en-US" sz="1200" dirty="0">
                        <a:effectLst/>
                      </a:endParaRPr>
                    </a:p>
                  </a:txBody>
                  <a:tcPr marL="152400" marR="152400" marT="22860" marB="22860"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vtime + </a:t>
                      </a:r>
                      <a:r>
                        <a:rPr lang="zh-CN" altLang="en-US" sz="1000">
                          <a:effectLst/>
                        </a:rPr>
                        <a:t>多域负载均衡（</a:t>
                      </a:r>
                      <a:r>
                        <a:rPr lang="en-US" sz="1000">
                          <a:effectLst/>
                        </a:rPr>
                        <a:t>NUMA </a:t>
                      </a:r>
                      <a:r>
                        <a:rPr lang="zh-CN" altLang="en-US" sz="1000">
                          <a:effectLst/>
                        </a:rPr>
                        <a:t>感知）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effectLst/>
                        </a:rPr>
                        <a:t>通用多 </a:t>
                      </a:r>
                      <a:r>
                        <a:rPr lang="en-US" sz="1000">
                          <a:effectLst/>
                        </a:rPr>
                        <a:t>NUMA </a:t>
                      </a:r>
                      <a:r>
                        <a:rPr lang="zh-CN" altLang="en-US" sz="1000">
                          <a:effectLst/>
                        </a:rPr>
                        <a:t>服务器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</a:rPr>
                        <a:t>Meta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effectLst/>
                        </a:rPr>
                        <a:t>✅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dirty="0">
                          <a:effectLst/>
                        </a:rPr>
                        <a:t>2419/3685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2737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scx_p2dq</a:t>
                      </a:r>
                    </a:p>
                  </a:txBody>
                  <a:tcPr marL="152400" marR="152400" marT="22860" marB="22860" anchor="ctr">
                    <a:lnL>
                      <a:noFill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pick-2 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负载均衡 </a:t>
                      </a: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多层队列（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LLC/CPU/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mig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DSQ）</a:t>
                      </a:r>
                    </a:p>
                  </a:txBody>
                  <a:tcPr marL="152400" marR="152400" marT="22860" marB="22860"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通用</a:t>
                      </a:r>
                      <a:r>
                        <a:rPr lang="en-US" altLang="zh-CN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游戏</a:t>
                      </a:r>
                      <a:r>
                        <a:rPr lang="en-US" altLang="zh-CN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大小核</a:t>
                      </a:r>
                    </a:p>
                  </a:txBody>
                  <a:tcPr marL="152400" marR="152400" marT="22860" marB="22860"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1585/4196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6591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scx_lavd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0" marR="152400" marT="22860" marB="22860"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延迟关键性感知虚拟截止时间（</a:t>
                      </a:r>
                      <a:r>
                        <a:rPr lang="en-US" altLang="zh-CN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EDF </a:t>
                      </a:r>
                      <a:r>
                        <a:rPr lang="zh-CN" altLang="en-US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变体）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游戏</a:t>
                      </a: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延迟敏感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Valve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3321/9343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2611880"/>
                  </a:ext>
                </a:extLst>
              </a:tr>
              <a:tr h="596348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scx_layered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0" marR="152400" marT="22860" marB="22860"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多层分类 </a:t>
                      </a:r>
                      <a:r>
                        <a:rPr lang="en-US" altLang="zh-CN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zh-CN" altLang="en-US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每层 </a:t>
                      </a:r>
                      <a:r>
                        <a:rPr lang="en-US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CPU </a:t>
                      </a:r>
                      <a:r>
                        <a:rPr lang="zh-CN" altLang="en-US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配额（</a:t>
                      </a:r>
                      <a:r>
                        <a:rPr lang="en-US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vtime，per-LLC per-layer）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大型线上服务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14679/5604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648100"/>
                  </a:ext>
                </a:extLst>
              </a:tr>
              <a:tr h="604299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scx_beerland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0" marR="152400" marT="22860" marB="22860"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每核 </a:t>
                      </a:r>
                      <a:r>
                        <a:rPr lang="en-US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deadline </a:t>
                      </a:r>
                      <a:r>
                        <a:rPr lang="zh-CN" altLang="en-US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队列 </a:t>
                      </a:r>
                      <a:r>
                        <a:rPr lang="en-US" altLang="zh-CN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zh-CN" altLang="en-US" sz="10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局部性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缓存密集</a:t>
                      </a: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多核系统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NVIDIA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608/1029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5877609"/>
                  </a:ext>
                </a:extLst>
              </a:tr>
              <a:tr h="620752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scx_mitosis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0" marR="152400" marT="22860" marB="22860"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cgroup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单元隔离（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cells + 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加权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vtime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数据中心超售</a:t>
                      </a: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容器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⚠️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6631/3888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3284465"/>
                  </a:ext>
                </a:extLst>
              </a:tr>
              <a:tr h="620752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scx_chaos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0" marR="152400" marT="22860" marB="22860"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故意制造混乱，暴露时序</a:t>
                      </a: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bug</a:t>
                      </a:r>
                      <a:endParaRPr 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测试</a:t>
                      </a: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调试 </a:t>
                      </a: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race condition</a:t>
                      </a:r>
                      <a:endParaRPr lang="zh-CN" alt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1058/778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755884"/>
                  </a:ext>
                </a:extLst>
              </a:tr>
            </a:tbl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BA85506B-FAA8-4E65-A309-529D1E922E2B}"/>
              </a:ext>
            </a:extLst>
          </p:cNvPr>
          <p:cNvSpPr/>
          <p:nvPr/>
        </p:nvSpPr>
        <p:spPr>
          <a:xfrm>
            <a:off x="7736618" y="4153292"/>
            <a:ext cx="4086972" cy="1368262"/>
          </a:xfrm>
          <a:prstGeom prst="rect">
            <a:avLst/>
          </a:prstGeom>
          <a:solidFill>
            <a:schemeClr val="tx2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用户态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/Rust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C913F31-DC6A-4644-B19D-91095B4749B0}"/>
              </a:ext>
            </a:extLst>
          </p:cNvPr>
          <p:cNvSpPr/>
          <p:nvPr/>
        </p:nvSpPr>
        <p:spPr>
          <a:xfrm>
            <a:off x="7804502" y="4489894"/>
            <a:ext cx="1260000" cy="39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配置读取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E202EE9-C4F7-4830-AA13-6CAF209FB42D}"/>
              </a:ext>
            </a:extLst>
          </p:cNvPr>
          <p:cNvSpPr/>
          <p:nvPr/>
        </p:nvSpPr>
        <p:spPr>
          <a:xfrm>
            <a:off x="7826328" y="1829962"/>
            <a:ext cx="302279" cy="648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CA2579E-D335-4BE1-A938-955097684A98}"/>
              </a:ext>
            </a:extLst>
          </p:cNvPr>
          <p:cNvSpPr/>
          <p:nvPr/>
        </p:nvSpPr>
        <p:spPr>
          <a:xfrm>
            <a:off x="9168317" y="4476188"/>
            <a:ext cx="1260000" cy="39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拓扑发现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CD73BA7-FFEC-43FA-BCE5-137C954B0508}"/>
              </a:ext>
            </a:extLst>
          </p:cNvPr>
          <p:cNvSpPr/>
          <p:nvPr/>
        </p:nvSpPr>
        <p:spPr>
          <a:xfrm>
            <a:off x="7806341" y="4964866"/>
            <a:ext cx="1258162" cy="39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指标监控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1089C7B-7A00-4E60-AEE2-BEBD1697DA73}"/>
              </a:ext>
            </a:extLst>
          </p:cNvPr>
          <p:cNvSpPr/>
          <p:nvPr/>
        </p:nvSpPr>
        <p:spPr>
          <a:xfrm>
            <a:off x="10499176" y="4476188"/>
            <a:ext cx="1260000" cy="39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动态分配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5D4D8A7-4696-40A3-BFDB-56AFDFDA9456}"/>
              </a:ext>
            </a:extLst>
          </p:cNvPr>
          <p:cNvSpPr/>
          <p:nvPr/>
        </p:nvSpPr>
        <p:spPr>
          <a:xfrm>
            <a:off x="9174036" y="4964866"/>
            <a:ext cx="1258163" cy="39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装载卸载调度器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2C13A00-2C29-4CE0-A9F5-F907D9B57AA2}"/>
              </a:ext>
            </a:extLst>
          </p:cNvPr>
          <p:cNvSpPr/>
          <p:nvPr/>
        </p:nvSpPr>
        <p:spPr>
          <a:xfrm>
            <a:off x="11331534" y="1843866"/>
            <a:ext cx="341624" cy="648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箭头: 右 45">
            <a:extLst>
              <a:ext uri="{FF2B5EF4-FFF2-40B4-BE49-F238E27FC236}">
                <a16:creationId xmlns:a16="http://schemas.microsoft.com/office/drawing/2014/main" id="{762BB0D6-7E68-44D3-8798-632D370AB200}"/>
              </a:ext>
            </a:extLst>
          </p:cNvPr>
          <p:cNvSpPr/>
          <p:nvPr/>
        </p:nvSpPr>
        <p:spPr>
          <a:xfrm>
            <a:off x="8259444" y="2431001"/>
            <a:ext cx="325639" cy="1509578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dirty="0"/>
              <a:t>动态分配</a:t>
            </a:r>
          </a:p>
        </p:txBody>
      </p:sp>
      <p:sp>
        <p:nvSpPr>
          <p:cNvPr id="49" name="箭头: 左 48">
            <a:extLst>
              <a:ext uri="{FF2B5EF4-FFF2-40B4-BE49-F238E27FC236}">
                <a16:creationId xmlns:a16="http://schemas.microsoft.com/office/drawing/2014/main" id="{4916827F-F995-4EAE-A0BD-7B54D970D5BB}"/>
              </a:ext>
            </a:extLst>
          </p:cNvPr>
          <p:cNvSpPr/>
          <p:nvPr/>
        </p:nvSpPr>
        <p:spPr>
          <a:xfrm>
            <a:off x="10900096" y="2465124"/>
            <a:ext cx="339616" cy="1323084"/>
          </a:xfrm>
          <a:prstGeom prst="lef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dirty="0"/>
              <a:t>规则匹配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85484F9-275F-4838-A12F-F670E56312F7}"/>
              </a:ext>
            </a:extLst>
          </p:cNvPr>
          <p:cNvSpPr/>
          <p:nvPr/>
        </p:nvSpPr>
        <p:spPr>
          <a:xfrm>
            <a:off x="7826941" y="2532032"/>
            <a:ext cx="302279" cy="648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B0BB7036-EF42-46B9-B34E-70D6BC18EADF}"/>
              </a:ext>
            </a:extLst>
          </p:cNvPr>
          <p:cNvSpPr/>
          <p:nvPr/>
        </p:nvSpPr>
        <p:spPr>
          <a:xfrm>
            <a:off x="7826329" y="3216748"/>
            <a:ext cx="302279" cy="648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87FF7B9-98DB-4233-B21E-ED04CD29B30A}"/>
              </a:ext>
            </a:extLst>
          </p:cNvPr>
          <p:cNvSpPr/>
          <p:nvPr/>
        </p:nvSpPr>
        <p:spPr>
          <a:xfrm>
            <a:off x="11332704" y="2559683"/>
            <a:ext cx="341624" cy="648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6B69057-E025-4631-B0FC-8D32F8621585}"/>
              </a:ext>
            </a:extLst>
          </p:cNvPr>
          <p:cNvSpPr/>
          <p:nvPr/>
        </p:nvSpPr>
        <p:spPr>
          <a:xfrm>
            <a:off x="11332704" y="3291421"/>
            <a:ext cx="341624" cy="648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CC7B9282-93CC-4E62-A3EA-E13427C3A71F}"/>
              </a:ext>
            </a:extLst>
          </p:cNvPr>
          <p:cNvSpPr/>
          <p:nvPr/>
        </p:nvSpPr>
        <p:spPr>
          <a:xfrm>
            <a:off x="8789219" y="2166427"/>
            <a:ext cx="891571" cy="773014"/>
          </a:xfrm>
          <a:prstGeom prst="rect">
            <a:avLst/>
          </a:prstGeom>
          <a:solidFill>
            <a:srgbClr val="FFF4CB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匹配</a:t>
            </a:r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Confiined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Grouped </a:t>
            </a:r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Opend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900F25F-34FA-4783-AAF9-B596AA58F021}"/>
              </a:ext>
            </a:extLst>
          </p:cNvPr>
          <p:cNvSpPr/>
          <p:nvPr/>
        </p:nvSpPr>
        <p:spPr>
          <a:xfrm>
            <a:off x="9795783" y="2166427"/>
            <a:ext cx="891571" cy="773014"/>
          </a:xfrm>
          <a:prstGeom prst="rect">
            <a:avLst/>
          </a:prstGeom>
          <a:solidFill>
            <a:srgbClr val="FFF4CB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线程匹配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极小式匹配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10B301DF-68C2-4E6B-91D3-7A395A2E2B09}"/>
              </a:ext>
            </a:extLst>
          </p:cNvPr>
          <p:cNvSpPr/>
          <p:nvPr/>
        </p:nvSpPr>
        <p:spPr>
          <a:xfrm>
            <a:off x="8906844" y="3057171"/>
            <a:ext cx="1636586" cy="3191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Preemept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（高优先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Layer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抢占）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08E422C8-4AAD-46CB-989C-2E5BD17B6EDA}"/>
              </a:ext>
            </a:extLst>
          </p:cNvPr>
          <p:cNvSpPr/>
          <p:nvPr/>
        </p:nvSpPr>
        <p:spPr>
          <a:xfrm>
            <a:off x="8794556" y="3494056"/>
            <a:ext cx="972000" cy="360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6AC56ADA-7527-4407-8D77-2C2D5E302637}"/>
              </a:ext>
            </a:extLst>
          </p:cNvPr>
          <p:cNvSpPr/>
          <p:nvPr/>
        </p:nvSpPr>
        <p:spPr>
          <a:xfrm>
            <a:off x="8941080" y="3494056"/>
            <a:ext cx="972000" cy="360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F654D99D-094F-4EB0-B3E3-BF9F92662BD2}"/>
              </a:ext>
            </a:extLst>
          </p:cNvPr>
          <p:cNvSpPr/>
          <p:nvPr/>
        </p:nvSpPr>
        <p:spPr>
          <a:xfrm>
            <a:off x="9087604" y="3494056"/>
            <a:ext cx="972000" cy="360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5775CA62-172B-41C1-A8B9-883DFD7B8C0D}"/>
              </a:ext>
            </a:extLst>
          </p:cNvPr>
          <p:cNvSpPr/>
          <p:nvPr/>
        </p:nvSpPr>
        <p:spPr>
          <a:xfrm>
            <a:off x="9234128" y="3494056"/>
            <a:ext cx="972000" cy="360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AC2953A6-47CA-40B9-AF8F-E07522B80D09}"/>
              </a:ext>
            </a:extLst>
          </p:cNvPr>
          <p:cNvSpPr/>
          <p:nvPr/>
        </p:nvSpPr>
        <p:spPr>
          <a:xfrm>
            <a:off x="9380652" y="3494056"/>
            <a:ext cx="972000" cy="360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2D5F75D3-7661-47E5-8B8B-DA919117D8B9}"/>
              </a:ext>
            </a:extLst>
          </p:cNvPr>
          <p:cNvSpPr/>
          <p:nvPr/>
        </p:nvSpPr>
        <p:spPr>
          <a:xfrm>
            <a:off x="9527176" y="3494056"/>
            <a:ext cx="972000" cy="360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FAD32426-D928-4731-A8FC-A170C8B13357}"/>
              </a:ext>
            </a:extLst>
          </p:cNvPr>
          <p:cNvSpPr/>
          <p:nvPr/>
        </p:nvSpPr>
        <p:spPr>
          <a:xfrm>
            <a:off x="9673702" y="3494056"/>
            <a:ext cx="972000" cy="360000"/>
          </a:xfrm>
          <a:prstGeom prst="rect">
            <a:avLst/>
          </a:prstGeom>
          <a:solidFill>
            <a:srgbClr val="BEE7A6"/>
          </a:solidFill>
          <a:ln>
            <a:solidFill>
              <a:srgbClr val="8BD36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DSQ</a:t>
            </a:r>
          </a:p>
        </p:txBody>
      </p:sp>
    </p:spTree>
    <p:extLst>
      <p:ext uri="{BB962C8B-B14F-4D97-AF65-F5344CB8AC3E}">
        <p14:creationId xmlns:p14="http://schemas.microsoft.com/office/powerpoint/2010/main" val="3468116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BC632961-8707-43E1-8726-88F4DE727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99" y="180000"/>
            <a:ext cx="11831495" cy="360000"/>
          </a:xfrm>
        </p:spPr>
        <p:txBody>
          <a:bodyPr/>
          <a:lstStyle/>
          <a:p>
            <a:r>
              <a:rPr lang="zh-CN" altLang="en-US" sz="2400" dirty="0"/>
              <a:t>优化</a:t>
            </a:r>
            <a:r>
              <a:rPr lang="en-US" altLang="zh-CN" sz="2400" dirty="0"/>
              <a:t>AI</a:t>
            </a:r>
            <a:r>
              <a:rPr lang="zh-CN" altLang="en-US" sz="2400" dirty="0"/>
              <a:t>推理前端框架 </a:t>
            </a:r>
            <a:r>
              <a:rPr lang="en-US" altLang="zh-CN" sz="2400" dirty="0" err="1"/>
              <a:t>SGLang</a:t>
            </a:r>
            <a:r>
              <a:rPr lang="en-US" altLang="zh-CN" sz="2400" dirty="0"/>
              <a:t> &amp; </a:t>
            </a:r>
            <a:r>
              <a:rPr lang="en-US" altLang="zh-CN" sz="2400" dirty="0" err="1"/>
              <a:t>vLLM</a:t>
            </a:r>
            <a:r>
              <a:rPr lang="en-US" altLang="zh-CN" sz="2400" dirty="0"/>
              <a:t> </a:t>
            </a:r>
            <a:r>
              <a:rPr lang="zh-CN" altLang="en-US" sz="2400" dirty="0"/>
              <a:t>，提升 </a:t>
            </a:r>
            <a:r>
              <a:rPr lang="en-US" altLang="zh-CN" sz="2400" dirty="0"/>
              <a:t>Kunpeng </a:t>
            </a:r>
            <a:r>
              <a:rPr lang="zh-CN" altLang="en-US" sz="2400" dirty="0"/>
              <a:t>训练机头优势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8197572-615B-477E-86C2-A9366468D786}"/>
              </a:ext>
            </a:extLst>
          </p:cNvPr>
          <p:cNvSpPr/>
          <p:nvPr/>
        </p:nvSpPr>
        <p:spPr>
          <a:xfrm>
            <a:off x="252099" y="607342"/>
            <a:ext cx="706020" cy="1320635"/>
          </a:xfrm>
          <a:prstGeom prst="rect">
            <a:avLst/>
          </a:prstGeom>
          <a:solidFill>
            <a:srgbClr val="C7000A"/>
          </a:solidFill>
          <a:ln w="3175" cap="flat">
            <a:noFill/>
            <a:miter lim="400000"/>
          </a:ln>
          <a:effectLst/>
        </p:spPr>
        <p:txBody>
          <a:bodyPr wrap="square" lIns="35944" tIns="35944" rIns="35944" bIns="35944" numCol="1" anchor="ctr">
            <a:noAutofit/>
          </a:bodyPr>
          <a:lstStyle/>
          <a:p>
            <a:pPr marL="0" marR="0" lvl="0" indent="0" algn="ctr" defTabSz="171825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/>
              </a:rPr>
              <a:t>应用</a:t>
            </a:r>
            <a:endParaRPr kumimoji="0" lang="en-US" altLang="zh-CN" sz="1599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Calibri"/>
            </a:endParaRPr>
          </a:p>
          <a:p>
            <a:pPr marL="0" marR="0" lvl="0" indent="0" algn="ctr" defTabSz="171825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/>
              </a:rPr>
              <a:t>背景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5A6C524-91A4-46AD-9D4E-E155C7B35CC8}"/>
              </a:ext>
            </a:extLst>
          </p:cNvPr>
          <p:cNvSpPr/>
          <p:nvPr/>
        </p:nvSpPr>
        <p:spPr>
          <a:xfrm>
            <a:off x="1080644" y="650541"/>
            <a:ext cx="10790653" cy="1277436"/>
          </a:xfrm>
          <a:prstGeom prst="rect">
            <a:avLst/>
          </a:prstGeom>
          <a:solidFill>
            <a:srgbClr val="FFFFFF">
              <a:lumMod val="95000"/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42900" marR="0" lvl="0" indent="-342900" algn="l" defTabSz="914034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vLLM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UC Berkeley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发起的高吞吐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LLM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推理框架（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Apache-2.0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）；核心创新 </a:t>
            </a:r>
            <a:r>
              <a:rPr kumimoji="1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PagedAttention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通过分页和写时复制管理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KV Cache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，原始论文在特定实验条件下报告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2–4×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吞吐提升</a:t>
            </a:r>
            <a:endParaRPr kumimoji="1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034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en-US" altLang="zh-CN" sz="1400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SGLang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LMSYS/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学术团队的 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LLM/VLM 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推理框架（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Apache-2.0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 </a:t>
            </a:r>
            <a:r>
              <a:rPr kumimoji="1" lang="en-US" altLang="zh-CN" sz="1400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RadixAttention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复用跨请求的公共 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prefix KV Cache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，原始论文在特定实验条件下报告最高 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6.4× 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吞吐提升</a:t>
            </a:r>
            <a:endParaRPr kumimoji="1" lang="en-US" altLang="zh-CN" sz="1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034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商业价值：提高 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batch 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容量、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 Cache 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利用率和加速器利用率，降低每 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 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</a:t>
            </a:r>
            <a:endParaRPr kumimoji="1" lang="en-US" altLang="zh-CN" sz="1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ABB4E3C-DBB5-4685-9AB1-99FACA63D9AE}"/>
              </a:ext>
            </a:extLst>
          </p:cNvPr>
          <p:cNvSpPr/>
          <p:nvPr/>
        </p:nvSpPr>
        <p:spPr>
          <a:xfrm>
            <a:off x="4863345" y="2086876"/>
            <a:ext cx="6991972" cy="1342124"/>
          </a:xfrm>
          <a:prstGeom prst="rect">
            <a:avLst/>
          </a:prstGeom>
          <a:solidFill>
            <a:srgbClr val="FAFAFA"/>
          </a:solidFill>
          <a:ln w="9525" cap="flat" cmpd="sng" algn="ctr">
            <a:gradFill flip="none" rotWithShape="1">
              <a:gsLst>
                <a:gs pos="94000">
                  <a:srgbClr val="FFFFFF"/>
                </a:gs>
                <a:gs pos="100000">
                  <a:srgbClr val="C7000B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108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关键</a:t>
            </a: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5EF7098-16AB-4FE5-AC5D-1EA3B40850D6}"/>
              </a:ext>
            </a:extLst>
          </p:cNvPr>
          <p:cNvSpPr txBox="1"/>
          <p:nvPr/>
        </p:nvSpPr>
        <p:spPr>
          <a:xfrm>
            <a:off x="4997148" y="2401428"/>
            <a:ext cx="6703398" cy="9368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TTFT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：第一个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token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时延，影响用户体验关键指标，从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Kunpeng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亲和视角，由于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Kunpeng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单核能力较弱，可能造成性能瓶颈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NPU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 Time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NPU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空闲时间，受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tokenization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decoder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部分影响，导致造成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CPU overhead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，需要降低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CPU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占比或提高并行度。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46" name="表格 45">
            <a:extLst>
              <a:ext uri="{FF2B5EF4-FFF2-40B4-BE49-F238E27FC236}">
                <a16:creationId xmlns:a16="http://schemas.microsoft.com/office/drawing/2014/main" id="{BBA3A27C-89E9-4EB1-A23C-0A66148BD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0593893"/>
              </p:ext>
            </p:extLst>
          </p:nvPr>
        </p:nvGraphicFramePr>
        <p:xfrm>
          <a:off x="4863345" y="3609131"/>
          <a:ext cx="6991973" cy="1845753"/>
        </p:xfrm>
        <a:graphic>
          <a:graphicData uri="http://schemas.openxmlformats.org/drawingml/2006/table">
            <a:tbl>
              <a:tblPr/>
              <a:tblGrid>
                <a:gridCol w="535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6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8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5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1021">
                  <a:extLst>
                    <a:ext uri="{9D8B030D-6E8A-4147-A177-3AD203B41FA5}">
                      <a16:colId xmlns:a16="http://schemas.microsoft.com/office/drawing/2014/main" val="414859368"/>
                    </a:ext>
                  </a:extLst>
                </a:gridCol>
              </a:tblGrid>
              <a:tr h="33781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编号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优化点</a:t>
                      </a: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对应指标</a:t>
                      </a: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交付物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难点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40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1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①</a:t>
                      </a:r>
                      <a:r>
                        <a:rPr lang="en-US" sz="1050" b="1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利用 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SVE 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指令优化 </a:t>
                      </a:r>
                      <a:r>
                        <a:rPr lang="en-US" altLang="zh-CN" sz="10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tokenization</a:t>
                      </a:r>
                      <a:r>
                        <a:rPr kumimoji="0" lang="en-US" altLang="zh-CN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和</a:t>
                      </a:r>
                      <a:r>
                        <a:rPr kumimoji="0" lang="en-US" altLang="zh-CN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decoder </a:t>
                      </a: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查表速度， 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提升 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token 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转换吞吐率。</a:t>
                      </a:r>
                      <a:endParaRPr lang="zh-CN" sz="1050" b="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TTFT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交付开源仓库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/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61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②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基于 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NUMA 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的异步调度逻辑，避免 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future 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调度导致 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NUMA 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切换，降低跨 </a:t>
                      </a:r>
                      <a:r>
                        <a:rPr lang="en-US" altLang="zh-CN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NUMA </a:t>
                      </a:r>
                      <a:r>
                        <a:rPr lang="zh-CN" altLang="en-US" sz="1050" b="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内存访问。</a:t>
                      </a:r>
                      <a:endParaRPr lang="zh-CN" altLang="zh-CN" sz="1050" b="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TTFT</a:t>
                      </a: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Tokio</a:t>
                      </a:r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仓库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vLLM</a:t>
                      </a:r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和 </a:t>
                      </a:r>
                      <a:r>
                        <a:rPr lang="en-US" altLang="zh-CN" sz="1050" b="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SGLang</a:t>
                      </a:r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目前版本主要逻辑仍然基于</a:t>
                      </a:r>
                      <a:r>
                        <a:rPr lang="en-US" altLang="zh-CN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Python</a:t>
                      </a:r>
                      <a:r>
                        <a:rPr lang="zh-CN" altLang="en-US" sz="105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，两者都有迁移计划，均处于实验阶段。 </a:t>
                      </a:r>
                    </a:p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C190CDFE-ECB1-4F92-957B-C400930E259F}"/>
              </a:ext>
            </a:extLst>
          </p:cNvPr>
          <p:cNvSpPr/>
          <p:nvPr/>
        </p:nvSpPr>
        <p:spPr>
          <a:xfrm>
            <a:off x="206916" y="2094937"/>
            <a:ext cx="2170524" cy="3802292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vLLM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D206CEA-D42E-4B04-9E18-A51A75D0E2C9}"/>
              </a:ext>
            </a:extLst>
          </p:cNvPr>
          <p:cNvSpPr/>
          <p:nvPr/>
        </p:nvSpPr>
        <p:spPr>
          <a:xfrm>
            <a:off x="2492343" y="5976200"/>
            <a:ext cx="1008000" cy="288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5AD29C4-6345-45F2-B076-52BBC52CF7BF}"/>
              </a:ext>
            </a:extLst>
          </p:cNvPr>
          <p:cNvSpPr/>
          <p:nvPr/>
        </p:nvSpPr>
        <p:spPr>
          <a:xfrm>
            <a:off x="2492343" y="6347241"/>
            <a:ext cx="1008000" cy="28893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2FC5B01-48ED-48DB-A081-D4779C9F8B91}"/>
              </a:ext>
            </a:extLst>
          </p:cNvPr>
          <p:cNvSpPr txBox="1"/>
          <p:nvPr/>
        </p:nvSpPr>
        <p:spPr>
          <a:xfrm>
            <a:off x="2132097" y="6202686"/>
            <a:ext cx="230832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8CE597F-4896-413A-B982-5B8D18D6ED6D}"/>
              </a:ext>
            </a:extLst>
          </p:cNvPr>
          <p:cNvSpPr txBox="1"/>
          <p:nvPr/>
        </p:nvSpPr>
        <p:spPr>
          <a:xfrm>
            <a:off x="206916" y="6133437"/>
            <a:ext cx="159979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 </a:t>
            </a:r>
            <a:r>
              <a:rPr kumimoji="1" lang="en-US" altLang="zh-CN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LLM </a:t>
            </a:r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框架比较 </a:t>
            </a:r>
            <a:r>
              <a:rPr kumimoji="1" lang="en-US" altLang="zh-CN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Eager </a:t>
            </a:r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E2D07B3-A4C3-4A5E-A2E6-81F3AA32A468}"/>
              </a:ext>
            </a:extLst>
          </p:cNvPr>
          <p:cNvSpPr/>
          <p:nvPr/>
        </p:nvSpPr>
        <p:spPr>
          <a:xfrm>
            <a:off x="400161" y="2392059"/>
            <a:ext cx="1769547" cy="324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API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接口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请求处理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18E841C-2BEA-412D-A44B-AABA91ECE5E3}"/>
              </a:ext>
            </a:extLst>
          </p:cNvPr>
          <p:cNvSpPr/>
          <p:nvPr/>
        </p:nvSpPr>
        <p:spPr>
          <a:xfrm>
            <a:off x="400171" y="2830154"/>
            <a:ext cx="1769547" cy="324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tokenization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1BAC4F1-66C0-43CE-AEB2-F9980E6C5EB9}"/>
              </a:ext>
            </a:extLst>
          </p:cNvPr>
          <p:cNvSpPr/>
          <p:nvPr/>
        </p:nvSpPr>
        <p:spPr>
          <a:xfrm>
            <a:off x="400170" y="3268249"/>
            <a:ext cx="1769547" cy="324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PagedAttention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KV cache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9EC87AE-E21C-4686-9DA4-C456C7B97C2E}"/>
              </a:ext>
            </a:extLst>
          </p:cNvPr>
          <p:cNvSpPr/>
          <p:nvPr/>
        </p:nvSpPr>
        <p:spPr>
          <a:xfrm>
            <a:off x="2492343" y="2094937"/>
            <a:ext cx="2170524" cy="3802292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SGLang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975EF58-BADC-4C39-A923-AAD8B53DEE1C}"/>
              </a:ext>
            </a:extLst>
          </p:cNvPr>
          <p:cNvSpPr/>
          <p:nvPr/>
        </p:nvSpPr>
        <p:spPr>
          <a:xfrm>
            <a:off x="400166" y="4144439"/>
            <a:ext cx="1769547" cy="324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算子下发 （调用 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PyTorch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51F38C2-03E2-4816-81A7-402531FA741F}"/>
              </a:ext>
            </a:extLst>
          </p:cNvPr>
          <p:cNvSpPr/>
          <p:nvPr/>
        </p:nvSpPr>
        <p:spPr>
          <a:xfrm>
            <a:off x="400165" y="4582534"/>
            <a:ext cx="1769547" cy="324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算子执行 （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CUDA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2488D71-8094-4EC7-A28C-8634C876DB0D}"/>
              </a:ext>
            </a:extLst>
          </p:cNvPr>
          <p:cNvSpPr/>
          <p:nvPr/>
        </p:nvSpPr>
        <p:spPr>
          <a:xfrm>
            <a:off x="400164" y="5020629"/>
            <a:ext cx="1769547" cy="324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decoder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CFF7D78-BE25-4F94-A642-3CD6E9CE02A0}"/>
              </a:ext>
            </a:extLst>
          </p:cNvPr>
          <p:cNvSpPr/>
          <p:nvPr/>
        </p:nvSpPr>
        <p:spPr>
          <a:xfrm>
            <a:off x="400163" y="5458726"/>
            <a:ext cx="1769547" cy="324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zh-CN" altLang="en-US" sz="110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请求返回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2D2299B-9501-4035-8157-0E32E0216042}"/>
              </a:ext>
            </a:extLst>
          </p:cNvPr>
          <p:cNvSpPr/>
          <p:nvPr/>
        </p:nvSpPr>
        <p:spPr>
          <a:xfrm>
            <a:off x="400162" y="3706344"/>
            <a:ext cx="1769547" cy="324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循环处理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22C8EEE-A512-4FF2-90CA-14CB03B42276}"/>
              </a:ext>
            </a:extLst>
          </p:cNvPr>
          <p:cNvSpPr/>
          <p:nvPr/>
        </p:nvSpPr>
        <p:spPr>
          <a:xfrm>
            <a:off x="2692821" y="2392059"/>
            <a:ext cx="1769547" cy="324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请求处理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D749AE7-FCC8-4430-A5D1-8AAE1EBAEFEA}"/>
              </a:ext>
            </a:extLst>
          </p:cNvPr>
          <p:cNvSpPr/>
          <p:nvPr/>
        </p:nvSpPr>
        <p:spPr>
          <a:xfrm>
            <a:off x="2692821" y="2830154"/>
            <a:ext cx="1769547" cy="324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tokenization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FC3EDA6-EAAF-4848-AF2C-EB35F6AC8E6C}"/>
              </a:ext>
            </a:extLst>
          </p:cNvPr>
          <p:cNvSpPr/>
          <p:nvPr/>
        </p:nvSpPr>
        <p:spPr>
          <a:xfrm>
            <a:off x="2692821" y="3268249"/>
            <a:ext cx="1769547" cy="324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RadixAttention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KV cache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6E5C3E6-297C-44C5-916D-1D6C11F697A2}"/>
              </a:ext>
            </a:extLst>
          </p:cNvPr>
          <p:cNvSpPr/>
          <p:nvPr/>
        </p:nvSpPr>
        <p:spPr>
          <a:xfrm>
            <a:off x="2692821" y="4144439"/>
            <a:ext cx="1769547" cy="324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算子下发 （调用 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PyTorch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37B5EA3-C71A-46A1-83EC-656096A75793}"/>
              </a:ext>
            </a:extLst>
          </p:cNvPr>
          <p:cNvSpPr/>
          <p:nvPr/>
        </p:nvSpPr>
        <p:spPr>
          <a:xfrm>
            <a:off x="2692821" y="4582534"/>
            <a:ext cx="1769547" cy="324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算子执行 （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CUDA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C1B04E2-E469-41A3-862D-D2BC6E7FBEA5}"/>
              </a:ext>
            </a:extLst>
          </p:cNvPr>
          <p:cNvSpPr/>
          <p:nvPr/>
        </p:nvSpPr>
        <p:spPr>
          <a:xfrm>
            <a:off x="2692821" y="5020629"/>
            <a:ext cx="1769547" cy="324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decoder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DEAE419-EA2D-4FEC-9CDA-3A34899E74CF}"/>
              </a:ext>
            </a:extLst>
          </p:cNvPr>
          <p:cNvSpPr/>
          <p:nvPr/>
        </p:nvSpPr>
        <p:spPr>
          <a:xfrm>
            <a:off x="2692821" y="5458726"/>
            <a:ext cx="1769547" cy="324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zh-CN" altLang="en-US" sz="110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请求返回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C09053E-BC41-44B2-8380-4BF1D1629146}"/>
              </a:ext>
            </a:extLst>
          </p:cNvPr>
          <p:cNvSpPr/>
          <p:nvPr/>
        </p:nvSpPr>
        <p:spPr>
          <a:xfrm>
            <a:off x="2692821" y="3706344"/>
            <a:ext cx="1769547" cy="324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循环处理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1F863E3-E29A-4526-B24E-F59DD102B9DA}"/>
              </a:ext>
            </a:extLst>
          </p:cNvPr>
          <p:cNvSpPr/>
          <p:nvPr/>
        </p:nvSpPr>
        <p:spPr>
          <a:xfrm>
            <a:off x="3574367" y="5988968"/>
            <a:ext cx="1008000" cy="2889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0154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4DAD19-A643-4F46-A683-EAAD51671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客户使用 </a:t>
            </a:r>
            <a:r>
              <a:rPr lang="en-US" altLang="zh-CN" dirty="0"/>
              <a:t>GLM </a:t>
            </a:r>
            <a:r>
              <a:rPr lang="zh-CN" altLang="en-US" dirty="0"/>
              <a:t>场景，重点关注采购比拼场景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364DE8A-C788-400D-89B6-AF16B2191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266194"/>
              </p:ext>
            </p:extLst>
          </p:nvPr>
        </p:nvGraphicFramePr>
        <p:xfrm>
          <a:off x="252099" y="1725910"/>
          <a:ext cx="11571489" cy="49971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8943">
                  <a:extLst>
                    <a:ext uri="{9D8B030D-6E8A-4147-A177-3AD203B41FA5}">
                      <a16:colId xmlns:a16="http://schemas.microsoft.com/office/drawing/2014/main" val="1180747776"/>
                    </a:ext>
                  </a:extLst>
                </a:gridCol>
                <a:gridCol w="1991141">
                  <a:extLst>
                    <a:ext uri="{9D8B030D-6E8A-4147-A177-3AD203B41FA5}">
                      <a16:colId xmlns:a16="http://schemas.microsoft.com/office/drawing/2014/main" val="1296697525"/>
                    </a:ext>
                  </a:extLst>
                </a:gridCol>
                <a:gridCol w="4961614">
                  <a:extLst>
                    <a:ext uri="{9D8B030D-6E8A-4147-A177-3AD203B41FA5}">
                      <a16:colId xmlns:a16="http://schemas.microsoft.com/office/drawing/2014/main" val="2714798406"/>
                    </a:ext>
                  </a:extLst>
                </a:gridCol>
                <a:gridCol w="3299791">
                  <a:extLst>
                    <a:ext uri="{9D8B030D-6E8A-4147-A177-3AD203B41FA5}">
                      <a16:colId xmlns:a16="http://schemas.microsoft.com/office/drawing/2014/main" val="676484161"/>
                    </a:ext>
                  </a:extLst>
                </a:gridCol>
              </a:tblGrid>
              <a:tr h="3140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互联网公司</a:t>
                      </a:r>
                    </a:p>
                  </a:txBody>
                  <a:tcPr marL="91404" marR="91404" marT="45702" marB="45702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使用模型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采购比拼场景</a:t>
                      </a:r>
                    </a:p>
                  </a:txBody>
                  <a:tcPr marL="91404" marR="91404" marT="45702" marB="45702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全局目标用例</a:t>
                      </a:r>
                    </a:p>
                  </a:txBody>
                  <a:tcPr marL="91404" marR="91404" marT="45702" marB="45702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968988"/>
                  </a:ext>
                </a:extLst>
              </a:tr>
              <a:tr h="441295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京东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DSV4-flash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GLM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kimi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采购准入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CASE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，不开启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prefix </a:t>
                      </a:r>
                      <a:r>
                        <a:rPr lang="en-US" altLang="zh-CN" sz="1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cahce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场景下：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3.5K+1.5K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TTFT P50&lt;1s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TPOT P50&lt;50ms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，比拼并发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吞吐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9K+1K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 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TTFT P50&lt;3s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TPOT P50&lt;50ms 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比拼并发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吞吐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64K+1K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TTFT P50&lt;10s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TPOT P50&lt;50ms, 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比拼并发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吞吐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127K+1K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TTFT P50&lt;20s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TPOT P50&lt;50ms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，比拼并发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吞吐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40K+300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60% prefix cache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命中，比拼并发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吞吐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</a:t>
                      </a:r>
                    </a:p>
                  </a:txBody>
                  <a:tcPr marL="91404" marR="91404" marT="45702" marB="45702">
                    <a:solidFill>
                      <a:schemeClr val="tx2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TTFT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场景：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prefix cache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命中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=0%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4k+2k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TTFT avg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＜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1s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，全部模型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16k+1k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TTFT avg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＜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2s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（＜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400B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16k+1k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TTFT avg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＜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4s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（＞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400B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64k+1k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TTFT avg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＜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8s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（＜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400B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64k+1k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TTFT avg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＜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10s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（＞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400B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128K+1k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TTFT avg &lt; 15s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（＜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400B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128K+1k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TTFT avg &lt; 20s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（＞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400B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TPOT 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场景，明确给出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MTP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采信率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4k+2k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TPOT avg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＜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50ms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，全部模型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4k+2k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TPOT avg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＜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20ms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，全部模型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16k+1k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TPOT avg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＜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50ms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，全部模型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16k+1k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TPOT avg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＜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20ms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，全部模型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64k+1k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TPOT avg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＜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50ms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，全部模型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64k+1k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TPOT avg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＜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30ms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，全部模型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128K+1k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TPOT avg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＜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50ms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，全部模型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128K+1k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TPOT avg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＜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30ms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，全部模型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变长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40K-80K +2.5k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TPOT avg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＜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30ms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749257"/>
                  </a:ext>
                </a:extLst>
              </a:tr>
              <a:tr h="269681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蚂蚁</a:t>
                      </a:r>
                    </a:p>
                  </a:txBody>
                  <a:tcPr marL="91404" marR="91404" marT="45702" marB="45702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DSV3.1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DSV4 / GLM /KIMI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MINIMAX / QWEN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比拼测试时，不开启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prefix cache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（暂定），准入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case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变长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20K-40K +2.5k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prefix cache=0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P50 TTFT&lt;=7s, TPOT_P50 &lt; 30ms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coding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场景）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定长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4K+1.5K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TTFT P50&lt;2s, TPOT P50&lt;30ms 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（低优先场景略）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798555"/>
                  </a:ext>
                </a:extLst>
              </a:tr>
              <a:tr h="269681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阿里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Qwen3.8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Qwen3.6-397B</a:t>
                      </a:r>
                      <a:b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Qwen3.6-35B/27B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DS V4 flash / DS V4 pro / GLM 5.1/5.2 </a:t>
                      </a:r>
                    </a:p>
                  </a:txBody>
                  <a:tcPr marL="91404" marR="91404" marT="45702" marB="45702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采购准入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CASE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，已经投入使用，不允许开启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prefix cache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准入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case</a:t>
                      </a:r>
                      <a:endParaRPr lang="en-US" altLang="zh-CN" sz="1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定长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4k+2k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TTFT avg&lt; 3s,  TPOT avg&lt; 50ms  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定长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64k+2k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TTFT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不做严格要求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(H800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混部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10s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 TPOT avg&lt; 50ms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变长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0.8k~1k +1.6k~2k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TTFT avg&lt; 3s,  TPOT avg&lt; 50ms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（低优先场景略）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74794"/>
                  </a:ext>
                </a:extLst>
              </a:tr>
              <a:tr h="784525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腾讯</a:t>
                      </a:r>
                    </a:p>
                  </a:txBody>
                  <a:tcPr marL="91404" marR="91404" marT="45702" marB="45702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000" dirty="0"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DS V4 flash W4A8</a:t>
                      </a:r>
                      <a:br>
                        <a:rPr lang="en-US" altLang="zh-CN" sz="1000" dirty="0"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GLM5.2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000" dirty="0"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QWEN</a:t>
                      </a:r>
                      <a:endParaRPr lang="zh-CN" altLang="en-US" sz="1000" dirty="0">
                        <a:highlight>
                          <a:srgbClr val="FFFF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业务准入</a:t>
                      </a: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CASE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，不接受开启</a:t>
                      </a: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prefix cache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DSv4-flash w4a8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</a:t>
                      </a: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18K+3K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，关闭</a:t>
                      </a: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prefix-cache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，开</a:t>
                      </a:r>
                      <a:r>
                        <a:rPr lang="en-US" altLang="zh-CN" sz="1000" kern="1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mtp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</a:t>
                      </a: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TTFT avg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＜</a:t>
                      </a: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2s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</a:t>
                      </a: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TPOT avg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＜</a:t>
                      </a: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50ms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，比拼吞吐</a:t>
                      </a:r>
                      <a:endParaRPr lang="en-US" altLang="zh-CN" sz="10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DSv4-flash w4a8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</a:t>
                      </a: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16K+150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，关闭</a:t>
                      </a: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prefix-cache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，开</a:t>
                      </a:r>
                      <a:r>
                        <a:rPr lang="en-US" altLang="zh-CN" sz="1000" kern="1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mtp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</a:t>
                      </a: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TTFT avg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＜</a:t>
                      </a: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1s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</a:t>
                      </a: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TPOT avg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＜</a:t>
                      </a: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20ms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，比拼吞吐</a:t>
                      </a:r>
                      <a:endParaRPr lang="en-US" altLang="zh-CN" sz="10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（其他先场景略）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319086"/>
                  </a:ext>
                </a:extLst>
              </a:tr>
              <a:tr h="2941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美团</a:t>
                      </a:r>
                    </a:p>
                  </a:txBody>
                  <a:tcPr marL="91404" marR="91404" marT="45702" marB="45702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000" kern="1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LongCat</a:t>
                      </a: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560B </a:t>
                      </a:r>
                      <a:endParaRPr lang="zh-CN" altLang="en-US" sz="10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04" marR="91404" marT="45702" marB="45702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超低时延 </a:t>
                      </a: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4K+1K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</a:t>
                      </a: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TPOT&lt;=3ms</a:t>
                      </a:r>
                      <a:endParaRPr lang="zh-CN" altLang="en-US" sz="10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04" marR="91404" marT="45702" marB="45702"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0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04" marR="91404" marT="45702" marB="45702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3414432"/>
                  </a:ext>
                </a:extLst>
              </a:tr>
              <a:tr h="2941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电信天翼云 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 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电信 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AI /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移动 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小红书 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滴滴 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金山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小米</a:t>
                      </a:r>
                    </a:p>
                  </a:txBody>
                  <a:tcPr marL="91404" marR="91404" marT="45702" marB="45702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GLM5.2 / DS V4 flash /</a:t>
                      </a:r>
                      <a:r>
                        <a:rPr lang="en-US" altLang="zh-CN" sz="1200" kern="1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MiniMax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M3/  Kimi-K2.6 / qwen3.5-122B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04" marR="91404" marT="45702" marB="45702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（略）</a:t>
                      </a:r>
                    </a:p>
                  </a:txBody>
                  <a:tcPr marL="91404" marR="91404" marT="45702" marB="45702"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04" marR="91404" marT="45702" marB="45702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2216174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7F15515C-7747-482E-8F09-228F130B47BC}"/>
              </a:ext>
            </a:extLst>
          </p:cNvPr>
          <p:cNvSpPr txBox="1"/>
          <p:nvPr/>
        </p:nvSpPr>
        <p:spPr>
          <a:xfrm>
            <a:off x="10385831" y="6245766"/>
            <a:ext cx="125675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需要协调服务器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76D8BA-1940-8CE5-3FB9-56533CF96CFE}"/>
              </a:ext>
            </a:extLst>
          </p:cNvPr>
          <p:cNvSpPr/>
          <p:nvPr/>
        </p:nvSpPr>
        <p:spPr>
          <a:xfrm>
            <a:off x="252099" y="728165"/>
            <a:ext cx="706020" cy="858456"/>
          </a:xfrm>
          <a:prstGeom prst="rect">
            <a:avLst/>
          </a:prstGeom>
          <a:solidFill>
            <a:srgbClr val="C7000A"/>
          </a:solidFill>
          <a:ln w="3175" cap="flat">
            <a:noFill/>
            <a:miter lim="400000"/>
          </a:ln>
          <a:effectLst/>
        </p:spPr>
        <p:txBody>
          <a:bodyPr wrap="square" lIns="35944" tIns="35944" rIns="35944" bIns="35944" numCol="1" anchor="ctr">
            <a:noAutofit/>
          </a:bodyPr>
          <a:lstStyle/>
          <a:p>
            <a:pPr marL="0" marR="0" lvl="0" indent="0" algn="ctr" defTabSz="171825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/>
              </a:rPr>
              <a:t>应用</a:t>
            </a:r>
            <a:endParaRPr kumimoji="0" lang="en-US" altLang="zh-CN" sz="1599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Calibri"/>
            </a:endParaRPr>
          </a:p>
          <a:p>
            <a:pPr marL="0" marR="0" lvl="0" indent="0" algn="ctr" defTabSz="171825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/>
              </a:rPr>
              <a:t>背景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B4D83F-D34B-8559-1B84-869AAAA8497D}"/>
              </a:ext>
            </a:extLst>
          </p:cNvPr>
          <p:cNvSpPr/>
          <p:nvPr/>
        </p:nvSpPr>
        <p:spPr>
          <a:xfrm>
            <a:off x="1032935" y="728164"/>
            <a:ext cx="10790653" cy="858456"/>
          </a:xfrm>
          <a:prstGeom prst="rect">
            <a:avLst/>
          </a:prstGeom>
          <a:solidFill>
            <a:srgbClr val="FFFFFF">
              <a:lumMod val="95000"/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42900" marR="0" lvl="0" indent="-342900" algn="l" defTabSz="914034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客户：京东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蚂蚁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阿里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腾讯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美团等，模型以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DSV4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GLM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Qwen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Kimi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为主。</a:t>
            </a:r>
          </a:p>
          <a:p>
            <a:pPr marL="342900" marR="0" lvl="0" indent="-342900" algn="l" defTabSz="914034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口径：均在关闭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prefix cache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下比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TTFT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TPOT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与并发吞吐；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TPOT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普遍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50ms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（腾讯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20ms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、美团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3ms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）。</a:t>
            </a:r>
          </a:p>
          <a:p>
            <a:pPr marL="342900" marR="0" lvl="0" indent="-342900" algn="l" defTabSz="914034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目标：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TTFT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随序列变长放宽（短序列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&lt;1s → 128K &lt;20s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）；分采购比拼、业务替代两类。</a:t>
            </a:r>
          </a:p>
        </p:txBody>
      </p:sp>
    </p:spTree>
    <p:extLst>
      <p:ext uri="{BB962C8B-B14F-4D97-AF65-F5344CB8AC3E}">
        <p14:creationId xmlns:p14="http://schemas.microsoft.com/office/powerpoint/2010/main" val="3550616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677FB8F-D312-46FA-BDD6-9A8FB2A59C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1135"/>
            <a:ext cx="12196763" cy="3275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931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F19B417-90BE-4EA1-BDC7-8E26702EA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71513"/>
            <a:ext cx="12196763" cy="551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2317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A0523CEA-1C49-46A5-BDC9-E9AD81FF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99" y="360000"/>
            <a:ext cx="11831495" cy="360000"/>
          </a:xfrm>
        </p:spPr>
        <p:txBody>
          <a:bodyPr/>
          <a:lstStyle/>
          <a:p>
            <a:r>
              <a:rPr lang="en-US" altLang="zh-CN" sz="2400" dirty="0"/>
              <a:t>AI </a:t>
            </a:r>
            <a:r>
              <a:rPr lang="zh-CN" altLang="en-US" sz="2400" dirty="0"/>
              <a:t>推理场景安全加固沙箱优化，实现大规模 </a:t>
            </a:r>
            <a:r>
              <a:rPr lang="en-US" altLang="zh-CN" sz="2400" dirty="0"/>
              <a:t>Harness </a:t>
            </a:r>
            <a:r>
              <a:rPr lang="zh-CN" altLang="en-US" sz="2400" dirty="0"/>
              <a:t>验证环境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3C0B51-86FA-4B1E-BE59-A9AF2CD7C0D2}"/>
              </a:ext>
            </a:extLst>
          </p:cNvPr>
          <p:cNvSpPr/>
          <p:nvPr/>
        </p:nvSpPr>
        <p:spPr>
          <a:xfrm>
            <a:off x="148739" y="3038939"/>
            <a:ext cx="4017744" cy="3027906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应用面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F35119E-7ACF-4838-AA6E-D9BDA2DECD38}"/>
              </a:ext>
            </a:extLst>
          </p:cNvPr>
          <p:cNvSpPr/>
          <p:nvPr/>
        </p:nvSpPr>
        <p:spPr>
          <a:xfrm>
            <a:off x="148739" y="1157465"/>
            <a:ext cx="4017744" cy="1798341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控制面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FFB2AF-2C91-4D94-BF2E-6CC66A93D32B}"/>
              </a:ext>
            </a:extLst>
          </p:cNvPr>
          <p:cNvSpPr/>
          <p:nvPr/>
        </p:nvSpPr>
        <p:spPr>
          <a:xfrm>
            <a:off x="2311871" y="3772037"/>
            <a:ext cx="1722153" cy="2167587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Guest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侧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E540436-E4A4-4E4A-8E20-B529164F0DD9}"/>
              </a:ext>
            </a:extLst>
          </p:cNvPr>
          <p:cNvSpPr/>
          <p:nvPr/>
        </p:nvSpPr>
        <p:spPr>
          <a:xfrm>
            <a:off x="239640" y="3772037"/>
            <a:ext cx="1897801" cy="2167587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Host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侧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A91027A-8699-4BAE-BA13-F8FF15FC0DAE}"/>
              </a:ext>
            </a:extLst>
          </p:cNvPr>
          <p:cNvSpPr/>
          <p:nvPr/>
        </p:nvSpPr>
        <p:spPr>
          <a:xfrm>
            <a:off x="272814" y="1949915"/>
            <a:ext cx="3740075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API(Axum)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36E222C-C69D-4B28-B48D-2DCC1CC2D2F8}"/>
              </a:ext>
            </a:extLst>
          </p:cNvPr>
          <p:cNvSpPr/>
          <p:nvPr/>
        </p:nvSpPr>
        <p:spPr>
          <a:xfrm>
            <a:off x="272814" y="2392810"/>
            <a:ext cx="1043437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生命周期管理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ED40D61-5F6B-4F7F-8954-AADDC3AE2FE5}"/>
              </a:ext>
            </a:extLst>
          </p:cNvPr>
          <p:cNvSpPr/>
          <p:nvPr/>
        </p:nvSpPr>
        <p:spPr>
          <a:xfrm>
            <a:off x="270269" y="1430768"/>
            <a:ext cx="1233535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集群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Gateway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C4D4BCE-0837-4CFC-A97D-C70AE7E75B97}"/>
              </a:ext>
            </a:extLst>
          </p:cNvPr>
          <p:cNvSpPr/>
          <p:nvPr/>
        </p:nvSpPr>
        <p:spPr>
          <a:xfrm>
            <a:off x="227104" y="3275876"/>
            <a:ext cx="3785786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Firecracker VM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AAC4A02-729C-4D34-9A09-EC3A7A8CC4D8}"/>
              </a:ext>
            </a:extLst>
          </p:cNvPr>
          <p:cNvSpPr/>
          <p:nvPr/>
        </p:nvSpPr>
        <p:spPr>
          <a:xfrm>
            <a:off x="3082860" y="2392810"/>
            <a:ext cx="930030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vmm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预热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562B277-3C2E-40D2-8382-C68A6A738FEC}"/>
              </a:ext>
            </a:extLst>
          </p:cNvPr>
          <p:cNvSpPr/>
          <p:nvPr/>
        </p:nvSpPr>
        <p:spPr>
          <a:xfrm>
            <a:off x="2482460" y="5469056"/>
            <a:ext cx="1346640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envd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守护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进程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4163C10-3296-44A2-9653-5C3388219982}"/>
              </a:ext>
            </a:extLst>
          </p:cNvPr>
          <p:cNvSpPr/>
          <p:nvPr/>
        </p:nvSpPr>
        <p:spPr>
          <a:xfrm>
            <a:off x="1368312" y="2392810"/>
            <a:ext cx="866005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镜像管理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164EE97-6254-47E4-BAC7-9C0D7743C716}"/>
              </a:ext>
            </a:extLst>
          </p:cNvPr>
          <p:cNvSpPr/>
          <p:nvPr/>
        </p:nvSpPr>
        <p:spPr>
          <a:xfrm>
            <a:off x="423888" y="4011553"/>
            <a:ext cx="1492376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overlaybd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虚拟块文件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-client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054F8E5-F16D-46BC-AEC2-84E3A9CACA0F}"/>
              </a:ext>
            </a:extLst>
          </p:cNvPr>
          <p:cNvSpPr/>
          <p:nvPr/>
        </p:nvSpPr>
        <p:spPr>
          <a:xfrm>
            <a:off x="423888" y="4484341"/>
            <a:ext cx="1492376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rust-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vvm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(KVM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用户态套件）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5432CFD-15DA-4FF5-834D-FE4C931E5771}"/>
              </a:ext>
            </a:extLst>
          </p:cNvPr>
          <p:cNvSpPr/>
          <p:nvPr/>
        </p:nvSpPr>
        <p:spPr>
          <a:xfrm>
            <a:off x="423888" y="5446828"/>
            <a:ext cx="1492376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KVM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（内核）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07007E-ADAD-4919-AE9C-29822E796D52}"/>
              </a:ext>
            </a:extLst>
          </p:cNvPr>
          <p:cNvSpPr/>
          <p:nvPr/>
        </p:nvSpPr>
        <p:spPr>
          <a:xfrm>
            <a:off x="2311872" y="2392810"/>
            <a:ext cx="646912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快照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79E3B6D-6377-4F8A-AEAB-80D4C63CB953}"/>
              </a:ext>
            </a:extLst>
          </p:cNvPr>
          <p:cNvSpPr/>
          <p:nvPr/>
        </p:nvSpPr>
        <p:spPr>
          <a:xfrm>
            <a:off x="1625333" y="1430768"/>
            <a:ext cx="1186868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集群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Scheduler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480D904-3819-4F70-AFC0-731433843906}"/>
              </a:ext>
            </a:extLst>
          </p:cNvPr>
          <p:cNvSpPr/>
          <p:nvPr/>
        </p:nvSpPr>
        <p:spPr>
          <a:xfrm>
            <a:off x="2893862" y="1430768"/>
            <a:ext cx="1119027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P2P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镜像共享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9B26A45-C8CF-4FE9-A9B9-752E9AEE778A}"/>
              </a:ext>
            </a:extLst>
          </p:cNvPr>
          <p:cNvSpPr/>
          <p:nvPr/>
        </p:nvSpPr>
        <p:spPr>
          <a:xfrm>
            <a:off x="3296226" y="6353531"/>
            <a:ext cx="1210174" cy="288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1009259-DB07-425C-AF82-570EEE2D55F7}"/>
              </a:ext>
            </a:extLst>
          </p:cNvPr>
          <p:cNvSpPr/>
          <p:nvPr/>
        </p:nvSpPr>
        <p:spPr>
          <a:xfrm>
            <a:off x="4593614" y="6353531"/>
            <a:ext cx="1210174" cy="2889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非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部分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7B3124C-8373-401C-B180-DF714815C838}"/>
              </a:ext>
            </a:extLst>
          </p:cNvPr>
          <p:cNvSpPr txBox="1"/>
          <p:nvPr/>
        </p:nvSpPr>
        <p:spPr>
          <a:xfrm>
            <a:off x="2958783" y="6428750"/>
            <a:ext cx="230832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图例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2E2AFE6-7C98-4A6A-A630-407E62EA4E4F}"/>
              </a:ext>
            </a:extLst>
          </p:cNvPr>
          <p:cNvSpPr/>
          <p:nvPr/>
        </p:nvSpPr>
        <p:spPr>
          <a:xfrm>
            <a:off x="2477937" y="4053377"/>
            <a:ext cx="1346640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内核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F2C6098-2475-433A-B0F9-971252C28531}"/>
              </a:ext>
            </a:extLst>
          </p:cNvPr>
          <p:cNvSpPr/>
          <p:nvPr/>
        </p:nvSpPr>
        <p:spPr>
          <a:xfrm>
            <a:off x="2477937" y="4521442"/>
            <a:ext cx="1346640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文件系统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D6CEB84-BAFC-4FD2-8AFE-219002F59264}"/>
              </a:ext>
            </a:extLst>
          </p:cNvPr>
          <p:cNvSpPr/>
          <p:nvPr/>
        </p:nvSpPr>
        <p:spPr>
          <a:xfrm>
            <a:off x="2482460" y="4999684"/>
            <a:ext cx="1346640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网络设备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F3BA74E-6B31-4B05-9063-50B1C4A46107}"/>
              </a:ext>
            </a:extLst>
          </p:cNvPr>
          <p:cNvSpPr/>
          <p:nvPr/>
        </p:nvSpPr>
        <p:spPr>
          <a:xfrm>
            <a:off x="423888" y="4943063"/>
            <a:ext cx="1492376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Stage-2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内存管理（内核）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D788AB8-0005-46A3-B04D-29FF25B65705}"/>
              </a:ext>
            </a:extLst>
          </p:cNvPr>
          <p:cNvSpPr/>
          <p:nvPr/>
        </p:nvSpPr>
        <p:spPr>
          <a:xfrm>
            <a:off x="7832033" y="3073610"/>
            <a:ext cx="4174865" cy="2993235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应用面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05FB60A-3CBB-4AFA-A045-3140BA72892D}"/>
              </a:ext>
            </a:extLst>
          </p:cNvPr>
          <p:cNvSpPr/>
          <p:nvPr/>
        </p:nvSpPr>
        <p:spPr>
          <a:xfrm>
            <a:off x="7832035" y="1157465"/>
            <a:ext cx="4174864" cy="1798341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控制面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8A4291C-FDC0-4485-A488-6577EDF0E726}"/>
              </a:ext>
            </a:extLst>
          </p:cNvPr>
          <p:cNvSpPr/>
          <p:nvPr/>
        </p:nvSpPr>
        <p:spPr>
          <a:xfrm>
            <a:off x="10011292" y="3806708"/>
            <a:ext cx="1883845" cy="2055716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Guest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侧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3CA4980-D326-4170-BC90-FEDF5EF1809B}"/>
              </a:ext>
            </a:extLst>
          </p:cNvPr>
          <p:cNvSpPr/>
          <p:nvPr/>
        </p:nvSpPr>
        <p:spPr>
          <a:xfrm>
            <a:off x="8038398" y="3806708"/>
            <a:ext cx="1800540" cy="2055716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Host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侧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AB7D279-8B05-43DF-B066-5E007B34E0B1}"/>
              </a:ext>
            </a:extLst>
          </p:cNvPr>
          <p:cNvSpPr/>
          <p:nvPr/>
        </p:nvSpPr>
        <p:spPr>
          <a:xfrm>
            <a:off x="7946084" y="1949915"/>
            <a:ext cx="3873261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Cube API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5BB82D5-C6FD-4C07-9AE0-12272EEC4F24}"/>
              </a:ext>
            </a:extLst>
          </p:cNvPr>
          <p:cNvSpPr/>
          <p:nvPr/>
        </p:nvSpPr>
        <p:spPr>
          <a:xfrm>
            <a:off x="7946084" y="2415989"/>
            <a:ext cx="914109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生命周期管理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1AA4BD9-26AE-419A-B537-C2020803ACC7}"/>
              </a:ext>
            </a:extLst>
          </p:cNvPr>
          <p:cNvSpPr/>
          <p:nvPr/>
        </p:nvSpPr>
        <p:spPr>
          <a:xfrm>
            <a:off x="7946085" y="1416515"/>
            <a:ext cx="1311102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Cube Master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BAEC4F1-AEF5-4E81-BF29-074AE3D79E14}"/>
              </a:ext>
            </a:extLst>
          </p:cNvPr>
          <p:cNvSpPr/>
          <p:nvPr/>
        </p:nvSpPr>
        <p:spPr>
          <a:xfrm>
            <a:off x="8038398" y="3325464"/>
            <a:ext cx="2926086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Cloud Hypervisor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6B46D4C-4BAE-4409-B754-DEBCEAAC59AD}"/>
              </a:ext>
            </a:extLst>
          </p:cNvPr>
          <p:cNvSpPr/>
          <p:nvPr/>
        </p:nvSpPr>
        <p:spPr>
          <a:xfrm>
            <a:off x="10846194" y="2392810"/>
            <a:ext cx="973152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vmm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预热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F4CBB66-4045-42F5-A6D9-B83AD00A7E47}"/>
              </a:ext>
            </a:extLst>
          </p:cNvPr>
          <p:cNvSpPr/>
          <p:nvPr/>
        </p:nvSpPr>
        <p:spPr>
          <a:xfrm>
            <a:off x="10102953" y="5388713"/>
            <a:ext cx="1716392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cube-agent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FBFE302-E57C-4A14-8381-3A26821811AB}"/>
              </a:ext>
            </a:extLst>
          </p:cNvPr>
          <p:cNvSpPr/>
          <p:nvPr/>
        </p:nvSpPr>
        <p:spPr>
          <a:xfrm>
            <a:off x="8924830" y="2411745"/>
            <a:ext cx="914108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镜像管理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97CD228-4C1C-4A7B-B7E4-E4817FF1F356}"/>
              </a:ext>
            </a:extLst>
          </p:cNvPr>
          <p:cNvSpPr/>
          <p:nvPr/>
        </p:nvSpPr>
        <p:spPr>
          <a:xfrm>
            <a:off x="8197794" y="4488541"/>
            <a:ext cx="1521031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CubeCoW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ECD4E32-BA6F-4CA8-9799-D75600F18DED}"/>
              </a:ext>
            </a:extLst>
          </p:cNvPr>
          <p:cNvSpPr/>
          <p:nvPr/>
        </p:nvSpPr>
        <p:spPr>
          <a:xfrm>
            <a:off x="8197794" y="4053482"/>
            <a:ext cx="1521031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rust-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vvm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(KVM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用户态套件）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3CB3F54-AE6C-4EF8-96B6-C3BA4CCEFC9E}"/>
              </a:ext>
            </a:extLst>
          </p:cNvPr>
          <p:cNvSpPr/>
          <p:nvPr/>
        </p:nvSpPr>
        <p:spPr>
          <a:xfrm>
            <a:off x="8197794" y="4923600"/>
            <a:ext cx="1521031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KVM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（内核）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027FB6B-416E-4D45-A0BD-5F9BBE0BA3A5}"/>
              </a:ext>
            </a:extLst>
          </p:cNvPr>
          <p:cNvSpPr/>
          <p:nvPr/>
        </p:nvSpPr>
        <p:spPr>
          <a:xfrm>
            <a:off x="9884890" y="2404487"/>
            <a:ext cx="914107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快照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987E90F-2AF5-41AF-B532-21FCDB3EAF52}"/>
              </a:ext>
            </a:extLst>
          </p:cNvPr>
          <p:cNvSpPr/>
          <p:nvPr/>
        </p:nvSpPr>
        <p:spPr>
          <a:xfrm>
            <a:off x="9302901" y="1430768"/>
            <a:ext cx="1233874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Cube Ops / DB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D845A14-9ED0-409B-85E9-1A0044044027}"/>
              </a:ext>
            </a:extLst>
          </p:cNvPr>
          <p:cNvSpPr/>
          <p:nvPr/>
        </p:nvSpPr>
        <p:spPr>
          <a:xfrm>
            <a:off x="10594870" y="1430768"/>
            <a:ext cx="1224476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反向代理（</a:t>
            </a:r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lua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EBA0E09-BD8D-4071-AF7C-62C02E0E86E1}"/>
              </a:ext>
            </a:extLst>
          </p:cNvPr>
          <p:cNvSpPr/>
          <p:nvPr/>
        </p:nvSpPr>
        <p:spPr>
          <a:xfrm>
            <a:off x="10092520" y="4053482"/>
            <a:ext cx="1716392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内核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BF53307-8F4A-4180-9FAB-F74B645B7E3A}"/>
              </a:ext>
            </a:extLst>
          </p:cNvPr>
          <p:cNvSpPr/>
          <p:nvPr/>
        </p:nvSpPr>
        <p:spPr>
          <a:xfrm>
            <a:off x="10092520" y="4492666"/>
            <a:ext cx="1716392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文件系统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CAD8D50-3394-4002-B44E-1613DCD1AD37}"/>
              </a:ext>
            </a:extLst>
          </p:cNvPr>
          <p:cNvSpPr/>
          <p:nvPr/>
        </p:nvSpPr>
        <p:spPr>
          <a:xfrm>
            <a:off x="10089670" y="4942690"/>
            <a:ext cx="1716392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网络设备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6E38FDE-C54E-44DA-BE3E-80EBC1499BB8}"/>
              </a:ext>
            </a:extLst>
          </p:cNvPr>
          <p:cNvSpPr/>
          <p:nvPr/>
        </p:nvSpPr>
        <p:spPr>
          <a:xfrm>
            <a:off x="8197794" y="5358659"/>
            <a:ext cx="1521031" cy="4155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Stage-2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内存管理（内核）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0D17021-2EC9-4073-94C4-0B6A8D5E525A}"/>
              </a:ext>
            </a:extLst>
          </p:cNvPr>
          <p:cNvSpPr/>
          <p:nvPr/>
        </p:nvSpPr>
        <p:spPr>
          <a:xfrm>
            <a:off x="11012557" y="3325464"/>
            <a:ext cx="885866" cy="4155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Shim</a:t>
            </a:r>
          </a:p>
        </p:txBody>
      </p:sp>
      <p:graphicFrame>
        <p:nvGraphicFramePr>
          <p:cNvPr id="56" name="表格 55">
            <a:extLst>
              <a:ext uri="{FF2B5EF4-FFF2-40B4-BE49-F238E27FC236}">
                <a16:creationId xmlns:a16="http://schemas.microsoft.com/office/drawing/2014/main" id="{38FD9C87-E208-456F-9E38-CA7988E651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886244"/>
              </p:ext>
            </p:extLst>
          </p:nvPr>
        </p:nvGraphicFramePr>
        <p:xfrm>
          <a:off x="4325880" y="1157465"/>
          <a:ext cx="3318600" cy="3712386"/>
        </p:xfrm>
        <a:graphic>
          <a:graphicData uri="http://schemas.openxmlformats.org/drawingml/2006/table">
            <a:tbl>
              <a:tblPr/>
              <a:tblGrid>
                <a:gridCol w="1169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6122">
                  <a:extLst>
                    <a:ext uri="{9D8B030D-6E8A-4147-A177-3AD203B41FA5}">
                      <a16:colId xmlns:a16="http://schemas.microsoft.com/office/drawing/2014/main" val="3072729308"/>
                    </a:ext>
                  </a:extLst>
                </a:gridCol>
                <a:gridCol w="14631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2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 err="1">
                          <a:effectLst/>
                        </a:rPr>
                        <a:t>AgentEnv</a:t>
                      </a:r>
                      <a:endParaRPr lang="zh-CN" altLang="en-US" sz="1100" dirty="0">
                        <a:effectLst/>
                      </a:endParaRPr>
                    </a:p>
                  </a:txBody>
                  <a:tcPr marL="152400" marR="152400" marT="22860" marB="22860"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>
                          <a:effectLst/>
                        </a:rPr>
                        <a:t>方向</a:t>
                      </a:r>
                    </a:p>
                  </a:txBody>
                  <a:tcPr marL="152400" marR="152400" marT="22860" marB="22860"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 err="1">
                          <a:effectLst/>
                        </a:rPr>
                        <a:t>CubeSandBox</a:t>
                      </a:r>
                      <a:endParaRPr lang="zh-CN" altLang="en-US" sz="1100" dirty="0">
                        <a:effectLst/>
                      </a:endParaRPr>
                    </a:p>
                  </a:txBody>
                  <a:tcPr marL="152400" marR="152400" marT="22860" marB="22860"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996"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effectLst/>
                        </a:rPr>
                        <a:t>Firecracker </a:t>
                      </a:r>
                      <a:r>
                        <a:rPr lang="zh-CN" altLang="en-US" sz="1000" dirty="0">
                          <a:effectLst/>
                        </a:rPr>
                        <a:t>（开源 相对简单）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effectLst/>
                        </a:rPr>
                        <a:t>VMM</a:t>
                      </a:r>
                      <a:endParaRPr lang="zh-CN" altLang="en-US" sz="1000" dirty="0">
                        <a:effectLst/>
                      </a:endParaRP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 err="1">
                          <a:effectLst/>
                        </a:rPr>
                        <a:t>CubeHypervisor</a:t>
                      </a:r>
                      <a:r>
                        <a:rPr lang="zh-CN" altLang="en-US" sz="1000" dirty="0">
                          <a:effectLst/>
                        </a:rPr>
                        <a:t>（较复杂）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304">
                <a:tc>
                  <a:txBody>
                    <a:bodyPr/>
                    <a:lstStyle/>
                    <a:p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内存 </a:t>
                      </a:r>
                      <a:r>
                        <a:rPr lang="en-US" altLang="zh-CN" sz="1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CoW</a:t>
                      </a:r>
                      <a:endParaRPr 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CoW</a:t>
                      </a: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路径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磁盘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CoW</a:t>
                      </a:r>
                      <a:endParaRPr lang="zh-CN" alt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325"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effectLst/>
                        </a:rPr>
                        <a:t>完整分布式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effectLst/>
                        </a:rPr>
                        <a:t>集群支持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effectLst/>
                        </a:rPr>
                        <a:t>单节点 需外部 </a:t>
                      </a:r>
                      <a:r>
                        <a:rPr lang="en-US" altLang="zh-CN" sz="1000" dirty="0">
                          <a:effectLst/>
                        </a:rPr>
                        <a:t>Router</a:t>
                      </a:r>
                      <a:endParaRPr lang="zh-CN" altLang="en-US" sz="1000" dirty="0">
                        <a:effectLst/>
                      </a:endParaRP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288"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boot/resume &lt;50ms、pause &lt;100ms</a:t>
                      </a:r>
                    </a:p>
                  </a:txBody>
                  <a:tcPr marL="152400" marR="152400" marT="22860" marB="22860"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公开指标</a:t>
                      </a:r>
                    </a:p>
                  </a:txBody>
                  <a:tcPr marL="152400" marR="152400" marT="22860" marB="22860"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冷启动 </a:t>
                      </a: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&lt;60ms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、单实例 </a:t>
                      </a:r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&lt;5MB</a:t>
                      </a:r>
                      <a:endParaRPr lang="zh-CN" alt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0" marR="152400" marT="22860" marB="22860"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525">
                <a:tc>
                  <a:txBody>
                    <a:bodyPr/>
                    <a:lstStyle/>
                    <a:p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支持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pause / resume</a:t>
                      </a:r>
                      <a:endParaRPr lang="zh-CN" alt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支持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2611880"/>
                  </a:ext>
                </a:extLst>
              </a:tr>
              <a:tr h="605920">
                <a:tc>
                  <a:txBody>
                    <a:bodyPr/>
                    <a:lstStyle/>
                    <a:p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虚拟化宿主端</a:t>
                      </a:r>
                      <a:endParaRPr 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Rust </a:t>
                      </a:r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位置</a:t>
                      </a: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虚拟化宿主端</a:t>
                      </a:r>
                      <a:endParaRPr lang="en-US" altLang="zh-CN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2400" marR="152400" marT="22860" marB="22860"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648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39977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C79025D-24E5-4DCA-815B-710A6B4F4623}"/>
              </a:ext>
            </a:extLst>
          </p:cNvPr>
          <p:cNvSpPr txBox="1"/>
          <p:nvPr/>
        </p:nvSpPr>
        <p:spPr>
          <a:xfrm>
            <a:off x="120354" y="246787"/>
            <a:ext cx="12071648" cy="461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034">
              <a:defRPr/>
            </a:pPr>
            <a:r>
              <a:rPr lang="zh-CN" altLang="en-US" sz="2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沙箱系统：软件生态多样，需要高并发，低时延，高密度部署，可大比例超分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EF209C6-20AD-4753-BD21-EF897B09AA7A}"/>
              </a:ext>
            </a:extLst>
          </p:cNvPr>
          <p:cNvSpPr/>
          <p:nvPr/>
        </p:nvSpPr>
        <p:spPr>
          <a:xfrm>
            <a:off x="210988" y="6319019"/>
            <a:ext cx="1705797" cy="464473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b="1" kern="0" dirty="0">
                <a:solidFill>
                  <a:srgbClr val="C00000"/>
                </a:solidFill>
                <a:latin typeface="微软雅黑" panose="020B0503020204020204" pitchFamily="34" charset="-122"/>
                <a:ea typeface="等线" panose="02010600030101010101" pitchFamily="2" charset="-122"/>
              </a:rPr>
              <a:t>王栋</a:t>
            </a:r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4B3C1F6D-8B5B-474D-A8AB-3DA6111A2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568" y="5036935"/>
            <a:ext cx="5062481" cy="1244514"/>
          </a:xfrm>
          <a:prstGeom prst="rect">
            <a:avLst/>
          </a:prstGeom>
        </p:spPr>
      </p:pic>
      <p:sp>
        <p:nvSpPr>
          <p:cNvPr id="67" name="文本框 66">
            <a:extLst>
              <a:ext uri="{FF2B5EF4-FFF2-40B4-BE49-F238E27FC236}">
                <a16:creationId xmlns:a16="http://schemas.microsoft.com/office/drawing/2014/main" id="{4B011607-FF4B-4569-81A5-7ADB336956D7}"/>
              </a:ext>
            </a:extLst>
          </p:cNvPr>
          <p:cNvSpPr txBox="1"/>
          <p:nvPr/>
        </p:nvSpPr>
        <p:spPr>
          <a:xfrm>
            <a:off x="7584371" y="4889338"/>
            <a:ext cx="40701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636" indent="-285636" defTabSz="914034">
              <a:buFont typeface="Arial" panose="020B0604020202020204" pitchFamily="34" charset="0"/>
              <a:buChar char="•"/>
              <a:defRPr/>
            </a:pPr>
            <a:r>
              <a:rPr lang="zh-CN" altLang="en-US" sz="1000" b="1" dirty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推理时延与工具时延占比约</a:t>
            </a:r>
            <a:r>
              <a:rPr lang="en-US" altLang="zh-CN" sz="1000" b="1" dirty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9:1</a:t>
            </a:r>
            <a:r>
              <a:rPr lang="zh-CN" altLang="en-US" sz="1000" b="1" dirty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，理论上可实现</a:t>
            </a:r>
            <a:r>
              <a:rPr lang="en-US" altLang="zh-CN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9x</a:t>
            </a:r>
            <a:r>
              <a:rPr lang="zh-CN" altLang="en-US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超分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646565E-1C92-4912-9CC6-D601892CC837}"/>
              </a:ext>
            </a:extLst>
          </p:cNvPr>
          <p:cNvGrpSpPr/>
          <p:nvPr/>
        </p:nvGrpSpPr>
        <p:grpSpPr>
          <a:xfrm>
            <a:off x="260191" y="844520"/>
            <a:ext cx="6528548" cy="5436809"/>
            <a:chOff x="257810" y="1111305"/>
            <a:chExt cx="6824892" cy="5170023"/>
          </a:xfrm>
        </p:grpSpPr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BEE71C73-7AF0-447F-8BDE-F6209AD27E72}"/>
                </a:ext>
              </a:extLst>
            </p:cNvPr>
            <p:cNvSpPr/>
            <p:nvPr/>
          </p:nvSpPr>
          <p:spPr>
            <a:xfrm>
              <a:off x="1224467" y="2226171"/>
              <a:ext cx="3289675" cy="616395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沙箱镜像生态</a:t>
              </a:r>
              <a:r>
                <a:rPr kumimoji="1" lang="en-US" altLang="zh-CN" sz="12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kumimoji="1" lang="en-US" altLang="zh-CN" sz="11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openEuler</a:t>
              </a:r>
              <a:r>
                <a:rPr kumimoji="1" lang="zh-CN" altLang="en-US" sz="11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提供多种</a:t>
              </a:r>
              <a:r>
                <a:rPr kumimoji="1" lang="en-US" altLang="zh-CN" sz="11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agent</a:t>
              </a:r>
              <a:r>
                <a:rPr kumimoji="1" lang="zh-CN" altLang="en-US" sz="11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类沙箱</a:t>
              </a:r>
              <a:r>
                <a:rPr kumimoji="1" lang="en-US" altLang="zh-CN" sz="12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2581F7DF-3924-41E2-B668-526E363F83D4}"/>
                </a:ext>
              </a:extLst>
            </p:cNvPr>
            <p:cNvSpPr/>
            <p:nvPr/>
          </p:nvSpPr>
          <p:spPr>
            <a:xfrm>
              <a:off x="257810" y="5640258"/>
              <a:ext cx="6822611" cy="641070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endParaRPr kumimoji="1" lang="en-US" altLang="zh-CN" sz="1399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914034">
                <a:defRPr/>
              </a:pPr>
              <a:endParaRPr kumimoji="1" lang="en-US" altLang="zh-CN" sz="1399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914034">
                <a:defRPr/>
              </a:pPr>
              <a:endParaRPr kumimoji="1" lang="en-US" altLang="zh-CN" sz="1399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28D01EED-E5DF-455A-BB2D-7FD243B33332}"/>
                </a:ext>
              </a:extLst>
            </p:cNvPr>
            <p:cNvSpPr/>
            <p:nvPr/>
          </p:nvSpPr>
          <p:spPr>
            <a:xfrm>
              <a:off x="260091" y="4620907"/>
              <a:ext cx="6822611" cy="662719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endParaRPr lang="zh-CN" altLang="en-US" sz="1399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7075AE8C-9F64-49C9-9A81-B4555331639A}"/>
                </a:ext>
              </a:extLst>
            </p:cNvPr>
            <p:cNvSpPr txBox="1"/>
            <p:nvPr/>
          </p:nvSpPr>
          <p:spPr>
            <a:xfrm>
              <a:off x="313466" y="4852658"/>
              <a:ext cx="553162" cy="2047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034">
                <a:defRPr/>
              </a:pPr>
              <a:r>
                <a:rPr kumimoji="1" lang="en-US" altLang="zh-CN" sz="1399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VMM</a:t>
              </a:r>
              <a:endParaRPr kumimoji="1" lang="zh-CN" altLang="en-US" sz="1399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263036A6-62AF-4FEC-A266-57B0AD5F6A8D}"/>
                </a:ext>
              </a:extLst>
            </p:cNvPr>
            <p:cNvSpPr/>
            <p:nvPr/>
          </p:nvSpPr>
          <p:spPr>
            <a:xfrm>
              <a:off x="1224467" y="4687717"/>
              <a:ext cx="841534" cy="53600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 err="1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Qemu</a:t>
              </a:r>
              <a:endParaRPr lang="en-US" altLang="zh-CN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9FFD7D5E-9977-4E90-B37C-A1410D2B64CA}"/>
                </a:ext>
              </a:extLst>
            </p:cNvPr>
            <p:cNvSpPr/>
            <p:nvPr/>
          </p:nvSpPr>
          <p:spPr>
            <a:xfrm>
              <a:off x="2178952" y="4692681"/>
              <a:ext cx="1100363" cy="531043"/>
            </a:xfrm>
            <a:prstGeom prst="rect">
              <a:avLst/>
            </a:prstGeom>
            <a:solidFill>
              <a:srgbClr val="FEE1C9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 err="1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Stratovirt</a:t>
              </a:r>
              <a:endParaRPr lang="en-US" altLang="zh-CN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1DF91530-6BC4-4AEC-8D65-97D7495E665D}"/>
                </a:ext>
              </a:extLst>
            </p:cNvPr>
            <p:cNvSpPr/>
            <p:nvPr/>
          </p:nvSpPr>
          <p:spPr>
            <a:xfrm>
              <a:off x="4577697" y="4692682"/>
              <a:ext cx="1156608" cy="53104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Cloud-hypervisor</a:t>
              </a:r>
              <a:endParaRPr lang="en-US" altLang="zh-CN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AA24A91D-414E-43CF-8B8B-411EEB3C1AFC}"/>
                </a:ext>
              </a:extLst>
            </p:cNvPr>
            <p:cNvSpPr/>
            <p:nvPr/>
          </p:nvSpPr>
          <p:spPr>
            <a:xfrm>
              <a:off x="3385295" y="4692681"/>
              <a:ext cx="1100363" cy="531043"/>
            </a:xfrm>
            <a:prstGeom prst="rect">
              <a:avLst/>
            </a:prstGeom>
            <a:solidFill>
              <a:srgbClr val="BEE7A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Firecracker</a:t>
              </a:r>
              <a:endParaRPr lang="en-US" altLang="zh-CN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BA117236-9177-44D8-BCF9-2C8476ECA057}"/>
                </a:ext>
              </a:extLst>
            </p:cNvPr>
            <p:cNvSpPr/>
            <p:nvPr/>
          </p:nvSpPr>
          <p:spPr>
            <a:xfrm>
              <a:off x="5833316" y="4692681"/>
              <a:ext cx="1100363" cy="53104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 err="1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gVisor</a:t>
              </a:r>
              <a:endParaRPr lang="en-US" altLang="zh-CN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0FB163BA-70A3-4DDF-BE90-C2929042ABF1}"/>
                </a:ext>
              </a:extLst>
            </p:cNvPr>
            <p:cNvSpPr/>
            <p:nvPr/>
          </p:nvSpPr>
          <p:spPr>
            <a:xfrm>
              <a:off x="257811" y="2963098"/>
              <a:ext cx="6822611" cy="665555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endParaRPr lang="zh-CN" altLang="en-US" sz="1399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1BD93D75-638E-40B7-A5B0-A9B504174FCF}"/>
                </a:ext>
              </a:extLst>
            </p:cNvPr>
            <p:cNvSpPr txBox="1"/>
            <p:nvPr/>
          </p:nvSpPr>
          <p:spPr>
            <a:xfrm>
              <a:off x="313466" y="3194562"/>
              <a:ext cx="911000" cy="2047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034">
                <a:defRPr/>
              </a:pPr>
              <a:r>
                <a:rPr kumimoji="1" lang="en-US" altLang="zh-CN" sz="1399" b="1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GuestOS</a:t>
              </a:r>
              <a:endParaRPr kumimoji="1" lang="zh-CN" altLang="en-US" sz="1399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1FACDA6A-11B4-45E5-90B2-B7A65CC8B051}"/>
                </a:ext>
              </a:extLst>
            </p:cNvPr>
            <p:cNvSpPr/>
            <p:nvPr/>
          </p:nvSpPr>
          <p:spPr>
            <a:xfrm>
              <a:off x="1225715" y="4178645"/>
              <a:ext cx="1599494" cy="35866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E2B-orchestrator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273C7045-A3FD-466A-94B1-91B04195A6F3}"/>
                </a:ext>
              </a:extLst>
            </p:cNvPr>
            <p:cNvSpPr txBox="1"/>
            <p:nvPr/>
          </p:nvSpPr>
          <p:spPr>
            <a:xfrm>
              <a:off x="308699" y="5770101"/>
              <a:ext cx="658372" cy="4095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034">
                <a:defRPr/>
              </a:pPr>
              <a:r>
                <a:rPr kumimoji="1" lang="en-US" altLang="zh-CN" sz="1399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Linux</a:t>
              </a:r>
            </a:p>
            <a:p>
              <a:pPr defTabSz="914034">
                <a:defRPr/>
              </a:pPr>
              <a:r>
                <a:rPr kumimoji="1" lang="en-US" altLang="zh-CN" sz="1399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Kernel</a:t>
              </a:r>
              <a:endParaRPr kumimoji="1" lang="zh-CN" altLang="en-US" sz="1399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682E3E43-88B9-4C46-8FC6-16C5861D19F3}"/>
                </a:ext>
              </a:extLst>
            </p:cNvPr>
            <p:cNvSpPr/>
            <p:nvPr/>
          </p:nvSpPr>
          <p:spPr>
            <a:xfrm>
              <a:off x="1224466" y="5717216"/>
              <a:ext cx="2904660" cy="42209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kumimoji="1" lang="en-US" altLang="zh-CN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KVM</a:t>
              </a:r>
            </a:p>
            <a:p>
              <a:pPr algn="ctr" defTabSz="914034">
                <a:defRPr/>
              </a:pPr>
              <a:r>
                <a:rPr kumimoji="1" lang="zh-CN" altLang="en-US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kumimoji="1" lang="en-US" altLang="zh-CN" sz="1100" b="1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vTimer</a:t>
              </a:r>
              <a:r>
                <a:rPr kumimoji="1" lang="zh-CN" altLang="en-US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kumimoji="1" lang="en-US" altLang="zh-CN" sz="1100" b="1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vIPI</a:t>
              </a:r>
              <a:r>
                <a:rPr kumimoji="1" lang="zh-CN" altLang="en-US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kumimoji="1" lang="en-US" altLang="zh-CN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…</a:t>
              </a:r>
              <a:r>
                <a:rPr kumimoji="1" lang="zh-CN" altLang="en-US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kumimoji="1" lang="en-US" altLang="zh-CN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9ECF773E-0FDE-40FB-ABC9-004C5DDA6886}"/>
                </a:ext>
              </a:extLst>
            </p:cNvPr>
            <p:cNvSpPr/>
            <p:nvPr/>
          </p:nvSpPr>
          <p:spPr>
            <a:xfrm>
              <a:off x="4395260" y="5717216"/>
              <a:ext cx="2538418" cy="42209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kumimoji="1" lang="en-US" altLang="zh-CN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PVM</a:t>
              </a:r>
            </a:p>
            <a:p>
              <a:pPr algn="ctr" defTabSz="914034">
                <a:defRPr/>
              </a:pPr>
              <a:r>
                <a:rPr kumimoji="1" lang="zh-CN" altLang="en-US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zh-CN" altLang="en-US" sz="11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影子页表</a:t>
              </a:r>
              <a:r>
                <a:rPr kumimoji="1" lang="zh-CN" altLang="en-US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1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地址空间隔离</a:t>
              </a:r>
              <a:r>
                <a:rPr kumimoji="1" lang="zh-CN" altLang="en-US" sz="11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kumimoji="1" lang="en-US" altLang="zh-CN" sz="11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…</a:t>
              </a:r>
              <a:r>
                <a:rPr kumimoji="1" lang="zh-CN" altLang="en-US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kumimoji="1" lang="en-US" altLang="zh-CN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A563A9E6-BD6A-4C4F-BCA1-4A5B0121FEC8}"/>
                </a:ext>
              </a:extLst>
            </p:cNvPr>
            <p:cNvSpPr/>
            <p:nvPr/>
          </p:nvSpPr>
          <p:spPr>
            <a:xfrm>
              <a:off x="257811" y="3721626"/>
              <a:ext cx="6822611" cy="875246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endParaRPr lang="zh-CN" altLang="en-US" sz="1399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B610C165-F1D9-4571-A019-2DDDBD9138D2}"/>
                </a:ext>
              </a:extLst>
            </p:cNvPr>
            <p:cNvSpPr txBox="1"/>
            <p:nvPr/>
          </p:nvSpPr>
          <p:spPr>
            <a:xfrm>
              <a:off x="313466" y="4005457"/>
              <a:ext cx="856593" cy="4095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034">
                <a:defRPr/>
              </a:pPr>
              <a:endParaRPr kumimoji="1" lang="en-US" altLang="zh-CN" sz="1399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defTabSz="914034">
                <a:defRPr/>
              </a:pPr>
              <a:r>
                <a:rPr kumimoji="1" lang="en-US" altLang="zh-CN" sz="1399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Runtime</a:t>
              </a:r>
              <a:endParaRPr kumimoji="1" lang="zh-CN" altLang="en-US" sz="1399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ACDE30F8-36F7-4606-8BF4-2F92F3C4473E}"/>
                </a:ext>
              </a:extLst>
            </p:cNvPr>
            <p:cNvSpPr/>
            <p:nvPr/>
          </p:nvSpPr>
          <p:spPr>
            <a:xfrm>
              <a:off x="1225715" y="3798688"/>
              <a:ext cx="5688332" cy="310729"/>
            </a:xfrm>
            <a:prstGeom prst="rect">
              <a:avLst/>
            </a:prstGeom>
            <a:solidFill>
              <a:srgbClr val="FFE2C8"/>
            </a:solidFill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lgDash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 err="1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Kube</a:t>
              </a: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-Shim (K8S</a:t>
              </a: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兼容 </a:t>
              </a: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性能优化</a:t>
              </a: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84ADB054-3CF7-41E9-8859-A136EB5885C7}"/>
                </a:ext>
              </a:extLst>
            </p:cNvPr>
            <p:cNvSpPr/>
            <p:nvPr/>
          </p:nvSpPr>
          <p:spPr>
            <a:xfrm>
              <a:off x="5134252" y="4170065"/>
              <a:ext cx="1779796" cy="37925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CubeSandbox</a:t>
              </a:r>
            </a:p>
            <a:p>
              <a:pPr algn="ctr" defTabSz="914034">
                <a:defRPr/>
              </a:pPr>
              <a:endParaRPr lang="en-US" altLang="zh-CN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BC3FC571-5188-43DC-8877-343B6266CBE6}"/>
                </a:ext>
              </a:extLst>
            </p:cNvPr>
            <p:cNvSpPr/>
            <p:nvPr/>
          </p:nvSpPr>
          <p:spPr>
            <a:xfrm>
              <a:off x="2025461" y="4383297"/>
              <a:ext cx="743109" cy="16602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kumimoji="1" lang="en-US" altLang="zh-CN" sz="9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Patch</a:t>
              </a:r>
              <a:r>
                <a:rPr kumimoji="1" lang="zh-CN" altLang="en-US" sz="9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合入</a:t>
              </a:r>
              <a:endParaRPr kumimoji="1" lang="en-US" altLang="zh-CN" sz="9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F2041F6C-BCA1-4558-B724-74414C6592B0}"/>
                </a:ext>
              </a:extLst>
            </p:cNvPr>
            <p:cNvSpPr/>
            <p:nvPr/>
          </p:nvSpPr>
          <p:spPr>
            <a:xfrm>
              <a:off x="5201492" y="4380632"/>
              <a:ext cx="743109" cy="16602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kumimoji="1" lang="en-US" altLang="zh-CN" sz="9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Patch</a:t>
              </a:r>
              <a:r>
                <a:rPr kumimoji="1" lang="zh-CN" altLang="en-US" sz="9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合入</a:t>
              </a:r>
              <a:endParaRPr kumimoji="1" lang="en-US" altLang="zh-CN" sz="9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DEA947CF-1CD0-4441-B920-15AC25610A7E}"/>
                </a:ext>
              </a:extLst>
            </p:cNvPr>
            <p:cNvSpPr/>
            <p:nvPr/>
          </p:nvSpPr>
          <p:spPr>
            <a:xfrm>
              <a:off x="4445432" y="4170065"/>
              <a:ext cx="612327" cy="37582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Kata</a:t>
              </a: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3D24A15E-9509-483F-819C-D50CDA4F6302}"/>
                </a:ext>
              </a:extLst>
            </p:cNvPr>
            <p:cNvSpPr/>
            <p:nvPr/>
          </p:nvSpPr>
          <p:spPr>
            <a:xfrm>
              <a:off x="3613677" y="4178645"/>
              <a:ext cx="723168" cy="35351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 err="1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RunD</a:t>
              </a:r>
              <a:endParaRPr lang="en-US" altLang="zh-CN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891209EE-D432-4FA2-B13E-746C9974007B}"/>
                </a:ext>
              </a:extLst>
            </p:cNvPr>
            <p:cNvSpPr/>
            <p:nvPr/>
          </p:nvSpPr>
          <p:spPr>
            <a:xfrm>
              <a:off x="2901700" y="4173502"/>
              <a:ext cx="666616" cy="35866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 err="1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runc</a:t>
              </a:r>
              <a:endParaRPr lang="en-US" altLang="zh-CN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116E4B37-A0D1-471E-B251-D0E7B2DDFA5D}"/>
                </a:ext>
              </a:extLst>
            </p:cNvPr>
            <p:cNvSpPr/>
            <p:nvPr/>
          </p:nvSpPr>
          <p:spPr>
            <a:xfrm>
              <a:off x="1477088" y="2515825"/>
              <a:ext cx="1362772" cy="330776"/>
            </a:xfrm>
            <a:prstGeom prst="rect">
              <a:avLst/>
            </a:prstGeom>
            <a:solidFill>
              <a:srgbClr val="FFE2C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快照制作工具链</a:t>
              </a:r>
              <a:endParaRPr lang="en-US" altLang="zh-CN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914034">
                <a:defRPr/>
              </a:pP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OCI-&gt;</a:t>
              </a: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快照）</a:t>
              </a:r>
              <a:endParaRPr lang="en-US" altLang="zh-CN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2354B089-183D-44A7-97DF-595A7064658D}"/>
                </a:ext>
              </a:extLst>
            </p:cNvPr>
            <p:cNvSpPr/>
            <p:nvPr/>
          </p:nvSpPr>
          <p:spPr>
            <a:xfrm>
              <a:off x="1225715" y="3143149"/>
              <a:ext cx="1459639" cy="398428"/>
            </a:xfrm>
            <a:prstGeom prst="rect">
              <a:avLst/>
            </a:prstGeom>
            <a:solidFill>
              <a:srgbClr val="BEE7A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 err="1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Debain</a:t>
              </a: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/Ubuntu</a:t>
              </a: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34C6C23E-F83C-4916-A026-3078860900E0}"/>
                </a:ext>
              </a:extLst>
            </p:cNvPr>
            <p:cNvSpPr/>
            <p:nvPr/>
          </p:nvSpPr>
          <p:spPr>
            <a:xfrm>
              <a:off x="3871505" y="3153452"/>
              <a:ext cx="1490335" cy="398428"/>
            </a:xfrm>
            <a:prstGeom prst="rect">
              <a:avLst/>
            </a:prstGeom>
            <a:solidFill>
              <a:srgbClr val="BEE7A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702" rIns="0" bIns="457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异构</a:t>
              </a: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OS</a:t>
              </a:r>
            </a:p>
            <a:p>
              <a:pPr algn="ctr" defTabSz="914034">
                <a:defRPr/>
              </a:pPr>
              <a:r>
                <a:rPr lang="zh-CN" altLang="en-US" sz="105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05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Android-Cuttlefish</a:t>
              </a:r>
              <a:r>
                <a:rPr lang="zh-CN" altLang="en-US" sz="105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en-US" altLang="zh-CN" sz="105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ADE6ABA0-0AC5-476B-BA18-47D264D6905F}"/>
                </a:ext>
              </a:extLst>
            </p:cNvPr>
            <p:cNvSpPr/>
            <p:nvPr/>
          </p:nvSpPr>
          <p:spPr>
            <a:xfrm>
              <a:off x="2909698" y="2506930"/>
              <a:ext cx="1308217" cy="335636"/>
            </a:xfrm>
            <a:prstGeom prst="rect">
              <a:avLst/>
            </a:prstGeom>
            <a:solidFill>
              <a:srgbClr val="FFE2C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ARM</a:t>
              </a: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转换</a:t>
              </a:r>
              <a:endParaRPr lang="en-US" altLang="zh-CN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914034">
                <a:defRPr/>
              </a:pP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X86-&gt;ARM</a:t>
              </a: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en-US" altLang="zh-CN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5CA5DE42-084C-4258-A54B-C115988C79E7}"/>
                </a:ext>
              </a:extLst>
            </p:cNvPr>
            <p:cNvSpPr/>
            <p:nvPr/>
          </p:nvSpPr>
          <p:spPr>
            <a:xfrm>
              <a:off x="1820723" y="3381559"/>
              <a:ext cx="836601" cy="16602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kumimoji="1" lang="zh-CN" altLang="en-US" sz="9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内核</a:t>
              </a:r>
              <a:r>
                <a:rPr kumimoji="1" lang="en-US" altLang="zh-CN" sz="9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Patch</a:t>
              </a:r>
              <a:r>
                <a:rPr kumimoji="1" lang="zh-CN" altLang="en-US" sz="9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合入</a:t>
              </a:r>
              <a:endParaRPr kumimoji="1" lang="en-US" altLang="zh-CN" sz="9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90664F66-2C5D-41E0-871E-8934C48ADD82}"/>
                </a:ext>
              </a:extLst>
            </p:cNvPr>
            <p:cNvSpPr/>
            <p:nvPr/>
          </p:nvSpPr>
          <p:spPr>
            <a:xfrm>
              <a:off x="257810" y="5355400"/>
              <a:ext cx="6822611" cy="249017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kumimoji="1" lang="zh-CN" altLang="en-US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中间件 （</a:t>
              </a:r>
              <a:r>
                <a:rPr kumimoji="1" lang="en-US" altLang="zh-CN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UBS</a:t>
              </a:r>
              <a:r>
                <a:rPr kumimoji="1" lang="zh-CN" altLang="en-US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kumimoji="1" lang="en-US" altLang="zh-CN" sz="1100" b="1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MoonCake</a:t>
              </a: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kumimoji="1" lang="en-US" altLang="zh-CN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…</a:t>
              </a:r>
              <a:r>
                <a:rPr kumimoji="1" lang="zh-CN" altLang="en-US" sz="11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kumimoji="1" lang="en-US" altLang="zh-CN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5DDE4A3A-5A80-477D-BEBE-D3A937B3C481}"/>
                </a:ext>
              </a:extLst>
            </p:cNvPr>
            <p:cNvSpPr/>
            <p:nvPr/>
          </p:nvSpPr>
          <p:spPr>
            <a:xfrm>
              <a:off x="4752195" y="2226171"/>
              <a:ext cx="2222949" cy="616395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kumimoji="1" lang="en-US" altLang="zh-CN" sz="12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Skills</a:t>
              </a:r>
              <a:r>
                <a:rPr kumimoji="1" lang="zh-CN" altLang="en-US" sz="12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层 </a:t>
              </a:r>
              <a:endParaRPr kumimoji="1" lang="en-US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914034">
                <a:defRPr/>
              </a:pPr>
              <a:r>
                <a:rPr kumimoji="1" lang="zh-CN" altLang="en-US" sz="12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（安全扫描、兼容测试）</a:t>
              </a:r>
              <a:endPara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4C7BC076-5283-43EA-84A4-3F6F68662CFE}"/>
                </a:ext>
              </a:extLst>
            </p:cNvPr>
            <p:cNvSpPr/>
            <p:nvPr/>
          </p:nvSpPr>
          <p:spPr>
            <a:xfrm>
              <a:off x="257810" y="2204279"/>
              <a:ext cx="6822611" cy="665555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endParaRPr lang="zh-CN" altLang="en-US" sz="1399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C6DAFC71-BAC6-4BF0-90A4-6914B05E2A5A}"/>
                </a:ext>
              </a:extLst>
            </p:cNvPr>
            <p:cNvSpPr txBox="1"/>
            <p:nvPr/>
          </p:nvSpPr>
          <p:spPr>
            <a:xfrm>
              <a:off x="327093" y="2415808"/>
              <a:ext cx="827535" cy="2047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034">
                <a:defRPr/>
              </a:pPr>
              <a:r>
                <a:rPr kumimoji="1" lang="zh-CN" altLang="en-US" sz="1399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镜像生态</a:t>
              </a: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6BBA9A17-C405-4733-86B5-2348E638AC2D}"/>
                </a:ext>
              </a:extLst>
            </p:cNvPr>
            <p:cNvSpPr/>
            <p:nvPr/>
          </p:nvSpPr>
          <p:spPr>
            <a:xfrm>
              <a:off x="2735292" y="3150609"/>
              <a:ext cx="1087876" cy="398428"/>
            </a:xfrm>
            <a:prstGeom prst="rect">
              <a:avLst/>
            </a:prstGeom>
            <a:solidFill>
              <a:srgbClr val="BEE7A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Other OS</a:t>
              </a: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76D8AC90-169E-4153-BB74-2BCFE4ADE163}"/>
                </a:ext>
              </a:extLst>
            </p:cNvPr>
            <p:cNvSpPr/>
            <p:nvPr/>
          </p:nvSpPr>
          <p:spPr>
            <a:xfrm>
              <a:off x="2969811" y="3378952"/>
              <a:ext cx="853358" cy="16602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kumimoji="1" lang="zh-CN" altLang="en-US" sz="9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内核</a:t>
              </a:r>
              <a:r>
                <a:rPr kumimoji="1" lang="en-US" altLang="zh-CN" sz="9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Patch</a:t>
              </a:r>
              <a:r>
                <a:rPr kumimoji="1" lang="zh-CN" altLang="en-US" sz="9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合入</a:t>
              </a:r>
              <a:endParaRPr kumimoji="1" lang="en-US" altLang="zh-CN" sz="9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8A1AF8DD-9466-42CB-A813-064A2837D39E}"/>
                </a:ext>
              </a:extLst>
            </p:cNvPr>
            <p:cNvSpPr/>
            <p:nvPr/>
          </p:nvSpPr>
          <p:spPr>
            <a:xfrm>
              <a:off x="5431591" y="3148608"/>
              <a:ext cx="1490335" cy="398428"/>
            </a:xfrm>
            <a:prstGeom prst="rect">
              <a:avLst/>
            </a:prstGeom>
            <a:solidFill>
              <a:srgbClr val="BEE7A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异构</a:t>
              </a: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OS</a:t>
              </a:r>
            </a:p>
            <a:p>
              <a:pPr algn="ctr" defTabSz="914034">
                <a:defRPr/>
              </a:pP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ARM Windows</a:t>
              </a:r>
              <a:r>
                <a:rPr lang="zh-CN" altLang="en-US" sz="11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en-US" altLang="zh-CN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C945C91E-AA7B-4894-8DCF-A647D7E5CD69}"/>
                </a:ext>
              </a:extLst>
            </p:cNvPr>
            <p:cNvSpPr/>
            <p:nvPr/>
          </p:nvSpPr>
          <p:spPr>
            <a:xfrm>
              <a:off x="6468957" y="3138817"/>
              <a:ext cx="452969" cy="16602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kumimoji="1" lang="zh-CN" altLang="en-US" sz="1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驱动</a:t>
              </a:r>
              <a:endParaRPr kumimoji="1" lang="en-US" altLang="zh-CN" sz="1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C15E5A61-15D6-464F-85BD-B9F4AF58D872}"/>
                </a:ext>
              </a:extLst>
            </p:cNvPr>
            <p:cNvSpPr/>
            <p:nvPr/>
          </p:nvSpPr>
          <p:spPr>
            <a:xfrm>
              <a:off x="4824743" y="3145206"/>
              <a:ext cx="535993" cy="16602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r>
                <a:rPr kumimoji="1" lang="zh-CN" altLang="en-US" sz="1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渲染加速</a:t>
              </a:r>
              <a:endParaRPr kumimoji="1" lang="en-US" altLang="zh-CN" sz="1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3" name="连接符: 曲线 82">
              <a:extLst>
                <a:ext uri="{FF2B5EF4-FFF2-40B4-BE49-F238E27FC236}">
                  <a16:creationId xmlns:a16="http://schemas.microsoft.com/office/drawing/2014/main" id="{46F1B5AD-121C-4FF6-9848-85F9B220D39C}"/>
                </a:ext>
              </a:extLst>
            </p:cNvPr>
            <p:cNvCxnSpPr>
              <a:cxnSpLocks/>
              <a:stCxn id="49" idx="2"/>
              <a:endCxn id="53" idx="1"/>
            </p:cNvCxnSpPr>
            <p:nvPr/>
          </p:nvCxnSpPr>
          <p:spPr>
            <a:xfrm rot="5400000">
              <a:off x="1680614" y="2986711"/>
              <a:ext cx="617971" cy="337752"/>
            </a:xfrm>
            <a:prstGeom prst="curvedConnector4">
              <a:avLst>
                <a:gd name="adj1" fmla="val 43283"/>
                <a:gd name="adj2" fmla="val 170755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连接符: 曲线 84">
              <a:extLst>
                <a:ext uri="{FF2B5EF4-FFF2-40B4-BE49-F238E27FC236}">
                  <a16:creationId xmlns:a16="http://schemas.microsoft.com/office/drawing/2014/main" id="{2DF24A61-693F-4FB5-8698-81C14CC42A9C}"/>
                </a:ext>
              </a:extLst>
            </p:cNvPr>
            <p:cNvCxnSpPr>
              <a:cxnSpLocks/>
              <a:stCxn id="49" idx="2"/>
              <a:endCxn id="78" idx="0"/>
            </p:cNvCxnSpPr>
            <p:nvPr/>
          </p:nvCxnSpPr>
          <p:spPr>
            <a:xfrm rot="16200000" flipH="1">
              <a:off x="2511307" y="2493768"/>
              <a:ext cx="532350" cy="1238015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2F34B4D4-74B5-43B5-BE90-D1672A858B4E}"/>
                </a:ext>
              </a:extLst>
            </p:cNvPr>
            <p:cNvSpPr/>
            <p:nvPr/>
          </p:nvSpPr>
          <p:spPr>
            <a:xfrm>
              <a:off x="1224467" y="1173420"/>
              <a:ext cx="1859523" cy="902570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12">
                <a:defRPr/>
              </a:pPr>
              <a:r>
                <a:rPr lang="zh-CN" altLang="en-US" sz="1200" b="1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用户级沙箱负载</a:t>
              </a:r>
              <a:endParaRPr lang="en-US" altLang="zh-CN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914112">
                <a:defRPr/>
              </a:pPr>
              <a:r>
                <a:rPr lang="zh-CN" altLang="en-US" sz="12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如每用户</a:t>
              </a:r>
              <a:r>
                <a:rPr lang="en-US" altLang="zh-CN" sz="1200" dirty="0" err="1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Openclaw</a:t>
              </a:r>
              <a:r>
                <a:rPr lang="zh-CN" altLang="en-US" sz="12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、长期开发者环境</a:t>
              </a:r>
              <a:endParaRPr lang="en-US" altLang="zh-CN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45EEC0E3-8A30-4909-8D35-09960FCCBE0E}"/>
                </a:ext>
              </a:extLst>
            </p:cNvPr>
            <p:cNvSpPr/>
            <p:nvPr/>
          </p:nvSpPr>
          <p:spPr>
            <a:xfrm>
              <a:off x="3171070" y="1173420"/>
              <a:ext cx="1859523" cy="902570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12">
                <a:defRPr/>
              </a:pPr>
              <a:r>
                <a:rPr lang="zh-CN" altLang="en-US" sz="1200" b="1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会话级沙箱负载</a:t>
              </a:r>
              <a:endParaRPr lang="en-US" altLang="zh-CN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914112">
                <a:defRPr/>
              </a:pPr>
              <a:r>
                <a:rPr lang="zh-CN" altLang="en-US" sz="12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</a:t>
              </a:r>
              <a:r>
                <a:rPr lang="en-US" altLang="zh-CN" sz="12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Browser Use</a:t>
              </a:r>
              <a:r>
                <a:rPr lang="zh-CN" altLang="en-US" sz="12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、多轮数据分析等</a:t>
              </a:r>
              <a:endParaRPr lang="en-US" altLang="zh-CN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4F0A0A6A-FCFA-4464-8F96-A49FA052EC28}"/>
                </a:ext>
              </a:extLst>
            </p:cNvPr>
            <p:cNvSpPr/>
            <p:nvPr/>
          </p:nvSpPr>
          <p:spPr>
            <a:xfrm>
              <a:off x="5117673" y="1173420"/>
              <a:ext cx="1857471" cy="902570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12">
                <a:defRPr/>
              </a:pPr>
              <a:r>
                <a:rPr lang="zh-CN" altLang="en-US" sz="1200" b="1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任务级沙箱负载</a:t>
              </a:r>
              <a:endParaRPr lang="en-US" altLang="zh-CN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914112">
                <a:defRPr/>
              </a:pPr>
              <a:r>
                <a:rPr lang="zh-CN" altLang="en-US" sz="12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纯单次 </a:t>
              </a:r>
              <a:r>
                <a:rPr lang="en-US" altLang="zh-CN" sz="12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Code Interpreter</a:t>
              </a:r>
              <a:r>
                <a:rPr lang="zh-CN" altLang="en-US" sz="12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、一次性脚本执行</a:t>
              </a:r>
              <a:endParaRPr lang="en-US" altLang="zh-CN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446A8A45-35DB-4293-9EFD-EED7B212E135}"/>
                </a:ext>
              </a:extLst>
            </p:cNvPr>
            <p:cNvSpPr/>
            <p:nvPr/>
          </p:nvSpPr>
          <p:spPr>
            <a:xfrm>
              <a:off x="257810" y="1111305"/>
              <a:ext cx="6822611" cy="1026801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endParaRPr lang="zh-CN" altLang="en-US" sz="1399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5645B5B5-F6C2-4337-AEAA-3385DE784917}"/>
                </a:ext>
              </a:extLst>
            </p:cNvPr>
            <p:cNvSpPr txBox="1"/>
            <p:nvPr/>
          </p:nvSpPr>
          <p:spPr>
            <a:xfrm>
              <a:off x="308699" y="1522881"/>
              <a:ext cx="827535" cy="2047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034">
                <a:defRPr/>
              </a:pPr>
              <a:r>
                <a:rPr kumimoji="1" lang="zh-CN" altLang="en-US" sz="1399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沙箱负载</a:t>
              </a: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BBE9AD57-CB74-48A1-8694-5445C6D7BCE8}"/>
              </a:ext>
            </a:extLst>
          </p:cNvPr>
          <p:cNvGrpSpPr/>
          <p:nvPr/>
        </p:nvGrpSpPr>
        <p:grpSpPr>
          <a:xfrm>
            <a:off x="7101787" y="2856474"/>
            <a:ext cx="2359775" cy="1622553"/>
            <a:chOff x="294433" y="1667242"/>
            <a:chExt cx="4710904" cy="2623505"/>
          </a:xfrm>
        </p:grpSpPr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A3C0CC09-3A7D-436B-B387-A0F82805933D}"/>
                </a:ext>
              </a:extLst>
            </p:cNvPr>
            <p:cNvGrpSpPr/>
            <p:nvPr/>
          </p:nvGrpSpPr>
          <p:grpSpPr>
            <a:xfrm>
              <a:off x="294433" y="1667242"/>
              <a:ext cx="4710904" cy="1718207"/>
              <a:chOff x="4472193" y="3078111"/>
              <a:chExt cx="6088091" cy="1375048"/>
            </a:xfrm>
          </p:grpSpPr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39BCF10D-D370-4737-A7F6-AF03BC436EB2}"/>
                  </a:ext>
                </a:extLst>
              </p:cNvPr>
              <p:cNvSpPr txBox="1"/>
              <p:nvPr/>
            </p:nvSpPr>
            <p:spPr>
              <a:xfrm>
                <a:off x="4472193" y="3437610"/>
                <a:ext cx="6088091" cy="101554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marL="71971" indent="-71971" defTabSz="914034">
                  <a:buFontTx/>
                  <a:buAutoNum type="arabicPeriod"/>
                  <a:defRPr/>
                </a:pPr>
                <a:r>
                  <a:rPr lang="zh-CN" altLang="en-US" sz="9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同一个服务的不同沙箱，内存相似度高达</a:t>
                </a:r>
                <a:r>
                  <a:rPr lang="en-US" altLang="zh-CN" sz="9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90%</a:t>
                </a:r>
                <a:r>
                  <a:rPr lang="zh-CN" altLang="en-US" sz="9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9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71971" indent="-71971" defTabSz="914034">
                  <a:buFontTx/>
                  <a:buAutoNum type="arabicPeriod"/>
                  <a:defRPr/>
                </a:pPr>
                <a:r>
                  <a:rPr lang="zh-CN" altLang="en-US" sz="9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不同服务的沙箱，内存相似度也高达</a:t>
                </a:r>
                <a:r>
                  <a:rPr lang="en-US" altLang="zh-CN" sz="9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70%</a:t>
                </a:r>
                <a:r>
                  <a:rPr lang="zh-CN" altLang="en-US" sz="9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9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71971" indent="-71971" defTabSz="914034">
                  <a:buFontTx/>
                  <a:buAutoNum type="arabicPeriod"/>
                  <a:defRPr/>
                </a:pPr>
                <a:r>
                  <a:rPr lang="zh-CN" altLang="en-US" sz="9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即使开启</a:t>
                </a:r>
                <a:r>
                  <a:rPr lang="en-US" altLang="zh-CN" sz="9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ASLR</a:t>
                </a:r>
                <a:r>
                  <a:rPr lang="zh-CN" altLang="en-US" sz="9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，内存相似度也有超过</a:t>
                </a:r>
                <a:r>
                  <a:rPr lang="en-US" altLang="zh-CN" sz="9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60%</a:t>
                </a:r>
                <a:r>
                  <a:rPr lang="zh-CN" altLang="en-US" sz="9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9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3151C5B8-134B-4A95-8AF4-7383418C9D3A}"/>
                  </a:ext>
                </a:extLst>
              </p:cNvPr>
              <p:cNvSpPr txBox="1"/>
              <p:nvPr/>
            </p:nvSpPr>
            <p:spPr>
              <a:xfrm>
                <a:off x="6037516" y="3078111"/>
                <a:ext cx="3215605" cy="316785"/>
              </a:xfrm>
              <a:prstGeom prst="rect">
                <a:avLst/>
              </a:prstGeom>
              <a:solidFill>
                <a:srgbClr val="4573C5"/>
              </a:solidFill>
            </p:spPr>
            <p:txBody>
              <a:bodyPr wrap="square" rtlCol="0" anchor="ctr">
                <a:noAutofit/>
              </a:bodyPr>
              <a:lstStyle/>
              <a:p>
                <a:pPr algn="ctr" defTabSz="914034">
                  <a:defRPr/>
                </a:pPr>
                <a:r>
                  <a:rPr lang="zh-CN" altLang="en-US" sz="1000" b="1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沙箱内存相似度高</a:t>
                </a:r>
              </a:p>
            </p:txBody>
          </p:sp>
        </p:grpSp>
        <p:pic>
          <p:nvPicPr>
            <p:cNvPr id="76" name="图片 75">
              <a:extLst>
                <a:ext uri="{FF2B5EF4-FFF2-40B4-BE49-F238E27FC236}">
                  <a16:creationId xmlns:a16="http://schemas.microsoft.com/office/drawing/2014/main" id="{34680E52-1AC8-43DD-A989-6F2B8BBAC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3300" y="3518127"/>
              <a:ext cx="4311114" cy="772620"/>
            </a:xfrm>
            <a:prstGeom prst="rect">
              <a:avLst/>
            </a:prstGeom>
          </p:spPr>
        </p:pic>
      </p:grp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520C48A6-9518-4E56-97AD-5259E5E8C4BA}"/>
              </a:ext>
            </a:extLst>
          </p:cNvPr>
          <p:cNvSpPr/>
          <p:nvPr/>
        </p:nvSpPr>
        <p:spPr>
          <a:xfrm>
            <a:off x="6913568" y="1011494"/>
            <a:ext cx="5062481" cy="1562526"/>
          </a:xfrm>
          <a:prstGeom prst="roundRect">
            <a:avLst>
              <a:gd name="adj" fmla="val 6246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endParaRPr lang="zh-CN" altLang="en-US" sz="1799">
              <a:solidFill>
                <a:srgbClr val="666666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4B587220-A6D1-49C2-A6CC-0437819BF065}"/>
              </a:ext>
            </a:extLst>
          </p:cNvPr>
          <p:cNvSpPr txBox="1"/>
          <p:nvPr/>
        </p:nvSpPr>
        <p:spPr>
          <a:xfrm>
            <a:off x="8173741" y="850585"/>
            <a:ext cx="2850632" cy="276999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 defTabSz="914034">
              <a:defRPr/>
            </a:pPr>
            <a:r>
              <a:rPr lang="zh-CN" altLang="en-US" sz="1200" b="1" dirty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高并发调度（</a:t>
            </a:r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万级并发 </a:t>
            </a:r>
            <a:r>
              <a:rPr kumimoji="1" lang="en-US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10</a:t>
            </a:r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</a:t>
            </a:r>
            <a:r>
              <a:rPr kumimoji="1" lang="en-US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级缓存）</a:t>
            </a:r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44F275C2-A5A4-48EC-A7FF-3537A09C256D}"/>
              </a:ext>
            </a:extLst>
          </p:cNvPr>
          <p:cNvSpPr/>
          <p:nvPr/>
        </p:nvSpPr>
        <p:spPr>
          <a:xfrm>
            <a:off x="6913568" y="2714199"/>
            <a:ext cx="5062481" cy="1821026"/>
          </a:xfrm>
          <a:prstGeom prst="roundRect">
            <a:avLst>
              <a:gd name="adj" fmla="val 4287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endParaRPr lang="zh-CN" altLang="en-US" sz="1799">
              <a:solidFill>
                <a:srgbClr val="666666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0730081C-F78E-45EB-A661-164C0C8ABB11}"/>
              </a:ext>
            </a:extLst>
          </p:cNvPr>
          <p:cNvSpPr txBox="1"/>
          <p:nvPr/>
        </p:nvSpPr>
        <p:spPr>
          <a:xfrm>
            <a:off x="8338516" y="2579029"/>
            <a:ext cx="2521085" cy="276999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 defTabSz="914034">
              <a:defRPr/>
            </a:pPr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低时延、高密度、轻量级分叉回滚</a:t>
            </a:r>
            <a:endParaRPr kumimoji="1"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1C96E032-11A6-4E5F-BD83-42D30E9473A7}"/>
              </a:ext>
            </a:extLst>
          </p:cNvPr>
          <p:cNvSpPr/>
          <p:nvPr/>
        </p:nvSpPr>
        <p:spPr>
          <a:xfrm>
            <a:off x="10455095" y="3222596"/>
            <a:ext cx="908909" cy="738871"/>
          </a:xfrm>
          <a:prstGeom prst="rect">
            <a:avLst/>
          </a:prstGeom>
          <a:noFill/>
          <a:ln w="952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200">
              <a:solidFill>
                <a:srgbClr val="666666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999B3D97-68D4-4E85-88A5-B8BE1EC90FE8}"/>
              </a:ext>
            </a:extLst>
          </p:cNvPr>
          <p:cNvSpPr txBox="1"/>
          <p:nvPr/>
        </p:nvSpPr>
        <p:spPr>
          <a:xfrm>
            <a:off x="9638213" y="3893579"/>
            <a:ext cx="971633" cy="194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034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5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实例级沙箱管理</a:t>
            </a:r>
            <a:endParaRPr lang="en-US" altLang="zh-CN" sz="5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C2CED062-B659-436C-A5D3-2701D72C02F6}"/>
              </a:ext>
            </a:extLst>
          </p:cNvPr>
          <p:cNvSpPr txBox="1"/>
          <p:nvPr/>
        </p:nvSpPr>
        <p:spPr>
          <a:xfrm>
            <a:off x="10621195" y="3893634"/>
            <a:ext cx="1102715" cy="194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034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5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操作级沙箱管理</a:t>
            </a:r>
            <a:endParaRPr lang="en-US" altLang="zh-CN" sz="5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96756634-DF83-4FFF-8FCA-05927802922D}"/>
              </a:ext>
            </a:extLst>
          </p:cNvPr>
          <p:cNvGrpSpPr/>
          <p:nvPr/>
        </p:nvGrpSpPr>
        <p:grpSpPr>
          <a:xfrm>
            <a:off x="9880555" y="3084910"/>
            <a:ext cx="595238" cy="882058"/>
            <a:chOff x="9844542" y="3149905"/>
            <a:chExt cx="466085" cy="882058"/>
          </a:xfrm>
        </p:grpSpPr>
        <p:cxnSp>
          <p:nvCxnSpPr>
            <p:cNvPr id="128" name="直接箭头连接符 127">
              <a:extLst>
                <a:ext uri="{FF2B5EF4-FFF2-40B4-BE49-F238E27FC236}">
                  <a16:creationId xmlns:a16="http://schemas.microsoft.com/office/drawing/2014/main" id="{BFA2353A-18A4-4E34-8300-3B2D56A5F0A6}"/>
                </a:ext>
              </a:extLst>
            </p:cNvPr>
            <p:cNvCxnSpPr>
              <a:cxnSpLocks/>
              <a:endCxn id="145" idx="0"/>
            </p:cNvCxnSpPr>
            <p:nvPr/>
          </p:nvCxnSpPr>
          <p:spPr>
            <a:xfrm>
              <a:off x="9991818" y="3489762"/>
              <a:ext cx="65" cy="115852"/>
            </a:xfrm>
            <a:prstGeom prst="straightConnector1">
              <a:avLst/>
            </a:prstGeom>
            <a:ln w="6350">
              <a:solidFill>
                <a:srgbClr val="0070C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椭圆 129">
              <a:extLst>
                <a:ext uri="{FF2B5EF4-FFF2-40B4-BE49-F238E27FC236}">
                  <a16:creationId xmlns:a16="http://schemas.microsoft.com/office/drawing/2014/main" id="{F6CB489E-3782-41D1-9B36-DF255443589D}"/>
                </a:ext>
              </a:extLst>
            </p:cNvPr>
            <p:cNvSpPr/>
            <p:nvPr/>
          </p:nvSpPr>
          <p:spPr>
            <a:xfrm rot="16200000">
              <a:off x="10171883" y="3219497"/>
              <a:ext cx="94536" cy="182952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 dirty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131" name="直接箭头连接符 130">
              <a:extLst>
                <a:ext uri="{FF2B5EF4-FFF2-40B4-BE49-F238E27FC236}">
                  <a16:creationId xmlns:a16="http://schemas.microsoft.com/office/drawing/2014/main" id="{CDCA6B73-8D6A-4A06-B28C-D3DA9CC27D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42110" y="3362071"/>
              <a:ext cx="1" cy="53399"/>
            </a:xfrm>
            <a:prstGeom prst="straightConnector1">
              <a:avLst/>
            </a:prstGeom>
            <a:ln w="6350">
              <a:solidFill>
                <a:srgbClr val="C0000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E2968DB5-A644-4B4A-9AEC-BD849D4DEE6E}"/>
                </a:ext>
              </a:extLst>
            </p:cNvPr>
            <p:cNvSpPr/>
            <p:nvPr/>
          </p:nvSpPr>
          <p:spPr>
            <a:xfrm rot="5400000">
              <a:off x="10184338" y="3398721"/>
              <a:ext cx="69628" cy="116283"/>
            </a:xfrm>
            <a:prstGeom prst="rect">
              <a:avLst/>
            </a:prstGeom>
            <a:solidFill>
              <a:srgbClr val="92C37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A0D62F10-E9CD-4F44-BB4A-026D03C4CE4A}"/>
                </a:ext>
              </a:extLst>
            </p:cNvPr>
            <p:cNvSpPr/>
            <p:nvPr/>
          </p:nvSpPr>
          <p:spPr>
            <a:xfrm rot="5400000">
              <a:off x="10183280" y="3582287"/>
              <a:ext cx="69628" cy="116283"/>
            </a:xfrm>
            <a:prstGeom prst="rect">
              <a:avLst/>
            </a:prstGeom>
            <a:solidFill>
              <a:srgbClr val="92C37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34" name="矩形 133">
              <a:extLst>
                <a:ext uri="{FF2B5EF4-FFF2-40B4-BE49-F238E27FC236}">
                  <a16:creationId xmlns:a16="http://schemas.microsoft.com/office/drawing/2014/main" id="{12413C86-BA70-49C2-A5D6-9B27DFB67E4A}"/>
                </a:ext>
              </a:extLst>
            </p:cNvPr>
            <p:cNvSpPr/>
            <p:nvPr/>
          </p:nvSpPr>
          <p:spPr>
            <a:xfrm rot="5400000">
              <a:off x="10183029" y="3756327"/>
              <a:ext cx="69628" cy="116784"/>
            </a:xfrm>
            <a:prstGeom prst="rect">
              <a:avLst/>
            </a:prstGeom>
            <a:solidFill>
              <a:srgbClr val="92C37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DD2D2AF1-4403-4A89-821E-AB52FC49F262}"/>
                </a:ext>
              </a:extLst>
            </p:cNvPr>
            <p:cNvCxnSpPr>
              <a:cxnSpLocks/>
              <a:stCxn id="130" idx="2"/>
              <a:endCxn id="132" idx="1"/>
            </p:cNvCxnSpPr>
            <p:nvPr/>
          </p:nvCxnSpPr>
          <p:spPr>
            <a:xfrm>
              <a:off x="10219151" y="3358241"/>
              <a:ext cx="0" cy="63808"/>
            </a:xfrm>
            <a:prstGeom prst="line">
              <a:avLst/>
            </a:prstGeom>
            <a:ln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A842972A-3F26-4E29-9EEA-56E394292FF3}"/>
                </a:ext>
              </a:extLst>
            </p:cNvPr>
            <p:cNvCxnSpPr>
              <a:cxnSpLocks/>
              <a:endCxn id="133" idx="3"/>
            </p:cNvCxnSpPr>
            <p:nvPr/>
          </p:nvCxnSpPr>
          <p:spPr>
            <a:xfrm flipH="1" flipV="1">
              <a:off x="10218093" y="3675243"/>
              <a:ext cx="901" cy="102855"/>
            </a:xfrm>
            <a:prstGeom prst="line">
              <a:avLst/>
            </a:prstGeom>
            <a:ln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箭头连接符 136">
              <a:extLst>
                <a:ext uri="{FF2B5EF4-FFF2-40B4-BE49-F238E27FC236}">
                  <a16:creationId xmlns:a16="http://schemas.microsoft.com/office/drawing/2014/main" id="{9305A5B9-C314-487D-858E-F66156682E86}"/>
                </a:ext>
              </a:extLst>
            </p:cNvPr>
            <p:cNvCxnSpPr>
              <a:cxnSpLocks/>
            </p:cNvCxnSpPr>
            <p:nvPr/>
          </p:nvCxnSpPr>
          <p:spPr>
            <a:xfrm>
              <a:off x="10249249" y="3497520"/>
              <a:ext cx="0" cy="103711"/>
            </a:xfrm>
            <a:prstGeom prst="straightConnector1">
              <a:avLst/>
            </a:prstGeom>
            <a:ln w="6350">
              <a:solidFill>
                <a:srgbClr val="C0000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箭头连接符 137">
              <a:extLst>
                <a:ext uri="{FF2B5EF4-FFF2-40B4-BE49-F238E27FC236}">
                  <a16:creationId xmlns:a16="http://schemas.microsoft.com/office/drawing/2014/main" id="{97146EFD-D768-4AF8-AB4F-B3255BFCE5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48001" y="3675243"/>
              <a:ext cx="1" cy="104375"/>
            </a:xfrm>
            <a:prstGeom prst="straightConnector1">
              <a:avLst/>
            </a:prstGeom>
            <a:ln w="6350">
              <a:solidFill>
                <a:srgbClr val="C0000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D87CECDB-B0AE-4676-8BC5-6E11748D750B}"/>
                </a:ext>
              </a:extLst>
            </p:cNvPr>
            <p:cNvSpPr txBox="1"/>
            <p:nvPr/>
          </p:nvSpPr>
          <p:spPr>
            <a:xfrm>
              <a:off x="10184601" y="3284062"/>
              <a:ext cx="75311" cy="461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3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input</a:t>
              </a:r>
              <a:endParaRPr kumimoji="1" lang="zh-CN" altLang="en-US" sz="3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cxnSp>
          <p:nvCxnSpPr>
            <p:cNvPr id="140" name="直接连接符 139">
              <a:extLst>
                <a:ext uri="{FF2B5EF4-FFF2-40B4-BE49-F238E27FC236}">
                  <a16:creationId xmlns:a16="http://schemas.microsoft.com/office/drawing/2014/main" id="{4C464457-E3B3-409A-882F-E50C904CE4B5}"/>
                </a:ext>
              </a:extLst>
            </p:cNvPr>
            <p:cNvCxnSpPr>
              <a:cxnSpLocks/>
              <a:stCxn id="133" idx="1"/>
              <a:endCxn id="132" idx="3"/>
            </p:cNvCxnSpPr>
            <p:nvPr/>
          </p:nvCxnSpPr>
          <p:spPr>
            <a:xfrm flipV="1">
              <a:off x="10218093" y="3491677"/>
              <a:ext cx="1058" cy="113939"/>
            </a:xfrm>
            <a:prstGeom prst="line">
              <a:avLst/>
            </a:prstGeom>
            <a:ln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矩形 140">
              <a:extLst>
                <a:ext uri="{FF2B5EF4-FFF2-40B4-BE49-F238E27FC236}">
                  <a16:creationId xmlns:a16="http://schemas.microsoft.com/office/drawing/2014/main" id="{0614F0B1-1787-4598-A565-678F99D4A747}"/>
                </a:ext>
              </a:extLst>
            </p:cNvPr>
            <p:cNvSpPr/>
            <p:nvPr/>
          </p:nvSpPr>
          <p:spPr>
            <a:xfrm rot="5400000">
              <a:off x="10215101" y="3786435"/>
              <a:ext cx="65798" cy="58212"/>
            </a:xfrm>
            <a:prstGeom prst="rect">
              <a:avLst/>
            </a:prstGeom>
            <a:solidFill>
              <a:srgbClr val="FEDADA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43" name="矩形: 圆角 142">
              <a:extLst>
                <a:ext uri="{FF2B5EF4-FFF2-40B4-BE49-F238E27FC236}">
                  <a16:creationId xmlns:a16="http://schemas.microsoft.com/office/drawing/2014/main" id="{9E1C52B8-10D0-469B-8318-3AB66387FC4D}"/>
                </a:ext>
              </a:extLst>
            </p:cNvPr>
            <p:cNvSpPr/>
            <p:nvPr/>
          </p:nvSpPr>
          <p:spPr>
            <a:xfrm>
              <a:off x="9946148" y="3423964"/>
              <a:ext cx="99868" cy="65798"/>
            </a:xfrm>
            <a:prstGeom prst="roundRect">
              <a:avLst/>
            </a:prstGeom>
            <a:noFill/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144" name="直接连接符 143">
              <a:extLst>
                <a:ext uri="{FF2B5EF4-FFF2-40B4-BE49-F238E27FC236}">
                  <a16:creationId xmlns:a16="http://schemas.microsoft.com/office/drawing/2014/main" id="{C2D56418-6F2F-48FC-BA64-9F6E1A56FAFC}"/>
                </a:ext>
              </a:extLst>
            </p:cNvPr>
            <p:cNvCxnSpPr>
              <a:cxnSpLocks/>
              <a:stCxn id="143" idx="3"/>
              <a:endCxn id="132" idx="2"/>
            </p:cNvCxnSpPr>
            <p:nvPr/>
          </p:nvCxnSpPr>
          <p:spPr>
            <a:xfrm flipV="1">
              <a:off x="10046016" y="3456863"/>
              <a:ext cx="114994" cy="0"/>
            </a:xfrm>
            <a:prstGeom prst="line">
              <a:avLst/>
            </a:prstGeom>
            <a:ln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矩形: 圆角 144">
              <a:extLst>
                <a:ext uri="{FF2B5EF4-FFF2-40B4-BE49-F238E27FC236}">
                  <a16:creationId xmlns:a16="http://schemas.microsoft.com/office/drawing/2014/main" id="{1FBB4E7F-14BF-4846-A0CB-F5CFDCAD878B}"/>
                </a:ext>
              </a:extLst>
            </p:cNvPr>
            <p:cNvSpPr/>
            <p:nvPr/>
          </p:nvSpPr>
          <p:spPr>
            <a:xfrm>
              <a:off x="9941949" y="3605614"/>
              <a:ext cx="99868" cy="65798"/>
            </a:xfrm>
            <a:prstGeom prst="roundRect">
              <a:avLst/>
            </a:prstGeom>
            <a:noFill/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57AE64FB-5C47-4CF0-93C0-A0F1B593B62D}"/>
                </a:ext>
              </a:extLst>
            </p:cNvPr>
            <p:cNvCxnSpPr>
              <a:cxnSpLocks/>
              <a:stCxn id="145" idx="3"/>
            </p:cNvCxnSpPr>
            <p:nvPr/>
          </p:nvCxnSpPr>
          <p:spPr>
            <a:xfrm flipV="1">
              <a:off x="10041817" y="3638512"/>
              <a:ext cx="114994" cy="0"/>
            </a:xfrm>
            <a:prstGeom prst="line">
              <a:avLst/>
            </a:prstGeom>
            <a:ln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矩形: 圆角 146">
              <a:extLst>
                <a:ext uri="{FF2B5EF4-FFF2-40B4-BE49-F238E27FC236}">
                  <a16:creationId xmlns:a16="http://schemas.microsoft.com/office/drawing/2014/main" id="{B4E3EC9F-433A-41F2-841B-15FD5E2E4005}"/>
                </a:ext>
              </a:extLst>
            </p:cNvPr>
            <p:cNvSpPr/>
            <p:nvPr/>
          </p:nvSpPr>
          <p:spPr>
            <a:xfrm>
              <a:off x="9941949" y="3777667"/>
              <a:ext cx="99868" cy="65798"/>
            </a:xfrm>
            <a:prstGeom prst="roundRect">
              <a:avLst/>
            </a:prstGeom>
            <a:noFill/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640C0DBE-5264-4DD7-B51D-D3120720297D}"/>
                </a:ext>
              </a:extLst>
            </p:cNvPr>
            <p:cNvCxnSpPr>
              <a:cxnSpLocks/>
              <a:stCxn id="147" idx="3"/>
            </p:cNvCxnSpPr>
            <p:nvPr/>
          </p:nvCxnSpPr>
          <p:spPr>
            <a:xfrm flipV="1">
              <a:off x="10041817" y="3810566"/>
              <a:ext cx="114994" cy="0"/>
            </a:xfrm>
            <a:prstGeom prst="line">
              <a:avLst/>
            </a:prstGeom>
            <a:ln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CA1F015A-84A0-49BA-8BE5-C84E6F52938D}"/>
                </a:ext>
              </a:extLst>
            </p:cNvPr>
            <p:cNvSpPr txBox="1"/>
            <p:nvPr/>
          </p:nvSpPr>
          <p:spPr>
            <a:xfrm>
              <a:off x="9844542" y="3149905"/>
              <a:ext cx="451617" cy="1941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034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沙箱实例</a:t>
              </a:r>
              <a:endParaRPr lang="en-US" altLang="zh-CN" sz="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F295814D-E975-4BA1-8D74-6D5060E8B6A9}"/>
                </a:ext>
              </a:extLst>
            </p:cNvPr>
            <p:cNvSpPr txBox="1"/>
            <p:nvPr/>
          </p:nvSpPr>
          <p:spPr>
            <a:xfrm>
              <a:off x="9878728" y="3247227"/>
              <a:ext cx="334934" cy="1941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034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启动</a:t>
              </a:r>
              <a:endParaRPr lang="en-US" altLang="zh-CN" sz="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文本框 150">
              <a:extLst>
                <a:ext uri="{FF2B5EF4-FFF2-40B4-BE49-F238E27FC236}">
                  <a16:creationId xmlns:a16="http://schemas.microsoft.com/office/drawing/2014/main" id="{E2A86222-561D-49D7-BBE0-D9DFB25D2C3E}"/>
                </a:ext>
              </a:extLst>
            </p:cNvPr>
            <p:cNvSpPr txBox="1"/>
            <p:nvPr/>
          </p:nvSpPr>
          <p:spPr>
            <a:xfrm>
              <a:off x="9883045" y="3837807"/>
              <a:ext cx="249950" cy="1941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034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注销</a:t>
              </a:r>
              <a:endParaRPr lang="en-US" altLang="zh-CN" sz="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矩形: 圆角 151">
              <a:extLst>
                <a:ext uri="{FF2B5EF4-FFF2-40B4-BE49-F238E27FC236}">
                  <a16:creationId xmlns:a16="http://schemas.microsoft.com/office/drawing/2014/main" id="{575FD4AF-047A-4522-BC73-8FAC6B61FCE9}"/>
                </a:ext>
              </a:extLst>
            </p:cNvPr>
            <p:cNvSpPr/>
            <p:nvPr/>
          </p:nvSpPr>
          <p:spPr>
            <a:xfrm>
              <a:off x="9883045" y="3406593"/>
              <a:ext cx="219132" cy="469182"/>
            </a:xfrm>
            <a:prstGeom prst="roundRect">
              <a:avLst/>
            </a:prstGeom>
            <a:noFill/>
            <a:ln w="31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158" name="直接箭头连接符 157">
              <a:extLst>
                <a:ext uri="{FF2B5EF4-FFF2-40B4-BE49-F238E27FC236}">
                  <a16:creationId xmlns:a16="http://schemas.microsoft.com/office/drawing/2014/main" id="{B56E0A6D-F7A4-4F14-A219-28334B279A91}"/>
                </a:ext>
              </a:extLst>
            </p:cNvPr>
            <p:cNvCxnSpPr>
              <a:cxnSpLocks/>
              <a:stCxn id="145" idx="2"/>
              <a:endCxn id="147" idx="0"/>
            </p:cNvCxnSpPr>
            <p:nvPr/>
          </p:nvCxnSpPr>
          <p:spPr>
            <a:xfrm>
              <a:off x="9991883" y="3671412"/>
              <a:ext cx="0" cy="106256"/>
            </a:xfrm>
            <a:prstGeom prst="straightConnector1">
              <a:avLst/>
            </a:prstGeom>
            <a:ln w="6350">
              <a:solidFill>
                <a:srgbClr val="0070C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975E887D-F86B-4F47-A400-B12A81346DE7}"/>
              </a:ext>
            </a:extLst>
          </p:cNvPr>
          <p:cNvGrpSpPr/>
          <p:nvPr/>
        </p:nvGrpSpPr>
        <p:grpSpPr>
          <a:xfrm>
            <a:off x="10585037" y="3122010"/>
            <a:ext cx="1281390" cy="775485"/>
            <a:chOff x="10630222" y="3242434"/>
            <a:chExt cx="1100661" cy="655060"/>
          </a:xfrm>
        </p:grpSpPr>
        <p:sp>
          <p:nvSpPr>
            <p:cNvPr id="108" name="椭圆 107">
              <a:extLst>
                <a:ext uri="{FF2B5EF4-FFF2-40B4-BE49-F238E27FC236}">
                  <a16:creationId xmlns:a16="http://schemas.microsoft.com/office/drawing/2014/main" id="{ECCA6576-F74F-44DC-8827-431989A4C31A}"/>
                </a:ext>
              </a:extLst>
            </p:cNvPr>
            <p:cNvSpPr/>
            <p:nvPr/>
          </p:nvSpPr>
          <p:spPr>
            <a:xfrm rot="16200000">
              <a:off x="10874823" y="3267457"/>
              <a:ext cx="94536" cy="182952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 dirty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D6E0DF3D-0C71-4839-BDEE-083CD76326B2}"/>
                </a:ext>
              </a:extLst>
            </p:cNvPr>
            <p:cNvSpPr/>
            <p:nvPr/>
          </p:nvSpPr>
          <p:spPr>
            <a:xfrm rot="5400000">
              <a:off x="10653550" y="3446682"/>
              <a:ext cx="69628" cy="116283"/>
            </a:xfrm>
            <a:prstGeom prst="rect">
              <a:avLst/>
            </a:prstGeom>
            <a:solidFill>
              <a:srgbClr val="FEDADA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FC77E099-5605-4BD7-AD77-DA93EC1991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79409" y="3402971"/>
              <a:ext cx="177094" cy="47753"/>
            </a:xfrm>
            <a:prstGeom prst="straightConnector1">
              <a:avLst/>
            </a:prstGeom>
            <a:ln w="6350">
              <a:solidFill>
                <a:srgbClr val="C0000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2BD7AFAC-0B8C-4306-B191-83AA505F6ED4}"/>
                </a:ext>
              </a:extLst>
            </p:cNvPr>
            <p:cNvSpPr/>
            <p:nvPr/>
          </p:nvSpPr>
          <p:spPr>
            <a:xfrm rot="5400000">
              <a:off x="10887277" y="3446682"/>
              <a:ext cx="69628" cy="116283"/>
            </a:xfrm>
            <a:prstGeom prst="rect">
              <a:avLst/>
            </a:prstGeom>
            <a:solidFill>
              <a:srgbClr val="FEDADA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51EE7C29-F9E7-4FCF-AA8D-FED202FB4924}"/>
                </a:ext>
              </a:extLst>
            </p:cNvPr>
            <p:cNvSpPr/>
            <p:nvPr/>
          </p:nvSpPr>
          <p:spPr>
            <a:xfrm rot="5400000">
              <a:off x="11149025" y="3446682"/>
              <a:ext cx="69628" cy="116283"/>
            </a:xfrm>
            <a:prstGeom prst="rect">
              <a:avLst/>
            </a:prstGeom>
            <a:solidFill>
              <a:srgbClr val="92C37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03BF21E4-12FF-44FF-8C6A-5E9D7DF9E654}"/>
                </a:ext>
              </a:extLst>
            </p:cNvPr>
            <p:cNvSpPr/>
            <p:nvPr/>
          </p:nvSpPr>
          <p:spPr>
            <a:xfrm rot="5400000">
              <a:off x="10886219" y="3630248"/>
              <a:ext cx="69628" cy="116283"/>
            </a:xfrm>
            <a:prstGeom prst="rect">
              <a:avLst/>
            </a:prstGeom>
            <a:solidFill>
              <a:srgbClr val="92C37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DF353F0B-1839-4292-B000-EDCE4738037D}"/>
                </a:ext>
              </a:extLst>
            </p:cNvPr>
            <p:cNvSpPr/>
            <p:nvPr/>
          </p:nvSpPr>
          <p:spPr>
            <a:xfrm rot="5400000">
              <a:off x="11151142" y="3630248"/>
              <a:ext cx="69628" cy="116283"/>
            </a:xfrm>
            <a:prstGeom prst="rect">
              <a:avLst/>
            </a:prstGeom>
            <a:solidFill>
              <a:srgbClr val="FEDADA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3A2F47C6-B5C5-46F0-B5FC-83DAA0F83D28}"/>
                </a:ext>
              </a:extLst>
            </p:cNvPr>
            <p:cNvSpPr/>
            <p:nvPr/>
          </p:nvSpPr>
          <p:spPr>
            <a:xfrm rot="5400000">
              <a:off x="10885347" y="3804538"/>
              <a:ext cx="69628" cy="116283"/>
            </a:xfrm>
            <a:prstGeom prst="rect">
              <a:avLst/>
            </a:prstGeom>
            <a:solidFill>
              <a:srgbClr val="92C37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82C00B37-D600-4DDA-9675-B8877BB20A82}"/>
                </a:ext>
              </a:extLst>
            </p:cNvPr>
            <p:cNvCxnSpPr>
              <a:cxnSpLocks/>
              <a:stCxn id="108" idx="2"/>
              <a:endCxn id="109" idx="1"/>
            </p:cNvCxnSpPr>
            <p:nvPr/>
          </p:nvCxnSpPr>
          <p:spPr>
            <a:xfrm flipH="1">
              <a:off x="10688364" y="3406202"/>
              <a:ext cx="233727" cy="63808"/>
            </a:xfrm>
            <a:prstGeom prst="line">
              <a:avLst/>
            </a:prstGeom>
            <a:ln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7EC1B41B-3E7A-4186-9478-157965D33635}"/>
                </a:ext>
              </a:extLst>
            </p:cNvPr>
            <p:cNvCxnSpPr>
              <a:cxnSpLocks/>
              <a:stCxn id="108" idx="2"/>
              <a:endCxn id="111" idx="1"/>
            </p:cNvCxnSpPr>
            <p:nvPr/>
          </p:nvCxnSpPr>
          <p:spPr>
            <a:xfrm>
              <a:off x="10922091" y="3406202"/>
              <a:ext cx="0" cy="63808"/>
            </a:xfrm>
            <a:prstGeom prst="line">
              <a:avLst/>
            </a:prstGeom>
            <a:ln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A921EEDA-7324-41AA-9D4F-37BA2AF13D4E}"/>
                </a:ext>
              </a:extLst>
            </p:cNvPr>
            <p:cNvCxnSpPr>
              <a:cxnSpLocks/>
              <a:stCxn id="108" idx="2"/>
              <a:endCxn id="112" idx="1"/>
            </p:cNvCxnSpPr>
            <p:nvPr/>
          </p:nvCxnSpPr>
          <p:spPr>
            <a:xfrm>
              <a:off x="10922091" y="3406202"/>
              <a:ext cx="261748" cy="63808"/>
            </a:xfrm>
            <a:prstGeom prst="line">
              <a:avLst/>
            </a:prstGeom>
            <a:ln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4AA39F2D-3B95-4BF3-A386-C02B368F2D54}"/>
                </a:ext>
              </a:extLst>
            </p:cNvPr>
            <p:cNvCxnSpPr>
              <a:cxnSpLocks/>
            </p:cNvCxnSpPr>
            <p:nvPr/>
          </p:nvCxnSpPr>
          <p:spPr>
            <a:xfrm>
              <a:off x="11183839" y="3541651"/>
              <a:ext cx="0" cy="113153"/>
            </a:xfrm>
            <a:prstGeom prst="line">
              <a:avLst/>
            </a:prstGeom>
            <a:ln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493A5062-37E6-43B1-BAAB-CD2130BC07F5}"/>
                </a:ext>
              </a:extLst>
            </p:cNvPr>
            <p:cNvCxnSpPr>
              <a:cxnSpLocks/>
              <a:stCxn id="112" idx="3"/>
              <a:endCxn id="113" idx="1"/>
            </p:cNvCxnSpPr>
            <p:nvPr/>
          </p:nvCxnSpPr>
          <p:spPr>
            <a:xfrm flipH="1">
              <a:off x="10921033" y="3539637"/>
              <a:ext cx="262806" cy="113939"/>
            </a:xfrm>
            <a:prstGeom prst="line">
              <a:avLst/>
            </a:prstGeom>
            <a:ln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36BD199B-F14A-4ADD-9126-2A5E0822C61A}"/>
                </a:ext>
              </a:extLst>
            </p:cNvPr>
            <p:cNvCxnSpPr>
              <a:cxnSpLocks/>
              <a:stCxn id="115" idx="1"/>
              <a:endCxn id="113" idx="3"/>
            </p:cNvCxnSpPr>
            <p:nvPr/>
          </p:nvCxnSpPr>
          <p:spPr>
            <a:xfrm flipV="1">
              <a:off x="10920161" y="3723204"/>
              <a:ext cx="872" cy="104662"/>
            </a:xfrm>
            <a:prstGeom prst="line">
              <a:avLst/>
            </a:prstGeom>
            <a:ln>
              <a:solidFill>
                <a:schemeClr val="bg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EFAA37E3-65AF-4D29-9266-7E5C571617F9}"/>
                </a:ext>
              </a:extLst>
            </p:cNvPr>
            <p:cNvCxnSpPr>
              <a:cxnSpLocks/>
            </p:cNvCxnSpPr>
            <p:nvPr/>
          </p:nvCxnSpPr>
          <p:spPr>
            <a:xfrm>
              <a:off x="10746506" y="3503208"/>
              <a:ext cx="117444" cy="0"/>
            </a:xfrm>
            <a:prstGeom prst="straightConnector1">
              <a:avLst/>
            </a:prstGeom>
            <a:ln w="6350">
              <a:solidFill>
                <a:srgbClr val="C0000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箭头连接符 122">
              <a:extLst>
                <a:ext uri="{FF2B5EF4-FFF2-40B4-BE49-F238E27FC236}">
                  <a16:creationId xmlns:a16="http://schemas.microsoft.com/office/drawing/2014/main" id="{4F7AB9F1-C808-413A-9617-10E37A8750B3}"/>
                </a:ext>
              </a:extLst>
            </p:cNvPr>
            <p:cNvCxnSpPr>
              <a:cxnSpLocks/>
              <a:stCxn id="111" idx="0"/>
            </p:cNvCxnSpPr>
            <p:nvPr/>
          </p:nvCxnSpPr>
          <p:spPr>
            <a:xfrm>
              <a:off x="10980232" y="3504824"/>
              <a:ext cx="145465" cy="0"/>
            </a:xfrm>
            <a:prstGeom prst="straightConnector1">
              <a:avLst/>
            </a:prstGeom>
            <a:ln w="6350">
              <a:solidFill>
                <a:srgbClr val="C0000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56DDF235-ECB3-45FD-A6E9-80C3D99B1027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132" y="3543314"/>
              <a:ext cx="0" cy="106935"/>
            </a:xfrm>
            <a:prstGeom prst="straightConnector1">
              <a:avLst/>
            </a:prstGeom>
            <a:ln w="6350">
              <a:solidFill>
                <a:srgbClr val="C0000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箭头连接符 124">
              <a:extLst>
                <a:ext uri="{FF2B5EF4-FFF2-40B4-BE49-F238E27FC236}">
                  <a16:creationId xmlns:a16="http://schemas.microsoft.com/office/drawing/2014/main" id="{57E299E1-EE1F-4FCD-918D-601D32F04AB6}"/>
                </a:ext>
              </a:extLst>
            </p:cNvPr>
            <p:cNvCxnSpPr>
              <a:cxnSpLocks/>
              <a:stCxn id="114" idx="2"/>
            </p:cNvCxnSpPr>
            <p:nvPr/>
          </p:nvCxnSpPr>
          <p:spPr>
            <a:xfrm flipH="1">
              <a:off x="10980232" y="3688390"/>
              <a:ext cx="147582" cy="0"/>
            </a:xfrm>
            <a:prstGeom prst="straightConnector1">
              <a:avLst/>
            </a:prstGeom>
            <a:ln w="6350">
              <a:solidFill>
                <a:srgbClr val="C0000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箭头连接符 125">
              <a:extLst>
                <a:ext uri="{FF2B5EF4-FFF2-40B4-BE49-F238E27FC236}">
                  <a16:creationId xmlns:a16="http://schemas.microsoft.com/office/drawing/2014/main" id="{F7F75066-DD16-4AA1-BC0E-8C845B08EE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50940" y="3723204"/>
              <a:ext cx="1" cy="104375"/>
            </a:xfrm>
            <a:prstGeom prst="straightConnector1">
              <a:avLst/>
            </a:prstGeom>
            <a:ln w="6350">
              <a:solidFill>
                <a:srgbClr val="C0000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0FC88747-24C3-413C-9757-BF925D4B087F}"/>
                </a:ext>
              </a:extLst>
            </p:cNvPr>
            <p:cNvSpPr txBox="1"/>
            <p:nvPr/>
          </p:nvSpPr>
          <p:spPr>
            <a:xfrm>
              <a:off x="10883890" y="3332024"/>
              <a:ext cx="82615" cy="389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3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input</a:t>
              </a:r>
              <a:endParaRPr kumimoji="1" lang="zh-CN" altLang="en-US" sz="3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54" name="矩形: 圆角 153">
              <a:extLst>
                <a:ext uri="{FF2B5EF4-FFF2-40B4-BE49-F238E27FC236}">
                  <a16:creationId xmlns:a16="http://schemas.microsoft.com/office/drawing/2014/main" id="{43386C5B-0144-4FEB-BC14-8D61EB603638}"/>
                </a:ext>
              </a:extLst>
            </p:cNvPr>
            <p:cNvSpPr/>
            <p:nvPr/>
          </p:nvSpPr>
          <p:spPr>
            <a:xfrm>
              <a:off x="11357335" y="3470309"/>
              <a:ext cx="99868" cy="65798"/>
            </a:xfrm>
            <a:prstGeom prst="roundRect">
              <a:avLst/>
            </a:prstGeom>
            <a:noFill/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155" name="直接连接符 154">
              <a:extLst>
                <a:ext uri="{FF2B5EF4-FFF2-40B4-BE49-F238E27FC236}">
                  <a16:creationId xmlns:a16="http://schemas.microsoft.com/office/drawing/2014/main" id="{73643F9C-8382-4747-81B2-9017537C94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44097" y="3505469"/>
              <a:ext cx="114994" cy="0"/>
            </a:xfrm>
            <a:prstGeom prst="line">
              <a:avLst/>
            </a:prstGeom>
            <a:ln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矩形: 圆角 155">
              <a:extLst>
                <a:ext uri="{FF2B5EF4-FFF2-40B4-BE49-F238E27FC236}">
                  <a16:creationId xmlns:a16="http://schemas.microsoft.com/office/drawing/2014/main" id="{10A99064-0239-417C-8047-92D2D52D0F4B}"/>
                </a:ext>
              </a:extLst>
            </p:cNvPr>
            <p:cNvSpPr/>
            <p:nvPr/>
          </p:nvSpPr>
          <p:spPr>
            <a:xfrm>
              <a:off x="11357335" y="3654804"/>
              <a:ext cx="99868" cy="65798"/>
            </a:xfrm>
            <a:prstGeom prst="roundRect">
              <a:avLst/>
            </a:prstGeom>
            <a:noFill/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157" name="直接连接符 156">
              <a:extLst>
                <a:ext uri="{FF2B5EF4-FFF2-40B4-BE49-F238E27FC236}">
                  <a16:creationId xmlns:a16="http://schemas.microsoft.com/office/drawing/2014/main" id="{6808A795-59A2-4F8C-9FE0-363D89D7CA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42341" y="3688390"/>
              <a:ext cx="114994" cy="0"/>
            </a:xfrm>
            <a:prstGeom prst="line">
              <a:avLst/>
            </a:prstGeom>
            <a:ln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箭头连接符 158">
              <a:extLst>
                <a:ext uri="{FF2B5EF4-FFF2-40B4-BE49-F238E27FC236}">
                  <a16:creationId xmlns:a16="http://schemas.microsoft.com/office/drawing/2014/main" id="{5F8D3EC7-9FE8-451B-B0FA-21E8334057CE}"/>
                </a:ext>
              </a:extLst>
            </p:cNvPr>
            <p:cNvCxnSpPr>
              <a:cxnSpLocks/>
            </p:cNvCxnSpPr>
            <p:nvPr/>
          </p:nvCxnSpPr>
          <p:spPr>
            <a:xfrm>
              <a:off x="11421106" y="3538952"/>
              <a:ext cx="65" cy="115852"/>
            </a:xfrm>
            <a:prstGeom prst="straightConnector1">
              <a:avLst/>
            </a:prstGeom>
            <a:ln w="6350">
              <a:solidFill>
                <a:srgbClr val="0070C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矩形: 圆角 159">
              <a:extLst>
                <a:ext uri="{FF2B5EF4-FFF2-40B4-BE49-F238E27FC236}">
                  <a16:creationId xmlns:a16="http://schemas.microsoft.com/office/drawing/2014/main" id="{D01E146C-EE70-4239-976F-FFC1013B050B}"/>
                </a:ext>
              </a:extLst>
            </p:cNvPr>
            <p:cNvSpPr/>
            <p:nvPr/>
          </p:nvSpPr>
          <p:spPr>
            <a:xfrm>
              <a:off x="10663324" y="3655032"/>
              <a:ext cx="99868" cy="65798"/>
            </a:xfrm>
            <a:prstGeom prst="roundRect">
              <a:avLst/>
            </a:prstGeom>
            <a:noFill/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161" name="直接连接符 160">
              <a:extLst>
                <a:ext uri="{FF2B5EF4-FFF2-40B4-BE49-F238E27FC236}">
                  <a16:creationId xmlns:a16="http://schemas.microsoft.com/office/drawing/2014/main" id="{57AE1518-BEFE-4503-AE5F-360CFB9B48A8}"/>
                </a:ext>
              </a:extLst>
            </p:cNvPr>
            <p:cNvCxnSpPr>
              <a:cxnSpLocks/>
              <a:stCxn id="160" idx="3"/>
              <a:endCxn id="113" idx="2"/>
            </p:cNvCxnSpPr>
            <p:nvPr/>
          </p:nvCxnSpPr>
          <p:spPr>
            <a:xfrm>
              <a:off x="10763192" y="3687931"/>
              <a:ext cx="99700" cy="459"/>
            </a:xfrm>
            <a:prstGeom prst="line">
              <a:avLst/>
            </a:prstGeom>
            <a:ln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箭头连接符 161">
              <a:extLst>
                <a:ext uri="{FF2B5EF4-FFF2-40B4-BE49-F238E27FC236}">
                  <a16:creationId xmlns:a16="http://schemas.microsoft.com/office/drawing/2014/main" id="{922C84F4-15FA-4CF1-AC0A-4387A2A77D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91769" y="3538952"/>
              <a:ext cx="65" cy="115852"/>
            </a:xfrm>
            <a:prstGeom prst="straightConnector1">
              <a:avLst/>
            </a:prstGeom>
            <a:ln w="6350">
              <a:solidFill>
                <a:srgbClr val="0070C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箭头连接符 162">
              <a:extLst>
                <a:ext uri="{FF2B5EF4-FFF2-40B4-BE49-F238E27FC236}">
                  <a16:creationId xmlns:a16="http://schemas.microsoft.com/office/drawing/2014/main" id="{F7AE582E-5345-435C-8AD3-352ACB8213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13258" y="3530759"/>
              <a:ext cx="641167" cy="121504"/>
            </a:xfrm>
            <a:prstGeom prst="straightConnector1">
              <a:avLst/>
            </a:prstGeom>
            <a:ln w="6350">
              <a:solidFill>
                <a:srgbClr val="0070C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文本框 163">
              <a:extLst>
                <a:ext uri="{FF2B5EF4-FFF2-40B4-BE49-F238E27FC236}">
                  <a16:creationId xmlns:a16="http://schemas.microsoft.com/office/drawing/2014/main" id="{3021C502-7026-41A7-A74F-04F6B7D8D578}"/>
                </a:ext>
              </a:extLst>
            </p:cNvPr>
            <p:cNvSpPr txBox="1"/>
            <p:nvPr/>
          </p:nvSpPr>
          <p:spPr>
            <a:xfrm>
              <a:off x="11401399" y="3543562"/>
              <a:ext cx="329484" cy="1296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034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3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①操作</a:t>
              </a:r>
              <a:r>
                <a:rPr lang="en-US" altLang="zh-CN" sz="3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F5CDC69C-5CA2-4242-BA0C-28B371D5069D}"/>
                </a:ext>
              </a:extLst>
            </p:cNvPr>
            <p:cNvSpPr txBox="1"/>
            <p:nvPr/>
          </p:nvSpPr>
          <p:spPr>
            <a:xfrm>
              <a:off x="11196317" y="3542969"/>
              <a:ext cx="329484" cy="1296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034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3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②回滚</a:t>
              </a:r>
              <a:endParaRPr lang="en-US" altLang="zh-CN" sz="3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文本框 165">
              <a:extLst>
                <a:ext uri="{FF2B5EF4-FFF2-40B4-BE49-F238E27FC236}">
                  <a16:creationId xmlns:a16="http://schemas.microsoft.com/office/drawing/2014/main" id="{C4F264ED-395E-4313-9AFD-CC47334BE803}"/>
                </a:ext>
              </a:extLst>
            </p:cNvPr>
            <p:cNvSpPr txBox="1"/>
            <p:nvPr/>
          </p:nvSpPr>
          <p:spPr>
            <a:xfrm>
              <a:off x="10656829" y="3520643"/>
              <a:ext cx="329484" cy="1296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034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3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③操作</a:t>
              </a:r>
              <a:r>
                <a:rPr lang="en-US" altLang="zh-CN" sz="3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67" name="矩形: 圆角 166">
              <a:extLst>
                <a:ext uri="{FF2B5EF4-FFF2-40B4-BE49-F238E27FC236}">
                  <a16:creationId xmlns:a16="http://schemas.microsoft.com/office/drawing/2014/main" id="{3504A1EC-C135-4E7A-A6AB-1D28D27C355C}"/>
                </a:ext>
              </a:extLst>
            </p:cNvPr>
            <p:cNvSpPr/>
            <p:nvPr/>
          </p:nvSpPr>
          <p:spPr>
            <a:xfrm>
              <a:off x="11208232" y="3278679"/>
              <a:ext cx="99868" cy="65798"/>
            </a:xfrm>
            <a:prstGeom prst="roundRect">
              <a:avLst/>
            </a:prstGeom>
            <a:noFill/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0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4566886C-0AA2-415F-A016-C75F00BCF081}"/>
                </a:ext>
              </a:extLst>
            </p:cNvPr>
            <p:cNvSpPr txBox="1"/>
            <p:nvPr/>
          </p:nvSpPr>
          <p:spPr>
            <a:xfrm>
              <a:off x="11224317" y="3242434"/>
              <a:ext cx="447039" cy="1640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914034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5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沙箱状态</a:t>
              </a:r>
              <a:endParaRPr lang="en-US" altLang="zh-CN" sz="5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69" name="文本框 168">
            <a:extLst>
              <a:ext uri="{FF2B5EF4-FFF2-40B4-BE49-F238E27FC236}">
                <a16:creationId xmlns:a16="http://schemas.microsoft.com/office/drawing/2014/main" id="{E8219F90-F7B3-4923-9213-C15DA5F300DD}"/>
              </a:ext>
            </a:extLst>
          </p:cNvPr>
          <p:cNvSpPr txBox="1"/>
          <p:nvPr/>
        </p:nvSpPr>
        <p:spPr>
          <a:xfrm>
            <a:off x="9745831" y="2860449"/>
            <a:ext cx="2120597" cy="244813"/>
          </a:xfrm>
          <a:prstGeom prst="rect">
            <a:avLst/>
          </a:prstGeom>
          <a:solidFill>
            <a:srgbClr val="4573C5"/>
          </a:solidFill>
        </p:spPr>
        <p:txBody>
          <a:bodyPr wrap="square" lIns="0" rIns="0" rtlCol="0" anchor="ctr">
            <a:no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1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4034">
              <a:defRPr/>
            </a:pPr>
            <a:r>
              <a:rPr lang="zh-CN" altLang="en-US" dirty="0"/>
              <a:t>沙箱支持回滚特性</a:t>
            </a:r>
            <a:r>
              <a:rPr lang="en-US" altLang="zh-CN" dirty="0"/>
              <a:t>——Action</a:t>
            </a:r>
            <a:r>
              <a:rPr lang="zh-CN" altLang="en-US" dirty="0"/>
              <a:t>级别</a:t>
            </a:r>
          </a:p>
        </p:txBody>
      </p:sp>
      <p:sp>
        <p:nvSpPr>
          <p:cNvPr id="170" name="文本框 169">
            <a:extLst>
              <a:ext uri="{FF2B5EF4-FFF2-40B4-BE49-F238E27FC236}">
                <a16:creationId xmlns:a16="http://schemas.microsoft.com/office/drawing/2014/main" id="{EFACD2F7-BC24-4CE8-AD1D-E75371421FDA}"/>
              </a:ext>
            </a:extLst>
          </p:cNvPr>
          <p:cNvSpPr txBox="1"/>
          <p:nvPr/>
        </p:nvSpPr>
        <p:spPr>
          <a:xfrm>
            <a:off x="10058264" y="3971684"/>
            <a:ext cx="1374446" cy="2750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defTabSz="914034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7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细粒度：实例级别</a:t>
            </a:r>
            <a:r>
              <a:rPr lang="en-US" altLang="zh-CN" sz="7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7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操作级别</a:t>
            </a:r>
            <a:endParaRPr lang="en-US" altLang="zh-CN" sz="7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1" name="内容占位符 2">
            <a:extLst>
              <a:ext uri="{FF2B5EF4-FFF2-40B4-BE49-F238E27FC236}">
                <a16:creationId xmlns:a16="http://schemas.microsoft.com/office/drawing/2014/main" id="{F4E7D734-7A05-497D-972D-2F1CDD47A2F6}"/>
              </a:ext>
            </a:extLst>
          </p:cNvPr>
          <p:cNvSpPr txBox="1">
            <a:spLocks/>
          </p:cNvSpPr>
          <p:nvPr/>
        </p:nvSpPr>
        <p:spPr>
          <a:xfrm>
            <a:off x="9732641" y="4284547"/>
            <a:ext cx="2102584" cy="173038"/>
          </a:xfrm>
          <a:prstGeom prst="rect">
            <a:avLst/>
          </a:prstGeom>
          <a:noFill/>
        </p:spPr>
        <p:txBody>
          <a:bodyPr lIns="0" tIns="0" rIns="0" bIns="0"/>
          <a:lstStyle>
            <a:lvl1pPr marL="179705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 sz="180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770" algn="ctr"/>
              </a:tabLst>
              <a:defRPr sz="160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09855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770" algn="ctr"/>
              </a:tabLst>
              <a:defRPr sz="130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16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52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25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633" indent="-168208" defTabSz="1187610">
              <a:tabLst>
                <a:tab pos="1207287" algn="ctr"/>
              </a:tabLst>
              <a:defRPr/>
            </a:pPr>
            <a:r>
              <a:rPr lang="zh-CN" altLang="en-US" sz="700" dirty="0">
                <a:solidFill>
                  <a:srgbClr val="1D1D1A"/>
                </a:solidFill>
              </a:rPr>
              <a:t>回滚在</a:t>
            </a:r>
            <a:r>
              <a:rPr lang="en-US" altLang="zh-CN" sz="700" dirty="0">
                <a:solidFill>
                  <a:srgbClr val="1D1D1A"/>
                </a:solidFill>
              </a:rPr>
              <a:t>Action</a:t>
            </a:r>
            <a:r>
              <a:rPr lang="zh-CN" altLang="en-US" sz="700" dirty="0">
                <a:solidFill>
                  <a:srgbClr val="1D1D1A"/>
                </a:solidFill>
              </a:rPr>
              <a:t>级别控制，对应沙箱实例在时间维度上的版本控制（或者叫</a:t>
            </a:r>
            <a:r>
              <a:rPr lang="en-US" altLang="zh-CN" sz="700" dirty="0">
                <a:solidFill>
                  <a:srgbClr val="1D1D1A"/>
                </a:solidFill>
              </a:rPr>
              <a:t>branch</a:t>
            </a:r>
            <a:r>
              <a:rPr lang="zh-CN" altLang="en-US" sz="700" dirty="0">
                <a:solidFill>
                  <a:srgbClr val="1D1D1A"/>
                </a:solidFill>
              </a:rPr>
              <a:t>能力）</a:t>
            </a:r>
          </a:p>
        </p:txBody>
      </p: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B47F6028-574A-4014-9421-59F6D3B188C9}"/>
              </a:ext>
            </a:extLst>
          </p:cNvPr>
          <p:cNvGrpSpPr/>
          <p:nvPr/>
        </p:nvGrpSpPr>
        <p:grpSpPr>
          <a:xfrm>
            <a:off x="7064135" y="1149826"/>
            <a:ext cx="4911912" cy="1348524"/>
            <a:chOff x="6878720" y="1609059"/>
            <a:chExt cx="8610964" cy="2179101"/>
          </a:xfrm>
        </p:grpSpPr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D8B606E7-D6CA-415D-A0C6-419C9D0E6532}"/>
                </a:ext>
              </a:extLst>
            </p:cNvPr>
            <p:cNvSpPr/>
            <p:nvPr/>
          </p:nvSpPr>
          <p:spPr>
            <a:xfrm>
              <a:off x="11292982" y="1609059"/>
              <a:ext cx="4196702" cy="20763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914034">
                <a:spcBef>
                  <a:spcPts val="300"/>
                </a:spcBef>
                <a:defRPr/>
              </a:pPr>
              <a:r>
                <a:rPr kumimoji="1" lang="zh-CN" altLang="en-US" sz="1000" b="1" kern="0" dirty="0">
                  <a:solidFill>
                    <a:prstClr val="black"/>
                  </a:solidFill>
                  <a:latin typeface="微软雅黑"/>
                  <a:ea typeface="微软雅黑"/>
                </a:rPr>
                <a:t>面向</a:t>
              </a:r>
              <a:r>
                <a:rPr kumimoji="1" lang="en-US" altLang="zh-CN" sz="1000" b="1" kern="0" dirty="0">
                  <a:solidFill>
                    <a:prstClr val="black"/>
                  </a:solidFill>
                  <a:latin typeface="微软雅黑"/>
                  <a:ea typeface="微软雅黑"/>
                </a:rPr>
                <a:t>Agentic</a:t>
              </a:r>
              <a:r>
                <a:rPr kumimoji="1" lang="zh-CN" altLang="en-US" sz="1000" b="1" kern="0" dirty="0">
                  <a:solidFill>
                    <a:prstClr val="black"/>
                  </a:solidFill>
                  <a:latin typeface="微软雅黑"/>
                  <a:ea typeface="微软雅黑"/>
                </a:rPr>
                <a:t>负载的创新路线</a:t>
              </a:r>
              <a:endParaRPr kumimoji="1" lang="en-US" altLang="zh-CN" sz="1000" b="1" kern="0" dirty="0">
                <a:solidFill>
                  <a:prstClr val="black"/>
                </a:solidFill>
                <a:latin typeface="微软雅黑"/>
                <a:ea typeface="微软雅黑"/>
              </a:endParaRPr>
            </a:p>
            <a:p>
              <a:pPr marL="171381" indent="-171381" defTabSz="914034">
                <a:spcBef>
                  <a:spcPts val="300"/>
                </a:spcBef>
                <a:buFont typeface="Arial" panose="020B0604020202020204" pitchFamily="34" charset="0"/>
                <a:buChar char="•"/>
                <a:defRPr/>
              </a:pPr>
              <a:r>
                <a:rPr kumimoji="1" lang="zh-CN" altLang="en-US" sz="1000" b="1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定位：</a:t>
              </a:r>
              <a:r>
                <a:rPr kumimoji="1" lang="zh-CN" altLang="en-US" sz="1000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围绕领域对象构建</a:t>
              </a:r>
              <a:r>
                <a:rPr kumimoji="1" lang="zh-CN" altLang="en-US" sz="1000" b="1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独立控制面和专用资源池</a:t>
              </a:r>
              <a:endParaRPr kumimoji="1" lang="en-US" altLang="zh-CN" sz="1000" b="1" kern="0" dirty="0">
                <a:solidFill>
                  <a:srgbClr val="282828"/>
                </a:solidFill>
                <a:latin typeface="微软雅黑"/>
                <a:ea typeface="微软雅黑"/>
              </a:endParaRPr>
            </a:p>
            <a:p>
              <a:pPr marL="171381" indent="-171381" defTabSz="914034">
                <a:spcBef>
                  <a:spcPts val="300"/>
                </a:spcBef>
                <a:buFont typeface="Arial" panose="020B0604020202020204" pitchFamily="34" charset="0"/>
                <a:buChar char="•"/>
                <a:defRPr/>
              </a:pPr>
              <a:r>
                <a:rPr kumimoji="1" lang="zh-CN" altLang="en-US" sz="1000" b="1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适用场景</a:t>
              </a:r>
              <a:r>
                <a:rPr kumimoji="1" lang="zh-CN" altLang="en-US" sz="1000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：要求极致低时延启动、高频创建与销毁调度对象</a:t>
              </a:r>
              <a:endParaRPr kumimoji="1" lang="en-US" altLang="zh-CN" sz="1000" kern="0" dirty="0">
                <a:solidFill>
                  <a:srgbClr val="282828"/>
                </a:solidFill>
                <a:latin typeface="微软雅黑"/>
                <a:ea typeface="微软雅黑"/>
              </a:endParaRPr>
            </a:p>
            <a:p>
              <a:pPr marL="171381" indent="-171381" defTabSz="914034">
                <a:spcBef>
                  <a:spcPts val="300"/>
                </a:spcBef>
                <a:buFont typeface="Arial" panose="020B0604020202020204" pitchFamily="34" charset="0"/>
                <a:buChar char="•"/>
                <a:defRPr/>
              </a:pPr>
              <a:r>
                <a:rPr kumimoji="1" lang="zh-CN" altLang="en-US" sz="1000" b="1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典型厂商：</a:t>
              </a:r>
              <a:r>
                <a:rPr kumimoji="1" lang="en-US" altLang="zh-CN" sz="1000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Manus</a:t>
              </a:r>
              <a:r>
                <a:rPr kumimoji="1" lang="zh-CN" altLang="en-US" sz="1000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、腾讯云、移动磐基（创新场景）</a:t>
              </a:r>
              <a:endParaRPr kumimoji="1" lang="en-US" altLang="zh-CN" sz="1000" kern="0" dirty="0">
                <a:solidFill>
                  <a:srgbClr val="282828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174" name="组合 173">
              <a:extLst>
                <a:ext uri="{FF2B5EF4-FFF2-40B4-BE49-F238E27FC236}">
                  <a16:creationId xmlns:a16="http://schemas.microsoft.com/office/drawing/2014/main" id="{4099D465-70F0-44A7-8E4C-79E5BE45B7B7}"/>
                </a:ext>
              </a:extLst>
            </p:cNvPr>
            <p:cNvGrpSpPr/>
            <p:nvPr/>
          </p:nvGrpSpPr>
          <p:grpSpPr>
            <a:xfrm>
              <a:off x="6878720" y="1673675"/>
              <a:ext cx="4577821" cy="2114485"/>
              <a:chOff x="6886691" y="2216353"/>
              <a:chExt cx="2246633" cy="1713042"/>
            </a:xfrm>
          </p:grpSpPr>
          <p:sp>
            <p:nvSpPr>
              <p:cNvPr id="175" name="矩形 174">
                <a:extLst>
                  <a:ext uri="{FF2B5EF4-FFF2-40B4-BE49-F238E27FC236}">
                    <a16:creationId xmlns:a16="http://schemas.microsoft.com/office/drawing/2014/main" id="{FCE8688E-E0F6-47EA-8B01-79959526BF9D}"/>
                  </a:ext>
                </a:extLst>
              </p:cNvPr>
              <p:cNvSpPr/>
              <p:nvPr/>
            </p:nvSpPr>
            <p:spPr>
              <a:xfrm>
                <a:off x="6893842" y="3515400"/>
                <a:ext cx="2163367" cy="413995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 w="12700" cap="flat" cmpd="sng" algn="ctr">
                <a:solidFill>
                  <a:srgbClr val="5B9BD5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034">
                  <a:defRPr/>
                </a:pPr>
                <a:r>
                  <a:rPr lang="zh-CN" altLang="en-US" sz="1000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裸金属专用资源池</a:t>
                </a:r>
              </a:p>
            </p:txBody>
          </p:sp>
          <p:sp>
            <p:nvSpPr>
              <p:cNvPr id="176" name="矩形 175">
                <a:extLst>
                  <a:ext uri="{FF2B5EF4-FFF2-40B4-BE49-F238E27FC236}">
                    <a16:creationId xmlns:a16="http://schemas.microsoft.com/office/drawing/2014/main" id="{4BFDC84A-B8AC-45AE-B8E0-70EF0207457C}"/>
                  </a:ext>
                </a:extLst>
              </p:cNvPr>
              <p:cNvSpPr/>
              <p:nvPr/>
            </p:nvSpPr>
            <p:spPr>
              <a:xfrm>
                <a:off x="6893842" y="2990349"/>
                <a:ext cx="2168954" cy="397554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 w="12700" cap="flat" cmpd="sng" algn="ctr">
                <a:solidFill>
                  <a:srgbClr val="5B9BD5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034">
                  <a:defRPr/>
                </a:pPr>
                <a:r>
                  <a:rPr lang="zh-CN" altLang="en-US" sz="1000" b="1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沙箱调度</a:t>
                </a:r>
                <a:r>
                  <a:rPr lang="zh-CN" altLang="en-US" sz="1000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（低时延调度、虚机快照、命令式下发）</a:t>
                </a:r>
              </a:p>
            </p:txBody>
          </p:sp>
          <p:sp>
            <p:nvSpPr>
              <p:cNvPr id="177" name="矩形 176">
                <a:extLst>
                  <a:ext uri="{FF2B5EF4-FFF2-40B4-BE49-F238E27FC236}">
                    <a16:creationId xmlns:a16="http://schemas.microsoft.com/office/drawing/2014/main" id="{4330FFEB-E198-4842-9D2C-A3C6F7B7CC8C}"/>
                  </a:ext>
                </a:extLst>
              </p:cNvPr>
              <p:cNvSpPr/>
              <p:nvPr/>
            </p:nvSpPr>
            <p:spPr>
              <a:xfrm>
                <a:off x="6886691" y="2216353"/>
                <a:ext cx="2168954" cy="358098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 w="12700" cap="flat" cmpd="sng" algn="ctr">
                <a:solidFill>
                  <a:srgbClr val="5B9BD5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034">
                  <a:defRPr/>
                </a:pPr>
                <a:r>
                  <a:rPr lang="zh-CN" altLang="en-US" sz="1000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业务场景：</a:t>
                </a:r>
                <a:r>
                  <a:rPr lang="en-US" altLang="zh-CN" sz="1000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Manus Agent</a:t>
                </a:r>
                <a:r>
                  <a:rPr lang="zh-CN" altLang="en-US" sz="1000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框架</a:t>
                </a:r>
                <a:r>
                  <a:rPr lang="en-US" altLang="zh-CN" sz="1000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/Hugging Face</a:t>
                </a:r>
                <a:r>
                  <a:rPr lang="zh-CN" altLang="en-US" sz="1000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模型评测</a:t>
                </a:r>
              </a:p>
            </p:txBody>
          </p:sp>
          <p:cxnSp>
            <p:nvCxnSpPr>
              <p:cNvPr id="178" name="直接箭头连接符 177">
                <a:extLst>
                  <a:ext uri="{FF2B5EF4-FFF2-40B4-BE49-F238E27FC236}">
                    <a16:creationId xmlns:a16="http://schemas.microsoft.com/office/drawing/2014/main" id="{1F7B69F7-7D13-4738-BFE6-10C17B7E87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91283" y="2570870"/>
                <a:ext cx="0" cy="351336"/>
              </a:xfrm>
              <a:prstGeom prst="straightConnector1">
                <a:avLst/>
              </a:prstGeom>
              <a:noFill/>
              <a:ln w="6350" cap="flat" cmpd="sng" algn="ctr">
                <a:solidFill>
                  <a:srgbClr val="5B9BD5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794AC101-CE56-4658-9BAC-A7B9384C83B0}"/>
                  </a:ext>
                </a:extLst>
              </p:cNvPr>
              <p:cNvSpPr txBox="1"/>
              <p:nvPr/>
            </p:nvSpPr>
            <p:spPr>
              <a:xfrm>
                <a:off x="7119072" y="2586775"/>
                <a:ext cx="2014252" cy="322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914034">
                  <a:defRPr/>
                </a:pPr>
                <a:r>
                  <a:rPr lang="zh-CN" altLang="en-US" sz="1000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诉求：调度层</a:t>
                </a:r>
                <a:r>
                  <a:rPr lang="en-US" altLang="zh-CN" sz="1000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</a:t>
                </a:r>
                <a:r>
                  <a:rPr lang="zh-CN" altLang="en-US" sz="1000" kern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级并发极低时延</a:t>
                </a:r>
                <a:endParaRPr lang="zh-CN" altLang="en-US" sz="1000" kern="0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80" name="矩形: 圆角 179">
            <a:extLst>
              <a:ext uri="{FF2B5EF4-FFF2-40B4-BE49-F238E27FC236}">
                <a16:creationId xmlns:a16="http://schemas.microsoft.com/office/drawing/2014/main" id="{A9566EF9-B761-4535-88D4-65A014A64428}"/>
              </a:ext>
            </a:extLst>
          </p:cNvPr>
          <p:cNvSpPr/>
          <p:nvPr/>
        </p:nvSpPr>
        <p:spPr>
          <a:xfrm>
            <a:off x="6919412" y="4707278"/>
            <a:ext cx="5062481" cy="1565930"/>
          </a:xfrm>
          <a:prstGeom prst="roundRect">
            <a:avLst>
              <a:gd name="adj" fmla="val 4287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endParaRPr lang="zh-CN" altLang="en-US" sz="1799">
              <a:solidFill>
                <a:srgbClr val="666666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38A16AE3-1763-4D10-922C-3F499167F4D9}"/>
              </a:ext>
            </a:extLst>
          </p:cNvPr>
          <p:cNvSpPr txBox="1"/>
          <p:nvPr/>
        </p:nvSpPr>
        <p:spPr>
          <a:xfrm>
            <a:off x="9109762" y="4565054"/>
            <a:ext cx="990278" cy="276999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 defTabSz="914034">
              <a:defRPr/>
            </a:pPr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大比例超分</a:t>
            </a:r>
            <a:endParaRPr kumimoji="1"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27D9293B-F111-49EF-AAEE-5E51B46044A0}"/>
              </a:ext>
            </a:extLst>
          </p:cNvPr>
          <p:cNvSpPr/>
          <p:nvPr/>
        </p:nvSpPr>
        <p:spPr>
          <a:xfrm>
            <a:off x="2038111" y="6325397"/>
            <a:ext cx="3171211" cy="451715"/>
          </a:xfrm>
          <a:prstGeom prst="rect">
            <a:avLst/>
          </a:prstGeom>
          <a:solidFill>
            <a:srgbClr val="E9002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sz="1200" kern="0" dirty="0">
                <a:solidFill>
                  <a:schemeClr val="tx2"/>
                </a:solidFill>
                <a:latin typeface="微软雅黑"/>
                <a:ea typeface="微软雅黑"/>
              </a:rPr>
              <a:t>这个图再刷新下，增加更多生态软件。</a:t>
            </a:r>
            <a:endParaRPr lang="en-US" altLang="zh-CN" sz="1200" kern="0" dirty="0">
              <a:solidFill>
                <a:schemeClr val="tx2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23348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1">
            <a:extLst>
              <a:ext uri="{FF2B5EF4-FFF2-40B4-BE49-F238E27FC236}">
                <a16:creationId xmlns:a16="http://schemas.microsoft.com/office/drawing/2014/main" id="{D03D82F0-5439-4C29-965F-F3DBD70052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394" y="340310"/>
            <a:ext cx="11395574" cy="464222"/>
          </a:xfrm>
        </p:spPr>
        <p:txBody>
          <a:bodyPr>
            <a:normAutofit/>
          </a:bodyPr>
          <a:lstStyle/>
          <a:p>
            <a:r>
              <a:rPr lang="zh-CN" altLang="en-US" sz="2199" dirty="0"/>
              <a:t>鲲鹏</a:t>
            </a:r>
            <a:r>
              <a:rPr lang="en-US" altLang="zh-CN" sz="2199" dirty="0"/>
              <a:t>PVM</a:t>
            </a:r>
            <a:r>
              <a:rPr lang="zh-CN" altLang="en-US" sz="2199" dirty="0"/>
              <a:t>：面向</a:t>
            </a:r>
            <a:r>
              <a:rPr lang="en-US" altLang="zh-CN" sz="2199" dirty="0"/>
              <a:t>Agent</a:t>
            </a:r>
            <a:r>
              <a:rPr lang="zh-CN" altLang="en-US" sz="2199" dirty="0"/>
              <a:t>安全沙箱</a:t>
            </a:r>
            <a:r>
              <a:rPr lang="en-US" altLang="zh-CN" sz="2199" dirty="0"/>
              <a:t>/</a:t>
            </a:r>
            <a:r>
              <a:rPr lang="zh-CN" altLang="en-US" sz="2199" dirty="0"/>
              <a:t>云原生环境的软件嵌套虚拟化新范式，性能损失</a:t>
            </a:r>
            <a:r>
              <a:rPr lang="en-US" altLang="zh-CN" sz="2199" dirty="0"/>
              <a:t>&lt;10%</a:t>
            </a:r>
            <a:endParaRPr lang="zh-CN" altLang="en-US" sz="2199" dirty="0"/>
          </a:p>
        </p:txBody>
      </p:sp>
      <p:sp>
        <p:nvSpPr>
          <p:cNvPr id="9" name="文本框 109">
            <a:extLst>
              <a:ext uri="{FF2B5EF4-FFF2-40B4-BE49-F238E27FC236}">
                <a16:creationId xmlns:a16="http://schemas.microsoft.com/office/drawing/2014/main" id="{325DD5E4-D632-4808-8ED4-27EAAAA0709D}"/>
              </a:ext>
            </a:extLst>
          </p:cNvPr>
          <p:cNvSpPr txBox="1"/>
          <p:nvPr/>
        </p:nvSpPr>
        <p:spPr>
          <a:xfrm>
            <a:off x="243488" y="900988"/>
            <a:ext cx="4952909" cy="151442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wrap="square" lIns="71972" tIns="35986" rIns="71972" bIns="107958" rtlCol="0">
            <a:spAutoFit/>
          </a:bodyPr>
          <a:lstStyle/>
          <a:p>
            <a:pPr algn="ctr" defTabSz="914034">
              <a:spcAft>
                <a:spcPts val="600"/>
              </a:spcAft>
              <a:defRPr/>
            </a:pPr>
            <a:r>
              <a:rPr lang="zh-CN" altLang="en-US" sz="1399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背景及挑战</a:t>
            </a:r>
            <a:endParaRPr lang="en-US" altLang="zh-CN" sz="1399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381" indent="-171381" defTabSz="914034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在云原生环境中，容器通常部署在轻量级虚拟机中，提供安全隔离和隐私保护</a:t>
            </a:r>
            <a:endParaRPr lang="en-US" altLang="zh-CN" sz="10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381" indent="-171381" defTabSz="914034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随着对定制化云服务需求的增长，第三方供应商开始转向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IaaS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云提供商来构建自己的云原生平台，这导致需要在从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IaaS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云租用的虚拟机实例中运行另一个虚拟机或客户机来承载容器，实现更优的</a:t>
            </a:r>
            <a:r>
              <a:rPr lang="zh-CN" altLang="en-US" sz="10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弹性和成本效率</a:t>
            </a:r>
            <a:r>
              <a:rPr lang="zh-CN" altLang="en-US" sz="1000" dirty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000" dirty="0">
              <a:solidFill>
                <a:srgbClr val="2828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381" indent="-171381" defTabSz="914034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互联网已规模商用</a:t>
            </a:r>
            <a:r>
              <a:rPr lang="en-US" altLang="zh-CN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x86 PVM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0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阿里云</a:t>
            </a:r>
            <a:r>
              <a:rPr lang="en-US" altLang="zh-CN" sz="10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蚂蚁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（规模商用）、</a:t>
            </a:r>
            <a:r>
              <a:rPr lang="zh-CN" altLang="en-US" sz="10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（规模商用）、</a:t>
            </a:r>
            <a:r>
              <a:rPr lang="zh-CN" altLang="en-US" sz="10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腾讯</a:t>
            </a:r>
            <a:r>
              <a:rPr lang="zh-CN" altLang="en-US" sz="10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（规模商用）；</a:t>
            </a:r>
            <a:r>
              <a:rPr lang="zh-CN" altLang="en-US" sz="1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鲲鹏当前不支持嵌套虚拟化</a:t>
            </a:r>
          </a:p>
        </p:txBody>
      </p:sp>
      <p:sp>
        <p:nvSpPr>
          <p:cNvPr id="10" name="文本框 109">
            <a:extLst>
              <a:ext uri="{FF2B5EF4-FFF2-40B4-BE49-F238E27FC236}">
                <a16:creationId xmlns:a16="http://schemas.microsoft.com/office/drawing/2014/main" id="{4C22650E-2FA7-4282-9101-D2C1F32B0F89}"/>
              </a:ext>
            </a:extLst>
          </p:cNvPr>
          <p:cNvSpPr txBox="1"/>
          <p:nvPr/>
        </p:nvSpPr>
        <p:spPr>
          <a:xfrm>
            <a:off x="5413892" y="886376"/>
            <a:ext cx="6160400" cy="1274286"/>
          </a:xfrm>
          <a:prstGeom prst="rect">
            <a:avLst/>
          </a:prstGeom>
          <a:noFill/>
          <a:ln w="12700">
            <a:solidFill>
              <a:schemeClr val="tx1">
                <a:lumMod val="10000"/>
                <a:lumOff val="90000"/>
              </a:schemeClr>
            </a:solidFill>
          </a:ln>
        </p:spPr>
        <p:txBody>
          <a:bodyPr wrap="square" lIns="71972" tIns="35986" rIns="71972" bIns="35986" rtlCol="0">
            <a:spAutoFit/>
          </a:bodyPr>
          <a:lstStyle/>
          <a:p>
            <a:pPr algn="ctr" defTabSz="914034">
              <a:lnSpc>
                <a:spcPct val="150000"/>
              </a:lnSpc>
              <a:spcAft>
                <a:spcPts val="600"/>
              </a:spcAft>
              <a:defRPr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方案介绍</a:t>
            </a:r>
            <a:endParaRPr lang="en-US" altLang="zh-CN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034"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PVM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200" b="1" dirty="0">
                <a:solidFill>
                  <a:srgbClr val="1F2328"/>
                </a:solidFill>
                <a:latin typeface="Mona Sans VF"/>
                <a:ea typeface="微软雅黑"/>
              </a:rPr>
              <a:t>基于页表的嵌套虚拟化框架</a:t>
            </a:r>
            <a:r>
              <a:rPr lang="zh-CN" altLang="en-US" sz="1200" dirty="0">
                <a:solidFill>
                  <a:srgbClr val="1F2328"/>
                </a:solidFill>
                <a:latin typeface="Mona Sans VF"/>
                <a:ea typeface="微软雅黑"/>
              </a:rPr>
              <a:t>，不依赖宿主 </a:t>
            </a:r>
            <a:r>
              <a:rPr lang="en-US" altLang="zh-CN" sz="1200" dirty="0">
                <a:solidFill>
                  <a:srgbClr val="1F2328"/>
                </a:solidFill>
                <a:latin typeface="Mona Sans VF"/>
                <a:ea typeface="微软雅黑"/>
              </a:rPr>
              <a:t>Hypervisor </a:t>
            </a:r>
            <a:r>
              <a:rPr lang="zh-CN" altLang="en-US" sz="1200" dirty="0">
                <a:solidFill>
                  <a:srgbClr val="1F2328"/>
                </a:solidFill>
                <a:latin typeface="Mona Sans VF"/>
                <a:ea typeface="微软雅黑"/>
              </a:rPr>
              <a:t>向 </a:t>
            </a:r>
            <a:r>
              <a:rPr lang="en-US" altLang="zh-CN" sz="1200" dirty="0">
                <a:solidFill>
                  <a:srgbClr val="1F2328"/>
                </a:solidFill>
                <a:latin typeface="Mona Sans VF"/>
                <a:ea typeface="微软雅黑"/>
              </a:rPr>
              <a:t>Guest </a:t>
            </a:r>
            <a:r>
              <a:rPr lang="zh-CN" altLang="en-US" sz="1200" dirty="0">
                <a:solidFill>
                  <a:srgbClr val="1F2328"/>
                </a:solidFill>
                <a:latin typeface="Mona Sans VF"/>
                <a:ea typeface="微软雅黑"/>
              </a:rPr>
              <a:t>暴露 </a:t>
            </a:r>
            <a:r>
              <a:rPr lang="en-US" altLang="zh-CN" sz="1200" dirty="0">
                <a:solidFill>
                  <a:srgbClr val="1F2328"/>
                </a:solidFill>
                <a:latin typeface="Mona Sans VF"/>
                <a:ea typeface="微软雅黑"/>
              </a:rPr>
              <a:t>Intel VT-x / AMD-V </a:t>
            </a:r>
            <a:r>
              <a:rPr lang="zh-CN" altLang="en-US" sz="1200" dirty="0">
                <a:solidFill>
                  <a:srgbClr val="1F2328"/>
                </a:solidFill>
                <a:latin typeface="Mona Sans VF"/>
                <a:ea typeface="微软雅黑"/>
              </a:rPr>
              <a:t>等硬件虚拟化扩展，在 </a:t>
            </a:r>
            <a:r>
              <a:rPr lang="en-US" altLang="zh-CN" sz="1200" dirty="0">
                <a:solidFill>
                  <a:srgbClr val="1F2328"/>
                </a:solidFill>
                <a:latin typeface="Mona Sans VF"/>
                <a:ea typeface="微软雅黑"/>
              </a:rPr>
              <a:t>Guest </a:t>
            </a:r>
            <a:r>
              <a:rPr lang="zh-CN" altLang="en-US" sz="1200" dirty="0">
                <a:solidFill>
                  <a:srgbClr val="1F2328"/>
                </a:solidFill>
                <a:latin typeface="Mona Sans VF"/>
                <a:ea typeface="微软雅黑"/>
              </a:rPr>
              <a:t>内核层通过共享内存区域和影子页表（</a:t>
            </a:r>
            <a:r>
              <a:rPr lang="en-US" altLang="zh-CN" sz="1200" dirty="0">
                <a:solidFill>
                  <a:srgbClr val="1F2328"/>
                </a:solidFill>
                <a:latin typeface="Mona Sans VF"/>
                <a:ea typeface="微软雅黑"/>
              </a:rPr>
              <a:t>shadow page table</a:t>
            </a:r>
            <a:r>
              <a:rPr lang="zh-CN" altLang="en-US" sz="1200" dirty="0">
                <a:solidFill>
                  <a:srgbClr val="1F2328"/>
                </a:solidFill>
                <a:latin typeface="Mona Sans VF"/>
                <a:ea typeface="微软雅黑"/>
              </a:rPr>
              <a:t>）来完成特权级切换与内存虚拟化，对宿主 </a:t>
            </a:r>
            <a:r>
              <a:rPr lang="en-US" altLang="zh-CN" sz="1200" dirty="0">
                <a:solidFill>
                  <a:srgbClr val="1F2328"/>
                </a:solidFill>
                <a:latin typeface="Mona Sans VF"/>
                <a:ea typeface="微软雅黑"/>
              </a:rPr>
              <a:t>Hypervisor </a:t>
            </a:r>
            <a:r>
              <a:rPr lang="zh-CN" altLang="en-US" sz="1200" dirty="0">
                <a:solidFill>
                  <a:srgbClr val="1F2328"/>
                </a:solidFill>
                <a:latin typeface="Mona Sans VF"/>
                <a:ea typeface="微软雅黑"/>
              </a:rPr>
              <a:t>完全透明。</a:t>
            </a:r>
            <a:endParaRPr lang="zh-CN" altLang="en-US" sz="12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圆角矩形 11">
            <a:extLst>
              <a:ext uri="{FF2B5EF4-FFF2-40B4-BE49-F238E27FC236}">
                <a16:creationId xmlns:a16="http://schemas.microsoft.com/office/drawing/2014/main" id="{0ADF07B7-AD9E-4223-8B95-131193B0908F}"/>
              </a:ext>
            </a:extLst>
          </p:cNvPr>
          <p:cNvSpPr/>
          <p:nvPr/>
        </p:nvSpPr>
        <p:spPr>
          <a:xfrm>
            <a:off x="712634" y="2971676"/>
            <a:ext cx="1298462" cy="2231984"/>
          </a:xfrm>
          <a:prstGeom prst="roundRect">
            <a:avLst>
              <a:gd name="adj" fmla="val 8866"/>
            </a:avLst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35986" bIns="35986" rtlCol="0" anchor="t" anchorCtr="0"/>
          <a:lstStyle/>
          <a:p>
            <a:pPr defTabSz="457017">
              <a:defRPr/>
            </a:pPr>
            <a:r>
              <a:rPr kumimoji="1" lang="en-US" altLang="zh-CN" sz="900" b="1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L1 VM</a:t>
            </a:r>
            <a:endParaRPr kumimoji="1" lang="zh-CN" altLang="en-US" sz="900" b="1" kern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cxnSp>
        <p:nvCxnSpPr>
          <p:cNvPr id="16" name="直线连接符 9">
            <a:extLst>
              <a:ext uri="{FF2B5EF4-FFF2-40B4-BE49-F238E27FC236}">
                <a16:creationId xmlns:a16="http://schemas.microsoft.com/office/drawing/2014/main" id="{0A8C5759-5EB5-47F1-AD9B-F9560F8C21CF}"/>
              </a:ext>
            </a:extLst>
          </p:cNvPr>
          <p:cNvCxnSpPr>
            <a:cxnSpLocks/>
          </p:cNvCxnSpPr>
          <p:nvPr/>
        </p:nvCxnSpPr>
        <p:spPr>
          <a:xfrm>
            <a:off x="243489" y="3869484"/>
            <a:ext cx="4952909" cy="0"/>
          </a:xfrm>
          <a:prstGeom prst="line">
            <a:avLst/>
          </a:prstGeom>
          <a:noFill/>
          <a:ln w="25400" cap="flat" cmpd="sng" algn="ctr">
            <a:solidFill>
              <a:srgbClr val="666666">
                <a:lumMod val="60000"/>
                <a:lumOff val="40000"/>
              </a:srgbClr>
            </a:solidFill>
            <a:prstDash val="sysDash"/>
            <a:miter lim="800000"/>
          </a:ln>
          <a:effectLst/>
        </p:spPr>
      </p:cxnSp>
      <p:cxnSp>
        <p:nvCxnSpPr>
          <p:cNvPr id="17" name="直线连接符 9">
            <a:extLst>
              <a:ext uri="{FF2B5EF4-FFF2-40B4-BE49-F238E27FC236}">
                <a16:creationId xmlns:a16="http://schemas.microsoft.com/office/drawing/2014/main" id="{EBBF4CBD-C178-4B44-8CDD-936C52681A43}"/>
              </a:ext>
            </a:extLst>
          </p:cNvPr>
          <p:cNvCxnSpPr>
            <a:cxnSpLocks/>
          </p:cNvCxnSpPr>
          <p:nvPr/>
        </p:nvCxnSpPr>
        <p:spPr>
          <a:xfrm flipV="1">
            <a:off x="243489" y="5341454"/>
            <a:ext cx="4952909" cy="0"/>
          </a:xfrm>
          <a:prstGeom prst="line">
            <a:avLst/>
          </a:prstGeom>
          <a:noFill/>
          <a:ln w="25400" cap="flat" cmpd="sng" algn="ctr">
            <a:solidFill>
              <a:srgbClr val="666666">
                <a:lumMod val="60000"/>
                <a:lumOff val="40000"/>
              </a:srgbClr>
            </a:solidFill>
            <a:prstDash val="sysDash"/>
            <a:miter lim="800000"/>
          </a:ln>
          <a:effectLst/>
        </p:spPr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B627C103-58BA-4D0C-AA10-FA9B05C617E1}"/>
              </a:ext>
            </a:extLst>
          </p:cNvPr>
          <p:cNvSpPr txBox="1"/>
          <p:nvPr/>
        </p:nvSpPr>
        <p:spPr>
          <a:xfrm>
            <a:off x="258715" y="5699923"/>
            <a:ext cx="430688" cy="226503"/>
          </a:xfrm>
          <a:prstGeom prst="rect">
            <a:avLst/>
          </a:prstGeom>
          <a:noFill/>
        </p:spPr>
        <p:txBody>
          <a:bodyPr wrap="square" lIns="35986" tIns="35986" rIns="35986" bIns="35986" rtlCol="0" anchor="ctr" anchorCtr="0">
            <a:spAutoFit/>
          </a:bodyPr>
          <a:lstStyle/>
          <a:p>
            <a:pPr algn="ctr" defTabSz="457017">
              <a:defRPr/>
            </a:pPr>
            <a:r>
              <a:rPr kumimoji="1" lang="en-US" altLang="zh-CN" sz="1000" b="1" kern="0" dirty="0">
                <a:solidFill>
                  <a:srgbClr val="06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EL2</a:t>
            </a:r>
            <a:endParaRPr kumimoji="1" lang="zh-CN" altLang="en-US" sz="1000" b="1" kern="0" dirty="0">
              <a:solidFill>
                <a:srgbClr val="0633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852B0BB-8A1E-4B10-AF0C-227775AC5D48}"/>
              </a:ext>
            </a:extLst>
          </p:cNvPr>
          <p:cNvSpPr txBox="1"/>
          <p:nvPr/>
        </p:nvSpPr>
        <p:spPr>
          <a:xfrm>
            <a:off x="258715" y="4514635"/>
            <a:ext cx="430688" cy="226503"/>
          </a:xfrm>
          <a:prstGeom prst="rect">
            <a:avLst/>
          </a:prstGeom>
          <a:noFill/>
        </p:spPr>
        <p:txBody>
          <a:bodyPr wrap="square" lIns="35986" tIns="35986" rIns="35986" bIns="35986" rtlCol="0" anchor="ctr" anchorCtr="0">
            <a:spAutoFit/>
          </a:bodyPr>
          <a:lstStyle/>
          <a:p>
            <a:pPr algn="ctr" defTabSz="457017">
              <a:defRPr/>
            </a:pPr>
            <a:r>
              <a:rPr kumimoji="1" lang="en-US" altLang="zh-CN" sz="1000" b="1" kern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EL1</a:t>
            </a:r>
            <a:endParaRPr kumimoji="1" lang="zh-CN" altLang="en-US" sz="1000" b="1" kern="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670083E-FBDB-4510-BB04-937BE44AD586}"/>
              </a:ext>
            </a:extLst>
          </p:cNvPr>
          <p:cNvSpPr txBox="1"/>
          <p:nvPr/>
        </p:nvSpPr>
        <p:spPr>
          <a:xfrm>
            <a:off x="258715" y="3200292"/>
            <a:ext cx="430688" cy="226503"/>
          </a:xfrm>
          <a:prstGeom prst="rect">
            <a:avLst/>
          </a:prstGeom>
          <a:noFill/>
        </p:spPr>
        <p:txBody>
          <a:bodyPr wrap="square" lIns="35986" tIns="35986" rIns="35986" bIns="35986" rtlCol="0" anchor="ctr" anchorCtr="0">
            <a:spAutoFit/>
          </a:bodyPr>
          <a:lstStyle/>
          <a:p>
            <a:pPr algn="ctr" defTabSz="457017">
              <a:defRPr/>
            </a:pPr>
            <a:r>
              <a:rPr kumimoji="1" lang="en-US" altLang="zh-CN" sz="1000" b="1" kern="0" dirty="0">
                <a:solidFill>
                  <a:srgbClr val="70AD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EL0</a:t>
            </a:r>
            <a:endParaRPr kumimoji="1" lang="zh-CN" altLang="en-US" sz="1000" b="1" kern="0" dirty="0">
              <a:solidFill>
                <a:srgbClr val="70AD4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4B8CF7F-0EC9-45A6-9D11-A04BBE413ACA}"/>
              </a:ext>
            </a:extLst>
          </p:cNvPr>
          <p:cNvSpPr txBox="1"/>
          <p:nvPr/>
        </p:nvSpPr>
        <p:spPr>
          <a:xfrm>
            <a:off x="771306" y="3720472"/>
            <a:ext cx="515152" cy="288034"/>
          </a:xfrm>
          <a:prstGeom prst="rect">
            <a:avLst/>
          </a:prstGeom>
          <a:noFill/>
        </p:spPr>
        <p:txBody>
          <a:bodyPr wrap="square" lIns="35986" tIns="35986" rIns="35986" bIns="35986" rtlCol="0" anchor="ctr" anchorCtr="0">
            <a:spAutoFit/>
          </a:bodyPr>
          <a:lstStyle/>
          <a:p>
            <a:pPr algn="r" defTabSz="457017">
              <a:defRPr/>
            </a:pPr>
            <a:r>
              <a:rPr kumimoji="1" lang="en-US" altLang="zh-CN" sz="700" ker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syscall/</a:t>
            </a:r>
          </a:p>
          <a:p>
            <a:pPr algn="r" defTabSz="457017">
              <a:defRPr/>
            </a:pPr>
            <a:r>
              <a:rPr kumimoji="1" lang="en-US" altLang="zh-CN" sz="700" ker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exception</a:t>
            </a:r>
            <a:endParaRPr kumimoji="1" lang="en-US" altLang="zh-CN" sz="700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70F1F5C6-C924-4A72-9E2B-DECC21D09997}"/>
              </a:ext>
            </a:extLst>
          </p:cNvPr>
          <p:cNvGrpSpPr/>
          <p:nvPr/>
        </p:nvGrpSpPr>
        <p:grpSpPr>
          <a:xfrm>
            <a:off x="2830533" y="2971677"/>
            <a:ext cx="2189329" cy="683733"/>
            <a:chOff x="6767332" y="3404579"/>
            <a:chExt cx="2196000" cy="684000"/>
          </a:xfrm>
        </p:grpSpPr>
        <p:sp>
          <p:nvSpPr>
            <p:cNvPr id="68" name="圆角矩形 11">
              <a:extLst>
                <a:ext uri="{FF2B5EF4-FFF2-40B4-BE49-F238E27FC236}">
                  <a16:creationId xmlns:a16="http://schemas.microsoft.com/office/drawing/2014/main" id="{9D7F1F15-7B7F-41BE-BE37-C41CC047178A}"/>
                </a:ext>
              </a:extLst>
            </p:cNvPr>
            <p:cNvSpPr/>
            <p:nvPr/>
          </p:nvSpPr>
          <p:spPr>
            <a:xfrm>
              <a:off x="6767332" y="3404579"/>
              <a:ext cx="2196000" cy="68400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tIns="35986" bIns="35986" rtlCol="0" anchor="t" anchorCtr="0"/>
            <a:lstStyle/>
            <a:p>
              <a:pPr defTabSz="457017">
                <a:defRPr/>
              </a:pPr>
              <a:r>
                <a:rPr kumimoji="1" lang="en-US" altLang="zh-CN" sz="9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anose="020F0502020204030204" pitchFamily="34" charset="0"/>
                </a:rPr>
                <a:t>L2 VM</a:t>
              </a:r>
              <a:endParaRPr kumimoji="1" lang="zh-CN" altLang="en-US" sz="9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69" name="圆角矩形 12">
              <a:extLst>
                <a:ext uri="{FF2B5EF4-FFF2-40B4-BE49-F238E27FC236}">
                  <a16:creationId xmlns:a16="http://schemas.microsoft.com/office/drawing/2014/main" id="{655F220E-06D7-42C0-ADFE-7429CA680293}"/>
                </a:ext>
              </a:extLst>
            </p:cNvPr>
            <p:cNvSpPr/>
            <p:nvPr/>
          </p:nvSpPr>
          <p:spPr>
            <a:xfrm>
              <a:off x="7067652" y="3666257"/>
              <a:ext cx="781451" cy="288000"/>
            </a:xfrm>
            <a:prstGeom prst="roundRect">
              <a:avLst/>
            </a:prstGeom>
            <a:solidFill>
              <a:srgbClr val="70AD47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35986" tIns="35986" rIns="35986" bIns="35986" rtlCol="0" anchor="ctr"/>
            <a:lstStyle/>
            <a:p>
              <a:pPr algn="ctr" defTabSz="457017">
                <a:defRPr/>
              </a:pPr>
              <a:r>
                <a:rPr kumimoji="1" lang="en-US" altLang="zh-CN" sz="90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anose="020F0502020204030204" pitchFamily="34" charset="0"/>
                </a:rPr>
                <a:t>User</a:t>
              </a:r>
              <a:endParaRPr kumimoji="1" lang="zh-CN" altLang="en-US" sz="900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70" name="圆角矩形 12">
              <a:extLst>
                <a:ext uri="{FF2B5EF4-FFF2-40B4-BE49-F238E27FC236}">
                  <a16:creationId xmlns:a16="http://schemas.microsoft.com/office/drawing/2014/main" id="{8222F42A-CC68-4B92-A3D6-9EF4C91A1DD0}"/>
                </a:ext>
              </a:extLst>
            </p:cNvPr>
            <p:cNvSpPr/>
            <p:nvPr/>
          </p:nvSpPr>
          <p:spPr>
            <a:xfrm>
              <a:off x="7986787" y="3666257"/>
              <a:ext cx="781451" cy="288000"/>
            </a:xfrm>
            <a:prstGeom prst="roundRect">
              <a:avLst/>
            </a:prstGeom>
            <a:solidFill>
              <a:srgbClr val="FFFF00"/>
            </a:solidFill>
            <a:ln w="19050" cap="flat" cmpd="sng" algn="ctr">
              <a:solidFill>
                <a:srgbClr val="E9002F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35986" tIns="35986" rIns="35986" bIns="35986" rtlCol="0" anchor="ctr"/>
            <a:lstStyle/>
            <a:p>
              <a:pPr algn="ctr" defTabSz="457017">
                <a:defRPr/>
              </a:pPr>
              <a:r>
                <a:rPr kumimoji="1" lang="en-US" altLang="zh-CN" sz="900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anose="020F0502020204030204" pitchFamily="34" charset="0"/>
                </a:rPr>
                <a:t>Kernel</a:t>
              </a:r>
              <a:endParaRPr kumimoji="1" lang="zh-CN" altLang="en-US" sz="9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A7BD20BB-D9D7-4C26-B62E-0D2C2D4FB17B}"/>
              </a:ext>
            </a:extLst>
          </p:cNvPr>
          <p:cNvSpPr txBox="1"/>
          <p:nvPr/>
        </p:nvSpPr>
        <p:spPr>
          <a:xfrm>
            <a:off x="4477131" y="3720472"/>
            <a:ext cx="542731" cy="288034"/>
          </a:xfrm>
          <a:prstGeom prst="rect">
            <a:avLst/>
          </a:prstGeom>
          <a:noFill/>
        </p:spPr>
        <p:txBody>
          <a:bodyPr wrap="square" lIns="35986" tIns="35986" rIns="35986" bIns="35986" rtlCol="0" anchor="ctr" anchorCtr="0">
            <a:spAutoFit/>
          </a:bodyPr>
          <a:lstStyle/>
          <a:p>
            <a:pPr defTabSz="457017">
              <a:defRPr/>
            </a:pPr>
            <a:r>
              <a:rPr kumimoji="1" lang="en-US" altLang="zh-CN" sz="700" ker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hypercall/</a:t>
            </a:r>
          </a:p>
          <a:p>
            <a:pPr defTabSz="457017">
              <a:defRPr/>
            </a:pPr>
            <a:r>
              <a:rPr kumimoji="1" lang="en-US" altLang="zh-CN" sz="700" ker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exception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68AF553-DA99-4E76-A3EE-D9DD1E41B834}"/>
              </a:ext>
            </a:extLst>
          </p:cNvPr>
          <p:cNvSpPr txBox="1"/>
          <p:nvPr/>
        </p:nvSpPr>
        <p:spPr>
          <a:xfrm>
            <a:off x="2883043" y="3720472"/>
            <a:ext cx="626244" cy="288034"/>
          </a:xfrm>
          <a:prstGeom prst="rect">
            <a:avLst/>
          </a:prstGeom>
          <a:noFill/>
        </p:spPr>
        <p:txBody>
          <a:bodyPr wrap="square" lIns="35986" tIns="35986" rIns="35986" bIns="35986" rtlCol="0" anchor="ctr" anchorCtr="0">
            <a:spAutoFit/>
          </a:bodyPr>
          <a:lstStyle/>
          <a:p>
            <a:pPr algn="r" defTabSz="457017">
              <a:defRPr/>
            </a:pPr>
            <a:r>
              <a:rPr kumimoji="1" lang="en-US" altLang="zh-CN" sz="700" ker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syscall/</a:t>
            </a:r>
          </a:p>
          <a:p>
            <a:pPr algn="r" defTabSz="457017">
              <a:defRPr/>
            </a:pPr>
            <a:r>
              <a:rPr kumimoji="1" lang="en-US" altLang="zh-CN" sz="700" ker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exception</a:t>
            </a:r>
            <a:endParaRPr kumimoji="1" lang="en-US" altLang="zh-CN" sz="700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311EBB4-9C1F-4104-B900-F6B03BDC9B38}"/>
              </a:ext>
            </a:extLst>
          </p:cNvPr>
          <p:cNvSpPr txBox="1"/>
          <p:nvPr/>
        </p:nvSpPr>
        <p:spPr>
          <a:xfrm>
            <a:off x="3847711" y="3720472"/>
            <a:ext cx="400776" cy="288034"/>
          </a:xfrm>
          <a:prstGeom prst="rect">
            <a:avLst/>
          </a:prstGeom>
          <a:noFill/>
        </p:spPr>
        <p:txBody>
          <a:bodyPr wrap="square" lIns="35986" tIns="35986" rIns="35986" bIns="35986" rtlCol="0" anchor="ctr" anchorCtr="0">
            <a:spAutoFit/>
          </a:bodyPr>
          <a:lstStyle/>
          <a:p>
            <a:pPr defTabSz="457017">
              <a:defRPr/>
            </a:pPr>
            <a:r>
              <a:rPr kumimoji="1" lang="en-US" altLang="zh-CN" sz="700" ker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sysret/</a:t>
            </a:r>
          </a:p>
          <a:p>
            <a:pPr defTabSz="457017">
              <a:defRPr/>
            </a:pPr>
            <a:r>
              <a:rPr kumimoji="1" lang="en-US" altLang="zh-CN" sz="700" ker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iret</a:t>
            </a:r>
            <a:endParaRPr kumimoji="1" lang="zh-CN" altLang="en-US" sz="700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3AEB6C11-960B-4AD5-81E0-E41F3DE040FF}"/>
              </a:ext>
            </a:extLst>
          </p:cNvPr>
          <p:cNvSpPr/>
          <p:nvPr/>
        </p:nvSpPr>
        <p:spPr>
          <a:xfrm>
            <a:off x="243488" y="2625450"/>
            <a:ext cx="1904670" cy="3639484"/>
          </a:xfrm>
          <a:prstGeom prst="roundRect">
            <a:avLst>
              <a:gd name="adj" fmla="val 5675"/>
            </a:avLst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35986" rIns="91404" bIns="35986" numCol="1" spcCol="0" rtlCol="0" fromWordArt="0" anchor="t" anchorCtr="0" forceAA="0" compatLnSpc="1">
            <a:noAutofit/>
          </a:bodyPr>
          <a:lstStyle/>
          <a:p>
            <a:pPr algn="ctr" defTabSz="914034">
              <a:defRPr/>
            </a:pPr>
            <a:r>
              <a:rPr lang="zh-CN" altLang="en-US" sz="1100" b="1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单层虚拟化</a:t>
            </a:r>
          </a:p>
        </p:txBody>
      </p:sp>
      <p:cxnSp>
        <p:nvCxnSpPr>
          <p:cNvPr id="27" name="连接符: 曲线 26">
            <a:extLst>
              <a:ext uri="{FF2B5EF4-FFF2-40B4-BE49-F238E27FC236}">
                <a16:creationId xmlns:a16="http://schemas.microsoft.com/office/drawing/2014/main" id="{85F13D51-B7B7-45E8-9A34-61DC0235F110}"/>
              </a:ext>
            </a:extLst>
          </p:cNvPr>
          <p:cNvCxnSpPr>
            <a:cxnSpLocks/>
            <a:stCxn id="40" idx="3"/>
            <a:endCxn id="47" idx="1"/>
          </p:cNvCxnSpPr>
          <p:nvPr/>
        </p:nvCxnSpPr>
        <p:spPr>
          <a:xfrm flipV="1">
            <a:off x="1751405" y="3313543"/>
            <a:ext cx="654189" cy="1204696"/>
          </a:xfrm>
          <a:prstGeom prst="curvedConnector3">
            <a:avLst>
              <a:gd name="adj1" fmla="val 50000"/>
            </a:avLst>
          </a:prstGeom>
          <a:noFill/>
          <a:ln w="25400" cap="flat" cmpd="sng" algn="ctr">
            <a:solidFill>
              <a:srgbClr val="E9002F"/>
            </a:solidFill>
            <a:prstDash val="sysDot"/>
            <a:miter lim="800000"/>
            <a:tailEnd type="triangle" w="lg" len="lg"/>
          </a:ln>
          <a:effectLst/>
        </p:spPr>
      </p:cxnSp>
      <p:sp>
        <p:nvSpPr>
          <p:cNvPr id="28" name="椭圆 27">
            <a:extLst>
              <a:ext uri="{FF2B5EF4-FFF2-40B4-BE49-F238E27FC236}">
                <a16:creationId xmlns:a16="http://schemas.microsoft.com/office/drawing/2014/main" id="{F8DA60AB-7DBC-4F79-96FC-3287B06B39D2}"/>
              </a:ext>
            </a:extLst>
          </p:cNvPr>
          <p:cNvSpPr/>
          <p:nvPr/>
        </p:nvSpPr>
        <p:spPr>
          <a:xfrm>
            <a:off x="2186366" y="3542916"/>
            <a:ext cx="142005" cy="143944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034">
              <a:defRPr/>
            </a:pPr>
            <a:r>
              <a:rPr lang="en-US" altLang="zh-CN" sz="10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0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0F8B87D3-2EC8-4875-8A88-DAA09C75DC6F}"/>
              </a:ext>
            </a:extLst>
          </p:cNvPr>
          <p:cNvGrpSpPr/>
          <p:nvPr/>
        </p:nvGrpSpPr>
        <p:grpSpPr>
          <a:xfrm>
            <a:off x="2832898" y="4052110"/>
            <a:ext cx="2189329" cy="1151550"/>
            <a:chOff x="6767332" y="4288926"/>
            <a:chExt cx="2196000" cy="1152000"/>
          </a:xfrm>
        </p:grpSpPr>
        <p:sp>
          <p:nvSpPr>
            <p:cNvPr id="59" name="圆角矩形 11">
              <a:extLst>
                <a:ext uri="{FF2B5EF4-FFF2-40B4-BE49-F238E27FC236}">
                  <a16:creationId xmlns:a16="http://schemas.microsoft.com/office/drawing/2014/main" id="{A43F8B77-EC04-4E7C-9046-B56098274D57}"/>
                </a:ext>
              </a:extLst>
            </p:cNvPr>
            <p:cNvSpPr/>
            <p:nvPr/>
          </p:nvSpPr>
          <p:spPr>
            <a:xfrm>
              <a:off x="6767332" y="4288926"/>
              <a:ext cx="2196000" cy="1152000"/>
            </a:xfrm>
            <a:prstGeom prst="roundRect">
              <a:avLst>
                <a:gd name="adj" fmla="val 9465"/>
              </a:avLst>
            </a:prstGeom>
            <a:solidFill>
              <a:sysClr val="window" lastClr="FFFFFF">
                <a:lumMod val="8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tIns="35986" bIns="35986" rtlCol="0" anchor="t" anchorCtr="0"/>
            <a:lstStyle/>
            <a:p>
              <a:pPr defTabSz="457017">
                <a:defRPr/>
              </a:pPr>
              <a:r>
                <a:rPr kumimoji="1" lang="en-US" altLang="zh-CN" sz="900" b="1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anose="020F0502020204030204" pitchFamily="34" charset="0"/>
                </a:rPr>
                <a:t>L1 VM</a:t>
              </a:r>
              <a:endParaRPr kumimoji="1" lang="zh-CN" altLang="en-US" sz="9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60" name="圆角矩形 12">
              <a:extLst>
                <a:ext uri="{FF2B5EF4-FFF2-40B4-BE49-F238E27FC236}">
                  <a16:creationId xmlns:a16="http://schemas.microsoft.com/office/drawing/2014/main" id="{0ADE5802-95DE-431F-8C85-E88302CE0159}"/>
                </a:ext>
              </a:extLst>
            </p:cNvPr>
            <p:cNvSpPr/>
            <p:nvPr/>
          </p:nvSpPr>
          <p:spPr>
            <a:xfrm>
              <a:off x="7536529" y="4359491"/>
              <a:ext cx="781451" cy="288000"/>
            </a:xfrm>
            <a:prstGeom prst="roundRect">
              <a:avLst/>
            </a:prstGeom>
            <a:solidFill>
              <a:srgbClr val="7030A0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35986" tIns="35986" rIns="35986" bIns="35986" rtlCol="0" anchor="ctr"/>
            <a:lstStyle/>
            <a:p>
              <a:pPr algn="ctr" defTabSz="457017">
                <a:defRPr/>
              </a:pPr>
              <a:r>
                <a:rPr kumimoji="1" lang="en-US" altLang="zh-CN" sz="90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anose="020F0502020204030204" pitchFamily="34" charset="0"/>
                </a:rPr>
                <a:t>Switcher</a:t>
              </a:r>
              <a:endParaRPr kumimoji="1" lang="zh-CN" altLang="en-US" sz="900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endParaRPr>
            </a:p>
          </p:txBody>
        </p: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87DA9FA5-C7A8-400E-8ECA-9E8C0EFAAE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62959" y="4647491"/>
              <a:ext cx="1" cy="280713"/>
            </a:xfrm>
            <a:prstGeom prst="straightConnector1">
              <a:avLst/>
            </a:prstGeom>
            <a:noFill/>
            <a:ln w="12700" cap="flat" cmpd="sng" algn="ctr">
              <a:solidFill>
                <a:srgbClr val="1D1D1A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CFD749D5-046C-4675-8EE5-25667DF7C952}"/>
                </a:ext>
              </a:extLst>
            </p:cNvPr>
            <p:cNvSpPr txBox="1"/>
            <p:nvPr/>
          </p:nvSpPr>
          <p:spPr>
            <a:xfrm>
              <a:off x="7246176" y="4694674"/>
              <a:ext cx="580708" cy="180425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txBody>
            <a:bodyPr wrap="square" lIns="35986" tIns="35986" rIns="35986" bIns="35986" rtlCol="0" anchor="ctr" anchorCtr="0">
              <a:spAutoFit/>
            </a:bodyPr>
            <a:lstStyle/>
            <a:p>
              <a:pPr algn="r" defTabSz="457017">
                <a:defRPr/>
              </a:pPr>
              <a:r>
                <a:rPr kumimoji="1" lang="en-US" altLang="zh-CN" sz="7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anose="020F0502020204030204" pitchFamily="34" charset="0"/>
                </a:rPr>
                <a:t>VM exit</a:t>
              </a: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5A0EB81E-ED5B-4009-81CD-8258ACA894F0}"/>
                </a:ext>
              </a:extLst>
            </p:cNvPr>
            <p:cNvSpPr txBox="1"/>
            <p:nvPr/>
          </p:nvSpPr>
          <p:spPr>
            <a:xfrm>
              <a:off x="8110613" y="4694674"/>
              <a:ext cx="653243" cy="180425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txBody>
            <a:bodyPr wrap="square" lIns="35986" tIns="35986" rIns="35986" bIns="35986" rtlCol="0" anchor="ctr" anchorCtr="0">
              <a:spAutoFit/>
            </a:bodyPr>
            <a:lstStyle/>
            <a:p>
              <a:pPr defTabSz="457017">
                <a:defRPr/>
              </a:pPr>
              <a:r>
                <a:rPr kumimoji="1" lang="en-US" altLang="zh-CN" sz="700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anose="020F0502020204030204" pitchFamily="34" charset="0"/>
                </a:rPr>
                <a:t>VM entry</a:t>
              </a:r>
              <a:endParaRPr kumimoji="1" lang="en-US" altLang="zh-CN" sz="7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65" name="圆角矩形 12">
              <a:extLst>
                <a:ext uri="{FF2B5EF4-FFF2-40B4-BE49-F238E27FC236}">
                  <a16:creationId xmlns:a16="http://schemas.microsoft.com/office/drawing/2014/main" id="{1B94EB12-2EAE-4B5A-B9C5-F5998DC105D5}"/>
                </a:ext>
              </a:extLst>
            </p:cNvPr>
            <p:cNvSpPr/>
            <p:nvPr/>
          </p:nvSpPr>
          <p:spPr>
            <a:xfrm>
              <a:off x="7271856" y="5000204"/>
              <a:ext cx="1425576" cy="288001"/>
            </a:xfrm>
            <a:prstGeom prst="roundRect">
              <a:avLst/>
            </a:prstGeom>
            <a:solidFill>
              <a:srgbClr val="7030A0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35986" tIns="35986" rIns="35986" bIns="35986" rtlCol="0" anchor="ctr"/>
            <a:lstStyle/>
            <a:p>
              <a:pPr algn="ctr" defTabSz="457017">
                <a:defRPr/>
              </a:pPr>
              <a:r>
                <a:rPr kumimoji="1" lang="en-US" altLang="zh-CN" sz="900" kern="0" dirty="0" err="1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anose="020F0502020204030204" pitchFamily="34" charset="0"/>
                </a:rPr>
                <a:t>pvm.ko</a:t>
              </a:r>
              <a:endParaRPr kumimoji="1" lang="zh-CN" altLang="en-US" sz="900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id="{77E18BE5-0B58-4DC9-8CC3-E142D610BA98}"/>
                </a:ext>
              </a:extLst>
            </p:cNvPr>
            <p:cNvSpPr/>
            <p:nvPr/>
          </p:nvSpPr>
          <p:spPr>
            <a:xfrm>
              <a:off x="7027254" y="4928204"/>
              <a:ext cx="1800000" cy="432000"/>
            </a:xfrm>
            <a:prstGeom prst="roundRect">
              <a:avLst/>
            </a:prstGeom>
            <a:noFill/>
            <a:ln w="6350">
              <a:solidFill>
                <a:sysClr val="windowText" lastClr="00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algn="ctr" defTabSz="914112">
                <a:defRPr/>
              </a:pPr>
              <a:endParaRPr lang="zh-CN" altLang="en-US" sz="1799">
                <a:solidFill>
                  <a:srgbClr val="666666"/>
                </a:solidFill>
                <a:latin typeface="Arial"/>
                <a:ea typeface="黑体" panose="02010609060101010101" pitchFamily="49" charset="-122"/>
              </a:endParaRPr>
            </a:p>
          </p:txBody>
        </p: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08DE0B8D-C974-4B0E-9418-A6EB790BC8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86786" y="4647491"/>
              <a:ext cx="1" cy="280713"/>
            </a:xfrm>
            <a:prstGeom prst="straightConnector1">
              <a:avLst/>
            </a:prstGeom>
            <a:noFill/>
            <a:ln w="12700" cap="flat" cmpd="sng" algn="ctr">
              <a:solidFill>
                <a:srgbClr val="1D1D1A"/>
              </a:solidFill>
              <a:prstDash val="solid"/>
              <a:miter lim="800000"/>
              <a:tailEnd type="triangle"/>
            </a:ln>
            <a:effectLst/>
          </p:spPr>
        </p:cxnSp>
      </p:grp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04DF911E-DB93-4A12-905D-74FA34D04523}"/>
              </a:ext>
            </a:extLst>
          </p:cNvPr>
          <p:cNvCxnSpPr>
            <a:cxnSpLocks/>
          </p:cNvCxnSpPr>
          <p:nvPr/>
        </p:nvCxnSpPr>
        <p:spPr>
          <a:xfrm>
            <a:off x="3335889" y="3521139"/>
            <a:ext cx="469819" cy="60150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8BDCDF58-5DE1-4C81-BB43-63D0E440429D}"/>
              </a:ext>
            </a:extLst>
          </p:cNvPr>
          <p:cNvCxnSpPr>
            <a:cxnSpLocks/>
          </p:cNvCxnSpPr>
          <p:nvPr/>
        </p:nvCxnSpPr>
        <p:spPr>
          <a:xfrm flipH="1" flipV="1">
            <a:off x="3456172" y="3521139"/>
            <a:ext cx="469819" cy="60150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1540CDFC-6712-4E98-90A4-27E3B90E8240}"/>
              </a:ext>
            </a:extLst>
          </p:cNvPr>
          <p:cNvCxnSpPr>
            <a:cxnSpLocks/>
          </p:cNvCxnSpPr>
          <p:nvPr/>
        </p:nvCxnSpPr>
        <p:spPr>
          <a:xfrm flipV="1">
            <a:off x="4109580" y="3521139"/>
            <a:ext cx="446524" cy="60150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C96E9771-4669-4945-9AB5-CAAD249AEDAF}"/>
              </a:ext>
            </a:extLst>
          </p:cNvPr>
          <p:cNvCxnSpPr>
            <a:cxnSpLocks/>
          </p:cNvCxnSpPr>
          <p:nvPr/>
        </p:nvCxnSpPr>
        <p:spPr>
          <a:xfrm flipH="1">
            <a:off x="4236195" y="3521139"/>
            <a:ext cx="446524" cy="60150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9F9CC824-3657-4023-8E1B-250BC555B103}"/>
              </a:ext>
            </a:extLst>
          </p:cNvPr>
          <p:cNvGrpSpPr/>
          <p:nvPr/>
        </p:nvGrpSpPr>
        <p:grpSpPr>
          <a:xfrm>
            <a:off x="2830533" y="5525286"/>
            <a:ext cx="2189329" cy="575775"/>
            <a:chOff x="6767332" y="3404579"/>
            <a:chExt cx="2196000" cy="576000"/>
          </a:xfrm>
        </p:grpSpPr>
        <p:sp>
          <p:nvSpPr>
            <p:cNvPr id="57" name="圆角矩形 11">
              <a:extLst>
                <a:ext uri="{FF2B5EF4-FFF2-40B4-BE49-F238E27FC236}">
                  <a16:creationId xmlns:a16="http://schemas.microsoft.com/office/drawing/2014/main" id="{C0E4927D-6BBB-4972-8CE4-82C54A3998E0}"/>
                </a:ext>
              </a:extLst>
            </p:cNvPr>
            <p:cNvSpPr/>
            <p:nvPr/>
          </p:nvSpPr>
          <p:spPr>
            <a:xfrm>
              <a:off x="6767332" y="3404579"/>
              <a:ext cx="2196000" cy="57600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tIns="35986" bIns="35986" rtlCol="0" anchor="t" anchorCtr="0"/>
            <a:lstStyle/>
            <a:p>
              <a:pPr defTabSz="457017">
                <a:defRPr/>
              </a:pPr>
              <a:r>
                <a:rPr kumimoji="1" lang="en-US" altLang="zh-CN" sz="900" b="1" kern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anose="020F0502020204030204" pitchFamily="34" charset="0"/>
                </a:rPr>
                <a:t>L0</a:t>
              </a:r>
              <a:endParaRPr kumimoji="1" lang="zh-CN" altLang="en-US" sz="900" b="1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58" name="圆角矩形 12">
              <a:extLst>
                <a:ext uri="{FF2B5EF4-FFF2-40B4-BE49-F238E27FC236}">
                  <a16:creationId xmlns:a16="http://schemas.microsoft.com/office/drawing/2014/main" id="{26E8F13E-EF8B-46D7-A1C4-463FFC07D731}"/>
                </a:ext>
              </a:extLst>
            </p:cNvPr>
            <p:cNvSpPr/>
            <p:nvPr/>
          </p:nvSpPr>
          <p:spPr>
            <a:xfrm>
              <a:off x="7474607" y="3548579"/>
              <a:ext cx="781451" cy="288000"/>
            </a:xfrm>
            <a:prstGeom prst="roundRect">
              <a:avLst/>
            </a:prstGeom>
            <a:solidFill>
              <a:srgbClr val="0432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35986" tIns="35986" rIns="35986" bIns="35986" rtlCol="0" anchor="ctr"/>
            <a:lstStyle/>
            <a:p>
              <a:pPr algn="ctr" defTabSz="457017">
                <a:defRPr/>
              </a:pPr>
              <a:r>
                <a:rPr kumimoji="1" lang="en-US" altLang="zh-CN" sz="900" kern="0" dirty="0" err="1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anose="020F0502020204030204" pitchFamily="34" charset="0"/>
                </a:rPr>
                <a:t>kvm</a:t>
              </a:r>
              <a:r>
                <a:rPr kumimoji="1" lang="en-US" altLang="zh-CN" sz="1000" kern="0" dirty="0" err="1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anose="020F0502020204030204" pitchFamily="34" charset="0"/>
                </a:rPr>
                <a:t>.ko</a:t>
              </a:r>
              <a:endParaRPr kumimoji="1" lang="zh-CN" altLang="en-US" sz="1000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endParaRPr>
            </a:p>
          </p:txBody>
        </p:sp>
      </p:grp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51EBBDAF-D281-47E8-AC55-9CE07CD63063}"/>
              </a:ext>
            </a:extLst>
          </p:cNvPr>
          <p:cNvCxnSpPr>
            <a:cxnSpLocks/>
          </p:cNvCxnSpPr>
          <p:nvPr/>
        </p:nvCxnSpPr>
        <p:spPr>
          <a:xfrm flipH="1">
            <a:off x="3823905" y="5203661"/>
            <a:ext cx="0" cy="3216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2DB07DD5-AA02-4D49-BB8F-47CE12BF196F}"/>
              </a:ext>
            </a:extLst>
          </p:cNvPr>
          <p:cNvCxnSpPr>
            <a:cxnSpLocks/>
          </p:cNvCxnSpPr>
          <p:nvPr/>
        </p:nvCxnSpPr>
        <p:spPr>
          <a:xfrm flipV="1">
            <a:off x="3982173" y="5203661"/>
            <a:ext cx="0" cy="3216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D66C63A0-051E-4C69-A56C-425CAC317EBA}"/>
              </a:ext>
            </a:extLst>
          </p:cNvPr>
          <p:cNvSpPr txBox="1"/>
          <p:nvPr/>
        </p:nvSpPr>
        <p:spPr>
          <a:xfrm>
            <a:off x="3165828" y="5326106"/>
            <a:ext cx="578944" cy="180355"/>
          </a:xfrm>
          <a:prstGeom prst="rect">
            <a:avLst/>
          </a:prstGeom>
          <a:noFill/>
        </p:spPr>
        <p:txBody>
          <a:bodyPr wrap="square" lIns="35986" tIns="35986" rIns="35986" bIns="35986" rtlCol="0" anchor="ctr" anchorCtr="0">
            <a:spAutoFit/>
          </a:bodyPr>
          <a:lstStyle/>
          <a:p>
            <a:pPr algn="r" defTabSz="457017">
              <a:defRPr/>
            </a:pPr>
            <a:r>
              <a:rPr kumimoji="1" lang="en-US" altLang="zh-CN" sz="7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VM exit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9AF0568-1C13-47AC-9C4A-526E9A17E36F}"/>
              </a:ext>
            </a:extLst>
          </p:cNvPr>
          <p:cNvSpPr txBox="1"/>
          <p:nvPr/>
        </p:nvSpPr>
        <p:spPr>
          <a:xfrm>
            <a:off x="4072598" y="5326106"/>
            <a:ext cx="651259" cy="180355"/>
          </a:xfrm>
          <a:prstGeom prst="rect">
            <a:avLst/>
          </a:prstGeom>
          <a:noFill/>
        </p:spPr>
        <p:txBody>
          <a:bodyPr wrap="square" lIns="35986" tIns="35986" rIns="35986" bIns="35986" rtlCol="0" anchor="ctr" anchorCtr="0">
            <a:spAutoFit/>
          </a:bodyPr>
          <a:lstStyle/>
          <a:p>
            <a:pPr defTabSz="457017">
              <a:defRPr/>
            </a:pPr>
            <a:r>
              <a:rPr kumimoji="1" lang="en-US" altLang="zh-CN" sz="700" ker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VM entry</a:t>
            </a:r>
            <a:endParaRPr kumimoji="1" lang="en-US" altLang="zh-CN" sz="700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9" name="圆角矩形 12">
            <a:extLst>
              <a:ext uri="{FF2B5EF4-FFF2-40B4-BE49-F238E27FC236}">
                <a16:creationId xmlns:a16="http://schemas.microsoft.com/office/drawing/2014/main" id="{67A0BC7B-53B4-4810-91C4-BA05ECCFA0AE}"/>
              </a:ext>
            </a:extLst>
          </p:cNvPr>
          <p:cNvSpPr/>
          <p:nvPr/>
        </p:nvSpPr>
        <p:spPr>
          <a:xfrm>
            <a:off x="972327" y="3291039"/>
            <a:ext cx="779077" cy="287888"/>
          </a:xfrm>
          <a:prstGeom prst="roundRect">
            <a:avLst/>
          </a:prstGeom>
          <a:solidFill>
            <a:srgbClr val="70AD47"/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5986" tIns="35986" rIns="35986" bIns="35986" rtlCol="0" anchor="ctr"/>
          <a:lstStyle/>
          <a:p>
            <a:pPr algn="ctr" defTabSz="457017">
              <a:defRPr/>
            </a:pPr>
            <a:r>
              <a:rPr kumimoji="1" lang="en-US" altLang="zh-CN" sz="900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User</a:t>
            </a:r>
            <a:endParaRPr kumimoji="1" lang="zh-CN" altLang="en-US" sz="9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40" name="圆角矩形 12">
            <a:extLst>
              <a:ext uri="{FF2B5EF4-FFF2-40B4-BE49-F238E27FC236}">
                <a16:creationId xmlns:a16="http://schemas.microsoft.com/office/drawing/2014/main" id="{194A0930-2A87-40FB-AEA3-FEA47B98726F}"/>
              </a:ext>
            </a:extLst>
          </p:cNvPr>
          <p:cNvSpPr/>
          <p:nvPr/>
        </p:nvSpPr>
        <p:spPr>
          <a:xfrm>
            <a:off x="972327" y="4374296"/>
            <a:ext cx="779077" cy="287888"/>
          </a:xfrm>
          <a:prstGeom prst="roundRect">
            <a:avLst/>
          </a:prstGeom>
          <a:solidFill>
            <a:srgbClr val="FFFF00"/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5986" tIns="35986" rIns="35986" bIns="35986" rtlCol="0" anchor="ctr"/>
          <a:lstStyle/>
          <a:p>
            <a:pPr algn="ctr" defTabSz="457017">
              <a:defRPr/>
            </a:pPr>
            <a:r>
              <a:rPr kumimoji="1" lang="en-US" altLang="zh-CN" sz="9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Kernel</a:t>
            </a:r>
            <a:endParaRPr kumimoji="1" lang="zh-CN" altLang="en-US" sz="9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32B1584B-308D-4EEE-884E-53E3DB0B847A}"/>
              </a:ext>
            </a:extLst>
          </p:cNvPr>
          <p:cNvGrpSpPr/>
          <p:nvPr/>
        </p:nvGrpSpPr>
        <p:grpSpPr>
          <a:xfrm>
            <a:off x="712634" y="5525286"/>
            <a:ext cx="1298462" cy="575775"/>
            <a:chOff x="6738735" y="5860007"/>
            <a:chExt cx="1302418" cy="576000"/>
          </a:xfrm>
        </p:grpSpPr>
        <p:sp>
          <p:nvSpPr>
            <p:cNvPr id="55" name="圆角矩形 11">
              <a:extLst>
                <a:ext uri="{FF2B5EF4-FFF2-40B4-BE49-F238E27FC236}">
                  <a16:creationId xmlns:a16="http://schemas.microsoft.com/office/drawing/2014/main" id="{9F5D861F-B5BC-408C-BD82-5D869783C516}"/>
                </a:ext>
              </a:extLst>
            </p:cNvPr>
            <p:cNvSpPr/>
            <p:nvPr/>
          </p:nvSpPr>
          <p:spPr>
            <a:xfrm>
              <a:off x="6738735" y="5860007"/>
              <a:ext cx="1302418" cy="57600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tIns="35986" bIns="35986" rtlCol="0" anchor="t" anchorCtr="0"/>
            <a:lstStyle/>
            <a:p>
              <a:pPr defTabSz="457017">
                <a:defRPr/>
              </a:pPr>
              <a:r>
                <a:rPr kumimoji="1" lang="en-US" altLang="zh-CN" sz="900" b="1" kern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anose="020F0502020204030204" pitchFamily="34" charset="0"/>
                </a:rPr>
                <a:t>L0</a:t>
              </a:r>
              <a:endParaRPr kumimoji="1" lang="zh-CN" altLang="en-US" sz="900" b="1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56" name="圆角矩形 12">
              <a:extLst>
                <a:ext uri="{FF2B5EF4-FFF2-40B4-BE49-F238E27FC236}">
                  <a16:creationId xmlns:a16="http://schemas.microsoft.com/office/drawing/2014/main" id="{313149D1-A677-44A6-9140-978ADC3BE9D9}"/>
                </a:ext>
              </a:extLst>
            </p:cNvPr>
            <p:cNvSpPr/>
            <p:nvPr/>
          </p:nvSpPr>
          <p:spPr>
            <a:xfrm>
              <a:off x="6999219" y="6004007"/>
              <a:ext cx="781451" cy="288000"/>
            </a:xfrm>
            <a:prstGeom prst="roundRect">
              <a:avLst/>
            </a:prstGeom>
            <a:solidFill>
              <a:srgbClr val="0432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35986" tIns="35986" rIns="35986" bIns="35986" rtlCol="0" anchor="ctr"/>
            <a:lstStyle/>
            <a:p>
              <a:pPr algn="ctr" defTabSz="457017">
                <a:defRPr/>
              </a:pPr>
              <a:r>
                <a:rPr kumimoji="1" lang="en-US" altLang="zh-CN" sz="900" ker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anose="020F0502020204030204" pitchFamily="34" charset="0"/>
                </a:rPr>
                <a:t>kvm</a:t>
              </a:r>
              <a:r>
                <a:rPr kumimoji="1" lang="en-US" altLang="zh-CN" sz="1000" ker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anose="020F0502020204030204" pitchFamily="34" charset="0"/>
                </a:rPr>
                <a:t>.ko</a:t>
              </a:r>
              <a:endParaRPr kumimoji="1" lang="zh-CN" altLang="en-US" sz="1000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endParaRPr>
            </a:p>
          </p:txBody>
        </p:sp>
      </p:grp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4EB290C4-EA4C-410C-8640-8827B82E0B8C}"/>
              </a:ext>
            </a:extLst>
          </p:cNvPr>
          <p:cNvCxnSpPr>
            <a:cxnSpLocks/>
          </p:cNvCxnSpPr>
          <p:nvPr/>
        </p:nvCxnSpPr>
        <p:spPr>
          <a:xfrm>
            <a:off x="1303423" y="3578927"/>
            <a:ext cx="0" cy="79536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66BD6560-4EC5-4284-9BF9-6D5098B3DB3B}"/>
              </a:ext>
            </a:extLst>
          </p:cNvPr>
          <p:cNvCxnSpPr>
            <a:cxnSpLocks/>
          </p:cNvCxnSpPr>
          <p:nvPr/>
        </p:nvCxnSpPr>
        <p:spPr>
          <a:xfrm flipV="1">
            <a:off x="1426152" y="3578927"/>
            <a:ext cx="0" cy="79536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93B21FA6-C1FF-405D-B181-6EA67148053B}"/>
              </a:ext>
            </a:extLst>
          </p:cNvPr>
          <p:cNvSpPr/>
          <p:nvPr/>
        </p:nvSpPr>
        <p:spPr>
          <a:xfrm>
            <a:off x="2386891" y="2620253"/>
            <a:ext cx="2799470" cy="3639484"/>
          </a:xfrm>
          <a:prstGeom prst="roundRect">
            <a:avLst>
              <a:gd name="adj" fmla="val 4214"/>
            </a:avLst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35986" rIns="91404" bIns="35986" numCol="1" spcCol="0" rtlCol="0" fromWordArt="0" anchor="t" anchorCtr="0" forceAA="0" compatLnSpc="1">
            <a:noAutofit/>
          </a:bodyPr>
          <a:lstStyle/>
          <a:p>
            <a:pPr algn="ctr" defTabSz="914034">
              <a:defRPr/>
            </a:pPr>
            <a:r>
              <a:rPr lang="en-US" altLang="zh-CN" sz="1100" b="1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PVM</a:t>
            </a:r>
            <a:r>
              <a:rPr lang="zh-CN" altLang="en-US" sz="1100" b="1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嵌套虚拟化</a:t>
            </a:r>
            <a:endParaRPr lang="zh-CN" altLang="en-US" sz="11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F8B18BFA-CA98-438A-8CB2-7614D9BBE1DF}"/>
              </a:ext>
            </a:extLst>
          </p:cNvPr>
          <p:cNvSpPr txBox="1"/>
          <p:nvPr/>
        </p:nvSpPr>
        <p:spPr>
          <a:xfrm>
            <a:off x="2405592" y="5699923"/>
            <a:ext cx="430688" cy="226503"/>
          </a:xfrm>
          <a:prstGeom prst="rect">
            <a:avLst/>
          </a:prstGeom>
          <a:noFill/>
        </p:spPr>
        <p:txBody>
          <a:bodyPr wrap="square" lIns="35986" tIns="35986" rIns="35986" bIns="35986" rtlCol="0" anchor="ctr" anchorCtr="0">
            <a:spAutoFit/>
          </a:bodyPr>
          <a:lstStyle/>
          <a:p>
            <a:pPr algn="ctr" defTabSz="457017">
              <a:defRPr/>
            </a:pPr>
            <a:r>
              <a:rPr kumimoji="1" lang="en-US" altLang="zh-CN" sz="1000" b="1" kern="0" dirty="0">
                <a:solidFill>
                  <a:srgbClr val="06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EL2</a:t>
            </a:r>
            <a:endParaRPr kumimoji="1" lang="zh-CN" altLang="en-US" sz="1000" b="1" kern="0" dirty="0">
              <a:solidFill>
                <a:srgbClr val="0633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C35663F4-38E9-4E1E-B361-D3E811E638FE}"/>
              </a:ext>
            </a:extLst>
          </p:cNvPr>
          <p:cNvSpPr txBox="1"/>
          <p:nvPr/>
        </p:nvSpPr>
        <p:spPr>
          <a:xfrm>
            <a:off x="2393716" y="4514635"/>
            <a:ext cx="430688" cy="226503"/>
          </a:xfrm>
          <a:prstGeom prst="rect">
            <a:avLst/>
          </a:prstGeom>
          <a:noFill/>
        </p:spPr>
        <p:txBody>
          <a:bodyPr wrap="square" lIns="35986" tIns="35986" rIns="35986" bIns="35986" rtlCol="0" anchor="ctr" anchorCtr="0">
            <a:spAutoFit/>
          </a:bodyPr>
          <a:lstStyle/>
          <a:p>
            <a:pPr algn="ctr" defTabSz="457017">
              <a:defRPr/>
            </a:pPr>
            <a:r>
              <a:rPr kumimoji="1" lang="en-US" altLang="zh-CN" sz="1000" b="1" kern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EL1</a:t>
            </a:r>
            <a:endParaRPr kumimoji="1" lang="zh-CN" altLang="en-US" sz="1000" b="1" kern="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5142AE5-5514-48F7-8215-6B63E1E2809E}"/>
              </a:ext>
            </a:extLst>
          </p:cNvPr>
          <p:cNvSpPr txBox="1"/>
          <p:nvPr/>
        </p:nvSpPr>
        <p:spPr>
          <a:xfrm>
            <a:off x="2405592" y="3200292"/>
            <a:ext cx="358906" cy="226503"/>
          </a:xfrm>
          <a:prstGeom prst="rect">
            <a:avLst/>
          </a:prstGeom>
          <a:noFill/>
        </p:spPr>
        <p:txBody>
          <a:bodyPr wrap="square" lIns="35986" tIns="35986" rIns="35986" bIns="35986" rtlCol="0" anchor="ctr" anchorCtr="0">
            <a:spAutoFit/>
          </a:bodyPr>
          <a:lstStyle/>
          <a:p>
            <a:pPr algn="ctr" defTabSz="457017">
              <a:defRPr/>
            </a:pPr>
            <a:r>
              <a:rPr kumimoji="1" lang="en-US" altLang="zh-CN" sz="1000" b="1" kern="0">
                <a:solidFill>
                  <a:srgbClr val="70AD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EL0</a:t>
            </a:r>
            <a:endParaRPr kumimoji="1" lang="zh-CN" altLang="en-US" sz="1000" b="1" kern="0" dirty="0">
              <a:solidFill>
                <a:srgbClr val="70AD4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6E97494F-49FC-4E2E-B6EB-0FEB6E6098EC}"/>
              </a:ext>
            </a:extLst>
          </p:cNvPr>
          <p:cNvSpPr/>
          <p:nvPr/>
        </p:nvSpPr>
        <p:spPr>
          <a:xfrm>
            <a:off x="4442979" y="4186474"/>
            <a:ext cx="142005" cy="143944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034">
              <a:defRPr/>
            </a:pPr>
            <a:r>
              <a:rPr lang="en-US" altLang="zh-CN" sz="1000" b="1" ker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000" b="1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89C8F23A-0D40-4FFC-AD82-B1B9FFF5F145}"/>
              </a:ext>
            </a:extLst>
          </p:cNvPr>
          <p:cNvSpPr/>
          <p:nvPr/>
        </p:nvSpPr>
        <p:spPr>
          <a:xfrm>
            <a:off x="4822442" y="4838085"/>
            <a:ext cx="142005" cy="143944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034">
              <a:defRPr/>
            </a:pPr>
            <a:r>
              <a:rPr lang="en-US" altLang="zh-CN" sz="10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0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12DB3D29-EC77-4CCE-8911-6BEAD35AE99C}"/>
              </a:ext>
            </a:extLst>
          </p:cNvPr>
          <p:cNvCxnSpPr>
            <a:cxnSpLocks/>
          </p:cNvCxnSpPr>
          <p:nvPr/>
        </p:nvCxnSpPr>
        <p:spPr>
          <a:xfrm flipH="1">
            <a:off x="1290687" y="5209026"/>
            <a:ext cx="0" cy="3216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879DC0A5-0A16-4D1B-B365-939DEC47C45E}"/>
              </a:ext>
            </a:extLst>
          </p:cNvPr>
          <p:cNvCxnSpPr>
            <a:cxnSpLocks/>
          </p:cNvCxnSpPr>
          <p:nvPr/>
        </p:nvCxnSpPr>
        <p:spPr>
          <a:xfrm flipV="1">
            <a:off x="1448955" y="5209026"/>
            <a:ext cx="0" cy="3216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411E1FBC-C80C-4EF4-BC79-F83395E34644}"/>
              </a:ext>
            </a:extLst>
          </p:cNvPr>
          <p:cNvSpPr txBox="1"/>
          <p:nvPr/>
        </p:nvSpPr>
        <p:spPr>
          <a:xfrm>
            <a:off x="632610" y="5331471"/>
            <a:ext cx="578944" cy="180355"/>
          </a:xfrm>
          <a:prstGeom prst="rect">
            <a:avLst/>
          </a:prstGeom>
          <a:noFill/>
        </p:spPr>
        <p:txBody>
          <a:bodyPr wrap="square" lIns="35986" tIns="35986" rIns="35986" bIns="35986" rtlCol="0" anchor="ctr" anchorCtr="0">
            <a:spAutoFit/>
          </a:bodyPr>
          <a:lstStyle/>
          <a:p>
            <a:pPr algn="r" defTabSz="457017">
              <a:defRPr/>
            </a:pPr>
            <a:r>
              <a:rPr kumimoji="1" lang="en-US" altLang="zh-CN" sz="7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VM exit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17B0FA55-6B1B-4316-BA86-4E607DB0A292}"/>
              </a:ext>
            </a:extLst>
          </p:cNvPr>
          <p:cNvSpPr txBox="1"/>
          <p:nvPr/>
        </p:nvSpPr>
        <p:spPr>
          <a:xfrm>
            <a:off x="1539381" y="5331471"/>
            <a:ext cx="651259" cy="180355"/>
          </a:xfrm>
          <a:prstGeom prst="rect">
            <a:avLst/>
          </a:prstGeom>
          <a:noFill/>
        </p:spPr>
        <p:txBody>
          <a:bodyPr wrap="square" lIns="35986" tIns="35986" rIns="35986" bIns="35986" rtlCol="0" anchor="ctr" anchorCtr="0">
            <a:spAutoFit/>
          </a:bodyPr>
          <a:lstStyle/>
          <a:p>
            <a:pPr defTabSz="457017">
              <a:defRPr/>
            </a:pPr>
            <a:r>
              <a:rPr kumimoji="1" lang="en-US" altLang="zh-CN" sz="700" ker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VM entry</a:t>
            </a:r>
            <a:endParaRPr kumimoji="1" lang="en-US" altLang="zh-CN" sz="700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3E10C1B-FB38-4491-A731-301E544E1707}"/>
              </a:ext>
            </a:extLst>
          </p:cNvPr>
          <p:cNvSpPr txBox="1"/>
          <p:nvPr/>
        </p:nvSpPr>
        <p:spPr>
          <a:xfrm>
            <a:off x="1439117" y="3720472"/>
            <a:ext cx="400776" cy="288034"/>
          </a:xfrm>
          <a:prstGeom prst="rect">
            <a:avLst/>
          </a:prstGeom>
          <a:noFill/>
        </p:spPr>
        <p:txBody>
          <a:bodyPr wrap="square" lIns="35986" tIns="35986" rIns="35986" bIns="35986" rtlCol="0" anchor="ctr" anchorCtr="0">
            <a:spAutoFit/>
          </a:bodyPr>
          <a:lstStyle/>
          <a:p>
            <a:pPr defTabSz="457017">
              <a:defRPr/>
            </a:pPr>
            <a:r>
              <a:rPr kumimoji="1" lang="en-US" altLang="zh-CN" sz="700" ker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sysret/</a:t>
            </a:r>
          </a:p>
          <a:p>
            <a:pPr defTabSz="457017">
              <a:defRPr/>
            </a:pPr>
            <a:r>
              <a:rPr kumimoji="1" lang="en-US" altLang="zh-CN" sz="700" ker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iret</a:t>
            </a:r>
            <a:endParaRPr kumimoji="1" lang="zh-CN" altLang="en-US" sz="700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72" name="文本框 110">
            <a:extLst>
              <a:ext uri="{FF2B5EF4-FFF2-40B4-BE49-F238E27FC236}">
                <a16:creationId xmlns:a16="http://schemas.microsoft.com/office/drawing/2014/main" id="{E98E4BC1-93E8-415B-A280-66F99D56F948}"/>
              </a:ext>
            </a:extLst>
          </p:cNvPr>
          <p:cNvSpPr txBox="1"/>
          <p:nvPr/>
        </p:nvSpPr>
        <p:spPr>
          <a:xfrm>
            <a:off x="5428228" y="2319042"/>
            <a:ext cx="6146512" cy="3664107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txBody>
          <a:bodyPr wrap="square" lIns="71972" tIns="35986" rIns="71972" bIns="35986" rtlCol="0">
            <a:spAutoFit/>
          </a:bodyPr>
          <a:lstStyle/>
          <a:p>
            <a:pPr algn="ctr" defTabSz="914112">
              <a:lnSpc>
                <a:spcPct val="120000"/>
              </a:lnSpc>
              <a:defRPr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</a:t>
            </a:r>
            <a:endParaRPr lang="en-US" altLang="zh-CN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15914" indent="-215914" defTabSz="914112">
              <a:lnSpc>
                <a:spcPct val="140000"/>
              </a:lnSpc>
              <a:buFont typeface="+mj-ea"/>
              <a:buAutoNum type="circleNumDbPlain"/>
              <a:defRPr/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权限模型重构（</a:t>
            </a:r>
            <a:r>
              <a:rPr lang="en-US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Guest</a:t>
            </a: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内核权限上提）：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L2 Guest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内核由传统“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EL1”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上提至 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EL0 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执行，与 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L1 Guest 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内核形成硬隔离，解除硬件辅助虚拟化依赖。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15914" indent="-215914" defTabSz="914112">
              <a:lnSpc>
                <a:spcPct val="140000"/>
              </a:lnSpc>
              <a:buFont typeface="+mj-ea"/>
              <a:buAutoNum type="circleNumDbPlain"/>
              <a:defRPr/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高效切换器（</a:t>
            </a:r>
            <a:r>
              <a:rPr lang="en-US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Switcher</a:t>
            </a: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将世界切换逻辑深度集成到 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L1 Guest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内核入口代码中，实现条件触发、零开销的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VM-Exit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，无需 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L0 KVM 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介入。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15914" indent="-215914" defTabSz="914112">
              <a:lnSpc>
                <a:spcPct val="140000"/>
              </a:lnSpc>
              <a:buFont typeface="+mj-ea"/>
              <a:buAutoNum type="circleNumDbPlain"/>
              <a:defRPr/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地址空间隔离：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L2 Guest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内核划分独占的高端地址空间，并编译为位置无关可执行文件（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PIE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），避免地址映射冲突，并允许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L1 Guest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内核安全使用全局页（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TLB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优化）。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15914" indent="-215914" defTabSz="914112">
              <a:lnSpc>
                <a:spcPct val="140000"/>
              </a:lnSpc>
              <a:buFont typeface="+mj-ea"/>
              <a:buAutoNum type="circleNumDbPlain"/>
              <a:defRPr/>
            </a:pPr>
            <a:r>
              <a:rPr lang="en-US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虚拟化：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SMC/HVC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指令或自定义陷阱指令，并重新定义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ARM64 PVM ABI。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实现关键系统寄存器（如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SCTLR_EL1, TCR_EL1, TTBR0_EL1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）的虚拟化，以及时钟、计数器（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CNTPCT_EL0, CNTVCT_EL0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）的虚拟化。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15914" indent="-215914" defTabSz="914112">
              <a:lnSpc>
                <a:spcPct val="140000"/>
              </a:lnSpc>
              <a:buFont typeface="+mj-ea"/>
              <a:buAutoNum type="circleNumDbPlain"/>
              <a:defRPr/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内存虚拟化​：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自研</a:t>
            </a: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KVM ARM 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影子页表支持，定义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ARM64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内存布局。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15914" indent="-215914" defTabSz="914112">
              <a:lnSpc>
                <a:spcPct val="140000"/>
              </a:lnSpc>
              <a:buFont typeface="+mj-ea"/>
              <a:buAutoNum type="circleNumDbPlain"/>
              <a:defRPr/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中断虚拟化：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vGIC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和中断注入机制，前端在客机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EL0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，后端在宿主机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EL1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，通过超级调用交互。</a:t>
            </a:r>
          </a:p>
          <a:p>
            <a:pPr marL="215914" indent="-215914" defTabSz="914112">
              <a:lnSpc>
                <a:spcPct val="140000"/>
              </a:lnSpc>
              <a:buFont typeface="+mj-ea"/>
              <a:buAutoNum type="circleNumDbPlain"/>
              <a:defRPr/>
            </a:pPr>
            <a:r>
              <a:rPr lang="en-US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虚拟化：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实现虚拟串口等基本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设备的虚拟化能力。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8286E4D-0E4A-4B60-B179-FC7D6DB21285}"/>
              </a:ext>
            </a:extLst>
          </p:cNvPr>
          <p:cNvSpPr txBox="1"/>
          <p:nvPr/>
        </p:nvSpPr>
        <p:spPr>
          <a:xfrm>
            <a:off x="2491774" y="6013517"/>
            <a:ext cx="1162498" cy="20005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/>
            </a:lvl1pPr>
          </a:lstStyle>
          <a:p>
            <a:pPr>
              <a:defRPr/>
            </a:pPr>
            <a:r>
              <a:rPr lang="en-US" altLang="zh-CN" dirty="0">
                <a:solidFill>
                  <a:srgbClr val="282828"/>
                </a:solidFill>
                <a:latin typeface="微软雅黑"/>
                <a:ea typeface="微软雅黑"/>
              </a:rPr>
              <a:t>1 </a:t>
            </a:r>
            <a:r>
              <a:rPr lang="zh-CN" altLang="en-US" dirty="0">
                <a:solidFill>
                  <a:srgbClr val="282828"/>
                </a:solidFill>
                <a:latin typeface="微软雅黑"/>
                <a:ea typeface="微软雅黑"/>
              </a:rPr>
              <a:t>任意云厂商的鲲鹏主机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C2E747CB-50B1-4801-BF55-50413082D5FC}"/>
              </a:ext>
            </a:extLst>
          </p:cNvPr>
          <p:cNvSpPr txBox="1"/>
          <p:nvPr/>
        </p:nvSpPr>
        <p:spPr>
          <a:xfrm>
            <a:off x="2487763" y="3625884"/>
            <a:ext cx="1072730" cy="20005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/>
            </a:lvl1pPr>
          </a:lstStyle>
          <a:p>
            <a:pPr>
              <a:defRPr/>
            </a:pPr>
            <a:r>
              <a:rPr lang="en-US" altLang="zh-CN" dirty="0">
                <a:solidFill>
                  <a:srgbClr val="282828"/>
                </a:solidFill>
                <a:latin typeface="微软雅黑"/>
                <a:ea typeface="微软雅黑"/>
              </a:rPr>
              <a:t>3 </a:t>
            </a:r>
            <a:r>
              <a:rPr lang="zh-CN" altLang="en-US" dirty="0">
                <a:solidFill>
                  <a:srgbClr val="282828"/>
                </a:solidFill>
                <a:latin typeface="微软雅黑"/>
                <a:ea typeface="微软雅黑"/>
              </a:rPr>
              <a:t>嵌套虚机：安全沙箱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BD860620-8A75-4A13-80FD-AE6E104DC814}"/>
              </a:ext>
            </a:extLst>
          </p:cNvPr>
          <p:cNvSpPr txBox="1"/>
          <p:nvPr/>
        </p:nvSpPr>
        <p:spPr>
          <a:xfrm>
            <a:off x="2461088" y="5061073"/>
            <a:ext cx="949299" cy="20005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/>
            </a:lvl1pPr>
          </a:lstStyle>
          <a:p>
            <a:pPr>
              <a:defRPr/>
            </a:pPr>
            <a:r>
              <a:rPr lang="en-US" altLang="zh-CN" dirty="0">
                <a:solidFill>
                  <a:srgbClr val="282828"/>
                </a:solidFill>
                <a:latin typeface="微软雅黑"/>
                <a:ea typeface="微软雅黑"/>
              </a:rPr>
              <a:t>2 </a:t>
            </a:r>
            <a:r>
              <a:rPr lang="zh-CN" altLang="en-US" dirty="0">
                <a:solidFill>
                  <a:srgbClr val="282828"/>
                </a:solidFill>
                <a:latin typeface="微软雅黑"/>
                <a:ea typeface="微软雅黑"/>
              </a:rPr>
              <a:t>鲲鹏虚机 </a:t>
            </a:r>
            <a:r>
              <a:rPr lang="en-US" altLang="zh-CN" dirty="0">
                <a:solidFill>
                  <a:srgbClr val="282828"/>
                </a:solidFill>
                <a:latin typeface="微软雅黑"/>
                <a:ea typeface="微软雅黑"/>
              </a:rPr>
              <a:t>+ PVM</a:t>
            </a:r>
            <a:endParaRPr lang="zh-CN" altLang="en-US" dirty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0F25B7EC-7F9A-46AE-A5D3-6899CB2405A0}"/>
              </a:ext>
            </a:extLst>
          </p:cNvPr>
          <p:cNvSpPr txBox="1"/>
          <p:nvPr/>
        </p:nvSpPr>
        <p:spPr>
          <a:xfrm>
            <a:off x="2519804" y="2986065"/>
            <a:ext cx="444352" cy="20005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700" dirty="0">
                <a:solidFill>
                  <a:srgbClr val="282828"/>
                </a:solidFill>
                <a:latin typeface="微软雅黑"/>
                <a:ea typeface="微软雅黑"/>
              </a:rPr>
              <a:t>4 </a:t>
            </a:r>
            <a:r>
              <a:rPr lang="zh-CN" altLang="en-US" sz="700" dirty="0">
                <a:solidFill>
                  <a:srgbClr val="282828"/>
                </a:solidFill>
                <a:latin typeface="微软雅黑"/>
                <a:ea typeface="微软雅黑"/>
              </a:rPr>
              <a:t>容器</a:t>
            </a:r>
          </a:p>
        </p:txBody>
      </p:sp>
      <p:sp>
        <p:nvSpPr>
          <p:cNvPr id="4" name="箭头: 上 3">
            <a:extLst>
              <a:ext uri="{FF2B5EF4-FFF2-40B4-BE49-F238E27FC236}">
                <a16:creationId xmlns:a16="http://schemas.microsoft.com/office/drawing/2014/main" id="{C117A315-4C7F-4448-8907-74160A798F18}"/>
              </a:ext>
            </a:extLst>
          </p:cNvPr>
          <p:cNvSpPr/>
          <p:nvPr/>
        </p:nvSpPr>
        <p:spPr>
          <a:xfrm>
            <a:off x="2639555" y="5257737"/>
            <a:ext cx="362361" cy="754546"/>
          </a:xfrm>
          <a:prstGeom prst="upArrow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76" name="箭头: 上 75">
            <a:extLst>
              <a:ext uri="{FF2B5EF4-FFF2-40B4-BE49-F238E27FC236}">
                <a16:creationId xmlns:a16="http://schemas.microsoft.com/office/drawing/2014/main" id="{8D3E69AE-F10B-4387-A71E-AC59647759AA}"/>
              </a:ext>
            </a:extLst>
          </p:cNvPr>
          <p:cNvSpPr/>
          <p:nvPr/>
        </p:nvSpPr>
        <p:spPr>
          <a:xfrm>
            <a:off x="2625548" y="3850924"/>
            <a:ext cx="362361" cy="1163982"/>
          </a:xfrm>
          <a:prstGeom prst="upArrow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77" name="箭头: 上 76">
            <a:extLst>
              <a:ext uri="{FF2B5EF4-FFF2-40B4-BE49-F238E27FC236}">
                <a16:creationId xmlns:a16="http://schemas.microsoft.com/office/drawing/2014/main" id="{2887EC93-BB71-45D6-B100-B16C948D696A}"/>
              </a:ext>
            </a:extLst>
          </p:cNvPr>
          <p:cNvSpPr/>
          <p:nvPr/>
        </p:nvSpPr>
        <p:spPr>
          <a:xfrm>
            <a:off x="2608086" y="3193794"/>
            <a:ext cx="362361" cy="397720"/>
          </a:xfrm>
          <a:prstGeom prst="upArrow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AE594DA4-D6BF-4D01-BBBF-574E2CCDE371}"/>
              </a:ext>
            </a:extLst>
          </p:cNvPr>
          <p:cNvSpPr/>
          <p:nvPr/>
        </p:nvSpPr>
        <p:spPr>
          <a:xfrm>
            <a:off x="4699409" y="5038117"/>
            <a:ext cx="142005" cy="143944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034">
              <a:defRPr/>
            </a:pPr>
            <a:r>
              <a:rPr lang="en-US" altLang="zh-CN" sz="10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CN" altLang="en-US" sz="10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5029809D-3768-433B-9E9D-2BA7A483D6CB}"/>
              </a:ext>
            </a:extLst>
          </p:cNvPr>
          <p:cNvCxnSpPr/>
          <p:nvPr/>
        </p:nvCxnSpPr>
        <p:spPr>
          <a:xfrm>
            <a:off x="2086501" y="2620254"/>
            <a:ext cx="300391" cy="11002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DC00D781-2351-4041-BFB8-BE73EA5DC924}"/>
              </a:ext>
            </a:extLst>
          </p:cNvPr>
          <p:cNvSpPr txBox="1"/>
          <p:nvPr/>
        </p:nvSpPr>
        <p:spPr>
          <a:xfrm>
            <a:off x="5413893" y="6148359"/>
            <a:ext cx="62376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腾讯联创：鲲鹏服务器引入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PVM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虚拟化损耗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&lt;10% 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830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达成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POC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标准，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930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完成联创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612850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AF903A2A-06A1-4679-B39E-8A5E8A19E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99" y="360000"/>
            <a:ext cx="11831495" cy="360000"/>
          </a:xfrm>
        </p:spPr>
        <p:txBody>
          <a:bodyPr/>
          <a:lstStyle/>
          <a:p>
            <a:r>
              <a:rPr lang="zh-CN" altLang="en-US" sz="2400" dirty="0"/>
              <a:t>以 </a:t>
            </a:r>
            <a:r>
              <a:rPr lang="en-US" altLang="zh-CN" sz="2400" dirty="0"/>
              <a:t>Daft + Lance </a:t>
            </a:r>
            <a:r>
              <a:rPr lang="zh-CN" altLang="en-US" sz="2400" dirty="0"/>
              <a:t>场景为主导，提升 </a:t>
            </a:r>
            <a:r>
              <a:rPr lang="en-US" altLang="zh-CN" sz="2400" dirty="0"/>
              <a:t>Rust </a:t>
            </a:r>
            <a:r>
              <a:rPr lang="zh-CN" altLang="en-US" sz="2400" dirty="0"/>
              <a:t>软件开箱性能表现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0CE4448-343F-4763-A1F5-45F25350C578}"/>
              </a:ext>
            </a:extLst>
          </p:cNvPr>
          <p:cNvSpPr/>
          <p:nvPr/>
        </p:nvSpPr>
        <p:spPr>
          <a:xfrm>
            <a:off x="252099" y="794475"/>
            <a:ext cx="11666906" cy="5868717"/>
          </a:xfrm>
          <a:prstGeom prst="rect">
            <a:avLst/>
          </a:prstGeom>
          <a:solidFill>
            <a:srgbClr val="FAFAFA"/>
          </a:solidFill>
          <a:ln w="9525" cap="flat" cmpd="sng" algn="ctr">
            <a:gradFill flip="none" rotWithShape="1">
              <a:gsLst>
                <a:gs pos="94000">
                  <a:srgbClr val="FFFFFF"/>
                </a:gs>
                <a:gs pos="100000">
                  <a:srgbClr val="C7000B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108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working in progress</a:t>
            </a: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D630A18-EA78-4871-96A6-B3C4462F9FE5}"/>
              </a:ext>
            </a:extLst>
          </p:cNvPr>
          <p:cNvSpPr txBox="1"/>
          <p:nvPr/>
        </p:nvSpPr>
        <p:spPr>
          <a:xfrm>
            <a:off x="351874" y="903908"/>
            <a:ext cx="10883318" cy="61259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当前进度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: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数据工程二期开发</a:t>
            </a:r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背景 </a:t>
            </a: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应用情况 </a:t>
            </a: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商业价值</a:t>
            </a:r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Daft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是面向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AI /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多模态场景的高性能数据引擎，核心以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实现（约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46% Rust + 36% Python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），</a:t>
            </a:r>
          </a:p>
          <a:p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提供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Python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DataFrame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/ SQL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双接口，单机（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Native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）与分布式（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Ray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）模式自由切换。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由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Eventual-Inc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开发开源；字节以使用方为主，开源贡献在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Lance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27+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特性），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Daft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核心贡献少。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迭代活跃：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~2-4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天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版本（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2026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年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5-8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月），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5.6k stars / 170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贡献者。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字节跳动火山引擎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LAS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Lake for AI Service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）已采用 ；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Lance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AI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原生列式湖存储格式（多模态列存、随机访问、版本管理）；与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Daft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互补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——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湖计算（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Daft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湖存储（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Lance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），经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Arrow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类型接口对接，以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row ID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替代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URL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关联多模态数据。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Daft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可视为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Spark / Hive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工具的同生态位替代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, Daft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适合多模态数据与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CPU/GPU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异构调度场景。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商业价值：字节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LAS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已生产使用；阿里云有集成（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EMR Serverless Daft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100+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多模态算子，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PolarDB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Lakebase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Daft on Ray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）。</a:t>
            </a:r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应用架构 </a:t>
            </a: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Rust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位置</a:t>
            </a:r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架构：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Python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接口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Rust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内核（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PyO3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绑定，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Apache Arrow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内存格式）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——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逻辑计划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优化器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物理计划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执行引擎均在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Python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接口：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Python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包（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PyO3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绑定）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——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DataFrame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/ SQL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双入口（惰性执行）；调用外部数据源、接入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Ray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logical-plan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：声明式算子树（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Source/Project/Filter/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GroupBy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/Join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），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UDF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包装为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UDFProject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节点。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optimization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：执行优化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表达式代数规则优化（谓词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投影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/limit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下推、表达式简化、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UDF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拆分）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代价优化（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join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重排）。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local-plan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：逻辑计划翻译为可执行物理计划（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Pipeline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图）。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runner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：单机 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native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模式，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Tokio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多线程流式）；分布式（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Ray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调度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Flight Shuffle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UDF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Python UDF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batch_size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/ concurrency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）原生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python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代码， 提供自定义逻辑，调用非预置功能桥梁。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支持的数据源：</a:t>
            </a:r>
            <a:r>
              <a:rPr lang="en-US" altLang="zh-CN" sz="1200" b="0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`daft-scan`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（格式扫描）、</a:t>
            </a:r>
            <a:r>
              <a:rPr lang="en-US" altLang="zh-CN" sz="1200" b="0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`daft-io`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S3/GCS/HTTP IO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）、</a:t>
            </a:r>
            <a:r>
              <a:rPr lang="en-US" altLang="zh-CN" sz="1200" b="0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`daft-catalog`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Iceberg/Delta/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Hudi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）。</a:t>
            </a:r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Kunpeng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亲和优化点</a:t>
            </a:r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ARM SVE / CRC32C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硬件指令加速：</a:t>
            </a:r>
          </a:p>
          <a:p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hash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计算：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CRC32C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指令加速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groupby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/join/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dedup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行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hash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（目标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2x+ vs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xxHash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）；</a:t>
            </a:r>
          </a:p>
          <a:p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批量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filter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后重排：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SVE gather-load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批量取数（目标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2x+ vs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标量）；</a:t>
            </a:r>
          </a:p>
          <a:p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  </a:t>
            </a:r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UTF-8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字符长度：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SVE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cntp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向量化（目标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3x+ vs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标量）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length_bytes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offset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差分快路径。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UDF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执行效率：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Arrow C Data Interface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零拷贝跨界、相邻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UDF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链融合、高频算子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重写（文本清洗链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11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算子、图片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blur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调度层：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UDF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并发度自适应、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Flight Shuffle NUMA-aware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优化。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视频转码：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BoostKit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x265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硬件加速（外部依赖）。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详见 </a:t>
            </a:r>
            <a:r>
              <a:rPr lang="en-US" altLang="zh-CN" sz="1200" b="0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`daft-kunpeng-overall-design.md`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IR-1/IR-2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需求分析）与 </a:t>
            </a:r>
            <a:r>
              <a:rPr lang="en-US" altLang="zh-CN" sz="1200" b="0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`daft-kunpeng-perf-design-spec.md`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（性能设计）。</a:t>
            </a:r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技术难点</a:t>
            </a:r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多模态场景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mapper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大量使用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Python UDF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（如视频抽帧、缩放等），当前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bench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结果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&lt; 1%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上游不确定性：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Daft arrow2 → arrow-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rs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迁移（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#5741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,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字节使用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0.7.2(arrow2)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和社区版本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0.7.21(arrow-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rs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)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不一致。</a:t>
            </a:r>
          </a:p>
        </p:txBody>
      </p:sp>
    </p:spTree>
    <p:extLst>
      <p:ext uri="{BB962C8B-B14F-4D97-AF65-F5344CB8AC3E}">
        <p14:creationId xmlns:p14="http://schemas.microsoft.com/office/powerpoint/2010/main" val="1254987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AAE0E3E0-0575-44AE-B7CA-D42E9E5D0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99" y="360000"/>
            <a:ext cx="11831495" cy="360000"/>
          </a:xfrm>
        </p:spPr>
        <p:txBody>
          <a:bodyPr/>
          <a:lstStyle/>
          <a:p>
            <a:r>
              <a:rPr lang="en-US" altLang="zh-CN" sz="2400" dirty="0"/>
              <a:t>Portable-</a:t>
            </a:r>
            <a:r>
              <a:rPr lang="en-US" altLang="zh-CN" sz="2400" dirty="0" err="1"/>
              <a:t>Simd</a:t>
            </a:r>
            <a:r>
              <a:rPr lang="en-US" altLang="zh-CN" sz="2400" dirty="0"/>
              <a:t> </a:t>
            </a:r>
            <a:r>
              <a:rPr lang="zh-CN" altLang="en-US" sz="2400" dirty="0"/>
              <a:t>实现向量指令优化原生支持 </a:t>
            </a:r>
            <a:r>
              <a:rPr lang="en-US" altLang="zh-CN" sz="2400" dirty="0"/>
              <a:t>Arm </a:t>
            </a:r>
            <a:r>
              <a:rPr lang="zh-CN" altLang="en-US" sz="2400" dirty="0"/>
              <a:t>架构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0190C49-5CAB-420D-A69F-7F34340B6965}"/>
              </a:ext>
            </a:extLst>
          </p:cNvPr>
          <p:cNvSpPr/>
          <p:nvPr/>
        </p:nvSpPr>
        <p:spPr>
          <a:xfrm>
            <a:off x="252099" y="794475"/>
            <a:ext cx="11666906" cy="5868717"/>
          </a:xfrm>
          <a:prstGeom prst="rect">
            <a:avLst/>
          </a:prstGeom>
          <a:solidFill>
            <a:srgbClr val="FAFAFA"/>
          </a:solidFill>
          <a:ln w="9525" cap="flat" cmpd="sng" algn="ctr">
            <a:gradFill flip="none" rotWithShape="1">
              <a:gsLst>
                <a:gs pos="94000">
                  <a:srgbClr val="FFFFFF"/>
                </a:gs>
                <a:gs pos="100000">
                  <a:srgbClr val="C7000B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108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working in progress</a:t>
            </a: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B1FEF65-18A4-4D7E-BBCE-12097F9B2D5F}"/>
              </a:ext>
            </a:extLst>
          </p:cNvPr>
          <p:cNvSpPr txBox="1"/>
          <p:nvPr/>
        </p:nvSpPr>
        <p:spPr>
          <a:xfrm>
            <a:off x="351874" y="903908"/>
            <a:ext cx="10883318" cy="40626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当前进度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: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软件生态二期立项</a:t>
            </a:r>
          </a:p>
          <a:p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背景 </a:t>
            </a: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应用情况 </a:t>
            </a: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商业价值</a:t>
            </a:r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目标：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便携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SIMD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库，类似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Google Highway / std::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simd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的抽象层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——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屏蔽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x86 AVX/AVX-512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AArch64 NEON/SVE/SVE2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WASM SIMD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差异。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不用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std::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simd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：仍为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nightly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实验特性（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tracking #86656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，稳定化无时间表）；且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ARM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表现分化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——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连续数值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4-9x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，交错数据退化至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0.13x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M4 benchmark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生态现状：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无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Highway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等价物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——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packed_simd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已弃用、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wide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覆盖面窄；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Highway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为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C++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库（现作为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Chromium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third_party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依赖），不服务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实现：按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target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区分架构，调用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std::arch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intrinsics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或直接汇编；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SVE/SVE2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intrinsics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2026-04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才入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nightly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stdarch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PR #2071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），仍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unstable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优势：对外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safe API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，用户免写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unsafe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；运行时特性检测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降级路径，避免调用不支持的指令导致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SIGILL/core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定位：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SVE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是鲲鹏差异化硬件（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vs Graviton N1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），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SVE/SVE2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优先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(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如果支持）、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NEON Fallback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。</a:t>
            </a:r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应用架构 </a:t>
            </a: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Rust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位置</a:t>
            </a:r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上层应用：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Lance / Daft / arrow-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rs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/ polars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DataFrame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引擎）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memchr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（字节搜索）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blake3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（哈希）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simdutf8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UTF-8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校验）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lz4_flex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LZ4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压缩）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zune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-jpeg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JPEG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解码）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Portable-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Simd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safe API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抽象层）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依赖层：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std::arch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intrinsics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/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内嵌汇编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asm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!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硬件：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Kunpeng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优先（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NEON/SVE/SVE2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其他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ARM / x86 (AVX2/AVX-512)</a:t>
            </a:r>
            <a:b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Kunpeng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亲和优化点</a:t>
            </a:r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性能优化时同时推进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x86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和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Arm,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避免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x86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单边优化</a:t>
            </a:r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技术难点</a:t>
            </a:r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多架构统一：同时适配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SVE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（可变宽度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128-2048-bit +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谓词）与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AVX-512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（固定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512-bit +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掩码），编程模型差异大。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运行时分发：特性检测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+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降级路径（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920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无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SVE → NEON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），避免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SIGILL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应用推广：推荐到依赖仓库使用，需要社区认可读。</a:t>
            </a:r>
          </a:p>
        </p:txBody>
      </p:sp>
    </p:spTree>
    <p:extLst>
      <p:ext uri="{BB962C8B-B14F-4D97-AF65-F5344CB8AC3E}">
        <p14:creationId xmlns:p14="http://schemas.microsoft.com/office/powerpoint/2010/main" val="18209377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A2B874F6-E78D-4530-A3AC-A2856EF06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99" y="360000"/>
            <a:ext cx="11831495" cy="360000"/>
          </a:xfrm>
        </p:spPr>
        <p:txBody>
          <a:bodyPr/>
          <a:lstStyle/>
          <a:p>
            <a:r>
              <a:rPr lang="zh-CN" altLang="en-US" sz="2400" dirty="0"/>
              <a:t>优化 </a:t>
            </a:r>
            <a:r>
              <a:rPr lang="en-US" altLang="zh-CN" sz="2400" dirty="0"/>
              <a:t>Rust </a:t>
            </a:r>
            <a:r>
              <a:rPr lang="zh-CN" altLang="en-US" sz="2400" dirty="0"/>
              <a:t>生态通用基础库，提升 </a:t>
            </a:r>
            <a:r>
              <a:rPr lang="en-US" altLang="zh-CN" sz="2400" dirty="0"/>
              <a:t>Rust </a:t>
            </a:r>
            <a:r>
              <a:rPr lang="zh-CN" altLang="en-US" sz="2400" dirty="0"/>
              <a:t>开箱表现（</a:t>
            </a:r>
            <a:r>
              <a:rPr lang="en-US" altLang="zh-CN" sz="2400" dirty="0"/>
              <a:t>PyO3 &amp; rust-std</a:t>
            </a:r>
            <a:r>
              <a:rPr lang="zh-CN" altLang="en-US" sz="2400" dirty="0"/>
              <a:t>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940FC7F-89B9-4CC0-8057-FFEEEA5BF3C2}"/>
              </a:ext>
            </a:extLst>
          </p:cNvPr>
          <p:cNvSpPr/>
          <p:nvPr/>
        </p:nvSpPr>
        <p:spPr>
          <a:xfrm>
            <a:off x="252099" y="794475"/>
            <a:ext cx="11666906" cy="5868717"/>
          </a:xfrm>
          <a:prstGeom prst="rect">
            <a:avLst/>
          </a:prstGeom>
          <a:solidFill>
            <a:srgbClr val="FAFAFA"/>
          </a:solidFill>
          <a:ln w="9525" cap="flat" cmpd="sng" algn="ctr">
            <a:gradFill flip="none" rotWithShape="1">
              <a:gsLst>
                <a:gs pos="94000">
                  <a:srgbClr val="FFFFFF"/>
                </a:gs>
                <a:gs pos="100000">
                  <a:srgbClr val="C7000B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108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working in progress</a:t>
            </a: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962B62-608F-44CB-B7A0-5F5040A4039F}"/>
              </a:ext>
            </a:extLst>
          </p:cNvPr>
          <p:cNvSpPr txBox="1"/>
          <p:nvPr/>
        </p:nvSpPr>
        <p:spPr>
          <a:xfrm>
            <a:off x="351874" y="903908"/>
            <a:ext cx="10883318" cy="46166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当前进度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: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软件生态二期立项</a:t>
            </a:r>
          </a:p>
          <a:p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背景 </a:t>
            </a: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应用情况 </a:t>
            </a: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商业价值</a:t>
            </a:r>
            <a:endParaRPr lang="zh-CN" altLang="en-US" sz="1200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PyO3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Rust↔Pythojinn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FFI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主流方案（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crates.io ~2.37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亿下载、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2,116 reverse dependents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）；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Polars /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LanceDB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/ Daft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等用其发布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Python API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，替代传统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C/C++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扩展层。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rust-std/core/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alloc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全生态热路径底座。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商业价值：上游杠杆点，一次修复覆盖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Polars /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DataFusion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/ Arrow / Daft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等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Python+Rust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数据栈。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团队价值（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PyO3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）：技能点难度合适，涉及内存布局，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memcpy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DMA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），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FFI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等技术点（技术点应用广泛）。方便验证，快速给出结论。</a:t>
            </a:r>
          </a:p>
          <a:p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应用架构 </a:t>
            </a: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/ Rust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位置</a:t>
            </a:r>
            <a:endParaRPr lang="zh-CN" altLang="en-US" sz="1200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PyO3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CPython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extension module——Python call →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PyObject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PyCFunction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→ trampoline → extract → Rust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fn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→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IntoPy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性能损失点：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list↔Vec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逐元素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extract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；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Vec</a:t>
            </a:r>
            <a:r>
              <a:rPr lang="en-US" altLang="zh-CN" sz="1200" b="0" dirty="0">
                <a:solidFill>
                  <a:srgbClr val="808080"/>
                </a:solidFill>
                <a:effectLst/>
                <a:latin typeface="UbuntuMono Nerd Font Propo" panose="020B0509030602030204" pitchFamily="50" charset="0"/>
              </a:rPr>
              <a:t>&lt;</a:t>
            </a:r>
            <a:r>
              <a:rPr lang="en-US" altLang="zh-CN" sz="1200" b="0" dirty="0">
                <a:solidFill>
                  <a:srgbClr val="7EE787"/>
                </a:solidFill>
                <a:effectLst/>
                <a:latin typeface="UbuntuMono Nerd Font Propo" panose="020B0509030602030204" pitchFamily="50" charset="0"/>
              </a:rPr>
              <a:t>u8</a:t>
            </a:r>
            <a:r>
              <a:rPr lang="en-US" altLang="zh-CN" sz="1200" b="0" dirty="0">
                <a:solidFill>
                  <a:srgbClr val="808080"/>
                </a:solidFill>
                <a:effectLst/>
                <a:latin typeface="UbuntuMono Nerd Font Propo" panose="020B0509030602030204" pitchFamily="50" charset="0"/>
              </a:rPr>
              <a:t>&gt;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/String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memcpy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/UTF-8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；长计算未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allow_threads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；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PyErr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/traceback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；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async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桥接。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rust-std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热路径：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atomic/Arc/Mutex/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RwLock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LSE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）、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memcpy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/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memcmp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HashMap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、字符串处理。</a:t>
            </a:r>
          </a:p>
          <a:p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Kunpeng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亲和优化点</a:t>
            </a:r>
            <a:endParaRPr lang="zh-CN" altLang="en-US" sz="1200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memcpy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：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bytes/string/buffer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转换优先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zero-copy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（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Arrow / buffer protocol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），拷贝路径验证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libc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AArch64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memcpy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rust-std: TODO</a:t>
            </a:r>
          </a:p>
          <a:p>
            <a:b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### </a:t>
            </a:r>
            <a:r>
              <a:rPr lang="zh-CN" altLang="en-US" sz="1200" b="1" dirty="0">
                <a:solidFill>
                  <a:srgbClr val="79C0FF"/>
                </a:solidFill>
                <a:effectLst/>
                <a:latin typeface="UbuntuMono Nerd Font Propo" panose="020B0509030602030204" pitchFamily="50" charset="0"/>
              </a:rPr>
              <a:t>技术难点</a:t>
            </a:r>
            <a:endParaRPr lang="zh-CN" altLang="en-US" sz="1200" b="0" dirty="0">
              <a:solidFill>
                <a:srgbClr val="BBBEBF"/>
              </a:solidFill>
              <a:effectLst/>
              <a:latin typeface="UbuntuMono Nerd Font Propo" panose="020B0509030602030204" pitchFamily="50" charset="0"/>
            </a:endParaRPr>
          </a:p>
          <a:p>
            <a:b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</a:br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std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性能优化合入需要 社区 </a:t>
            </a:r>
            <a:r>
              <a:rPr lang="en-US" altLang="zh-CN" sz="1200" b="0" dirty="0" err="1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commitor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等同意，性能相关优化破坏可读性。</a:t>
            </a:r>
          </a:p>
          <a:p>
            <a:r>
              <a:rPr lang="en-US" altLang="zh-CN" sz="1200" b="0" dirty="0">
                <a:solidFill>
                  <a:srgbClr val="FFA657"/>
                </a:solidFill>
                <a:effectLst/>
                <a:latin typeface="UbuntuMono Nerd Font Propo" panose="020B0509030602030204" pitchFamily="50" charset="0"/>
              </a:rPr>
              <a:t>-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PyO3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和 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Rust std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均为单线程场景，</a:t>
            </a:r>
            <a:r>
              <a:rPr lang="en-US" altLang="zh-CN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950 </a:t>
            </a:r>
            <a:r>
              <a:rPr lang="zh-CN" altLang="en-US" sz="1200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难以发挥众核优势，主频劣势暴漏明显。 </a:t>
            </a:r>
          </a:p>
        </p:txBody>
      </p:sp>
    </p:spTree>
    <p:extLst>
      <p:ext uri="{BB962C8B-B14F-4D97-AF65-F5344CB8AC3E}">
        <p14:creationId xmlns:p14="http://schemas.microsoft.com/office/powerpoint/2010/main" val="16183511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91469" y="197436"/>
            <a:ext cx="12013823" cy="537338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R="0" lvl="0" indent="0" defTabSz="1184910" fontAlgn="auto">
              <a:lnSpc>
                <a:spcPct val="90000"/>
              </a:lnSpc>
              <a:spcBef>
                <a:spcPts val="1295"/>
              </a:spcBef>
              <a:spcAft>
                <a:spcPts val="0"/>
              </a:spcAft>
              <a:buClrTx/>
              <a:buSzTx/>
              <a:buFontTx/>
              <a:buNone/>
              <a:defRPr kumimoji="0" sz="2400" b="1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1184275" rtl="0" eaLnBrk="1" fontAlgn="auto" latinLnBrk="0" hangingPunct="1">
              <a:lnSpc>
                <a:spcPct val="90000"/>
              </a:lnSpc>
              <a:spcBef>
                <a:spcPts val="129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Rust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规划：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SIMD</a:t>
            </a:r>
            <a:r>
              <a:rPr lang="zh-CN" altLang="en-US" sz="2000" kern="0" dirty="0"/>
              <a:t>加速场景目前社区未形成一致有效意见，影响</a:t>
            </a:r>
            <a:r>
              <a:rPr lang="zh-CN" altLang="en-US" sz="2000" kern="0"/>
              <a:t>性能优化代码落地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467144" y="1541957"/>
          <a:ext cx="5429873" cy="3103463"/>
        </p:xfrm>
        <a:graphic>
          <a:graphicData uri="http://schemas.openxmlformats.org/drawingml/2006/table">
            <a:tbl>
              <a:tblPr/>
              <a:tblGrid>
                <a:gridCol w="947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3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91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7423"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Aarch64 </a:t>
                      </a: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</a:t>
                      </a: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X86_64 </a:t>
                      </a: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</a:t>
                      </a: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50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接口设计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228600" indent="-22860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+mj-lt"/>
                        <a:buAutoNum type="arabicPeriod"/>
                      </a:pPr>
                      <a:endParaRPr lang="en-US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marL="228600" indent="-22860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+mj-lt"/>
                        <a:buAutoNum type="arabicPeriod"/>
                      </a:pP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整体设计尚未达成共识，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RFC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尚未落地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hlinkClick r:id="rId3"/>
                        </a:rPr>
                        <a:t>链接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hlinkClick r:id="rId4"/>
                        </a:rPr>
                        <a:t>RFC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。</a:t>
                      </a:r>
                      <a:endParaRPr lang="en-US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marL="228600" indent="-22860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+mj-lt"/>
                        <a:buAutoNum type="arabicPeriod"/>
                      </a:pP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已经 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rust-lang/portable-</a:t>
                      </a:r>
                      <a:r>
                        <a:rPr lang="en-US" altLang="zh-CN" sz="900" dirty="0" err="1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simd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实现了一个目前在 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nightly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编译上可以，未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stable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。</a:t>
                      </a:r>
                      <a:endParaRPr lang="en-US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marL="228600" indent="-22860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+mj-lt"/>
                        <a:buAutoNum type="arabicPeriod"/>
                      </a:pP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鉴于之前社区在 </a:t>
                      </a:r>
                      <a:r>
                        <a:rPr lang="en-US" altLang="zh-CN" sz="900" b="1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async </a:t>
                      </a: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问题上的进度，</a:t>
                      </a:r>
                      <a:r>
                        <a:rPr lang="en-US" altLang="zh-CN" sz="900" b="1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portable SIMD </a:t>
                      </a: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可能需要 </a:t>
                      </a:r>
                      <a:r>
                        <a:rPr lang="en-US" altLang="zh-CN" sz="900" b="1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1</a:t>
                      </a: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年甚至更久时间才能稳定发布。</a:t>
                      </a:r>
                      <a:endParaRPr lang="en-US" altLang="zh-CN" sz="900" b="1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311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接口实现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AutoNum type="arabicPeriod"/>
                      </a:pP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NEON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数据类型 （例如 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int32x2t)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与向量数据类型互转完成。</a:t>
                      </a:r>
                      <a:endParaRPr lang="en-US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marL="228600" indent="-22860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AutoNum type="arabicPeriod"/>
                      </a:pP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NEON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指令映射已经完成，</a:t>
                      </a:r>
                      <a:endParaRPr lang="en-US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marL="228600" indent="-22860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AutoNum type="arabicPeriod"/>
                      </a:pP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SVE/SVE2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指令映射尚未实现（</a:t>
                      </a:r>
                      <a:r>
                        <a:rPr lang="zh-CN" altLang="en-US" sz="900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由于</a:t>
                      </a:r>
                      <a:r>
                        <a:rPr lang="en-US" altLang="zh-CN" sz="900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SVE</a:t>
                      </a:r>
                      <a:r>
                        <a:rPr lang="zh-CN" altLang="en-US" sz="900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是弹性</a:t>
                      </a:r>
                      <a:r>
                        <a:rPr lang="en-US" altLang="zh-CN" sz="900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LANE</a:t>
                      </a:r>
                      <a:r>
                        <a:rPr lang="zh-CN" altLang="en-US" sz="900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长度，和</a:t>
                      </a:r>
                      <a:r>
                        <a:rPr lang="en-US" altLang="zh-CN" sz="900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Rust</a:t>
                      </a:r>
                      <a:r>
                        <a:rPr lang="zh-CN" altLang="en-US" sz="900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接口实现不匹配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）</a:t>
                      </a:r>
                      <a:endParaRPr 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AutoNum type="arabicPeriod"/>
                      </a:pP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__m128/__m256/__m521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与 向量类型互转完成。</a:t>
                      </a:r>
                      <a:endParaRPr lang="en-US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marL="228600" indent="-22860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AutoNum type="arabicPeriod"/>
                      </a:pP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SSE/SSE2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指令映射已经实现</a:t>
                      </a:r>
                      <a:endParaRPr lang="en-US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marL="228600" indent="-22860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AutoNum type="arabicPeriod"/>
                      </a:pP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AVX/AVX2/AVX512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指令映射已经实现，需要单独开启编译指令。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</a:t>
                      </a:r>
                      <a:endParaRPr 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901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替代实现</a:t>
                      </a:r>
                      <a:endParaRPr lang="en-US" sz="900" b="1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228600" indent="-22860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+mj-lt"/>
                        <a:buAutoNum type="arabicPeriod"/>
                      </a:pP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发起一个 </a:t>
                      </a:r>
                      <a:r>
                        <a:rPr lang="en-US" altLang="zh-CN" sz="900" dirty="0" err="1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simd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加速库，模拟 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google/highway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实现逐渐推广社区使用，形成事实标准。</a:t>
                      </a:r>
                      <a:endParaRPr lang="en-US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marL="228600" marR="0" lvl="0" indent="-22860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defRPr/>
                      </a:pP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使用 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FFI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封装 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google/highway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推广社区使用。</a:t>
                      </a:r>
                      <a:endParaRPr lang="en-US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marL="228600" marR="0" lvl="0" indent="-22860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defRPr/>
                      </a:pP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使用 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std::arch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为特定 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CPU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架构编写直接调用对应向量类型的数据。</a:t>
                      </a:r>
                      <a:endParaRPr lang="en-US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marL="228600" indent="-22860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+mj-lt"/>
                        <a:buAutoNum type="arabicPeriod"/>
                      </a:pP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直接编写 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embedded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汇编。</a:t>
                      </a:r>
                      <a:endParaRPr lang="en-US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67144" y="795873"/>
            <a:ext cx="532186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对于批量数据重复计算同时又涉及大量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的场景，例如加解密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/Bitmap/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列式数据库处理，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SIMD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指令能有效提高运算效率，为促进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社区针对这类项目启动 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portalable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SIMD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项目，帮助社区编写高性能实现。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endParaRPr kumimoji="1" lang="zh-CN" altLang="en-US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7144" y="6176428"/>
            <a:ext cx="532186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 </a:t>
            </a: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不涉及</a:t>
            </a:r>
            <a:r>
              <a:rPr kumimoji="1" lang="en-US" altLang="zh-CN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</a:t>
            </a: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场景也能通过</a:t>
            </a:r>
            <a:r>
              <a:rPr kumimoji="1" lang="en-US" altLang="zh-CN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SIMD</a:t>
            </a: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指令加速，例如科学计算，</a:t>
            </a:r>
            <a:r>
              <a:rPr kumimoji="1" lang="en-US" altLang="zh-CN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训练推理，图像视频编解码，针对这类问题，业界主要方案是通过显卡加速而非</a:t>
            </a:r>
            <a:r>
              <a:rPr kumimoji="1" lang="en-US" altLang="zh-CN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处理。</a:t>
            </a:r>
            <a:endParaRPr kumimoji="1" lang="en-US" altLang="zh-CN" sz="12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77470" y="4848488"/>
            <a:ext cx="5429873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讨论点，当性能优化过程中需要使用 </a:t>
            </a:r>
            <a:r>
              <a:rPr kumimoji="1"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SIMD </a:t>
            </a:r>
            <a:r>
              <a:rPr kumimoji="1" lang="zh-CN" alt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加速时：</a:t>
            </a:r>
            <a:endParaRPr kumimoji="1" lang="en-US" altLang="zh-CN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buFont typeface="+mj-lt"/>
              <a:buAutoNum type="arabicPeriod"/>
            </a:pP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xuanwu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社区，实现 </a:t>
            </a:r>
            <a:r>
              <a:rPr lang="en-US" altLang="zh-CN" sz="1200" dirty="0">
                <a:solidFill>
                  <a:srgbClr val="1D1D1A"/>
                </a:solidFill>
                <a:latin typeface="微软雅黑" charset="0"/>
                <a:ea typeface="微软雅黑" charset="0"/>
              </a:rPr>
              <a:t>highway </a:t>
            </a:r>
            <a:r>
              <a:rPr lang="zh-CN" altLang="en-US" sz="1200" dirty="0">
                <a:solidFill>
                  <a:srgbClr val="1D1D1A"/>
                </a:solidFill>
                <a:latin typeface="微软雅黑" charset="0"/>
                <a:ea typeface="微软雅黑" charset="0"/>
              </a:rPr>
              <a:t>的 </a:t>
            </a:r>
            <a:r>
              <a:rPr lang="en-US" altLang="zh-CN" sz="1200" dirty="0">
                <a:solidFill>
                  <a:srgbClr val="1D1D1A"/>
                </a:solidFill>
                <a:latin typeface="微软雅黑" charset="0"/>
                <a:ea typeface="微软雅黑" charset="0"/>
              </a:rPr>
              <a:t>Rust </a:t>
            </a:r>
            <a:r>
              <a:rPr lang="zh-CN" altLang="en-US" sz="1200" dirty="0">
                <a:solidFill>
                  <a:srgbClr val="1D1D1A"/>
                </a:solidFill>
                <a:latin typeface="微软雅黑" charset="0"/>
                <a:ea typeface="微软雅黑" charset="0"/>
              </a:rPr>
              <a:t>封装或 </a:t>
            </a:r>
            <a:r>
              <a:rPr lang="en-US" altLang="zh-CN" sz="1200" dirty="0">
                <a:solidFill>
                  <a:srgbClr val="1D1D1A"/>
                </a:solidFill>
                <a:latin typeface="微软雅黑" charset="0"/>
                <a:ea typeface="微软雅黑" charset="0"/>
              </a:rPr>
              <a:t>rust </a:t>
            </a:r>
            <a:r>
              <a:rPr lang="zh-CN" altLang="en-US" sz="1200" dirty="0">
                <a:solidFill>
                  <a:srgbClr val="1D1D1A"/>
                </a:solidFill>
                <a:latin typeface="微软雅黑" charset="0"/>
                <a:ea typeface="微软雅黑" charset="0"/>
              </a:rPr>
              <a:t>重写，并推广使用。</a:t>
            </a:r>
            <a:endParaRPr lang="en-US" altLang="zh-CN" sz="1200" dirty="0">
              <a:solidFill>
                <a:srgbClr val="1D1D1A"/>
              </a:solidFill>
              <a:latin typeface="微软雅黑" charset="0"/>
              <a:ea typeface="微软雅黑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自主实现一个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highway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，并推广社区使用。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 algn="l">
              <a:buFont typeface="+mj-lt"/>
              <a:buAutoNum type="arabicPeriod"/>
            </a:pP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目前使用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std::arch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汇编指令过度，等待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std::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simd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稳定，投入资源接入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SVE/SEV2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表格 10"/>
          <p:cNvGraphicFramePr/>
          <p:nvPr/>
        </p:nvGraphicFramePr>
        <p:xfrm>
          <a:off x="6531904" y="795873"/>
          <a:ext cx="5429874" cy="4543795"/>
        </p:xfrm>
        <a:graphic>
          <a:graphicData uri="http://schemas.openxmlformats.org/drawingml/2006/table">
            <a:tbl>
              <a:tblPr/>
              <a:tblGrid>
                <a:gridCol w="829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4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2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22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13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742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C/C++</a:t>
                      </a: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</a:t>
                      </a:r>
                      <a:endParaRPr lang="en-US" altLang="zh-CN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Rust</a:t>
                      </a: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</a:t>
                      </a: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50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SIMD</a:t>
                      </a: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实现（向量加速）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google/highway Google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实现的可迁移向量加速库，应用广泛。</a:t>
                      </a:r>
                      <a:endParaRPr 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kern="1200" dirty="0">
                          <a:solidFill>
                            <a:srgbClr val="00FF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⬤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高活跃</a:t>
                      </a:r>
                      <a:endParaRPr lang="zh-CN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9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nickbabcock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/highway-</a:t>
                      </a:r>
                      <a:r>
                        <a:rPr lang="en-US" altLang="zh-CN" sz="9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rs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个人维护的 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Rust 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版本 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highway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</a:rPr>
                        <a:t>⬤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低活跃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31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Snappy</a:t>
                      </a: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（压缩</a:t>
                      </a:r>
                      <a:r>
                        <a:rPr lang="en-US" altLang="zh-CN" sz="9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解压）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google/snappy Google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提供的实现，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snappy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算法最初实现，项目非常活跃。</a:t>
                      </a:r>
                      <a:endParaRPr lang="zh-CN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kern="1200" dirty="0">
                          <a:solidFill>
                            <a:srgbClr val="00FF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⬤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高活跃</a:t>
                      </a:r>
                      <a:endParaRPr lang="zh-CN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BurntSushi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/rust-snappy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，个人维护者实现，长时间不活跃，但大量项目依赖。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</a:rPr>
                        <a:t>⬤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不活跃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56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LZ4</a:t>
                      </a: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（压缩</a:t>
                      </a:r>
                      <a:r>
                        <a:rPr lang="en-US" altLang="zh-CN" sz="9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解压）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lz4/lz4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社区维护，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lz4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算法最初实现。</a:t>
                      </a:r>
                      <a:endParaRPr 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900" dirty="0">
                          <a:solidFill>
                            <a:srgbClr val="99CC00"/>
                          </a:solidFill>
                          <a:latin typeface="微软雅黑" charset="0"/>
                          <a:ea typeface="微软雅黑" charset="0"/>
                        </a:rPr>
                        <a:t>⬤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中等活跃</a:t>
                      </a:r>
                      <a:endParaRPr 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9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Pseitz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/lz4_flex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，个人开发者维护，</a:t>
                      </a:r>
                      <a:r>
                        <a:rPr lang="en-US" altLang="zh-CN" sz="9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Controbuter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数量较多。</a:t>
                      </a: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kern="1200" dirty="0">
                          <a:solidFill>
                            <a:srgbClr val="99CC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⬤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中等活跃</a:t>
                      </a:r>
                      <a:endParaRPr lang="zh-CN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SHA</a:t>
                      </a:r>
                      <a:r>
                        <a:rPr lang="zh-CN" altLang="en-US" sz="900" b="1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（一致性</a:t>
                      </a:r>
                      <a:r>
                        <a:rPr lang="en-US" altLang="zh-CN" sz="900" b="1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Hash</a:t>
                      </a:r>
                      <a:r>
                        <a:rPr lang="zh-CN" altLang="en-US" sz="900" b="1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）</a:t>
                      </a:r>
                      <a:endParaRPr lang="en-US" sz="900" b="1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OpenSSL/</a:t>
                      </a:r>
                      <a:r>
                        <a:rPr lang="en-US" altLang="zh-CN" sz="900" dirty="0" err="1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libcrypto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</a:t>
                      </a:r>
                      <a:r>
                        <a:rPr lang="en-US" altLang="zh-CN" sz="900" dirty="0"/>
                        <a:t>OpenSSL </a:t>
                      </a:r>
                      <a:r>
                        <a:rPr lang="zh-CN" altLang="en-US" sz="900" dirty="0"/>
                        <a:t>基金会维护，多个企业资助长期修复漏洞</a:t>
                      </a:r>
                      <a:r>
                        <a:rPr lang="en-US" altLang="zh-CN" sz="900" dirty="0"/>
                        <a:t>/Bug</a:t>
                      </a:r>
                      <a:r>
                        <a:rPr lang="zh-CN" altLang="en-US" sz="900" dirty="0"/>
                        <a:t>。</a:t>
                      </a:r>
                      <a:endParaRPr lang="en-US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kern="1200" dirty="0">
                          <a:solidFill>
                            <a:srgbClr val="00FF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⬤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高活跃</a:t>
                      </a:r>
                      <a:endParaRPr lang="zh-CN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9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RustCrypto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/hashes 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社区维护，</a:t>
                      </a: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kern="1200" dirty="0">
                          <a:solidFill>
                            <a:srgbClr val="99CC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⬤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中等活跃</a:t>
                      </a:r>
                      <a:endParaRPr lang="zh-CN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57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SQLite</a:t>
                      </a: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（轻量数据库）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kern="1200" dirty="0" err="1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sqlite</a:t>
                      </a:r>
                      <a:r>
                        <a:rPr lang="en-US" altLang="zh-CN" sz="900" kern="12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/</a:t>
                      </a:r>
                      <a:r>
                        <a:rPr lang="en-US" altLang="zh-CN" sz="900" kern="1200" dirty="0" err="1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sqlite</a:t>
                      </a:r>
                      <a:r>
                        <a:rPr lang="zh-CN" altLang="en-US" sz="900" kern="12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 </a:t>
                      </a:r>
                      <a:r>
                        <a:rPr lang="en-US" altLang="zh-CN" sz="900" kern="1200" dirty="0" err="1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Sqllite</a:t>
                      </a:r>
                      <a:r>
                        <a:rPr lang="en-US" altLang="zh-CN" sz="900" kern="12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 </a:t>
                      </a:r>
                      <a:r>
                        <a:rPr lang="zh-CN" altLang="en-US" sz="900" kern="12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社区维护，维护者数量众多，测试完善。</a:t>
                      </a:r>
                      <a:endParaRPr lang="zh-CN" altLang="zh-CN" sz="900" kern="12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rgbClr val="00FF00"/>
                          </a:solidFill>
                          <a:latin typeface="微软雅黑" charset="0"/>
                          <a:ea typeface="微软雅黑" charset="0"/>
                        </a:rPr>
                        <a:t>⬤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</a:t>
                      </a:r>
                      <a:r>
                        <a:rPr lang="zh-CN" altLang="en-US" sz="900" kern="12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高活跃</a:t>
                      </a:r>
                    </a:p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zh-CN" sz="900" kern="12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有多个重写</a:t>
                      </a:r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/Rust </a:t>
                      </a:r>
                      <a:r>
                        <a:rPr lang="zh-CN" altLang="en-US" sz="9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封装，没有发现绝对主流。</a:t>
                      </a:r>
                      <a:endParaRPr lang="en-US" altLang="zh-CN" sz="9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kern="1200" dirty="0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⬤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</a:t>
                      </a:r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N/A</a:t>
                      </a:r>
                    </a:p>
                  </a:txBody>
                  <a:tcPr anchor="ctr">
                    <a:lnL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4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Regex</a:t>
                      </a: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（正则解析）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POSIX regex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，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Unix/Linux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系统自带的标准正则接口，适合做可移植的基础正则匹配。</a:t>
                      </a:r>
                      <a:endParaRPr lang="zh-CN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900" dirty="0">
                          <a:solidFill>
                            <a:srgbClr val="99CC00"/>
                          </a:solidFill>
                          <a:latin typeface="微软雅黑" charset="0"/>
                          <a:ea typeface="微软雅黑" charset="0"/>
                        </a:rPr>
                        <a:t>⬤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中等活跃</a:t>
                      </a:r>
                      <a:endParaRPr lang="zh-CN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rust-lang/regex Rust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核心社区团队维护，已经成为主流实现。</a:t>
                      </a:r>
                      <a:endParaRPr lang="zh-CN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900" kern="1200" dirty="0">
                          <a:solidFill>
                            <a:srgbClr val="00FF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⬤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高活跃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4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SSL</a:t>
                      </a: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（加密）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OpenSSL/</a:t>
                      </a:r>
                      <a:r>
                        <a:rPr lang="en-US" altLang="zh-CN" sz="900" dirty="0" err="1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ssl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</a:t>
                      </a:r>
                      <a:r>
                        <a:rPr lang="en-US" altLang="zh-CN" sz="900" dirty="0"/>
                        <a:t>OpenSSL </a:t>
                      </a:r>
                      <a:r>
                        <a:rPr lang="zh-CN" altLang="en-US" sz="900" dirty="0"/>
                        <a:t>基金会维护，多个企业资助长期修复漏洞</a:t>
                      </a:r>
                      <a:r>
                        <a:rPr lang="en-US" altLang="zh-CN" sz="900" dirty="0"/>
                        <a:t>/Bug</a:t>
                      </a:r>
                      <a:r>
                        <a:rPr lang="zh-CN" altLang="en-US" sz="900" dirty="0"/>
                        <a:t>。</a:t>
                      </a:r>
                      <a:endParaRPr lang="zh-CN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kern="1200" dirty="0">
                          <a:solidFill>
                            <a:srgbClr val="00FF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⬤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高活跃</a:t>
                      </a:r>
                      <a:endParaRPr lang="zh-CN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118745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900" dirty="0" err="1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rustls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/</a:t>
                      </a:r>
                      <a:r>
                        <a:rPr lang="en-US" altLang="zh-CN" sz="900" dirty="0" err="1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rustls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社区维护，大量 </a:t>
                      </a:r>
                      <a:r>
                        <a:rPr lang="en-US" altLang="zh-CN" sz="900" dirty="0" err="1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commitor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和 </a:t>
                      </a:r>
                      <a:r>
                        <a:rPr lang="en-US" altLang="zh-CN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sponsor</a:t>
                      </a:r>
                      <a:endParaRPr lang="zh-CN" altLang="zh-CN" sz="900" dirty="0">
                        <a:solidFill>
                          <a:srgbClr val="1D1D1A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kern="1200" dirty="0">
                          <a:solidFill>
                            <a:srgbClr val="00FF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⬤</a:t>
                      </a:r>
                      <a:r>
                        <a:rPr lang="zh-CN" altLang="en-US" sz="900" dirty="0">
                          <a:solidFill>
                            <a:srgbClr val="1D1D1A"/>
                          </a:solidFill>
                          <a:latin typeface="微软雅黑" charset="0"/>
                          <a:ea typeface="微软雅黑" charset="0"/>
                        </a:rPr>
                        <a:t> 高活跃</a:t>
                      </a:r>
                    </a:p>
                  </a:txBody>
                  <a:tcPr anchor="ctr">
                    <a:lnL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6485856" y="5493330"/>
            <a:ext cx="5429873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对于底层功能库，当存在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C/C++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版本的长期稳定实现时，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社区很难产生活跃维护的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版本实现。因此加入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highway-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或发起一个类似项目推进难度较大。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 2">
            <a:extLst>
              <a:ext uri="{FF2B5EF4-FFF2-40B4-BE49-F238E27FC236}">
                <a16:creationId xmlns:a16="http://schemas.microsoft.com/office/drawing/2014/main" id="{2750CFEF-395F-4C98-BBA9-5637FE618A54}"/>
              </a:ext>
            </a:extLst>
          </p:cNvPr>
          <p:cNvSpPr txBox="1">
            <a:spLocks/>
          </p:cNvSpPr>
          <p:nvPr/>
        </p:nvSpPr>
        <p:spPr>
          <a:xfrm>
            <a:off x="277496" y="197037"/>
            <a:ext cx="11300570" cy="4785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 defTabSz="913765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defTabSz="913399">
              <a:defRPr/>
            </a:pPr>
            <a:r>
              <a:rPr lang="en-US" altLang="zh-CN" sz="2199" b="1" dirty="0"/>
              <a:t>Agent</a:t>
            </a:r>
            <a:r>
              <a:rPr lang="en-US" altLang="zh-CN" sz="2199" b="1" dirty="0" err="1"/>
              <a:t>ic</a:t>
            </a:r>
            <a:r>
              <a:rPr lang="en-US" altLang="zh-CN" sz="2199" b="1" dirty="0"/>
              <a:t> AI</a:t>
            </a:r>
            <a:r>
              <a:rPr lang="zh-CN" altLang="en-US" sz="2199" b="1" dirty="0"/>
              <a:t>引入有状态小时级多轮迭代，需通智协同调度与高效</a:t>
            </a:r>
            <a:r>
              <a:rPr lang="en-US" altLang="zh-CN" sz="2199" b="1" dirty="0"/>
              <a:t>KV</a:t>
            </a:r>
            <a:r>
              <a:rPr lang="zh-CN" altLang="en-US" sz="2199" b="1" dirty="0"/>
              <a:t>系统最大化</a:t>
            </a:r>
            <a:r>
              <a:rPr lang="en-US" altLang="zh-CN" sz="2199" b="1" dirty="0"/>
              <a:t>NPU</a:t>
            </a:r>
            <a:r>
              <a:rPr lang="zh-CN" altLang="en-US" sz="2199" b="1" dirty="0"/>
              <a:t>利用率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8C87A0D-841B-1688-2762-286BC39209AD}"/>
              </a:ext>
            </a:extLst>
          </p:cNvPr>
          <p:cNvSpPr/>
          <p:nvPr/>
        </p:nvSpPr>
        <p:spPr>
          <a:xfrm>
            <a:off x="1101652" y="2038414"/>
            <a:ext cx="2038794" cy="328964"/>
          </a:xfrm>
          <a:prstGeom prst="roundRect">
            <a:avLst/>
          </a:prstGeom>
          <a:solidFill>
            <a:srgbClr val="00B0F0"/>
          </a:solidFill>
          <a:ln w="3175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zh-CN" altLang="en-US" sz="105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工具沙箱系统</a:t>
            </a:r>
          </a:p>
        </p:txBody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79E191E3-7561-78C4-A1B1-338C925617CB}"/>
              </a:ext>
            </a:extLst>
          </p:cNvPr>
          <p:cNvSpPr/>
          <p:nvPr/>
        </p:nvSpPr>
        <p:spPr>
          <a:xfrm>
            <a:off x="1101651" y="1638158"/>
            <a:ext cx="2038794" cy="328964"/>
          </a:xfrm>
          <a:prstGeom prst="roundRect">
            <a:avLst/>
          </a:prstGeom>
          <a:solidFill>
            <a:srgbClr val="00B0F0"/>
          </a:solidFill>
          <a:ln w="3175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zh-CN" altLang="en-US" sz="105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上下文记忆系统</a:t>
            </a:r>
          </a:p>
        </p:txBody>
      </p:sp>
      <p:sp>
        <p:nvSpPr>
          <p:cNvPr id="151" name="矩形: 圆角 150">
            <a:extLst>
              <a:ext uri="{FF2B5EF4-FFF2-40B4-BE49-F238E27FC236}">
                <a16:creationId xmlns:a16="http://schemas.microsoft.com/office/drawing/2014/main" id="{AD013F16-CEE0-E66C-4802-16E20036FB7B}"/>
              </a:ext>
            </a:extLst>
          </p:cNvPr>
          <p:cNvSpPr/>
          <p:nvPr/>
        </p:nvSpPr>
        <p:spPr>
          <a:xfrm>
            <a:off x="1098104" y="1239148"/>
            <a:ext cx="2038794" cy="328964"/>
          </a:xfrm>
          <a:prstGeom prst="roundRect">
            <a:avLst/>
          </a:prstGeom>
          <a:solidFill>
            <a:srgbClr val="D0E8C4"/>
          </a:solidFill>
          <a:ln w="3175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zh-CN" altLang="en-US" sz="105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应用侧</a:t>
            </a:r>
          </a:p>
        </p:txBody>
      </p:sp>
      <p:sp>
        <p:nvSpPr>
          <p:cNvPr id="153" name="矩形: 圆角 152">
            <a:extLst>
              <a:ext uri="{FF2B5EF4-FFF2-40B4-BE49-F238E27FC236}">
                <a16:creationId xmlns:a16="http://schemas.microsoft.com/office/drawing/2014/main" id="{DC496C69-A1FD-C83E-C503-7AB0261F34BD}"/>
              </a:ext>
            </a:extLst>
          </p:cNvPr>
          <p:cNvSpPr/>
          <p:nvPr/>
        </p:nvSpPr>
        <p:spPr>
          <a:xfrm>
            <a:off x="3282047" y="1226796"/>
            <a:ext cx="2223539" cy="328964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状态不可控</a:t>
            </a:r>
          </a:p>
        </p:txBody>
      </p:sp>
      <p:sp>
        <p:nvSpPr>
          <p:cNvPr id="158" name="矩形: 圆角 157">
            <a:extLst>
              <a:ext uri="{FF2B5EF4-FFF2-40B4-BE49-F238E27FC236}">
                <a16:creationId xmlns:a16="http://schemas.microsoft.com/office/drawing/2014/main" id="{8D924D3C-AF08-8E33-6AAB-E1020BB04CE3}"/>
              </a:ext>
            </a:extLst>
          </p:cNvPr>
          <p:cNvSpPr/>
          <p:nvPr/>
        </p:nvSpPr>
        <p:spPr>
          <a:xfrm>
            <a:off x="5940745" y="1234991"/>
            <a:ext cx="2273951" cy="328964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有状态推理</a:t>
            </a:r>
          </a:p>
        </p:txBody>
      </p:sp>
      <p:sp>
        <p:nvSpPr>
          <p:cNvPr id="167" name="矩形: 圆角 166">
            <a:extLst>
              <a:ext uri="{FF2B5EF4-FFF2-40B4-BE49-F238E27FC236}">
                <a16:creationId xmlns:a16="http://schemas.microsoft.com/office/drawing/2014/main" id="{9639A0FB-284B-86F4-7D37-6A6BC66F2AA8}"/>
              </a:ext>
            </a:extLst>
          </p:cNvPr>
          <p:cNvSpPr/>
          <p:nvPr/>
        </p:nvSpPr>
        <p:spPr>
          <a:xfrm>
            <a:off x="3282048" y="1649276"/>
            <a:ext cx="2223539" cy="328964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N/A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（少量上下文信息）</a:t>
            </a:r>
          </a:p>
        </p:txBody>
      </p:sp>
      <p:sp>
        <p:nvSpPr>
          <p:cNvPr id="169" name="矩形: 圆角 168">
            <a:extLst>
              <a:ext uri="{FF2B5EF4-FFF2-40B4-BE49-F238E27FC236}">
                <a16:creationId xmlns:a16="http://schemas.microsoft.com/office/drawing/2014/main" id="{D0A7E601-497A-16A2-FDBD-F31B93D757A5}"/>
              </a:ext>
            </a:extLst>
          </p:cNvPr>
          <p:cNvSpPr/>
          <p:nvPr/>
        </p:nvSpPr>
        <p:spPr>
          <a:xfrm>
            <a:off x="3282048" y="2035012"/>
            <a:ext cx="2223539" cy="328964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N/A</a:t>
            </a:r>
            <a:endParaRPr lang="zh-CN" altLang="en-US" sz="9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2" name="矩形: 圆角 171">
            <a:extLst>
              <a:ext uri="{FF2B5EF4-FFF2-40B4-BE49-F238E27FC236}">
                <a16:creationId xmlns:a16="http://schemas.microsoft.com/office/drawing/2014/main" id="{15176737-8441-3913-A28D-3D4CE46958AF}"/>
              </a:ext>
            </a:extLst>
          </p:cNvPr>
          <p:cNvSpPr/>
          <p:nvPr/>
        </p:nvSpPr>
        <p:spPr>
          <a:xfrm>
            <a:off x="5940745" y="1649276"/>
            <a:ext cx="2273951" cy="328964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zh-CN" altLang="en-US" sz="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千亿千维向量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检索，时延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&lt;50ms</a:t>
            </a:r>
          </a:p>
        </p:txBody>
      </p:sp>
      <p:sp>
        <p:nvSpPr>
          <p:cNvPr id="173" name="矩形: 圆角 172">
            <a:extLst>
              <a:ext uri="{FF2B5EF4-FFF2-40B4-BE49-F238E27FC236}">
                <a16:creationId xmlns:a16="http://schemas.microsoft.com/office/drawing/2014/main" id="{95C1672F-D556-5535-E6BF-2B196BD63407}"/>
              </a:ext>
            </a:extLst>
          </p:cNvPr>
          <p:cNvSpPr/>
          <p:nvPr/>
        </p:nvSpPr>
        <p:spPr>
          <a:xfrm>
            <a:off x="5940745" y="2035012"/>
            <a:ext cx="2273951" cy="328964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通用流程 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(skills) 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大量工具调用</a:t>
            </a:r>
            <a:endParaRPr lang="en-US" altLang="zh-CN" sz="9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034">
              <a:defRPr/>
            </a:pP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推理期间沙箱处于</a:t>
            </a:r>
            <a:r>
              <a:rPr lang="zh-CN" altLang="en-US" sz="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不活跃状态</a:t>
            </a:r>
          </a:p>
        </p:txBody>
      </p:sp>
      <p:sp>
        <p:nvSpPr>
          <p:cNvPr id="1030" name="矩形: 圆角 1029">
            <a:extLst>
              <a:ext uri="{FF2B5EF4-FFF2-40B4-BE49-F238E27FC236}">
                <a16:creationId xmlns:a16="http://schemas.microsoft.com/office/drawing/2014/main" id="{ECBEAE43-88F1-CC1A-7155-7BB85BB14552}"/>
              </a:ext>
            </a:extLst>
          </p:cNvPr>
          <p:cNvSpPr/>
          <p:nvPr/>
        </p:nvSpPr>
        <p:spPr>
          <a:xfrm>
            <a:off x="3282047" y="841164"/>
            <a:ext cx="2223539" cy="303234"/>
          </a:xfrm>
          <a:prstGeom prst="roundRect">
            <a:avLst>
              <a:gd name="adj" fmla="val 0"/>
            </a:avLst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en-US" altLang="zh-CN" sz="105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lang="zh-CN" altLang="en-US" sz="105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多轮对话负载</a:t>
            </a:r>
          </a:p>
        </p:txBody>
      </p:sp>
      <p:sp>
        <p:nvSpPr>
          <p:cNvPr id="1031" name="矩形: 圆角 1030">
            <a:extLst>
              <a:ext uri="{FF2B5EF4-FFF2-40B4-BE49-F238E27FC236}">
                <a16:creationId xmlns:a16="http://schemas.microsoft.com/office/drawing/2014/main" id="{CF30F3FA-A37B-232B-D01B-92F2CA63FA77}"/>
              </a:ext>
            </a:extLst>
          </p:cNvPr>
          <p:cNvSpPr/>
          <p:nvPr/>
        </p:nvSpPr>
        <p:spPr>
          <a:xfrm>
            <a:off x="5927781" y="832432"/>
            <a:ext cx="2286914" cy="313283"/>
          </a:xfrm>
          <a:prstGeom prst="roundRect">
            <a:avLst>
              <a:gd name="adj" fmla="val 0"/>
            </a:avLst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en-US" altLang="zh-CN" sz="105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Agentic AI</a:t>
            </a:r>
            <a:r>
              <a:rPr lang="zh-CN" altLang="en-US" sz="105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负载变化和挑战</a:t>
            </a:r>
          </a:p>
        </p:txBody>
      </p:sp>
      <p:sp>
        <p:nvSpPr>
          <p:cNvPr id="281" name="椭圆 280">
            <a:extLst>
              <a:ext uri="{FF2B5EF4-FFF2-40B4-BE49-F238E27FC236}">
                <a16:creationId xmlns:a16="http://schemas.microsoft.com/office/drawing/2014/main" id="{45DE42FA-6FC0-D67C-4F94-8C26BB224BEE}"/>
              </a:ext>
            </a:extLst>
          </p:cNvPr>
          <p:cNvSpPr/>
          <p:nvPr/>
        </p:nvSpPr>
        <p:spPr>
          <a:xfrm>
            <a:off x="6014940" y="1321360"/>
            <a:ext cx="161937" cy="161937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en-US" altLang="zh-CN" sz="105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/>
              </a:rPr>
              <a:t>1</a:t>
            </a:r>
            <a:endParaRPr lang="zh-CN" altLang="en-US" sz="105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44E2F87-D91F-EF16-C810-98F039D54EED}"/>
              </a:ext>
            </a:extLst>
          </p:cNvPr>
          <p:cNvGrpSpPr/>
          <p:nvPr/>
        </p:nvGrpSpPr>
        <p:grpSpPr>
          <a:xfrm>
            <a:off x="816914" y="3422591"/>
            <a:ext cx="10449282" cy="3202586"/>
            <a:chOff x="1087079" y="3556027"/>
            <a:chExt cx="10453364" cy="3067139"/>
          </a:xfrm>
        </p:grpSpPr>
        <p:grpSp>
          <p:nvGrpSpPr>
            <p:cNvPr id="1035" name="组合 1034">
              <a:extLst>
                <a:ext uri="{FF2B5EF4-FFF2-40B4-BE49-F238E27FC236}">
                  <a16:creationId xmlns:a16="http://schemas.microsoft.com/office/drawing/2014/main" id="{0FBD507A-A631-E4A7-4C2F-4900486E8B40}"/>
                </a:ext>
              </a:extLst>
            </p:cNvPr>
            <p:cNvGrpSpPr/>
            <p:nvPr/>
          </p:nvGrpSpPr>
          <p:grpSpPr>
            <a:xfrm>
              <a:off x="1087079" y="3556027"/>
              <a:ext cx="10453364" cy="3067139"/>
              <a:chOff x="1134901" y="2515122"/>
              <a:chExt cx="10453364" cy="4034712"/>
            </a:xfrm>
          </p:grpSpPr>
          <p:cxnSp>
            <p:nvCxnSpPr>
              <p:cNvPr id="1036" name="直接连接符 1035">
                <a:extLst>
                  <a:ext uri="{FF2B5EF4-FFF2-40B4-BE49-F238E27FC236}">
                    <a16:creationId xmlns:a16="http://schemas.microsoft.com/office/drawing/2014/main" id="{2C3F06FF-51A8-1647-C51E-9C55C9F513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99251" y="3492019"/>
                <a:ext cx="0" cy="0"/>
              </a:xfrm>
              <a:prstGeom prst="line">
                <a:avLst/>
              </a:prstGeom>
              <a:ln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037" name="Picture 2">
                <a:extLst>
                  <a:ext uri="{FF2B5EF4-FFF2-40B4-BE49-F238E27FC236}">
                    <a16:creationId xmlns:a16="http://schemas.microsoft.com/office/drawing/2014/main" id="{429C30D0-C868-51BE-8BEE-1AE2BF70D3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713648" y="3625720"/>
                <a:ext cx="354548" cy="32342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38" name="矩形 1037">
                <a:extLst>
                  <a:ext uri="{FF2B5EF4-FFF2-40B4-BE49-F238E27FC236}">
                    <a16:creationId xmlns:a16="http://schemas.microsoft.com/office/drawing/2014/main" id="{B7D93958-1F2E-1506-229E-12C834384ED8}"/>
                  </a:ext>
                </a:extLst>
              </p:cNvPr>
              <p:cNvSpPr/>
              <p:nvPr/>
            </p:nvSpPr>
            <p:spPr>
              <a:xfrm>
                <a:off x="6213059" y="4920767"/>
                <a:ext cx="656098" cy="306842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034">
                  <a:defRPr/>
                </a:pPr>
                <a:r>
                  <a:rPr lang="zh-CN" altLang="en-US" sz="900" b="1" dirty="0">
                    <a:solidFill>
                      <a:srgbClr val="1D1D1A"/>
                    </a:solidFill>
                    <a:latin typeface="微软雅黑"/>
                    <a:ea typeface="微软雅黑"/>
                  </a:rPr>
                  <a:t>推理</a:t>
                </a:r>
                <a:r>
                  <a:rPr lang="en-US" altLang="zh-CN" sz="900" b="1" dirty="0">
                    <a:solidFill>
                      <a:srgbClr val="1D1D1A"/>
                    </a:solidFill>
                    <a:latin typeface="微软雅黑"/>
                    <a:ea typeface="微软雅黑"/>
                  </a:rPr>
                  <a:t>PD</a:t>
                </a:r>
              </a:p>
              <a:p>
                <a:pPr algn="ctr" defTabSz="914034">
                  <a:defRPr/>
                </a:pPr>
                <a:r>
                  <a:rPr lang="zh-CN" altLang="en-US" sz="900" b="1" dirty="0">
                    <a:solidFill>
                      <a:srgbClr val="1D1D1A"/>
                    </a:solidFill>
                    <a:latin typeface="微软雅黑"/>
                    <a:ea typeface="微软雅黑"/>
                  </a:rPr>
                  <a:t>集群调度</a:t>
                </a:r>
              </a:p>
            </p:txBody>
          </p:sp>
          <p:sp>
            <p:nvSpPr>
              <p:cNvPr id="1039" name="文本框 1038">
                <a:extLst>
                  <a:ext uri="{FF2B5EF4-FFF2-40B4-BE49-F238E27FC236}">
                    <a16:creationId xmlns:a16="http://schemas.microsoft.com/office/drawing/2014/main" id="{F205574B-8169-5796-9082-E6EDC66FBFB3}"/>
                  </a:ext>
                </a:extLst>
              </p:cNvPr>
              <p:cNvSpPr txBox="1"/>
              <p:nvPr/>
            </p:nvSpPr>
            <p:spPr>
              <a:xfrm>
                <a:off x="4553999" y="3497474"/>
                <a:ext cx="1315085" cy="290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034">
                  <a:defRPr/>
                </a:pPr>
                <a:r>
                  <a:rPr lang="en-US" altLang="zh-CN" sz="9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Agent</a:t>
                </a:r>
                <a:r>
                  <a:rPr lang="zh-CN" altLang="en-US" sz="9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调用</a:t>
                </a:r>
                <a:r>
                  <a:rPr lang="en-US" altLang="zh-CN" sz="9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LLM</a:t>
                </a:r>
                <a:endParaRPr lang="zh-CN" altLang="en-US" sz="9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0" name="箭头: 上弧形 1039">
                <a:extLst>
                  <a:ext uri="{FF2B5EF4-FFF2-40B4-BE49-F238E27FC236}">
                    <a16:creationId xmlns:a16="http://schemas.microsoft.com/office/drawing/2014/main" id="{3170B23A-0543-776E-B9B3-CB757F16388B}"/>
                  </a:ext>
                </a:extLst>
              </p:cNvPr>
              <p:cNvSpPr/>
              <p:nvPr/>
            </p:nvSpPr>
            <p:spPr>
              <a:xfrm>
                <a:off x="5150953" y="3349273"/>
                <a:ext cx="1416464" cy="207280"/>
              </a:xfrm>
              <a:prstGeom prst="curvedDownArrow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>
                  <a:defRPr/>
                </a:pPr>
                <a:endParaRPr lang="zh-CN" altLang="en-US" sz="1799">
                  <a:solidFill>
                    <a:srgbClr val="666666"/>
                  </a:solidFill>
                  <a:latin typeface="Huawei Sans" panose="020B0604020202020204"/>
                  <a:ea typeface="微软雅黑"/>
                </a:endParaRPr>
              </a:p>
            </p:txBody>
          </p:sp>
          <p:sp>
            <p:nvSpPr>
              <p:cNvPr id="1041" name="文本框 1040">
                <a:extLst>
                  <a:ext uri="{FF2B5EF4-FFF2-40B4-BE49-F238E27FC236}">
                    <a16:creationId xmlns:a16="http://schemas.microsoft.com/office/drawing/2014/main" id="{D9CADDCE-7635-030A-01BE-0BC38F1BA4F2}"/>
                  </a:ext>
                </a:extLst>
              </p:cNvPr>
              <p:cNvSpPr txBox="1"/>
              <p:nvPr/>
            </p:nvSpPr>
            <p:spPr>
              <a:xfrm>
                <a:off x="5573339" y="3395987"/>
                <a:ext cx="646331" cy="2906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034">
                  <a:defRPr/>
                </a:pPr>
                <a:r>
                  <a:rPr lang="zh-CN" altLang="en-US" sz="9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推理网关</a:t>
                </a:r>
              </a:p>
            </p:txBody>
          </p:sp>
          <p:cxnSp>
            <p:nvCxnSpPr>
              <p:cNvPr id="1042" name="连接符: 肘形 1041">
                <a:extLst>
                  <a:ext uri="{FF2B5EF4-FFF2-40B4-BE49-F238E27FC236}">
                    <a16:creationId xmlns:a16="http://schemas.microsoft.com/office/drawing/2014/main" id="{D7909F81-2999-50A2-DFDC-6FE4210D45BF}"/>
                  </a:ext>
                </a:extLst>
              </p:cNvPr>
              <p:cNvCxnSpPr>
                <a:cxnSpLocks/>
                <a:stCxn id="1038" idx="3"/>
                <a:endCxn id="1060" idx="1"/>
              </p:cNvCxnSpPr>
              <p:nvPr/>
            </p:nvCxnSpPr>
            <p:spPr>
              <a:xfrm flipV="1">
                <a:off x="6869157" y="3535358"/>
                <a:ext cx="280004" cy="1538830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3" name="文本框 1042">
                <a:extLst>
                  <a:ext uri="{FF2B5EF4-FFF2-40B4-BE49-F238E27FC236}">
                    <a16:creationId xmlns:a16="http://schemas.microsoft.com/office/drawing/2014/main" id="{628D790F-3C5F-D5A1-31B3-8EC3AD735C5C}"/>
                  </a:ext>
                </a:extLst>
              </p:cNvPr>
              <p:cNvSpPr txBox="1"/>
              <p:nvPr/>
            </p:nvSpPr>
            <p:spPr>
              <a:xfrm>
                <a:off x="7930331" y="2515122"/>
                <a:ext cx="1611339" cy="3294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034">
                  <a:defRPr/>
                </a:pPr>
                <a:r>
                  <a:rPr lang="zh-CN" altLang="en-US" sz="1100" b="1" u="sng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智算</a:t>
                </a:r>
                <a:r>
                  <a:rPr lang="en-US" altLang="zh-CN" sz="1100" b="1" u="sng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LLM</a:t>
                </a:r>
                <a:r>
                  <a:rPr lang="zh-CN" altLang="en-US" sz="1100" b="1" u="sng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推理基础设施</a:t>
                </a:r>
              </a:p>
            </p:txBody>
          </p:sp>
          <p:sp>
            <p:nvSpPr>
              <p:cNvPr id="1044" name="矩形: 圆角 1043">
                <a:extLst>
                  <a:ext uri="{FF2B5EF4-FFF2-40B4-BE49-F238E27FC236}">
                    <a16:creationId xmlns:a16="http://schemas.microsoft.com/office/drawing/2014/main" id="{18F2C5B0-971E-F0B2-68F1-C4FD14143FE2}"/>
                  </a:ext>
                </a:extLst>
              </p:cNvPr>
              <p:cNvSpPr/>
              <p:nvPr/>
            </p:nvSpPr>
            <p:spPr>
              <a:xfrm>
                <a:off x="2030764" y="2970251"/>
                <a:ext cx="2632381" cy="1437139"/>
              </a:xfrm>
              <a:prstGeom prst="roundRect">
                <a:avLst/>
              </a:prstGeom>
              <a:solidFill>
                <a:srgbClr val="D9D9D9"/>
              </a:solidFill>
              <a:ln w="3175">
                <a:solidFill>
                  <a:schemeClr val="bg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034">
                  <a:defRPr/>
                </a:pPr>
                <a:r>
                  <a:rPr lang="en-US" altLang="zh-CN" sz="9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Agent</a:t>
                </a:r>
                <a:r>
                  <a:rPr lang="zh-CN" altLang="en-US" sz="9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运行时系统</a:t>
                </a:r>
              </a:p>
            </p:txBody>
          </p:sp>
          <p:grpSp>
            <p:nvGrpSpPr>
              <p:cNvPr id="1045" name="组合 1044">
                <a:extLst>
                  <a:ext uri="{FF2B5EF4-FFF2-40B4-BE49-F238E27FC236}">
                    <a16:creationId xmlns:a16="http://schemas.microsoft.com/office/drawing/2014/main" id="{E07443EF-097B-0615-D005-BA3A62CB8092}"/>
                  </a:ext>
                </a:extLst>
              </p:cNvPr>
              <p:cNvGrpSpPr/>
              <p:nvPr/>
            </p:nvGrpSpPr>
            <p:grpSpPr>
              <a:xfrm>
                <a:off x="1283798" y="3276283"/>
                <a:ext cx="3108981" cy="1028493"/>
                <a:chOff x="607428" y="2027789"/>
                <a:chExt cx="2310617" cy="1028493"/>
              </a:xfrm>
            </p:grpSpPr>
            <p:sp>
              <p:nvSpPr>
                <p:cNvPr id="266" name="矩形 265">
                  <a:extLst>
                    <a:ext uri="{FF2B5EF4-FFF2-40B4-BE49-F238E27FC236}">
                      <a16:creationId xmlns:a16="http://schemas.microsoft.com/office/drawing/2014/main" id="{A95A130D-2E6B-8DC6-CCC4-BF9FA2C21E5F}"/>
                    </a:ext>
                  </a:extLst>
                </p:cNvPr>
                <p:cNvSpPr/>
                <p:nvPr/>
              </p:nvSpPr>
              <p:spPr>
                <a:xfrm>
                  <a:off x="1293438" y="2027789"/>
                  <a:ext cx="1624607" cy="1028493"/>
                </a:xfrm>
                <a:prstGeom prst="rect">
                  <a:avLst/>
                </a:prstGeom>
                <a:solidFill>
                  <a:schemeClr val="tx2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  <a:noAutofit/>
                </a:bodyPr>
                <a:lstStyle/>
                <a:p>
                  <a:pPr algn="ctr" defTabSz="914034">
                    <a:defRPr/>
                  </a:pPr>
                  <a:endParaRPr lang="zh-CN" altLang="en-US" sz="1799">
                    <a:solidFill>
                      <a:srgbClr val="666666"/>
                    </a:solidFill>
                    <a:latin typeface="Huawei Sans" panose="020B0604020202020204"/>
                    <a:ea typeface="微软雅黑"/>
                  </a:endParaRPr>
                </a:p>
              </p:txBody>
            </p:sp>
            <p:sp>
              <p:nvSpPr>
                <p:cNvPr id="267" name="椭圆 266">
                  <a:extLst>
                    <a:ext uri="{FF2B5EF4-FFF2-40B4-BE49-F238E27FC236}">
                      <a16:creationId xmlns:a16="http://schemas.microsoft.com/office/drawing/2014/main" id="{B48E4FB3-2367-C218-750F-D5639C23D6D2}"/>
                    </a:ext>
                  </a:extLst>
                </p:cNvPr>
                <p:cNvSpPr/>
                <p:nvPr/>
              </p:nvSpPr>
              <p:spPr>
                <a:xfrm>
                  <a:off x="1403550" y="2471703"/>
                  <a:ext cx="213060" cy="189461"/>
                </a:xfrm>
                <a:prstGeom prst="ellipse">
                  <a:avLst/>
                </a:prstGeom>
                <a:solidFill>
                  <a:schemeClr val="bg1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  <a:noAutofit/>
                </a:bodyPr>
                <a:lstStyle/>
                <a:p>
                  <a:pPr algn="ctr" defTabSz="914034">
                    <a:defRPr/>
                  </a:pPr>
                  <a:r>
                    <a:rPr lang="en-US" altLang="zh-CN" sz="1200" dirty="0">
                      <a:solidFill>
                        <a:srgbClr val="666666"/>
                      </a:solidFill>
                      <a:latin typeface="Huawei Sans" panose="020B0604020202020204"/>
                      <a:ea typeface="微软雅黑"/>
                    </a:rPr>
                    <a:t>0</a:t>
                  </a:r>
                  <a:endParaRPr lang="zh-CN" altLang="en-US" sz="1200" dirty="0">
                    <a:solidFill>
                      <a:srgbClr val="666666"/>
                    </a:solidFill>
                    <a:latin typeface="Huawei Sans" panose="020B0604020202020204"/>
                    <a:ea typeface="微软雅黑"/>
                  </a:endParaRPr>
                </a:p>
              </p:txBody>
            </p:sp>
            <p:sp>
              <p:nvSpPr>
                <p:cNvPr id="268" name="椭圆 267">
                  <a:extLst>
                    <a:ext uri="{FF2B5EF4-FFF2-40B4-BE49-F238E27FC236}">
                      <a16:creationId xmlns:a16="http://schemas.microsoft.com/office/drawing/2014/main" id="{F1FCADA0-54CB-E821-F7BD-79C74E286CBB}"/>
                    </a:ext>
                  </a:extLst>
                </p:cNvPr>
                <p:cNvSpPr/>
                <p:nvPr/>
              </p:nvSpPr>
              <p:spPr>
                <a:xfrm>
                  <a:off x="1834730" y="2100875"/>
                  <a:ext cx="213827" cy="207232"/>
                </a:xfrm>
                <a:prstGeom prst="ellipse">
                  <a:avLst/>
                </a:prstGeom>
                <a:solidFill>
                  <a:schemeClr val="bg1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  <a:noAutofit/>
                </a:bodyPr>
                <a:lstStyle/>
                <a:p>
                  <a:pPr algn="ctr" defTabSz="914034">
                    <a:defRPr/>
                  </a:pPr>
                  <a:r>
                    <a:rPr lang="en-US" altLang="zh-CN" sz="1200" dirty="0">
                      <a:solidFill>
                        <a:srgbClr val="666666"/>
                      </a:solidFill>
                      <a:latin typeface="Huawei Sans" panose="020B0604020202020204"/>
                      <a:ea typeface="微软雅黑"/>
                    </a:rPr>
                    <a:t>1</a:t>
                  </a:r>
                  <a:endParaRPr lang="zh-CN" altLang="en-US" sz="1200" dirty="0">
                    <a:solidFill>
                      <a:srgbClr val="666666"/>
                    </a:solidFill>
                    <a:latin typeface="Huawei Sans" panose="020B0604020202020204"/>
                    <a:ea typeface="微软雅黑"/>
                  </a:endParaRPr>
                </a:p>
              </p:txBody>
            </p:sp>
            <p:sp>
              <p:nvSpPr>
                <p:cNvPr id="269" name="椭圆 268">
                  <a:extLst>
                    <a:ext uri="{FF2B5EF4-FFF2-40B4-BE49-F238E27FC236}">
                      <a16:creationId xmlns:a16="http://schemas.microsoft.com/office/drawing/2014/main" id="{2202E797-7359-4201-CCE6-851892CD5BC3}"/>
                    </a:ext>
                  </a:extLst>
                </p:cNvPr>
                <p:cNvSpPr/>
                <p:nvPr/>
              </p:nvSpPr>
              <p:spPr>
                <a:xfrm>
                  <a:off x="1834728" y="2837785"/>
                  <a:ext cx="213829" cy="191834"/>
                </a:xfrm>
                <a:prstGeom prst="ellipse">
                  <a:avLst/>
                </a:prstGeom>
                <a:solidFill>
                  <a:schemeClr val="bg1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  <a:noAutofit/>
                </a:bodyPr>
                <a:lstStyle/>
                <a:p>
                  <a:pPr algn="ctr" defTabSz="914034">
                    <a:defRPr/>
                  </a:pPr>
                  <a:r>
                    <a:rPr lang="en-US" altLang="zh-CN" sz="1200" dirty="0">
                      <a:solidFill>
                        <a:srgbClr val="666666"/>
                      </a:solidFill>
                      <a:latin typeface="Huawei Sans" panose="020B0604020202020204"/>
                      <a:ea typeface="微软雅黑"/>
                    </a:rPr>
                    <a:t>2</a:t>
                  </a:r>
                  <a:endParaRPr lang="zh-CN" altLang="en-US" sz="1200" dirty="0">
                    <a:solidFill>
                      <a:srgbClr val="666666"/>
                    </a:solidFill>
                    <a:latin typeface="Huawei Sans" panose="020B0604020202020204"/>
                    <a:ea typeface="微软雅黑"/>
                  </a:endParaRPr>
                </a:p>
              </p:txBody>
            </p:sp>
            <p:sp>
              <p:nvSpPr>
                <p:cNvPr id="270" name="椭圆 269">
                  <a:extLst>
                    <a:ext uri="{FF2B5EF4-FFF2-40B4-BE49-F238E27FC236}">
                      <a16:creationId xmlns:a16="http://schemas.microsoft.com/office/drawing/2014/main" id="{7FB064B3-45DB-0EF6-26FA-C1679A96803E}"/>
                    </a:ext>
                  </a:extLst>
                </p:cNvPr>
                <p:cNvSpPr/>
                <p:nvPr/>
              </p:nvSpPr>
              <p:spPr>
                <a:xfrm>
                  <a:off x="2264194" y="2100875"/>
                  <a:ext cx="213828" cy="207232"/>
                </a:xfrm>
                <a:prstGeom prst="ellipse">
                  <a:avLst/>
                </a:prstGeom>
                <a:solidFill>
                  <a:schemeClr val="bg1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  <a:noAutofit/>
                </a:bodyPr>
                <a:lstStyle/>
                <a:p>
                  <a:pPr algn="ctr" defTabSz="914034">
                    <a:defRPr/>
                  </a:pPr>
                  <a:r>
                    <a:rPr lang="en-US" altLang="zh-CN" sz="1200" dirty="0">
                      <a:solidFill>
                        <a:srgbClr val="666666"/>
                      </a:solidFill>
                      <a:latin typeface="Huawei Sans" panose="020B0604020202020204"/>
                      <a:ea typeface="微软雅黑"/>
                    </a:rPr>
                    <a:t>3</a:t>
                  </a:r>
                  <a:endParaRPr lang="zh-CN" altLang="en-US" sz="1200" dirty="0">
                    <a:solidFill>
                      <a:srgbClr val="666666"/>
                    </a:solidFill>
                    <a:latin typeface="Huawei Sans" panose="020B0604020202020204"/>
                    <a:ea typeface="微软雅黑"/>
                  </a:endParaRPr>
                </a:p>
              </p:txBody>
            </p:sp>
            <p:sp>
              <p:nvSpPr>
                <p:cNvPr id="271" name="椭圆 270">
                  <a:extLst>
                    <a:ext uri="{FF2B5EF4-FFF2-40B4-BE49-F238E27FC236}">
                      <a16:creationId xmlns:a16="http://schemas.microsoft.com/office/drawing/2014/main" id="{7029F7BE-B4B9-AA25-82BF-458EE5E7864D}"/>
                    </a:ext>
                  </a:extLst>
                </p:cNvPr>
                <p:cNvSpPr/>
                <p:nvPr/>
              </p:nvSpPr>
              <p:spPr>
                <a:xfrm>
                  <a:off x="2616889" y="2469330"/>
                  <a:ext cx="212035" cy="221690"/>
                </a:xfrm>
                <a:prstGeom prst="ellipse">
                  <a:avLst/>
                </a:prstGeom>
                <a:solidFill>
                  <a:schemeClr val="bg1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  <a:noAutofit/>
                </a:bodyPr>
                <a:lstStyle/>
                <a:p>
                  <a:pPr algn="ctr" defTabSz="914034">
                    <a:defRPr/>
                  </a:pPr>
                  <a:r>
                    <a:rPr lang="en-US" altLang="zh-CN" sz="1200" dirty="0">
                      <a:solidFill>
                        <a:srgbClr val="666666"/>
                      </a:solidFill>
                      <a:latin typeface="Huawei Sans" panose="020B0604020202020204"/>
                      <a:ea typeface="微软雅黑"/>
                    </a:rPr>
                    <a:t>4</a:t>
                  </a:r>
                  <a:endParaRPr lang="zh-CN" altLang="en-US" sz="1200" dirty="0">
                    <a:solidFill>
                      <a:srgbClr val="666666"/>
                    </a:solidFill>
                    <a:latin typeface="Huawei Sans" panose="020B0604020202020204"/>
                    <a:ea typeface="微软雅黑"/>
                  </a:endParaRPr>
                </a:p>
              </p:txBody>
            </p:sp>
            <p:cxnSp>
              <p:nvCxnSpPr>
                <p:cNvPr id="272" name="直接箭头连接符 271">
                  <a:extLst>
                    <a:ext uri="{FF2B5EF4-FFF2-40B4-BE49-F238E27FC236}">
                      <a16:creationId xmlns:a16="http://schemas.microsoft.com/office/drawing/2014/main" id="{D8763509-058D-78AD-231A-5D44E5E71B31}"/>
                    </a:ext>
                  </a:extLst>
                </p:cNvPr>
                <p:cNvCxnSpPr>
                  <a:cxnSpLocks/>
                  <a:stCxn id="267" idx="7"/>
                  <a:endCxn id="268" idx="3"/>
                </p:cNvCxnSpPr>
                <p:nvPr/>
              </p:nvCxnSpPr>
              <p:spPr>
                <a:xfrm flipV="1">
                  <a:off x="1585408" y="2277759"/>
                  <a:ext cx="280636" cy="221690"/>
                </a:xfrm>
                <a:prstGeom prst="straightConnector1">
                  <a:avLst/>
                </a:prstGeom>
                <a:ln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3" name="直接箭头连接符 272">
                  <a:extLst>
                    <a:ext uri="{FF2B5EF4-FFF2-40B4-BE49-F238E27FC236}">
                      <a16:creationId xmlns:a16="http://schemas.microsoft.com/office/drawing/2014/main" id="{C15B0BDE-AC79-A4B2-8928-4DF0587C084B}"/>
                    </a:ext>
                  </a:extLst>
                </p:cNvPr>
                <p:cNvCxnSpPr>
                  <a:cxnSpLocks/>
                  <a:stCxn id="268" idx="6"/>
                  <a:endCxn id="270" idx="2"/>
                </p:cNvCxnSpPr>
                <p:nvPr/>
              </p:nvCxnSpPr>
              <p:spPr>
                <a:xfrm>
                  <a:off x="2048557" y="2204491"/>
                  <a:ext cx="215637" cy="0"/>
                </a:xfrm>
                <a:prstGeom prst="straightConnector1">
                  <a:avLst/>
                </a:prstGeom>
                <a:ln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直接箭头连接符 273">
                  <a:extLst>
                    <a:ext uri="{FF2B5EF4-FFF2-40B4-BE49-F238E27FC236}">
                      <a16:creationId xmlns:a16="http://schemas.microsoft.com/office/drawing/2014/main" id="{E46CD7A2-F284-0D8B-5C3A-C6FC70FFAFD3}"/>
                    </a:ext>
                  </a:extLst>
                </p:cNvPr>
                <p:cNvCxnSpPr>
                  <a:cxnSpLocks/>
                  <a:stCxn id="270" idx="5"/>
                  <a:endCxn id="271" idx="1"/>
                </p:cNvCxnSpPr>
                <p:nvPr/>
              </p:nvCxnSpPr>
              <p:spPr>
                <a:xfrm>
                  <a:off x="2446708" y="2277759"/>
                  <a:ext cx="201233" cy="224037"/>
                </a:xfrm>
                <a:prstGeom prst="straightConnector1">
                  <a:avLst/>
                </a:prstGeom>
                <a:ln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5" name="直接箭头连接符 274">
                  <a:extLst>
                    <a:ext uri="{FF2B5EF4-FFF2-40B4-BE49-F238E27FC236}">
                      <a16:creationId xmlns:a16="http://schemas.microsoft.com/office/drawing/2014/main" id="{74F7DFC2-9516-72FD-E7D5-9B0B6C147208}"/>
                    </a:ext>
                  </a:extLst>
                </p:cNvPr>
                <p:cNvCxnSpPr>
                  <a:cxnSpLocks/>
                  <a:stCxn id="267" idx="5"/>
                  <a:endCxn id="269" idx="1"/>
                </p:cNvCxnSpPr>
                <p:nvPr/>
              </p:nvCxnSpPr>
              <p:spPr>
                <a:xfrm>
                  <a:off x="1585408" y="2633418"/>
                  <a:ext cx="280635" cy="232460"/>
                </a:xfrm>
                <a:prstGeom prst="straightConnector1">
                  <a:avLst/>
                </a:prstGeom>
                <a:ln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直接箭头连接符 275">
                  <a:extLst>
                    <a:ext uri="{FF2B5EF4-FFF2-40B4-BE49-F238E27FC236}">
                      <a16:creationId xmlns:a16="http://schemas.microsoft.com/office/drawing/2014/main" id="{083DD351-B852-C788-87FD-032F2C3BFED0}"/>
                    </a:ext>
                  </a:extLst>
                </p:cNvPr>
                <p:cNvCxnSpPr>
                  <a:cxnSpLocks/>
                  <a:stCxn id="269" idx="6"/>
                  <a:endCxn id="271" idx="3"/>
                </p:cNvCxnSpPr>
                <p:nvPr/>
              </p:nvCxnSpPr>
              <p:spPr>
                <a:xfrm flipV="1">
                  <a:off x="2048557" y="2658554"/>
                  <a:ext cx="599384" cy="275148"/>
                </a:xfrm>
                <a:prstGeom prst="straightConnector1">
                  <a:avLst/>
                </a:prstGeom>
                <a:ln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7" name="直接箭头连接符 276">
                  <a:extLst>
                    <a:ext uri="{FF2B5EF4-FFF2-40B4-BE49-F238E27FC236}">
                      <a16:creationId xmlns:a16="http://schemas.microsoft.com/office/drawing/2014/main" id="{3C807311-0742-77F4-9B0B-CE7C1EBE5702}"/>
                    </a:ext>
                  </a:extLst>
                </p:cNvPr>
                <p:cNvCxnSpPr>
                  <a:cxnSpLocks/>
                  <a:endCxn id="267" idx="2"/>
                </p:cNvCxnSpPr>
                <p:nvPr/>
              </p:nvCxnSpPr>
              <p:spPr>
                <a:xfrm>
                  <a:off x="689657" y="2566434"/>
                  <a:ext cx="713893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8" name="文本框 277">
                  <a:extLst>
                    <a:ext uri="{FF2B5EF4-FFF2-40B4-BE49-F238E27FC236}">
                      <a16:creationId xmlns:a16="http://schemas.microsoft.com/office/drawing/2014/main" id="{29FF9FF9-BB97-F8AB-2477-5239B2B2F3ED}"/>
                    </a:ext>
                  </a:extLst>
                </p:cNvPr>
                <p:cNvSpPr txBox="1"/>
                <p:nvPr/>
              </p:nvSpPr>
              <p:spPr>
                <a:xfrm>
                  <a:off x="1586086" y="2427396"/>
                  <a:ext cx="1097076" cy="4263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defTabSz="914034">
                    <a:defRPr/>
                  </a:pPr>
                  <a:r>
                    <a:rPr lang="en-US" altLang="zh-CN" sz="800" b="1" dirty="0">
                      <a:solidFill>
                        <a:srgbClr val="1D1D1A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Multi-Agent</a:t>
                  </a:r>
                </a:p>
                <a:p>
                  <a:pPr algn="ctr" defTabSz="914034">
                    <a:defRPr/>
                  </a:pPr>
                  <a:r>
                    <a:rPr lang="zh-CN" altLang="en-US" sz="800" b="1" dirty="0">
                      <a:solidFill>
                        <a:srgbClr val="1D1D1A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应用</a:t>
                  </a:r>
                </a:p>
              </p:txBody>
            </p:sp>
            <p:sp>
              <p:nvSpPr>
                <p:cNvPr id="279" name="文本框 278">
                  <a:extLst>
                    <a:ext uri="{FF2B5EF4-FFF2-40B4-BE49-F238E27FC236}">
                      <a16:creationId xmlns:a16="http://schemas.microsoft.com/office/drawing/2014/main" id="{34BC088F-3850-6DB2-1DB9-21DE3C3A03A4}"/>
                    </a:ext>
                  </a:extLst>
                </p:cNvPr>
                <p:cNvSpPr txBox="1"/>
                <p:nvPr/>
              </p:nvSpPr>
              <p:spPr>
                <a:xfrm>
                  <a:off x="607428" y="2221342"/>
                  <a:ext cx="599373" cy="2906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defTabSz="914034">
                    <a:defRPr/>
                  </a:pPr>
                  <a:r>
                    <a:rPr lang="zh-CN" altLang="en-US" sz="900" dirty="0">
                      <a:solidFill>
                        <a:srgbClr val="1D1D1A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用户任务</a:t>
                  </a:r>
                </a:p>
              </p:txBody>
            </p:sp>
          </p:grpSp>
          <p:cxnSp>
            <p:nvCxnSpPr>
              <p:cNvPr id="1046" name="直接连接符 1045">
                <a:extLst>
                  <a:ext uri="{FF2B5EF4-FFF2-40B4-BE49-F238E27FC236}">
                    <a16:creationId xmlns:a16="http://schemas.microsoft.com/office/drawing/2014/main" id="{9674D756-DC19-BA84-2132-601EAF4E5D6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54759" y="4355512"/>
                <a:ext cx="861626" cy="718676"/>
              </a:xfrm>
              <a:prstGeom prst="line">
                <a:avLst/>
              </a:prstGeom>
              <a:ln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7" name="直接连接符 1046">
                <a:extLst>
                  <a:ext uri="{FF2B5EF4-FFF2-40B4-BE49-F238E27FC236}">
                    <a16:creationId xmlns:a16="http://schemas.microsoft.com/office/drawing/2014/main" id="{E1441860-020E-C2AB-0718-A757633CE3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47907" y="4331094"/>
                <a:ext cx="867824" cy="743095"/>
              </a:xfrm>
              <a:prstGeom prst="line">
                <a:avLst/>
              </a:prstGeom>
              <a:ln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8" name="直接连接符 1047">
                <a:extLst>
                  <a:ext uri="{FF2B5EF4-FFF2-40B4-BE49-F238E27FC236}">
                    <a16:creationId xmlns:a16="http://schemas.microsoft.com/office/drawing/2014/main" id="{58FF5A77-E5D3-3E99-482F-5B4B23A482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10791" y="5403142"/>
                <a:ext cx="0" cy="611235"/>
              </a:xfrm>
              <a:prstGeom prst="line">
                <a:avLst/>
              </a:prstGeom>
              <a:ln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49" name="组合 1048">
                <a:extLst>
                  <a:ext uri="{FF2B5EF4-FFF2-40B4-BE49-F238E27FC236}">
                    <a16:creationId xmlns:a16="http://schemas.microsoft.com/office/drawing/2014/main" id="{4C9977A6-D00E-5882-3E15-0E9F04D72494}"/>
                  </a:ext>
                </a:extLst>
              </p:cNvPr>
              <p:cNvGrpSpPr/>
              <p:nvPr/>
            </p:nvGrpSpPr>
            <p:grpSpPr>
              <a:xfrm>
                <a:off x="1134901" y="5104453"/>
                <a:ext cx="4460048" cy="298688"/>
                <a:chOff x="541494" y="3627359"/>
                <a:chExt cx="3314739" cy="298688"/>
              </a:xfrm>
            </p:grpSpPr>
            <p:sp>
              <p:nvSpPr>
                <p:cNvPr id="251" name="矩形: 圆角 250">
                  <a:extLst>
                    <a:ext uri="{FF2B5EF4-FFF2-40B4-BE49-F238E27FC236}">
                      <a16:creationId xmlns:a16="http://schemas.microsoft.com/office/drawing/2014/main" id="{2CD72B20-EF42-4272-4A7A-121BB3CE9087}"/>
                    </a:ext>
                  </a:extLst>
                </p:cNvPr>
                <p:cNvSpPr/>
                <p:nvPr/>
              </p:nvSpPr>
              <p:spPr>
                <a:xfrm>
                  <a:off x="1379991" y="3627359"/>
                  <a:ext cx="415710" cy="244761"/>
                </a:xfrm>
                <a:prstGeom prst="round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  <a:noAutofit/>
                </a:bodyPr>
                <a:lstStyle/>
                <a:p>
                  <a:pPr algn="ctr" defTabSz="914034">
                    <a:defRPr/>
                  </a:pPr>
                  <a:r>
                    <a:rPr lang="zh-CN" altLang="en-US" sz="800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记忆</a:t>
                  </a:r>
                  <a:endParaRPr lang="en-US" altLang="zh-CN" sz="8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914034">
                    <a:defRPr/>
                  </a:pPr>
                  <a:r>
                    <a:rPr lang="zh-CN" altLang="en-US" sz="800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检索</a:t>
                  </a:r>
                </a:p>
              </p:txBody>
            </p:sp>
            <p:sp>
              <p:nvSpPr>
                <p:cNvPr id="252" name="矩形: 圆角 251">
                  <a:extLst>
                    <a:ext uri="{FF2B5EF4-FFF2-40B4-BE49-F238E27FC236}">
                      <a16:creationId xmlns:a16="http://schemas.microsoft.com/office/drawing/2014/main" id="{ED1001B0-B0BF-AF3C-0540-7D5A9CAB02AD}"/>
                    </a:ext>
                  </a:extLst>
                </p:cNvPr>
                <p:cNvSpPr/>
                <p:nvPr/>
              </p:nvSpPr>
              <p:spPr>
                <a:xfrm>
                  <a:off x="541494" y="3627361"/>
                  <a:ext cx="674380" cy="244761"/>
                </a:xfrm>
                <a:prstGeom prst="round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  <a:noAutofit/>
                </a:bodyPr>
                <a:lstStyle/>
                <a:p>
                  <a:pPr algn="ctr" defTabSz="914034">
                    <a:defRPr/>
                  </a:pPr>
                  <a:r>
                    <a:rPr lang="en-US" altLang="zh-CN" sz="800" b="1" dirty="0">
                      <a:solidFill>
                        <a:srgbClr val="666666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Agent</a:t>
                  </a:r>
                </a:p>
                <a:p>
                  <a:pPr algn="ctr" defTabSz="914034">
                    <a:defRPr/>
                  </a:pPr>
                  <a:r>
                    <a:rPr lang="zh-CN" altLang="en-US" sz="800" b="1" dirty="0">
                      <a:solidFill>
                        <a:srgbClr val="666666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沙箱执行</a:t>
                  </a:r>
                </a:p>
              </p:txBody>
            </p:sp>
            <p:sp>
              <p:nvSpPr>
                <p:cNvPr id="253" name="矩形: 圆角 252">
                  <a:extLst>
                    <a:ext uri="{FF2B5EF4-FFF2-40B4-BE49-F238E27FC236}">
                      <a16:creationId xmlns:a16="http://schemas.microsoft.com/office/drawing/2014/main" id="{7D61054E-A461-6EA1-6078-081FDFB49558}"/>
                    </a:ext>
                  </a:extLst>
                </p:cNvPr>
                <p:cNvSpPr/>
                <p:nvPr/>
              </p:nvSpPr>
              <p:spPr>
                <a:xfrm>
                  <a:off x="2013171" y="3627360"/>
                  <a:ext cx="459398" cy="244761"/>
                </a:xfrm>
                <a:prstGeom prst="round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  <a:noAutofit/>
                </a:bodyPr>
                <a:lstStyle/>
                <a:p>
                  <a:pPr algn="ctr" defTabSz="914034">
                    <a:defRPr/>
                  </a:pPr>
                  <a:r>
                    <a:rPr lang="en-US" altLang="zh-CN" sz="800" b="1" dirty="0">
                      <a:solidFill>
                        <a:srgbClr val="666666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LLM</a:t>
                  </a:r>
                </a:p>
                <a:p>
                  <a:pPr algn="ctr" defTabSz="914034">
                    <a:defRPr/>
                  </a:pPr>
                  <a:r>
                    <a:rPr lang="zh-CN" altLang="en-US" sz="800" b="1" dirty="0">
                      <a:solidFill>
                        <a:srgbClr val="666666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推理</a:t>
                  </a:r>
                </a:p>
              </p:txBody>
            </p:sp>
            <p:sp>
              <p:nvSpPr>
                <p:cNvPr id="256" name="矩形: 圆角 255">
                  <a:extLst>
                    <a:ext uri="{FF2B5EF4-FFF2-40B4-BE49-F238E27FC236}">
                      <a16:creationId xmlns:a16="http://schemas.microsoft.com/office/drawing/2014/main" id="{1C78987F-F198-6216-1A28-838BC9F2566E}"/>
                    </a:ext>
                  </a:extLst>
                </p:cNvPr>
                <p:cNvSpPr/>
                <p:nvPr/>
              </p:nvSpPr>
              <p:spPr>
                <a:xfrm>
                  <a:off x="2683372" y="3627360"/>
                  <a:ext cx="551099" cy="244761"/>
                </a:xfrm>
                <a:prstGeom prst="round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  <a:noAutofit/>
                </a:bodyPr>
                <a:lstStyle/>
                <a:p>
                  <a:pPr algn="ctr" defTabSz="914034">
                    <a:defRPr/>
                  </a:pPr>
                  <a:r>
                    <a:rPr lang="zh-CN" altLang="en-US" sz="800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工具沙箱</a:t>
                  </a:r>
                  <a:endParaRPr lang="en-US" altLang="zh-CN" sz="8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914034">
                    <a:defRPr/>
                  </a:pPr>
                  <a:r>
                    <a:rPr lang="zh-CN" altLang="en-US" sz="800" b="1" dirty="0">
                      <a:solidFill>
                        <a:srgbClr val="0070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启动</a:t>
                  </a:r>
                </a:p>
              </p:txBody>
            </p:sp>
            <p:cxnSp>
              <p:nvCxnSpPr>
                <p:cNvPr id="257" name="直接箭头连接符 256">
                  <a:extLst>
                    <a:ext uri="{FF2B5EF4-FFF2-40B4-BE49-F238E27FC236}">
                      <a16:creationId xmlns:a16="http://schemas.microsoft.com/office/drawing/2014/main" id="{AF8AAB96-A3D4-C1A5-3F79-63C7C9DC6629}"/>
                    </a:ext>
                  </a:extLst>
                </p:cNvPr>
                <p:cNvCxnSpPr>
                  <a:cxnSpLocks/>
                  <a:stCxn id="252" idx="3"/>
                  <a:endCxn id="251" idx="1"/>
                </p:cNvCxnSpPr>
                <p:nvPr/>
              </p:nvCxnSpPr>
              <p:spPr>
                <a:xfrm flipV="1">
                  <a:off x="1215874" y="3749740"/>
                  <a:ext cx="164117" cy="2"/>
                </a:xfrm>
                <a:prstGeom prst="straightConnector1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直接箭头连接符 257">
                  <a:extLst>
                    <a:ext uri="{FF2B5EF4-FFF2-40B4-BE49-F238E27FC236}">
                      <a16:creationId xmlns:a16="http://schemas.microsoft.com/office/drawing/2014/main" id="{7ABC71C8-5C9A-C2CE-3EFB-C673A2EB66C0}"/>
                    </a:ext>
                  </a:extLst>
                </p:cNvPr>
                <p:cNvCxnSpPr>
                  <a:stCxn id="251" idx="3"/>
                  <a:endCxn id="253" idx="1"/>
                </p:cNvCxnSpPr>
                <p:nvPr/>
              </p:nvCxnSpPr>
              <p:spPr>
                <a:xfrm>
                  <a:off x="1795701" y="3749740"/>
                  <a:ext cx="217470" cy="1"/>
                </a:xfrm>
                <a:prstGeom prst="straightConnector1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直接箭头连接符 258">
                  <a:extLst>
                    <a:ext uri="{FF2B5EF4-FFF2-40B4-BE49-F238E27FC236}">
                      <a16:creationId xmlns:a16="http://schemas.microsoft.com/office/drawing/2014/main" id="{74A0ED18-6947-8590-22F0-19A4BC6D0A88}"/>
                    </a:ext>
                  </a:extLst>
                </p:cNvPr>
                <p:cNvCxnSpPr>
                  <a:stCxn id="253" idx="3"/>
                  <a:endCxn id="256" idx="1"/>
                </p:cNvCxnSpPr>
                <p:nvPr/>
              </p:nvCxnSpPr>
              <p:spPr>
                <a:xfrm>
                  <a:off x="2472569" y="3749741"/>
                  <a:ext cx="210803" cy="0"/>
                </a:xfrm>
                <a:prstGeom prst="straightConnector1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直接箭头连接符 259">
                  <a:extLst>
                    <a:ext uri="{FF2B5EF4-FFF2-40B4-BE49-F238E27FC236}">
                      <a16:creationId xmlns:a16="http://schemas.microsoft.com/office/drawing/2014/main" id="{5B1DD952-A4A4-3A58-87D2-96CAFA0EC0AF}"/>
                    </a:ext>
                  </a:extLst>
                </p:cNvPr>
                <p:cNvCxnSpPr>
                  <a:cxnSpLocks/>
                  <a:stCxn id="256" idx="3"/>
                  <a:endCxn id="261" idx="1"/>
                </p:cNvCxnSpPr>
                <p:nvPr/>
              </p:nvCxnSpPr>
              <p:spPr>
                <a:xfrm>
                  <a:off x="3234471" y="3749741"/>
                  <a:ext cx="206830" cy="421"/>
                </a:xfrm>
                <a:prstGeom prst="straightConnector1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1" name="矩形: 圆角 260">
                  <a:extLst>
                    <a:ext uri="{FF2B5EF4-FFF2-40B4-BE49-F238E27FC236}">
                      <a16:creationId xmlns:a16="http://schemas.microsoft.com/office/drawing/2014/main" id="{1D259787-8960-8DEE-BDF2-29637E76CA7E}"/>
                    </a:ext>
                  </a:extLst>
                </p:cNvPr>
                <p:cNvSpPr/>
                <p:nvPr/>
              </p:nvSpPr>
              <p:spPr>
                <a:xfrm>
                  <a:off x="3441301" y="3627781"/>
                  <a:ext cx="414932" cy="244761"/>
                </a:xfrm>
                <a:prstGeom prst="round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  <a:noAutofit/>
                </a:bodyPr>
                <a:lstStyle/>
                <a:p>
                  <a:pPr algn="ctr" defTabSz="914034">
                    <a:defRPr/>
                  </a:pPr>
                  <a:r>
                    <a:rPr lang="zh-CN" altLang="en-US" sz="800" b="1" dirty="0">
                      <a:solidFill>
                        <a:srgbClr val="666666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记忆</a:t>
                  </a:r>
                  <a:endParaRPr lang="en-US" altLang="zh-CN" sz="800" b="1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914034">
                    <a:defRPr/>
                  </a:pPr>
                  <a:r>
                    <a:rPr lang="zh-CN" altLang="en-US" sz="800" b="1" dirty="0">
                      <a:solidFill>
                        <a:srgbClr val="666666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更新</a:t>
                  </a:r>
                </a:p>
              </p:txBody>
            </p:sp>
            <p:cxnSp>
              <p:nvCxnSpPr>
                <p:cNvPr id="262" name="连接符: 肘形 261">
                  <a:extLst>
                    <a:ext uri="{FF2B5EF4-FFF2-40B4-BE49-F238E27FC236}">
                      <a16:creationId xmlns:a16="http://schemas.microsoft.com/office/drawing/2014/main" id="{9A675702-800E-18C8-A075-9E1A1F94A2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 flipV="1">
                  <a:off x="1933613" y="2618445"/>
                  <a:ext cx="1" cy="2080238"/>
                </a:xfrm>
                <a:prstGeom prst="bentConnector3">
                  <a:avLst>
                    <a:gd name="adj1" fmla="val -22860000000"/>
                  </a:avLst>
                </a:prstGeom>
                <a:ln>
                  <a:solidFill>
                    <a:schemeClr val="bg2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直接连接符 263">
                  <a:extLst>
                    <a:ext uri="{FF2B5EF4-FFF2-40B4-BE49-F238E27FC236}">
                      <a16:creationId xmlns:a16="http://schemas.microsoft.com/office/drawing/2014/main" id="{728094D3-6E2C-362A-EF6D-B2ADDC7E24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25494" y="3926047"/>
                  <a:ext cx="313884" cy="0"/>
                </a:xfrm>
                <a:prstGeom prst="line">
                  <a:avLst/>
                </a:prstGeom>
                <a:ln>
                  <a:solidFill>
                    <a:schemeClr val="bg1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直接连接符 264">
                  <a:extLst>
                    <a:ext uri="{FF2B5EF4-FFF2-40B4-BE49-F238E27FC236}">
                      <a16:creationId xmlns:a16="http://schemas.microsoft.com/office/drawing/2014/main" id="{311EED43-9ECE-4D9E-A4A5-5A190295DD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83157" y="3917740"/>
                  <a:ext cx="313884" cy="0"/>
                </a:xfrm>
                <a:prstGeom prst="line">
                  <a:avLst/>
                </a:prstGeom>
                <a:ln>
                  <a:solidFill>
                    <a:schemeClr val="bg1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50" name="直接连接符 1049">
                <a:extLst>
                  <a:ext uri="{FF2B5EF4-FFF2-40B4-BE49-F238E27FC236}">
                    <a16:creationId xmlns:a16="http://schemas.microsoft.com/office/drawing/2014/main" id="{A5696AF1-1C92-0B43-3D7D-EDD6E58C3E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46404" y="5394835"/>
                <a:ext cx="0" cy="611235"/>
              </a:xfrm>
              <a:prstGeom prst="line">
                <a:avLst/>
              </a:prstGeom>
              <a:ln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1" name="直接箭头连接符 1050">
                <a:extLst>
                  <a:ext uri="{FF2B5EF4-FFF2-40B4-BE49-F238E27FC236}">
                    <a16:creationId xmlns:a16="http://schemas.microsoft.com/office/drawing/2014/main" id="{845C7809-352D-7B18-6A5B-5D85698981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35770" y="3790568"/>
                <a:ext cx="1206133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2" name="矩形: 圆角 1051">
                <a:extLst>
                  <a:ext uri="{FF2B5EF4-FFF2-40B4-BE49-F238E27FC236}">
                    <a16:creationId xmlns:a16="http://schemas.microsoft.com/office/drawing/2014/main" id="{F050BC3D-0126-D681-D77D-86075537B0D8}"/>
                  </a:ext>
                </a:extLst>
              </p:cNvPr>
              <p:cNvSpPr/>
              <p:nvPr/>
            </p:nvSpPr>
            <p:spPr>
              <a:xfrm>
                <a:off x="1262733" y="5836707"/>
                <a:ext cx="2094690" cy="693760"/>
              </a:xfrm>
              <a:prstGeom prst="roundRect">
                <a:avLst/>
              </a:prstGeom>
              <a:solidFill>
                <a:schemeClr val="tx2">
                  <a:lumMod val="85000"/>
                </a:schemeClr>
              </a:solidFill>
              <a:ln w="3175">
                <a:solidFill>
                  <a:schemeClr val="bg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034">
                  <a:defRPr/>
                </a:pPr>
                <a:r>
                  <a:rPr lang="zh-CN" altLang="en-US" sz="9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上下文记忆存储系统</a:t>
                </a:r>
              </a:p>
            </p:txBody>
          </p:sp>
          <p:sp>
            <p:nvSpPr>
              <p:cNvPr id="1054" name="矩形: 圆角 1053">
                <a:extLst>
                  <a:ext uri="{FF2B5EF4-FFF2-40B4-BE49-F238E27FC236}">
                    <a16:creationId xmlns:a16="http://schemas.microsoft.com/office/drawing/2014/main" id="{B2791CAF-34D1-BE4E-2AAA-02E6A1F4324D}"/>
                  </a:ext>
                </a:extLst>
              </p:cNvPr>
              <p:cNvSpPr/>
              <p:nvPr/>
            </p:nvSpPr>
            <p:spPr>
              <a:xfrm>
                <a:off x="3769710" y="5854290"/>
                <a:ext cx="1996527" cy="676178"/>
              </a:xfrm>
              <a:prstGeom prst="roundRect">
                <a:avLst/>
              </a:prstGeom>
              <a:solidFill>
                <a:srgbClr val="D9D9D9"/>
              </a:solidFill>
              <a:ln w="3175">
                <a:solidFill>
                  <a:schemeClr val="bg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034">
                  <a:defRPr/>
                </a:pPr>
                <a:r>
                  <a:rPr lang="zh-CN" altLang="en-US" sz="9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工具沙箱系统</a:t>
                </a:r>
              </a:p>
            </p:txBody>
          </p:sp>
          <p:sp>
            <p:nvSpPr>
              <p:cNvPr id="1055" name="文本框 1054">
                <a:extLst>
                  <a:ext uri="{FF2B5EF4-FFF2-40B4-BE49-F238E27FC236}">
                    <a16:creationId xmlns:a16="http://schemas.microsoft.com/office/drawing/2014/main" id="{84DC6485-2E0E-4E2A-7A72-9052747C4852}"/>
                  </a:ext>
                </a:extLst>
              </p:cNvPr>
              <p:cNvSpPr txBox="1"/>
              <p:nvPr/>
            </p:nvSpPr>
            <p:spPr>
              <a:xfrm>
                <a:off x="1283798" y="6082049"/>
                <a:ext cx="2073625" cy="4457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034">
                  <a:defRPr/>
                </a:pPr>
                <a:r>
                  <a:rPr lang="en-US" altLang="zh-CN" sz="900" kern="0" dirty="0">
                    <a:solidFill>
                      <a:srgbClr val="1D1D1A"/>
                    </a:solidFill>
                    <a:latin typeface="微软雅黑"/>
                    <a:ea typeface="微软雅黑"/>
                  </a:rPr>
                  <a:t>EB</a:t>
                </a:r>
                <a:r>
                  <a:rPr lang="zh-CN" altLang="en-US" sz="900" kern="0" dirty="0">
                    <a:solidFill>
                      <a:srgbClr val="1D1D1A"/>
                    </a:solidFill>
                    <a:latin typeface="微软雅黑"/>
                    <a:ea typeface="微软雅黑"/>
                  </a:rPr>
                  <a:t>级记忆存储性能：</a:t>
                </a:r>
                <a:r>
                  <a:rPr lang="zh-CN" altLang="en-US" sz="800" kern="0" dirty="0">
                    <a:solidFill>
                      <a:srgbClr val="1D1D1A"/>
                    </a:solidFill>
                    <a:latin typeface="微软雅黑"/>
                    <a:ea typeface="微软雅黑"/>
                  </a:rPr>
                  <a:t>千亿千维向量检索</a:t>
                </a:r>
                <a:r>
                  <a:rPr lang="en-US" altLang="zh-CN" sz="800" kern="0" dirty="0">
                    <a:solidFill>
                      <a:srgbClr val="1D1D1A"/>
                    </a:solidFill>
                    <a:latin typeface="微软雅黑"/>
                    <a:ea typeface="微软雅黑"/>
                  </a:rPr>
                  <a:t>50ms</a:t>
                </a:r>
                <a:r>
                  <a:rPr lang="zh-CN" altLang="en-US" sz="800" kern="0" dirty="0">
                    <a:solidFill>
                      <a:srgbClr val="1D1D1A"/>
                    </a:solidFill>
                    <a:latin typeface="微软雅黑"/>
                    <a:ea typeface="微软雅黑"/>
                  </a:rPr>
                  <a:t>时延、百万</a:t>
                </a:r>
                <a:r>
                  <a:rPr lang="en-US" altLang="zh-CN" sz="800" kern="0" dirty="0">
                    <a:solidFill>
                      <a:srgbClr val="1D1D1A"/>
                    </a:solidFill>
                    <a:latin typeface="微软雅黑"/>
                    <a:ea typeface="微软雅黑"/>
                  </a:rPr>
                  <a:t>QPS</a:t>
                </a:r>
                <a:r>
                  <a:rPr lang="zh-CN" altLang="en-US" sz="800" kern="0" dirty="0">
                    <a:solidFill>
                      <a:srgbClr val="1D1D1A"/>
                    </a:solidFill>
                    <a:latin typeface="微软雅黑"/>
                    <a:ea typeface="微软雅黑"/>
                  </a:rPr>
                  <a:t>要求</a:t>
                </a:r>
                <a:endParaRPr lang="zh-CN" altLang="en-US" sz="800" dirty="0">
                  <a:solidFill>
                    <a:srgbClr val="1D1D1A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056" name="文本框 1055">
                <a:extLst>
                  <a:ext uri="{FF2B5EF4-FFF2-40B4-BE49-F238E27FC236}">
                    <a16:creationId xmlns:a16="http://schemas.microsoft.com/office/drawing/2014/main" id="{A1476C07-3E32-96CA-0764-6EC888BDC47E}"/>
                  </a:ext>
                </a:extLst>
              </p:cNvPr>
              <p:cNvSpPr txBox="1"/>
              <p:nvPr/>
            </p:nvSpPr>
            <p:spPr>
              <a:xfrm>
                <a:off x="3758586" y="6033599"/>
                <a:ext cx="184731" cy="2713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034">
                  <a:defRPr/>
                </a:pPr>
                <a:endParaRPr lang="zh-CN" altLang="en-US" sz="800" dirty="0">
                  <a:solidFill>
                    <a:srgbClr val="1D1D1A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057" name="矩形: 圆角 1056">
                <a:extLst>
                  <a:ext uri="{FF2B5EF4-FFF2-40B4-BE49-F238E27FC236}">
                    <a16:creationId xmlns:a16="http://schemas.microsoft.com/office/drawing/2014/main" id="{CE175044-0823-B632-ECAA-FA53CF9814E2}"/>
                  </a:ext>
                </a:extLst>
              </p:cNvPr>
              <p:cNvSpPr/>
              <p:nvPr/>
            </p:nvSpPr>
            <p:spPr>
              <a:xfrm>
                <a:off x="7156359" y="4111874"/>
                <a:ext cx="2791936" cy="627153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14034">
                  <a:defRPr/>
                </a:pPr>
                <a:r>
                  <a:rPr lang="en-US" altLang="zh-CN" sz="9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Prefill</a:t>
                </a:r>
              </a:p>
              <a:p>
                <a:pPr defTabSz="914034">
                  <a:defRPr/>
                </a:pPr>
                <a:r>
                  <a:rPr lang="zh-CN" altLang="en-US" sz="9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实例</a:t>
                </a:r>
                <a:r>
                  <a:rPr lang="en-US" altLang="zh-CN" sz="9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endParaRPr lang="zh-CN" altLang="en-US" sz="90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8" name="矩形: 圆角 1057">
                <a:extLst>
                  <a:ext uri="{FF2B5EF4-FFF2-40B4-BE49-F238E27FC236}">
                    <a16:creationId xmlns:a16="http://schemas.microsoft.com/office/drawing/2014/main" id="{3EB2214E-202B-CEDA-54D8-8A2AEA263CA6}"/>
                  </a:ext>
                </a:extLst>
              </p:cNvPr>
              <p:cNvSpPr/>
              <p:nvPr/>
            </p:nvSpPr>
            <p:spPr>
              <a:xfrm>
                <a:off x="7125661" y="5575064"/>
                <a:ext cx="2822635" cy="859515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14034">
                  <a:defRPr/>
                </a:pPr>
                <a:r>
                  <a:rPr lang="en-US" altLang="zh-CN" sz="9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Decode</a:t>
                </a:r>
              </a:p>
              <a:p>
                <a:pPr defTabSz="914034">
                  <a:defRPr/>
                </a:pPr>
                <a:r>
                  <a:rPr lang="zh-CN" altLang="en-US" sz="9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实例</a:t>
                </a:r>
              </a:p>
            </p:txBody>
          </p:sp>
          <p:sp>
            <p:nvSpPr>
              <p:cNvPr id="1059" name="矩形: 圆角 1058">
                <a:extLst>
                  <a:ext uri="{FF2B5EF4-FFF2-40B4-BE49-F238E27FC236}">
                    <a16:creationId xmlns:a16="http://schemas.microsoft.com/office/drawing/2014/main" id="{EDD31124-5644-E175-F53A-55DFB91EDBC9}"/>
                  </a:ext>
                </a:extLst>
              </p:cNvPr>
              <p:cNvSpPr/>
              <p:nvPr/>
            </p:nvSpPr>
            <p:spPr>
              <a:xfrm>
                <a:off x="10797599" y="3370864"/>
                <a:ext cx="790666" cy="2964881"/>
              </a:xfrm>
              <a:prstGeom prst="roundRect">
                <a:avLst/>
              </a:prstGeom>
              <a:solidFill>
                <a:schemeClr val="tx2">
                  <a:lumMod val="85000"/>
                </a:schemeClr>
              </a:solidFill>
              <a:ln w="3175">
                <a:solidFill>
                  <a:schemeClr val="bg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034">
                  <a:defRPr/>
                </a:pPr>
                <a:r>
                  <a:rPr lang="en-US" altLang="zh-CN" sz="9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KV</a:t>
                </a:r>
                <a:r>
                  <a:rPr lang="zh-CN" altLang="en-US" sz="9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存储</a:t>
                </a:r>
                <a:endParaRPr lang="en-US" altLang="zh-CN" sz="90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defTabSz="914034">
                  <a:defRPr/>
                </a:pPr>
                <a:r>
                  <a:rPr lang="zh-CN" altLang="en-US" sz="9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池化系统</a:t>
                </a:r>
              </a:p>
            </p:txBody>
          </p:sp>
          <p:sp>
            <p:nvSpPr>
              <p:cNvPr id="1060" name="矩形: 圆角 1059">
                <a:extLst>
                  <a:ext uri="{FF2B5EF4-FFF2-40B4-BE49-F238E27FC236}">
                    <a16:creationId xmlns:a16="http://schemas.microsoft.com/office/drawing/2014/main" id="{530D84A3-CA5F-8650-81BF-729E34AF1F69}"/>
                  </a:ext>
                </a:extLst>
              </p:cNvPr>
              <p:cNvSpPr/>
              <p:nvPr/>
            </p:nvSpPr>
            <p:spPr>
              <a:xfrm>
                <a:off x="7149161" y="3146894"/>
                <a:ext cx="2791936" cy="776928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14034">
                  <a:defRPr/>
                </a:pPr>
                <a:r>
                  <a:rPr lang="en-US" altLang="zh-CN" sz="8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Prefill</a:t>
                </a:r>
              </a:p>
              <a:p>
                <a:pPr defTabSz="914034">
                  <a:defRPr/>
                </a:pPr>
                <a:r>
                  <a:rPr lang="zh-CN" altLang="en-US" sz="8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实例</a:t>
                </a:r>
                <a:r>
                  <a:rPr lang="en-US" altLang="zh-CN" sz="8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80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61" name="矩形: 圆角 1060">
                <a:extLst>
                  <a:ext uri="{FF2B5EF4-FFF2-40B4-BE49-F238E27FC236}">
                    <a16:creationId xmlns:a16="http://schemas.microsoft.com/office/drawing/2014/main" id="{E4CA149F-509C-52D5-ED52-F7E8B7C81DD1}"/>
                  </a:ext>
                </a:extLst>
              </p:cNvPr>
              <p:cNvSpPr/>
              <p:nvPr/>
            </p:nvSpPr>
            <p:spPr>
              <a:xfrm>
                <a:off x="10876811" y="5400853"/>
                <a:ext cx="589466" cy="357586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  <a:noAutofit/>
              </a:bodyPr>
              <a:lstStyle/>
              <a:p>
                <a:pPr algn="ctr" defTabSz="914034">
                  <a:defRPr/>
                </a:pPr>
                <a:r>
                  <a:rPr lang="en-US" altLang="zh-CN" sz="8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KV</a:t>
                </a:r>
                <a:endParaRPr lang="zh-CN" altLang="en-US" sz="1599" dirty="0">
                  <a:solidFill>
                    <a:srgbClr val="666666"/>
                  </a:solidFill>
                  <a:latin typeface="Huawei Sans" panose="020B0604020202020204"/>
                  <a:ea typeface="微软雅黑"/>
                </a:endParaRPr>
              </a:p>
            </p:txBody>
          </p:sp>
          <p:sp>
            <p:nvSpPr>
              <p:cNvPr id="1062" name="矩形: 圆角 1061">
                <a:extLst>
                  <a:ext uri="{FF2B5EF4-FFF2-40B4-BE49-F238E27FC236}">
                    <a16:creationId xmlns:a16="http://schemas.microsoft.com/office/drawing/2014/main" id="{932C8099-14E2-81DC-5B01-BFA28B536C0E}"/>
                  </a:ext>
                </a:extLst>
              </p:cNvPr>
              <p:cNvSpPr/>
              <p:nvPr/>
            </p:nvSpPr>
            <p:spPr>
              <a:xfrm>
                <a:off x="10870128" y="4352104"/>
                <a:ext cx="509495" cy="320413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  <a:noAutofit/>
              </a:bodyPr>
              <a:lstStyle/>
              <a:p>
                <a:pPr algn="ctr" defTabSz="914034">
                  <a:defRPr/>
                </a:pPr>
                <a:r>
                  <a:rPr lang="en-US" altLang="zh-CN" sz="8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KV</a:t>
                </a:r>
                <a:endParaRPr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63" name="矩形: 圆角 1062">
                <a:extLst>
                  <a:ext uri="{FF2B5EF4-FFF2-40B4-BE49-F238E27FC236}">
                    <a16:creationId xmlns:a16="http://schemas.microsoft.com/office/drawing/2014/main" id="{F1F88163-FE40-7491-EFEA-0BF3F1B0240D}"/>
                  </a:ext>
                </a:extLst>
              </p:cNvPr>
              <p:cNvSpPr/>
              <p:nvPr/>
            </p:nvSpPr>
            <p:spPr>
              <a:xfrm>
                <a:off x="10870128" y="4848003"/>
                <a:ext cx="577996" cy="320413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  <a:noAutofit/>
              </a:bodyPr>
              <a:lstStyle/>
              <a:p>
                <a:pPr algn="ctr" defTabSz="914034">
                  <a:defRPr/>
                </a:pPr>
                <a:r>
                  <a:rPr lang="en-US" altLang="zh-CN" sz="8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KV</a:t>
                </a:r>
                <a:endParaRPr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064" name="连接符: 肘形 1063">
                <a:extLst>
                  <a:ext uri="{FF2B5EF4-FFF2-40B4-BE49-F238E27FC236}">
                    <a16:creationId xmlns:a16="http://schemas.microsoft.com/office/drawing/2014/main" id="{4471AB5F-E387-39EA-EAA4-D2922E84F175}"/>
                  </a:ext>
                </a:extLst>
              </p:cNvPr>
              <p:cNvCxnSpPr>
                <a:cxnSpLocks/>
                <a:endCxn id="1080" idx="1"/>
              </p:cNvCxnSpPr>
              <p:nvPr/>
            </p:nvCxnSpPr>
            <p:spPr>
              <a:xfrm rot="10800000">
                <a:off x="7915942" y="3876743"/>
                <a:ext cx="2891952" cy="274598"/>
              </a:xfrm>
              <a:prstGeom prst="bentConnector2">
                <a:avLst/>
              </a:prstGeom>
              <a:ln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65" name="矩形 1064">
                <a:extLst>
                  <a:ext uri="{FF2B5EF4-FFF2-40B4-BE49-F238E27FC236}">
                    <a16:creationId xmlns:a16="http://schemas.microsoft.com/office/drawing/2014/main" id="{2E501D37-B8AF-00E4-C8B7-86A364B2343C}"/>
                  </a:ext>
                </a:extLst>
              </p:cNvPr>
              <p:cNvSpPr/>
              <p:nvPr/>
            </p:nvSpPr>
            <p:spPr>
              <a:xfrm>
                <a:off x="7833793" y="5634258"/>
                <a:ext cx="528108" cy="18125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>
                  <a:defRPr/>
                </a:pPr>
                <a:r>
                  <a:rPr lang="en-US" altLang="zh-CN" sz="9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NPU</a:t>
                </a:r>
                <a:endParaRPr lang="zh-CN" altLang="en-US" sz="9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66" name="矩形: 圆角 1065">
                <a:extLst>
                  <a:ext uri="{FF2B5EF4-FFF2-40B4-BE49-F238E27FC236}">
                    <a16:creationId xmlns:a16="http://schemas.microsoft.com/office/drawing/2014/main" id="{DCED0E67-8A0A-B693-E19A-C948F5BEA78F}"/>
                  </a:ext>
                </a:extLst>
              </p:cNvPr>
              <p:cNvSpPr/>
              <p:nvPr/>
            </p:nvSpPr>
            <p:spPr>
              <a:xfrm>
                <a:off x="7296883" y="6055707"/>
                <a:ext cx="752602" cy="149515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>
                  <a:defRPr/>
                </a:pPr>
                <a:endParaRPr lang="zh-CN" altLang="en-US" sz="1799" dirty="0">
                  <a:solidFill>
                    <a:srgbClr val="666666"/>
                  </a:solidFill>
                  <a:latin typeface="Huawei Sans" panose="020B0604020202020204"/>
                  <a:ea typeface="微软雅黑"/>
                </a:endParaRPr>
              </a:p>
            </p:txBody>
          </p:sp>
          <p:sp>
            <p:nvSpPr>
              <p:cNvPr id="1067" name="矩形: 圆角 1066">
                <a:extLst>
                  <a:ext uri="{FF2B5EF4-FFF2-40B4-BE49-F238E27FC236}">
                    <a16:creationId xmlns:a16="http://schemas.microsoft.com/office/drawing/2014/main" id="{CDD9A9E1-A4B1-5E42-41D8-61C5ABFC71F6}"/>
                  </a:ext>
                </a:extLst>
              </p:cNvPr>
              <p:cNvSpPr/>
              <p:nvPr/>
            </p:nvSpPr>
            <p:spPr>
              <a:xfrm>
                <a:off x="8093854" y="6060785"/>
                <a:ext cx="397388" cy="149515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>
                  <a:defRPr/>
                </a:pPr>
                <a:endParaRPr lang="zh-CN" altLang="en-US" sz="700" dirty="0">
                  <a:solidFill>
                    <a:srgbClr val="666666"/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068" name="矩形 1067">
                <a:extLst>
                  <a:ext uri="{FF2B5EF4-FFF2-40B4-BE49-F238E27FC236}">
                    <a16:creationId xmlns:a16="http://schemas.microsoft.com/office/drawing/2014/main" id="{D32E743A-5F95-36E2-24B1-2111363A0746}"/>
                  </a:ext>
                </a:extLst>
              </p:cNvPr>
              <p:cNvSpPr/>
              <p:nvPr/>
            </p:nvSpPr>
            <p:spPr>
              <a:xfrm>
                <a:off x="7465685" y="6067836"/>
                <a:ext cx="114595" cy="14951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>
                  <a:defRPr/>
                </a:pPr>
                <a:endParaRPr lang="zh-CN" altLang="en-US" sz="1799">
                  <a:solidFill>
                    <a:srgbClr val="666666"/>
                  </a:solidFill>
                  <a:latin typeface="Huawei Sans" panose="020B0604020202020204"/>
                  <a:ea typeface="微软雅黑"/>
                </a:endParaRPr>
              </a:p>
            </p:txBody>
          </p:sp>
          <p:sp>
            <p:nvSpPr>
              <p:cNvPr id="1069" name="矩形 1068">
                <a:extLst>
                  <a:ext uri="{FF2B5EF4-FFF2-40B4-BE49-F238E27FC236}">
                    <a16:creationId xmlns:a16="http://schemas.microsoft.com/office/drawing/2014/main" id="{CA6786A0-F14F-24E7-AAF6-4E669467CF4F}"/>
                  </a:ext>
                </a:extLst>
              </p:cNvPr>
              <p:cNvSpPr/>
              <p:nvPr/>
            </p:nvSpPr>
            <p:spPr>
              <a:xfrm>
                <a:off x="7640950" y="6061771"/>
                <a:ext cx="114595" cy="14951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>
                  <a:defRPr/>
                </a:pPr>
                <a:endParaRPr lang="zh-CN" altLang="en-US" sz="1799">
                  <a:solidFill>
                    <a:srgbClr val="666666"/>
                  </a:solidFill>
                  <a:latin typeface="Huawei Sans" panose="020B0604020202020204"/>
                  <a:ea typeface="微软雅黑"/>
                </a:endParaRPr>
              </a:p>
            </p:txBody>
          </p:sp>
          <p:sp>
            <p:nvSpPr>
              <p:cNvPr id="1070" name="矩形 1069">
                <a:extLst>
                  <a:ext uri="{FF2B5EF4-FFF2-40B4-BE49-F238E27FC236}">
                    <a16:creationId xmlns:a16="http://schemas.microsoft.com/office/drawing/2014/main" id="{F565864F-60F3-AB5B-649D-ED8A5686364D}"/>
                  </a:ext>
                </a:extLst>
              </p:cNvPr>
              <p:cNvSpPr/>
              <p:nvPr/>
            </p:nvSpPr>
            <p:spPr>
              <a:xfrm>
                <a:off x="7810336" y="6065695"/>
                <a:ext cx="114595" cy="14951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>
                  <a:defRPr/>
                </a:pPr>
                <a:endParaRPr lang="zh-CN" altLang="en-US" sz="1799">
                  <a:solidFill>
                    <a:srgbClr val="666666"/>
                  </a:solidFill>
                  <a:latin typeface="Huawei Sans" panose="020B0604020202020204"/>
                  <a:ea typeface="微软雅黑"/>
                </a:endParaRPr>
              </a:p>
            </p:txBody>
          </p:sp>
          <p:cxnSp>
            <p:nvCxnSpPr>
              <p:cNvPr id="1071" name="直接箭头连接符 1070">
                <a:extLst>
                  <a:ext uri="{FF2B5EF4-FFF2-40B4-BE49-F238E27FC236}">
                    <a16:creationId xmlns:a16="http://schemas.microsoft.com/office/drawing/2014/main" id="{C4EFC72C-E05A-68EA-D5BA-AA4425B4B801}"/>
                  </a:ext>
                </a:extLst>
              </p:cNvPr>
              <p:cNvCxnSpPr>
                <a:cxnSpLocks/>
                <a:endCxn id="1067" idx="0"/>
              </p:cNvCxnSpPr>
              <p:nvPr/>
            </p:nvCxnSpPr>
            <p:spPr>
              <a:xfrm>
                <a:off x="8289180" y="5775435"/>
                <a:ext cx="3369" cy="285349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2" name="直接箭头连接符 1071">
                <a:extLst>
                  <a:ext uri="{FF2B5EF4-FFF2-40B4-BE49-F238E27FC236}">
                    <a16:creationId xmlns:a16="http://schemas.microsoft.com/office/drawing/2014/main" id="{5D76E046-EB89-E00B-0834-BFEC4EA6022B}"/>
                  </a:ext>
                </a:extLst>
              </p:cNvPr>
              <p:cNvCxnSpPr/>
              <p:nvPr/>
            </p:nvCxnSpPr>
            <p:spPr>
              <a:xfrm flipV="1">
                <a:off x="7862495" y="5836707"/>
                <a:ext cx="0" cy="201303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3" name="矩形 1072">
                <a:extLst>
                  <a:ext uri="{FF2B5EF4-FFF2-40B4-BE49-F238E27FC236}">
                    <a16:creationId xmlns:a16="http://schemas.microsoft.com/office/drawing/2014/main" id="{6A701A13-2C42-3A43-4883-29B180A397E3}"/>
                  </a:ext>
                </a:extLst>
              </p:cNvPr>
              <p:cNvSpPr/>
              <p:nvPr/>
            </p:nvSpPr>
            <p:spPr>
              <a:xfrm>
                <a:off x="7735207" y="3362078"/>
                <a:ext cx="853799" cy="14033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>
                  <a:defRPr/>
                </a:pPr>
                <a:r>
                  <a:rPr lang="en-US" altLang="zh-CN" sz="9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NPU</a:t>
                </a:r>
                <a:endParaRPr lang="zh-CN" altLang="en-US" sz="9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74" name="矩形: 圆角 1073">
                <a:extLst>
                  <a:ext uri="{FF2B5EF4-FFF2-40B4-BE49-F238E27FC236}">
                    <a16:creationId xmlns:a16="http://schemas.microsoft.com/office/drawing/2014/main" id="{7BED4FB3-56F9-F3DC-81CA-C93DD1BA528F}"/>
                  </a:ext>
                </a:extLst>
              </p:cNvPr>
              <p:cNvSpPr/>
              <p:nvPr/>
            </p:nvSpPr>
            <p:spPr>
              <a:xfrm>
                <a:off x="7226282" y="3659255"/>
                <a:ext cx="679302" cy="128413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>
                  <a:defRPr/>
                </a:pPr>
                <a:endParaRPr lang="zh-CN" altLang="en-US" sz="1799" dirty="0">
                  <a:solidFill>
                    <a:srgbClr val="666666"/>
                  </a:solidFill>
                  <a:latin typeface="Huawei Sans" panose="020B0604020202020204"/>
                  <a:ea typeface="微软雅黑"/>
                </a:endParaRPr>
              </a:p>
            </p:txBody>
          </p:sp>
          <p:sp>
            <p:nvSpPr>
              <p:cNvPr id="1075" name="矩形: 圆角 1074">
                <a:extLst>
                  <a:ext uri="{FF2B5EF4-FFF2-40B4-BE49-F238E27FC236}">
                    <a16:creationId xmlns:a16="http://schemas.microsoft.com/office/drawing/2014/main" id="{CF12D41D-CF20-BEA3-6161-C72517FEBB12}"/>
                  </a:ext>
                </a:extLst>
              </p:cNvPr>
              <p:cNvSpPr/>
              <p:nvPr/>
            </p:nvSpPr>
            <p:spPr>
              <a:xfrm>
                <a:off x="7956046" y="3655802"/>
                <a:ext cx="397388" cy="146983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>
                  <a:defRPr/>
                </a:pPr>
                <a:endParaRPr lang="zh-CN" altLang="en-US" sz="1799" dirty="0">
                  <a:solidFill>
                    <a:srgbClr val="666666"/>
                  </a:solidFill>
                  <a:latin typeface="Huawei Sans" panose="020B0604020202020204"/>
                  <a:ea typeface="微软雅黑"/>
                </a:endParaRPr>
              </a:p>
            </p:txBody>
          </p:sp>
          <p:sp>
            <p:nvSpPr>
              <p:cNvPr id="1076" name="矩形: 圆角 1075">
                <a:extLst>
                  <a:ext uri="{FF2B5EF4-FFF2-40B4-BE49-F238E27FC236}">
                    <a16:creationId xmlns:a16="http://schemas.microsoft.com/office/drawing/2014/main" id="{D0F6DE5F-7640-0CF1-7092-A8CBE9140838}"/>
                  </a:ext>
                </a:extLst>
              </p:cNvPr>
              <p:cNvSpPr/>
              <p:nvPr/>
            </p:nvSpPr>
            <p:spPr>
              <a:xfrm>
                <a:off x="8397015" y="3655801"/>
                <a:ext cx="397388" cy="131868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>
                  <a:defRPr/>
                </a:pPr>
                <a:endParaRPr lang="zh-CN" altLang="en-US" sz="1799" dirty="0">
                  <a:solidFill>
                    <a:srgbClr val="666666"/>
                  </a:solidFill>
                  <a:latin typeface="Huawei Sans" panose="020B0604020202020204"/>
                  <a:ea typeface="微软雅黑"/>
                </a:endParaRPr>
              </a:p>
            </p:txBody>
          </p:sp>
          <p:cxnSp>
            <p:nvCxnSpPr>
              <p:cNvPr id="1077" name="直接箭头连接符 1076">
                <a:extLst>
                  <a:ext uri="{FF2B5EF4-FFF2-40B4-BE49-F238E27FC236}">
                    <a16:creationId xmlns:a16="http://schemas.microsoft.com/office/drawing/2014/main" id="{67DEE9D0-F15D-30FE-8D22-DB66E37D9E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44412" y="3502416"/>
                <a:ext cx="0" cy="153384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8" name="直接箭头连接符 1077">
                <a:extLst>
                  <a:ext uri="{FF2B5EF4-FFF2-40B4-BE49-F238E27FC236}">
                    <a16:creationId xmlns:a16="http://schemas.microsoft.com/office/drawing/2014/main" id="{1B9CEEEE-270B-EF8F-6EE1-D922830BCC25}"/>
                  </a:ext>
                </a:extLst>
              </p:cNvPr>
              <p:cNvCxnSpPr>
                <a:cxnSpLocks/>
                <a:stCxn id="1075" idx="0"/>
              </p:cNvCxnSpPr>
              <p:nvPr/>
            </p:nvCxnSpPr>
            <p:spPr>
              <a:xfrm flipH="1" flipV="1">
                <a:off x="8153682" y="3502418"/>
                <a:ext cx="1058" cy="153383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9" name="直接箭头连接符 1078">
                <a:extLst>
                  <a:ext uri="{FF2B5EF4-FFF2-40B4-BE49-F238E27FC236}">
                    <a16:creationId xmlns:a16="http://schemas.microsoft.com/office/drawing/2014/main" id="{FC0510E4-A6CB-9596-4A33-566BF48058D9}"/>
                  </a:ext>
                </a:extLst>
              </p:cNvPr>
              <p:cNvCxnSpPr>
                <a:cxnSpLocks/>
                <a:endCxn id="1076" idx="0"/>
              </p:cNvCxnSpPr>
              <p:nvPr/>
            </p:nvCxnSpPr>
            <p:spPr>
              <a:xfrm>
                <a:off x="8594651" y="3502417"/>
                <a:ext cx="1059" cy="153385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0" name="左大括号 1079">
                <a:extLst>
                  <a:ext uri="{FF2B5EF4-FFF2-40B4-BE49-F238E27FC236}">
                    <a16:creationId xmlns:a16="http://schemas.microsoft.com/office/drawing/2014/main" id="{D574C58A-CF64-852E-F0E2-2D14FE3735B5}"/>
                  </a:ext>
                </a:extLst>
              </p:cNvPr>
              <p:cNvSpPr/>
              <p:nvPr/>
            </p:nvSpPr>
            <p:spPr>
              <a:xfrm rot="16200000">
                <a:off x="7884380" y="3553831"/>
                <a:ext cx="63124" cy="582703"/>
              </a:xfrm>
              <a:prstGeom prst="leftBrace">
                <a:avLst/>
              </a:prstGeom>
              <a:ln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914034">
                  <a:defRPr/>
                </a:pPr>
                <a:endParaRPr lang="zh-CN" altLang="en-US" sz="1799">
                  <a:solidFill>
                    <a:srgbClr val="1D1D1A"/>
                  </a:solidFill>
                  <a:latin typeface="Huawei Sans"/>
                  <a:ea typeface="微软雅黑"/>
                </a:endParaRPr>
              </a:p>
            </p:txBody>
          </p:sp>
          <p:sp>
            <p:nvSpPr>
              <p:cNvPr id="1081" name="矩形 1080">
                <a:extLst>
                  <a:ext uri="{FF2B5EF4-FFF2-40B4-BE49-F238E27FC236}">
                    <a16:creationId xmlns:a16="http://schemas.microsoft.com/office/drawing/2014/main" id="{1C37D8AB-690E-818B-CEFA-D3DEB5227509}"/>
                  </a:ext>
                </a:extLst>
              </p:cNvPr>
              <p:cNvSpPr/>
              <p:nvPr/>
            </p:nvSpPr>
            <p:spPr>
              <a:xfrm>
                <a:off x="7763588" y="4201084"/>
                <a:ext cx="809380" cy="14646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>
                  <a:defRPr/>
                </a:pPr>
                <a:r>
                  <a:rPr lang="en-US" altLang="zh-CN" sz="9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NPU</a:t>
                </a:r>
                <a:endParaRPr lang="zh-CN" altLang="en-US" sz="9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2" name="矩形: 圆角 1081">
                <a:extLst>
                  <a:ext uri="{FF2B5EF4-FFF2-40B4-BE49-F238E27FC236}">
                    <a16:creationId xmlns:a16="http://schemas.microsoft.com/office/drawing/2014/main" id="{68E42F21-22F0-5EF5-C9C6-A93199C3FEBA}"/>
                  </a:ext>
                </a:extLst>
              </p:cNvPr>
              <p:cNvSpPr/>
              <p:nvPr/>
            </p:nvSpPr>
            <p:spPr>
              <a:xfrm>
                <a:off x="7820160" y="4516089"/>
                <a:ext cx="679302" cy="128915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>
                  <a:defRPr/>
                </a:pPr>
                <a:endParaRPr lang="zh-CN" altLang="en-US" sz="900" dirty="0">
                  <a:solidFill>
                    <a:srgbClr val="666666"/>
                  </a:solidFill>
                  <a:latin typeface="微软雅黑"/>
                  <a:ea typeface="微软雅黑"/>
                </a:endParaRPr>
              </a:p>
            </p:txBody>
          </p:sp>
          <p:cxnSp>
            <p:nvCxnSpPr>
              <p:cNvPr id="1083" name="直接箭头连接符 1082">
                <a:extLst>
                  <a:ext uri="{FF2B5EF4-FFF2-40B4-BE49-F238E27FC236}">
                    <a16:creationId xmlns:a16="http://schemas.microsoft.com/office/drawing/2014/main" id="{E2D02360-44BA-0013-BCDC-F76E3B042D55}"/>
                  </a:ext>
                </a:extLst>
              </p:cNvPr>
              <p:cNvCxnSpPr>
                <a:cxnSpLocks/>
                <a:stCxn id="1081" idx="2"/>
                <a:endCxn id="1082" idx="0"/>
              </p:cNvCxnSpPr>
              <p:nvPr/>
            </p:nvCxnSpPr>
            <p:spPr>
              <a:xfrm flipH="1">
                <a:off x="8159812" y="4347544"/>
                <a:ext cx="8467" cy="168544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4" name="矩形 1083">
                <a:extLst>
                  <a:ext uri="{FF2B5EF4-FFF2-40B4-BE49-F238E27FC236}">
                    <a16:creationId xmlns:a16="http://schemas.microsoft.com/office/drawing/2014/main" id="{48FDED5B-F2D8-B0CA-8F5B-DD9F4663894C}"/>
                  </a:ext>
                </a:extLst>
              </p:cNvPr>
              <p:cNvSpPr/>
              <p:nvPr/>
            </p:nvSpPr>
            <p:spPr>
              <a:xfrm>
                <a:off x="7151880" y="4553368"/>
                <a:ext cx="176491" cy="128915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>
                  <a:defRPr/>
                </a:pPr>
                <a:endParaRPr lang="zh-CN" altLang="en-US" sz="9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085" name="直接箭头连接符 1084">
                <a:extLst>
                  <a:ext uri="{FF2B5EF4-FFF2-40B4-BE49-F238E27FC236}">
                    <a16:creationId xmlns:a16="http://schemas.microsoft.com/office/drawing/2014/main" id="{54D8413E-D4B7-EC32-B348-4E1688C170B1}"/>
                  </a:ext>
                </a:extLst>
              </p:cNvPr>
              <p:cNvCxnSpPr>
                <a:cxnSpLocks/>
                <a:stCxn id="247" idx="3"/>
              </p:cNvCxnSpPr>
              <p:nvPr/>
            </p:nvCxnSpPr>
            <p:spPr>
              <a:xfrm flipV="1">
                <a:off x="9639768" y="3711343"/>
                <a:ext cx="1070115" cy="10342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6" name="直接箭头连接符 1085">
                <a:extLst>
                  <a:ext uri="{FF2B5EF4-FFF2-40B4-BE49-F238E27FC236}">
                    <a16:creationId xmlns:a16="http://schemas.microsoft.com/office/drawing/2014/main" id="{30E523E9-C303-1502-D84A-58B5429F4DD7}"/>
                  </a:ext>
                </a:extLst>
              </p:cNvPr>
              <p:cNvCxnSpPr>
                <a:cxnSpLocks/>
                <a:stCxn id="249" idx="3"/>
              </p:cNvCxnSpPr>
              <p:nvPr/>
            </p:nvCxnSpPr>
            <p:spPr>
              <a:xfrm>
                <a:off x="9758936" y="4580155"/>
                <a:ext cx="1014446" cy="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87" name="组合 1086">
                <a:extLst>
                  <a:ext uri="{FF2B5EF4-FFF2-40B4-BE49-F238E27FC236}">
                    <a16:creationId xmlns:a16="http://schemas.microsoft.com/office/drawing/2014/main" id="{98F4F23B-48BE-15F0-861F-F46D47664BF9}"/>
                  </a:ext>
                </a:extLst>
              </p:cNvPr>
              <p:cNvGrpSpPr/>
              <p:nvPr/>
            </p:nvGrpSpPr>
            <p:grpSpPr>
              <a:xfrm>
                <a:off x="9064464" y="2969030"/>
                <a:ext cx="809380" cy="3561436"/>
                <a:chOff x="9011283" y="1305347"/>
                <a:chExt cx="986052" cy="3561436"/>
              </a:xfrm>
            </p:grpSpPr>
            <p:sp>
              <p:nvSpPr>
                <p:cNvPr id="241" name="矩形: 圆角 240">
                  <a:extLst>
                    <a:ext uri="{FF2B5EF4-FFF2-40B4-BE49-F238E27FC236}">
                      <a16:creationId xmlns:a16="http://schemas.microsoft.com/office/drawing/2014/main" id="{65E75A34-C957-17FF-0DB0-8EE52A61ED1F}"/>
                    </a:ext>
                  </a:extLst>
                </p:cNvPr>
                <p:cNvSpPr/>
                <p:nvPr/>
              </p:nvSpPr>
              <p:spPr>
                <a:xfrm>
                  <a:off x="9011283" y="1305347"/>
                  <a:ext cx="986052" cy="3561436"/>
                </a:xfrm>
                <a:prstGeom prst="roundRect">
                  <a:avLst/>
                </a:prstGeom>
                <a:solidFill>
                  <a:schemeClr val="tx2">
                    <a:lumMod val="85000"/>
                  </a:schemeClr>
                </a:solidFill>
                <a:ln w="3175">
                  <a:solidFill>
                    <a:schemeClr val="bg1">
                      <a:lumMod val="40000"/>
                      <a:lumOff val="60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14034">
                    <a:defRPr/>
                  </a:pPr>
                  <a:r>
                    <a:rPr lang="en-US" altLang="zh-CN" sz="900" b="1" dirty="0">
                      <a:solidFill>
                        <a:srgbClr val="1D1D1A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KV </a:t>
                  </a:r>
                  <a:r>
                    <a:rPr lang="zh-CN" altLang="en-US" sz="900" b="1" dirty="0">
                      <a:solidFill>
                        <a:srgbClr val="1D1D1A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内存池</a:t>
                  </a:r>
                  <a:endParaRPr lang="en-US" altLang="zh-CN" sz="9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914034">
                    <a:defRPr/>
                  </a:pPr>
                  <a:r>
                    <a:rPr lang="zh-CN" altLang="en-US" sz="900" b="1" dirty="0">
                      <a:solidFill>
                        <a:srgbClr val="1D1D1A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系统</a:t>
                  </a:r>
                </a:p>
              </p:txBody>
            </p:sp>
            <p:sp>
              <p:nvSpPr>
                <p:cNvPr id="242" name="矩形 241">
                  <a:extLst>
                    <a:ext uri="{FF2B5EF4-FFF2-40B4-BE49-F238E27FC236}">
                      <a16:creationId xmlns:a16="http://schemas.microsoft.com/office/drawing/2014/main" id="{D8DAB94D-783D-E450-6AEC-D1168DB1D6EE}"/>
                    </a:ext>
                  </a:extLst>
                </p:cNvPr>
                <p:cNvSpPr/>
                <p:nvPr/>
              </p:nvSpPr>
              <p:spPr>
                <a:xfrm>
                  <a:off x="9114146" y="2661890"/>
                  <a:ext cx="792223" cy="395667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    <a:noAutofit/>
                </a:bodyPr>
                <a:lstStyle/>
                <a:p>
                  <a:pPr algn="ctr" defTabSz="914034">
                    <a:defRPr/>
                  </a:pPr>
                  <a:r>
                    <a:rPr lang="en-US" altLang="zh-CN" sz="900" dirty="0">
                      <a:solidFill>
                        <a:srgbClr val="1D1D1A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DDR</a:t>
                  </a:r>
                  <a:endParaRPr lang="zh-CN" altLang="en-US" sz="9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3" name="矩形 242">
                  <a:extLst>
                    <a:ext uri="{FF2B5EF4-FFF2-40B4-BE49-F238E27FC236}">
                      <a16:creationId xmlns:a16="http://schemas.microsoft.com/office/drawing/2014/main" id="{8DE0DF24-7C54-68F4-9C7B-B5F74F468551}"/>
                    </a:ext>
                  </a:extLst>
                </p:cNvPr>
                <p:cNvSpPr/>
                <p:nvPr/>
              </p:nvSpPr>
              <p:spPr>
                <a:xfrm>
                  <a:off x="9091495" y="1806152"/>
                  <a:ext cx="831931" cy="34496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    <a:noAutofit/>
                </a:bodyPr>
                <a:lstStyle/>
                <a:p>
                  <a:pPr algn="ctr" defTabSz="914034">
                    <a:defRPr/>
                  </a:pPr>
                  <a:r>
                    <a:rPr lang="en-US" altLang="zh-CN" sz="900" dirty="0">
                      <a:solidFill>
                        <a:srgbClr val="1D1D1A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DDR</a:t>
                  </a:r>
                  <a:endParaRPr lang="zh-CN" altLang="en-US" sz="9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4" name="矩形 243">
                  <a:extLst>
                    <a:ext uri="{FF2B5EF4-FFF2-40B4-BE49-F238E27FC236}">
                      <a16:creationId xmlns:a16="http://schemas.microsoft.com/office/drawing/2014/main" id="{8D06A515-56AA-50C5-7F9D-E198F19A15E2}"/>
                    </a:ext>
                  </a:extLst>
                </p:cNvPr>
                <p:cNvSpPr/>
                <p:nvPr/>
              </p:nvSpPr>
              <p:spPr>
                <a:xfrm>
                  <a:off x="9114146" y="4011763"/>
                  <a:ext cx="867435" cy="553824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    <a:noAutofit/>
                </a:bodyPr>
                <a:lstStyle/>
                <a:p>
                  <a:pPr algn="ctr" defTabSz="914034">
                    <a:defRPr/>
                  </a:pPr>
                  <a:r>
                    <a:rPr lang="en-US" altLang="zh-CN" sz="900" dirty="0">
                      <a:solidFill>
                        <a:srgbClr val="1D1D1A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DDR</a:t>
                  </a:r>
                  <a:endParaRPr lang="zh-CN" altLang="en-US" sz="9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5" name="矩形: 圆角 244">
                  <a:extLst>
                    <a:ext uri="{FF2B5EF4-FFF2-40B4-BE49-F238E27FC236}">
                      <a16:creationId xmlns:a16="http://schemas.microsoft.com/office/drawing/2014/main" id="{2ADB3324-E880-59B0-C1BE-4938E12E7E1B}"/>
                    </a:ext>
                  </a:extLst>
                </p:cNvPr>
                <p:cNvSpPr/>
                <p:nvPr/>
              </p:nvSpPr>
              <p:spPr>
                <a:xfrm>
                  <a:off x="9227068" y="4389040"/>
                  <a:ext cx="679302" cy="129572"/>
                </a:xfrm>
                <a:prstGeom prst="round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  <a:noAutofit/>
                </a:bodyPr>
                <a:lstStyle/>
                <a:p>
                  <a:pPr algn="ctr" defTabSz="914034">
                    <a:defRPr/>
                  </a:pPr>
                  <a:endParaRPr lang="zh-CN" altLang="en-US" sz="1799">
                    <a:solidFill>
                      <a:srgbClr val="666666"/>
                    </a:solidFill>
                    <a:latin typeface="Huawei Sans" panose="020B0604020202020204"/>
                    <a:ea typeface="微软雅黑"/>
                  </a:endParaRPr>
                </a:p>
              </p:txBody>
            </p:sp>
            <p:sp>
              <p:nvSpPr>
                <p:cNvPr id="246" name="矩形: 圆角 245">
                  <a:extLst>
                    <a:ext uri="{FF2B5EF4-FFF2-40B4-BE49-F238E27FC236}">
                      <a16:creationId xmlns:a16="http://schemas.microsoft.com/office/drawing/2014/main" id="{8F719A9D-C307-2C29-D283-4F8E63DFE058}"/>
                    </a:ext>
                  </a:extLst>
                </p:cNvPr>
                <p:cNvSpPr/>
                <p:nvPr/>
              </p:nvSpPr>
              <p:spPr>
                <a:xfrm>
                  <a:off x="9256745" y="4201183"/>
                  <a:ext cx="397388" cy="121850"/>
                </a:xfrm>
                <a:prstGeom prst="round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  <a:noAutofit/>
                </a:bodyPr>
                <a:lstStyle/>
                <a:p>
                  <a:pPr algn="ctr" defTabSz="914034">
                    <a:defRPr/>
                  </a:pPr>
                  <a:endParaRPr lang="zh-CN" altLang="en-US" sz="1799" dirty="0">
                    <a:solidFill>
                      <a:srgbClr val="666666"/>
                    </a:solidFill>
                    <a:latin typeface="Huawei Sans" panose="020B0604020202020204"/>
                    <a:ea typeface="微软雅黑"/>
                  </a:endParaRPr>
                </a:p>
              </p:txBody>
            </p:sp>
            <p:sp>
              <p:nvSpPr>
                <p:cNvPr id="247" name="矩形: 圆角 246">
                  <a:extLst>
                    <a:ext uri="{FF2B5EF4-FFF2-40B4-BE49-F238E27FC236}">
                      <a16:creationId xmlns:a16="http://schemas.microsoft.com/office/drawing/2014/main" id="{45AFC62A-E1F2-7C4E-1FCC-C49AD12F4389}"/>
                    </a:ext>
                  </a:extLst>
                </p:cNvPr>
                <p:cNvSpPr/>
                <p:nvPr/>
              </p:nvSpPr>
              <p:spPr>
                <a:xfrm>
                  <a:off x="9314775" y="1991527"/>
                  <a:ext cx="397389" cy="132949"/>
                </a:xfrm>
                <a:prstGeom prst="round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04" tIns="0" rIns="91404" bIns="0" numCol="1" spcCol="0" rtlCol="0" fromWordArt="0" anchor="ctr" anchorCtr="0" forceAA="0" compatLnSpc="1">
                  <a:noAutofit/>
                </a:bodyPr>
                <a:lstStyle/>
                <a:p>
                  <a:pPr algn="ctr" defTabSz="914034">
                    <a:defRPr/>
                  </a:pPr>
                  <a:endParaRPr lang="zh-CN" altLang="en-US" sz="1799" dirty="0">
                    <a:solidFill>
                      <a:srgbClr val="666666"/>
                    </a:solidFill>
                    <a:latin typeface="Huawei Sans" panose="020B0604020202020204"/>
                    <a:ea typeface="微软雅黑"/>
                  </a:endParaRPr>
                </a:p>
              </p:txBody>
            </p:sp>
            <p:sp>
              <p:nvSpPr>
                <p:cNvPr id="249" name="矩形: 圆角 248">
                  <a:extLst>
                    <a:ext uri="{FF2B5EF4-FFF2-40B4-BE49-F238E27FC236}">
                      <a16:creationId xmlns:a16="http://schemas.microsoft.com/office/drawing/2014/main" id="{A91D15E7-B6B7-B605-42ED-CCB4FAD2689F}"/>
                    </a:ext>
                  </a:extLst>
                </p:cNvPr>
                <p:cNvSpPr/>
                <p:nvPr/>
              </p:nvSpPr>
              <p:spPr>
                <a:xfrm>
                  <a:off x="9178042" y="2852014"/>
                  <a:ext cx="679302" cy="128915"/>
                </a:xfrm>
                <a:prstGeom prst="round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04" tIns="0" rIns="91404" bIns="0" numCol="1" spcCol="0" rtlCol="0" fromWordArt="0" anchor="ctr" anchorCtr="0" forceAA="0" compatLnSpc="1">
                  <a:noAutofit/>
                </a:bodyPr>
                <a:lstStyle/>
                <a:p>
                  <a:pPr algn="ctr" defTabSz="914034">
                    <a:defRPr/>
                  </a:pPr>
                  <a:endParaRPr lang="zh-CN" altLang="en-US" sz="1799">
                    <a:solidFill>
                      <a:srgbClr val="666666"/>
                    </a:solidFill>
                    <a:latin typeface="Huawei Sans" panose="020B0604020202020204"/>
                    <a:ea typeface="微软雅黑"/>
                  </a:endParaRPr>
                </a:p>
              </p:txBody>
            </p:sp>
            <p:sp>
              <p:nvSpPr>
                <p:cNvPr id="250" name="文本框 249">
                  <a:extLst>
                    <a:ext uri="{FF2B5EF4-FFF2-40B4-BE49-F238E27FC236}">
                      <a16:creationId xmlns:a16="http://schemas.microsoft.com/office/drawing/2014/main" id="{F2B6ABE8-07EC-34E4-9CBC-A214C6D217BC}"/>
                    </a:ext>
                  </a:extLst>
                </p:cNvPr>
                <p:cNvSpPr txBox="1"/>
                <p:nvPr/>
              </p:nvSpPr>
              <p:spPr>
                <a:xfrm>
                  <a:off x="9217905" y="4364117"/>
                  <a:ext cx="771789" cy="135658"/>
                </a:xfrm>
                <a:prstGeom prst="rect">
                  <a:avLst/>
                </a:prstGeom>
                <a:noFill/>
              </p:spPr>
              <p:txBody>
                <a:bodyPr wrap="none" tIns="0" bIns="0" rtlCol="0">
                  <a:spAutoFit/>
                </a:bodyPr>
                <a:lstStyle/>
                <a:p>
                  <a:pPr defTabSz="914034">
                    <a:defRPr/>
                  </a:pPr>
                  <a:r>
                    <a:rPr lang="zh-CN" altLang="en-US" sz="700" dirty="0">
                      <a:solidFill>
                        <a:srgbClr val="1D1D1A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第一轮输入</a:t>
                  </a:r>
                </a:p>
              </p:txBody>
            </p:sp>
          </p:grpSp>
          <p:cxnSp>
            <p:nvCxnSpPr>
              <p:cNvPr id="192" name="连接符: 肘形 191">
                <a:extLst>
                  <a:ext uri="{FF2B5EF4-FFF2-40B4-BE49-F238E27FC236}">
                    <a16:creationId xmlns:a16="http://schemas.microsoft.com/office/drawing/2014/main" id="{2AC27724-B6CD-49C2-4B37-F6418F4D5B3A}"/>
                  </a:ext>
                </a:extLst>
              </p:cNvPr>
              <p:cNvCxnSpPr>
                <a:cxnSpLocks/>
                <a:stCxn id="1038" idx="3"/>
                <a:endCxn id="1057" idx="1"/>
              </p:cNvCxnSpPr>
              <p:nvPr/>
            </p:nvCxnSpPr>
            <p:spPr>
              <a:xfrm flipV="1">
                <a:off x="6869157" y="4425450"/>
                <a:ext cx="287202" cy="648738"/>
              </a:xfrm>
              <a:prstGeom prst="bentConnector3">
                <a:avLst>
                  <a:gd name="adj1" fmla="val 43367"/>
                </a:avLst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连接符: 肘形 194">
                <a:extLst>
                  <a:ext uri="{FF2B5EF4-FFF2-40B4-BE49-F238E27FC236}">
                    <a16:creationId xmlns:a16="http://schemas.microsoft.com/office/drawing/2014/main" id="{7F9DAC06-DE4D-2A67-8293-9C549A13094C}"/>
                  </a:ext>
                </a:extLst>
              </p:cNvPr>
              <p:cNvCxnSpPr>
                <a:cxnSpLocks/>
                <a:stCxn id="1038" idx="3"/>
                <a:endCxn id="1058" idx="1"/>
              </p:cNvCxnSpPr>
              <p:nvPr/>
            </p:nvCxnSpPr>
            <p:spPr>
              <a:xfrm>
                <a:off x="6869158" y="5074189"/>
                <a:ext cx="256503" cy="930633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连接符: 肘形 196">
                <a:extLst>
                  <a:ext uri="{FF2B5EF4-FFF2-40B4-BE49-F238E27FC236}">
                    <a16:creationId xmlns:a16="http://schemas.microsoft.com/office/drawing/2014/main" id="{3191D8DC-2D7A-DFDC-27F2-D634B9073903}"/>
                  </a:ext>
                </a:extLst>
              </p:cNvPr>
              <p:cNvCxnSpPr>
                <a:stCxn id="1037" idx="3"/>
                <a:endCxn id="1038" idx="0"/>
              </p:cNvCxnSpPr>
              <p:nvPr/>
            </p:nvCxnSpPr>
            <p:spPr>
              <a:xfrm>
                <a:off x="6068196" y="3787433"/>
                <a:ext cx="472912" cy="1133335"/>
              </a:xfrm>
              <a:prstGeom prst="bentConnector2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8" name="文本框 197">
                <a:extLst>
                  <a:ext uri="{FF2B5EF4-FFF2-40B4-BE49-F238E27FC236}">
                    <a16:creationId xmlns:a16="http://schemas.microsoft.com/office/drawing/2014/main" id="{3223DD2C-2F75-65F5-E425-475E5B7DF581}"/>
                  </a:ext>
                </a:extLst>
              </p:cNvPr>
              <p:cNvSpPr txBox="1"/>
              <p:nvPr/>
            </p:nvSpPr>
            <p:spPr>
              <a:xfrm>
                <a:off x="6019793" y="3533363"/>
                <a:ext cx="900628" cy="290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034">
                  <a:defRPr/>
                </a:pPr>
                <a:r>
                  <a:rPr lang="en-US" altLang="zh-CN" sz="9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LLM</a:t>
                </a:r>
                <a:r>
                  <a:rPr lang="zh-CN" altLang="en-US" sz="9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推理请求</a:t>
                </a:r>
              </a:p>
            </p:txBody>
          </p:sp>
          <p:sp>
            <p:nvSpPr>
              <p:cNvPr id="199" name="文本框 198">
                <a:extLst>
                  <a:ext uri="{FF2B5EF4-FFF2-40B4-BE49-F238E27FC236}">
                    <a16:creationId xmlns:a16="http://schemas.microsoft.com/office/drawing/2014/main" id="{9B567830-7D4D-4F8C-F604-AB12CE3E9029}"/>
                  </a:ext>
                </a:extLst>
              </p:cNvPr>
              <p:cNvSpPr txBox="1"/>
              <p:nvPr/>
            </p:nvSpPr>
            <p:spPr>
              <a:xfrm>
                <a:off x="2616625" y="2515122"/>
                <a:ext cx="1460656" cy="3294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034">
                  <a:defRPr/>
                </a:pPr>
                <a:r>
                  <a:rPr lang="zh-CN" altLang="en-US" sz="1100" b="1" u="sng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通算</a:t>
                </a:r>
                <a:r>
                  <a:rPr lang="en-US" altLang="zh-CN" sz="1100" b="1" u="sng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Agent</a:t>
                </a:r>
                <a:r>
                  <a:rPr lang="zh-CN" altLang="en-US" sz="1100" b="1" u="sng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基础设施</a:t>
                </a:r>
              </a:p>
            </p:txBody>
          </p:sp>
          <p:cxnSp>
            <p:nvCxnSpPr>
              <p:cNvPr id="201" name="直接连接符 200">
                <a:extLst>
                  <a:ext uri="{FF2B5EF4-FFF2-40B4-BE49-F238E27FC236}">
                    <a16:creationId xmlns:a16="http://schemas.microsoft.com/office/drawing/2014/main" id="{08F3B6F9-17AA-9446-9A2D-90400A3A17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85899" y="2939919"/>
                <a:ext cx="10606" cy="3609915"/>
              </a:xfrm>
              <a:prstGeom prst="line">
                <a:avLst/>
              </a:prstGeom>
              <a:ln w="15875"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连接符: 肘形 207">
                <a:extLst>
                  <a:ext uri="{FF2B5EF4-FFF2-40B4-BE49-F238E27FC236}">
                    <a16:creationId xmlns:a16="http://schemas.microsoft.com/office/drawing/2014/main" id="{CEC354F7-C4B3-39FE-7A20-C8409BDDC686}"/>
                  </a:ext>
                </a:extLst>
              </p:cNvPr>
              <p:cNvCxnSpPr>
                <a:cxnSpLocks/>
                <a:stCxn id="1057" idx="3"/>
                <a:endCxn id="245" idx="3"/>
              </p:cNvCxnSpPr>
              <p:nvPr/>
            </p:nvCxnSpPr>
            <p:spPr>
              <a:xfrm flipH="1">
                <a:off x="9799179" y="4425451"/>
                <a:ext cx="149117" cy="1692059"/>
              </a:xfrm>
              <a:prstGeom prst="bentConnector3">
                <a:avLst>
                  <a:gd name="adj1" fmla="val -153302"/>
                </a:avLst>
              </a:prstGeom>
              <a:ln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直接箭头连接符 212">
                <a:extLst>
                  <a:ext uri="{FF2B5EF4-FFF2-40B4-BE49-F238E27FC236}">
                    <a16:creationId xmlns:a16="http://schemas.microsoft.com/office/drawing/2014/main" id="{F18AF303-40FE-D0DF-AC12-786B83DBF925}"/>
                  </a:ext>
                </a:extLst>
              </p:cNvPr>
              <p:cNvCxnSpPr>
                <a:cxnSpLocks/>
                <a:stCxn id="246" idx="3"/>
              </p:cNvCxnSpPr>
              <p:nvPr/>
            </p:nvCxnSpPr>
            <p:spPr>
              <a:xfrm flipV="1">
                <a:off x="9592134" y="5908563"/>
                <a:ext cx="1156142" cy="17228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5" name="文本框 214">
                <a:extLst>
                  <a:ext uri="{FF2B5EF4-FFF2-40B4-BE49-F238E27FC236}">
                    <a16:creationId xmlns:a16="http://schemas.microsoft.com/office/drawing/2014/main" id="{D9B46436-91AC-39FE-9799-B3ECF8101E17}"/>
                  </a:ext>
                </a:extLst>
              </p:cNvPr>
              <p:cNvSpPr txBox="1"/>
              <p:nvPr/>
            </p:nvSpPr>
            <p:spPr>
              <a:xfrm>
                <a:off x="8164079" y="3970744"/>
                <a:ext cx="1050288" cy="2519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034">
                  <a:defRPr/>
                </a:pPr>
                <a:r>
                  <a:rPr lang="en-US" altLang="zh-CN" sz="7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KV</a:t>
                </a:r>
                <a:r>
                  <a:rPr lang="zh-CN" altLang="en-US" sz="7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复用命中，加载</a:t>
                </a:r>
                <a:r>
                  <a:rPr lang="en-US" altLang="zh-CN" sz="7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KV</a:t>
                </a:r>
                <a:endParaRPr lang="zh-CN" altLang="en-US" sz="7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8" name="文本框 217">
                <a:extLst>
                  <a:ext uri="{FF2B5EF4-FFF2-40B4-BE49-F238E27FC236}">
                    <a16:creationId xmlns:a16="http://schemas.microsoft.com/office/drawing/2014/main" id="{32469076-AF39-1876-A6FE-553310E0EA7E}"/>
                  </a:ext>
                </a:extLst>
              </p:cNvPr>
              <p:cNvSpPr txBox="1"/>
              <p:nvPr/>
            </p:nvSpPr>
            <p:spPr>
              <a:xfrm>
                <a:off x="9733249" y="4586278"/>
                <a:ext cx="1075936" cy="2325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034">
                  <a:defRPr/>
                </a:pPr>
                <a:r>
                  <a:rPr lang="en-US" altLang="zh-CN" sz="6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KV</a:t>
                </a:r>
                <a:r>
                  <a:rPr lang="zh-CN" altLang="en-US" sz="6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分级淘汰，写入</a:t>
                </a:r>
                <a:r>
                  <a:rPr lang="en-US" altLang="zh-CN" sz="6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KV</a:t>
                </a:r>
                <a:r>
                  <a:rPr lang="zh-CN" altLang="en-US" sz="6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存储</a:t>
                </a:r>
              </a:p>
            </p:txBody>
          </p:sp>
          <p:sp>
            <p:nvSpPr>
              <p:cNvPr id="221" name="文本框 220">
                <a:extLst>
                  <a:ext uri="{FF2B5EF4-FFF2-40B4-BE49-F238E27FC236}">
                    <a16:creationId xmlns:a16="http://schemas.microsoft.com/office/drawing/2014/main" id="{31CA8CCE-9C2D-694D-9C14-2E098572A6FC}"/>
                  </a:ext>
                </a:extLst>
              </p:cNvPr>
              <p:cNvSpPr txBox="1"/>
              <p:nvPr/>
            </p:nvSpPr>
            <p:spPr>
              <a:xfrm>
                <a:off x="10126097" y="4869591"/>
                <a:ext cx="338554" cy="4651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defTabSz="914034">
                  <a:defRPr/>
                </a:pPr>
                <a:r>
                  <a:rPr lang="en-US" altLang="zh-CN" sz="6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PD </a:t>
                </a:r>
              </a:p>
              <a:p>
                <a:pPr algn="ctr" defTabSz="914034">
                  <a:defRPr/>
                </a:pPr>
                <a:r>
                  <a:rPr lang="en-US" altLang="zh-CN" sz="6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KV</a:t>
                </a:r>
              </a:p>
              <a:p>
                <a:pPr algn="ctr" defTabSz="914034">
                  <a:defRPr/>
                </a:pPr>
                <a:r>
                  <a:rPr lang="zh-CN" altLang="en-US" sz="6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传输</a:t>
                </a:r>
              </a:p>
            </p:txBody>
          </p:sp>
          <p:sp>
            <p:nvSpPr>
              <p:cNvPr id="223" name="文本框 222">
                <a:extLst>
                  <a:ext uri="{FF2B5EF4-FFF2-40B4-BE49-F238E27FC236}">
                    <a16:creationId xmlns:a16="http://schemas.microsoft.com/office/drawing/2014/main" id="{1AAEBEC9-3442-2677-ECF7-10CBC8F343E9}"/>
                  </a:ext>
                </a:extLst>
              </p:cNvPr>
              <p:cNvSpPr txBox="1"/>
              <p:nvPr/>
            </p:nvSpPr>
            <p:spPr>
              <a:xfrm>
                <a:off x="7667940" y="6236132"/>
                <a:ext cx="1646605" cy="2713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034">
                  <a:defRPr/>
                </a:pPr>
                <a:r>
                  <a:rPr lang="zh-CN" altLang="en-US" sz="8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稀疏</a:t>
                </a:r>
                <a:r>
                  <a:rPr lang="en-US" altLang="zh-CN" sz="8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Top-K</a:t>
                </a:r>
                <a:r>
                  <a:rPr lang="zh-CN" altLang="en-US" sz="8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计算，选择性加载</a:t>
                </a:r>
                <a:r>
                  <a:rPr lang="en-US" altLang="zh-CN" sz="8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KV</a:t>
                </a:r>
                <a:endParaRPr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225" name="连接符: 肘形 224">
                <a:extLst>
                  <a:ext uri="{FF2B5EF4-FFF2-40B4-BE49-F238E27FC236}">
                    <a16:creationId xmlns:a16="http://schemas.microsoft.com/office/drawing/2014/main" id="{B7798075-03CD-250D-4A82-D1294FD71829}"/>
                  </a:ext>
                </a:extLst>
              </p:cNvPr>
              <p:cNvCxnSpPr>
                <a:cxnSpLocks/>
                <a:stCxn id="245" idx="2"/>
                <a:endCxn id="1069" idx="2"/>
              </p:cNvCxnSpPr>
              <p:nvPr/>
            </p:nvCxnSpPr>
            <p:spPr>
              <a:xfrm rot="5400000">
                <a:off x="8594820" y="5285722"/>
                <a:ext cx="28990" cy="1822136"/>
              </a:xfrm>
              <a:prstGeom prst="bentConnector3">
                <a:avLst>
                  <a:gd name="adj1" fmla="val 888548"/>
                </a:avLst>
              </a:prstGeom>
              <a:ln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连接符: 肘形 225">
                <a:extLst>
                  <a:ext uri="{FF2B5EF4-FFF2-40B4-BE49-F238E27FC236}">
                    <a16:creationId xmlns:a16="http://schemas.microsoft.com/office/drawing/2014/main" id="{3BC84C8C-4F70-09E5-A747-FF10722A3F87}"/>
                  </a:ext>
                </a:extLst>
              </p:cNvPr>
              <p:cNvCxnSpPr>
                <a:cxnSpLocks/>
                <a:stCxn id="1067" idx="3"/>
                <a:endCxn id="246" idx="1"/>
              </p:cNvCxnSpPr>
              <p:nvPr/>
            </p:nvCxnSpPr>
            <p:spPr>
              <a:xfrm flipV="1">
                <a:off x="8491242" y="5925792"/>
                <a:ext cx="774704" cy="209751"/>
              </a:xfrm>
              <a:prstGeom prst="bentConnector3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直接箭头连接符 226">
                <a:extLst>
                  <a:ext uri="{FF2B5EF4-FFF2-40B4-BE49-F238E27FC236}">
                    <a16:creationId xmlns:a16="http://schemas.microsoft.com/office/drawing/2014/main" id="{EBC89C12-952C-2DA8-1ED7-041A44FEE49F}"/>
                  </a:ext>
                </a:extLst>
              </p:cNvPr>
              <p:cNvCxnSpPr>
                <a:cxnSpLocks/>
                <a:stCxn id="1082" idx="3"/>
                <a:endCxn id="249" idx="1"/>
              </p:cNvCxnSpPr>
              <p:nvPr/>
            </p:nvCxnSpPr>
            <p:spPr>
              <a:xfrm flipV="1">
                <a:off x="8499463" y="4580156"/>
                <a:ext cx="701883" cy="391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直接箭头连接符 227">
                <a:extLst>
                  <a:ext uri="{FF2B5EF4-FFF2-40B4-BE49-F238E27FC236}">
                    <a16:creationId xmlns:a16="http://schemas.microsoft.com/office/drawing/2014/main" id="{D0C97EA0-A59A-0776-E21C-2C3C3FC62362}"/>
                  </a:ext>
                </a:extLst>
              </p:cNvPr>
              <p:cNvCxnSpPr>
                <a:cxnSpLocks/>
                <a:stCxn id="1076" idx="3"/>
                <a:endCxn id="247" idx="1"/>
              </p:cNvCxnSpPr>
              <p:nvPr/>
            </p:nvCxnSpPr>
            <p:spPr>
              <a:xfrm flipV="1">
                <a:off x="8794403" y="3721685"/>
                <a:ext cx="519176" cy="5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9" name="文本框 228">
                <a:extLst>
                  <a:ext uri="{FF2B5EF4-FFF2-40B4-BE49-F238E27FC236}">
                    <a16:creationId xmlns:a16="http://schemas.microsoft.com/office/drawing/2014/main" id="{2E1821D3-4BC0-9F1F-C3F7-C5854633A239}"/>
                  </a:ext>
                </a:extLst>
              </p:cNvPr>
              <p:cNvSpPr txBox="1"/>
              <p:nvPr/>
            </p:nvSpPr>
            <p:spPr>
              <a:xfrm>
                <a:off x="8423097" y="4431817"/>
                <a:ext cx="751119" cy="348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034">
                  <a:defRPr/>
                </a:pPr>
                <a:r>
                  <a:rPr lang="en-US" altLang="zh-CN" sz="6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KV</a:t>
                </a:r>
                <a:r>
                  <a:rPr lang="zh-CN" altLang="en-US" sz="6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生成，写入内存缓存</a:t>
                </a:r>
              </a:p>
            </p:txBody>
          </p:sp>
          <p:sp>
            <p:nvSpPr>
              <p:cNvPr id="65" name="箭头: 上弧形 64">
                <a:extLst>
                  <a:ext uri="{FF2B5EF4-FFF2-40B4-BE49-F238E27FC236}">
                    <a16:creationId xmlns:a16="http://schemas.microsoft.com/office/drawing/2014/main" id="{7B543514-3412-9379-B3DC-E41314F7861B}"/>
                  </a:ext>
                </a:extLst>
              </p:cNvPr>
              <p:cNvSpPr/>
              <p:nvPr/>
            </p:nvSpPr>
            <p:spPr>
              <a:xfrm rot="10800000">
                <a:off x="5124644" y="3890351"/>
                <a:ext cx="1416464" cy="207279"/>
              </a:xfrm>
              <a:prstGeom prst="curvedDownArrow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>
                  <a:defRPr/>
                </a:pPr>
                <a:endParaRPr lang="zh-CN" altLang="en-US" sz="1799">
                  <a:solidFill>
                    <a:srgbClr val="666666"/>
                  </a:solidFill>
                  <a:latin typeface="Huawei Sans" panose="020B0604020202020204"/>
                  <a:ea typeface="微软雅黑"/>
                </a:endParaRPr>
              </a:p>
            </p:txBody>
          </p:sp>
        </p:grpSp>
        <p:sp>
          <p:nvSpPr>
            <p:cNvPr id="283" name="椭圆 282">
              <a:extLst>
                <a:ext uri="{FF2B5EF4-FFF2-40B4-BE49-F238E27FC236}">
                  <a16:creationId xmlns:a16="http://schemas.microsoft.com/office/drawing/2014/main" id="{F98F27CD-BFE7-A54B-E378-45AA82BB1458}"/>
                </a:ext>
              </a:extLst>
            </p:cNvPr>
            <p:cNvSpPr/>
            <p:nvPr/>
          </p:nvSpPr>
          <p:spPr>
            <a:xfrm>
              <a:off x="7193361" y="4533793"/>
              <a:ext cx="162000" cy="16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668">
                <a:defRPr/>
              </a:pPr>
              <a:r>
                <a:rPr lang="en-US" altLang="zh-CN" sz="105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/>
                </a:rPr>
                <a:t>4</a:t>
              </a:r>
              <a:endParaRPr lang="zh-CN" altLang="en-US" sz="105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  <p:sp>
          <p:nvSpPr>
            <p:cNvPr id="287" name="椭圆 286">
              <a:extLst>
                <a:ext uri="{FF2B5EF4-FFF2-40B4-BE49-F238E27FC236}">
                  <a16:creationId xmlns:a16="http://schemas.microsoft.com/office/drawing/2014/main" id="{73914739-4C81-F238-EF70-E8FF9E7C969E}"/>
                </a:ext>
              </a:extLst>
            </p:cNvPr>
            <p:cNvSpPr/>
            <p:nvPr/>
          </p:nvSpPr>
          <p:spPr>
            <a:xfrm>
              <a:off x="7162212" y="5801158"/>
              <a:ext cx="162000" cy="16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668">
                <a:defRPr/>
              </a:pPr>
              <a:r>
                <a:rPr lang="en-US" altLang="zh-CN" sz="105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/>
                </a:rPr>
                <a:t>4</a:t>
              </a:r>
              <a:endParaRPr lang="zh-CN" altLang="en-US" sz="105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  <p:sp>
          <p:nvSpPr>
            <p:cNvPr id="288" name="椭圆 287">
              <a:extLst>
                <a:ext uri="{FF2B5EF4-FFF2-40B4-BE49-F238E27FC236}">
                  <a16:creationId xmlns:a16="http://schemas.microsoft.com/office/drawing/2014/main" id="{9A001723-279E-F07A-6AD5-17C55DE0A361}"/>
                </a:ext>
              </a:extLst>
            </p:cNvPr>
            <p:cNvSpPr/>
            <p:nvPr/>
          </p:nvSpPr>
          <p:spPr>
            <a:xfrm>
              <a:off x="8964394" y="3991348"/>
              <a:ext cx="162000" cy="16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668">
                <a:defRPr/>
              </a:pPr>
              <a:r>
                <a:rPr lang="en-US" altLang="zh-CN" sz="105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/>
                </a:rPr>
                <a:t>5</a:t>
              </a:r>
              <a:endParaRPr lang="zh-CN" altLang="en-US" sz="105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B6E89E00-8C89-DA8E-B2A5-C76264B2A2BB}"/>
                </a:ext>
              </a:extLst>
            </p:cNvPr>
            <p:cNvSpPr/>
            <p:nvPr/>
          </p:nvSpPr>
          <p:spPr>
            <a:xfrm>
              <a:off x="10723636" y="4289196"/>
              <a:ext cx="162000" cy="162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668">
                <a:defRPr/>
              </a:pPr>
              <a:r>
                <a:rPr lang="en-US" altLang="zh-CN" sz="105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/>
                </a:rPr>
                <a:t>5</a:t>
              </a:r>
              <a:endParaRPr lang="zh-CN" altLang="en-US" sz="105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</p:grp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F3E56527-2AD4-57A9-4F0B-A7D78616F99E}"/>
              </a:ext>
            </a:extLst>
          </p:cNvPr>
          <p:cNvSpPr/>
          <p:nvPr/>
        </p:nvSpPr>
        <p:spPr>
          <a:xfrm>
            <a:off x="8681389" y="837008"/>
            <a:ext cx="2794495" cy="313283"/>
          </a:xfrm>
          <a:prstGeom prst="roundRect">
            <a:avLst>
              <a:gd name="adj" fmla="val 0"/>
            </a:avLst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en-US" altLang="zh-CN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场景关键软件需求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1FD284E-8C5A-3DE4-6561-E8DC7299FFCA}"/>
              </a:ext>
            </a:extLst>
          </p:cNvPr>
          <p:cNvSpPr/>
          <p:nvPr/>
        </p:nvSpPr>
        <p:spPr>
          <a:xfrm>
            <a:off x="8681809" y="1234991"/>
            <a:ext cx="2793653" cy="328964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034">
              <a:defRPr/>
            </a:pPr>
            <a:r>
              <a:rPr lang="zh-CN" altLang="en-US" sz="9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通智协同：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状态和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推理系统协同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3884D17-EDEB-0062-E2C6-2D0887E2375A}"/>
              </a:ext>
            </a:extLst>
          </p:cNvPr>
          <p:cNvSpPr/>
          <p:nvPr/>
        </p:nvSpPr>
        <p:spPr>
          <a:xfrm>
            <a:off x="8681809" y="1649276"/>
            <a:ext cx="2793653" cy="328964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034">
              <a:defRPr/>
            </a:pPr>
            <a:r>
              <a:rPr lang="zh-CN" altLang="en-US" sz="9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超节点向量检索：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UB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的向量</a:t>
            </a:r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全局索引和检索</a:t>
            </a:r>
            <a:endParaRPr lang="en-US" altLang="zh-CN" sz="9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64BD0F7-6682-4055-6C50-02BE41B59A13}"/>
              </a:ext>
            </a:extLst>
          </p:cNvPr>
          <p:cNvSpPr/>
          <p:nvPr/>
        </p:nvSpPr>
        <p:spPr>
          <a:xfrm>
            <a:off x="8681809" y="2040453"/>
            <a:ext cx="2793653" cy="328964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034">
              <a:defRPr/>
            </a:pPr>
            <a:r>
              <a:rPr lang="zh-CN" altLang="en-US" sz="9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高密沙箱：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单机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2K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高密沙箱，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超分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1:5-&gt;1:8</a:t>
            </a:r>
          </a:p>
          <a:p>
            <a:pPr defTabSz="914034">
              <a:defRPr/>
            </a:pPr>
            <a:r>
              <a:rPr lang="zh-CN" altLang="en-US" sz="9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沙箱快启：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单个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&lt;50ms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@10s</a:t>
            </a:r>
            <a:endParaRPr lang="zh-CN" altLang="en-US" sz="9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1A672AE-8224-A636-7E0A-89692010B1C5}"/>
              </a:ext>
            </a:extLst>
          </p:cNvPr>
          <p:cNvSpPr/>
          <p:nvPr/>
        </p:nvSpPr>
        <p:spPr>
          <a:xfrm>
            <a:off x="1101650" y="2432745"/>
            <a:ext cx="2038794" cy="328964"/>
          </a:xfrm>
          <a:prstGeom prst="roundRect">
            <a:avLst/>
          </a:prstGeom>
          <a:solidFill>
            <a:srgbClr val="D0E8C4"/>
          </a:solidFill>
          <a:ln w="3175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zh-CN" altLang="en-US" sz="105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推理引擎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B2CFB4D-DF56-A351-DC11-F960697CEB39}"/>
              </a:ext>
            </a:extLst>
          </p:cNvPr>
          <p:cNvSpPr/>
          <p:nvPr/>
        </p:nvSpPr>
        <p:spPr>
          <a:xfrm>
            <a:off x="1101651" y="2829221"/>
            <a:ext cx="2038794" cy="328964"/>
          </a:xfrm>
          <a:prstGeom prst="roundRect">
            <a:avLst/>
          </a:prstGeom>
          <a:solidFill>
            <a:srgbClr val="00B0F0"/>
          </a:solidFill>
          <a:ln w="3175">
            <a:solidFill>
              <a:schemeClr val="bg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en-US" altLang="zh-CN" sz="105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 Cache</a:t>
            </a:r>
            <a:r>
              <a:rPr lang="zh-CN" altLang="en-US" sz="105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592FC0F-F051-86F1-8E1A-CC3F20D270DF}"/>
              </a:ext>
            </a:extLst>
          </p:cNvPr>
          <p:cNvSpPr/>
          <p:nvPr/>
        </p:nvSpPr>
        <p:spPr>
          <a:xfrm>
            <a:off x="3282047" y="2427303"/>
            <a:ext cx="2223539" cy="328964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序列平均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4K</a:t>
            </a:r>
          </a:p>
          <a:p>
            <a:pPr algn="ctr" defTabSz="914034">
              <a:defRPr/>
            </a:pP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TPOT 50ms</a:t>
            </a:r>
            <a:endParaRPr lang="zh-CN" altLang="en-US" sz="9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1D19F9B-4A04-F811-50BF-2B5AB89F3AE1}"/>
              </a:ext>
            </a:extLst>
          </p:cNvPr>
          <p:cNvSpPr/>
          <p:nvPr/>
        </p:nvSpPr>
        <p:spPr>
          <a:xfrm>
            <a:off x="5940744" y="2427302"/>
            <a:ext cx="2273951" cy="328964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支持长序列</a:t>
            </a:r>
            <a:r>
              <a:rPr lang="en-US" altLang="zh-CN" sz="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64K</a:t>
            </a:r>
            <a:r>
              <a:rPr lang="zh-CN" altLang="en-US" sz="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</a:t>
            </a:r>
            <a:endParaRPr lang="en-US" altLang="zh-CN" sz="9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034">
              <a:defRPr/>
            </a:pP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TPOT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下探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10ms</a:t>
            </a:r>
            <a:r>
              <a:rPr lang="zh-CN" altLang="en-US" sz="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甚至</a:t>
            </a:r>
            <a:r>
              <a:rPr lang="en-US" altLang="zh-CN" sz="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1ms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2DB5AA7-DCFA-D9B4-59E1-BC242A3FDB13}"/>
              </a:ext>
            </a:extLst>
          </p:cNvPr>
          <p:cNvSpPr/>
          <p:nvPr/>
        </p:nvSpPr>
        <p:spPr>
          <a:xfrm>
            <a:off x="3282048" y="2838114"/>
            <a:ext cx="2223539" cy="328964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Prefix cache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命中率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50%~60%</a:t>
            </a:r>
          </a:p>
          <a:p>
            <a:pPr algn="ctr" defTabSz="914034">
              <a:defRPr/>
            </a:pP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大部分生命周期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10min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06D4FA6-E3DC-C6C5-BAC8-A761B82A1BDA}"/>
              </a:ext>
            </a:extLst>
          </p:cNvPr>
          <p:cNvSpPr/>
          <p:nvPr/>
        </p:nvSpPr>
        <p:spPr>
          <a:xfrm>
            <a:off x="5940745" y="2838114"/>
            <a:ext cx="2273951" cy="328964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Prefix cache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命中率</a:t>
            </a:r>
            <a:r>
              <a:rPr lang="en-US" altLang="zh-CN" sz="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90%</a:t>
            </a:r>
            <a:r>
              <a:rPr lang="zh-CN" altLang="en-US" sz="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99%</a:t>
            </a:r>
          </a:p>
          <a:p>
            <a:pPr algn="ctr" defTabSz="914034">
              <a:defRPr/>
            </a:pP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生命周期波动大，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5min/1h/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天级</a:t>
            </a:r>
          </a:p>
        </p:txBody>
      </p:sp>
      <p:sp>
        <p:nvSpPr>
          <p:cNvPr id="23" name="箭头: V 形 22">
            <a:extLst>
              <a:ext uri="{FF2B5EF4-FFF2-40B4-BE49-F238E27FC236}">
                <a16:creationId xmlns:a16="http://schemas.microsoft.com/office/drawing/2014/main" id="{BB21D484-BD6F-CA05-6929-5831D4F7EDD0}"/>
              </a:ext>
            </a:extLst>
          </p:cNvPr>
          <p:cNvSpPr/>
          <p:nvPr/>
        </p:nvSpPr>
        <p:spPr>
          <a:xfrm>
            <a:off x="5591990" y="1695641"/>
            <a:ext cx="272122" cy="687057"/>
          </a:xfrm>
          <a:prstGeom prst="chevr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3746">
              <a:defRPr/>
            </a:pPr>
            <a:endParaRPr lang="zh-CN" altLang="en-US" sz="1399">
              <a:solidFill>
                <a:srgbClr val="1D1D1A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63D4B113-DF25-0642-77B7-4B6B0B97B426}"/>
              </a:ext>
            </a:extLst>
          </p:cNvPr>
          <p:cNvSpPr/>
          <p:nvPr/>
        </p:nvSpPr>
        <p:spPr>
          <a:xfrm>
            <a:off x="8681809" y="2432743"/>
            <a:ext cx="2793653" cy="328964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034">
              <a:defRPr/>
            </a:pPr>
            <a:r>
              <a:rPr lang="en-US" altLang="zh-CN" sz="9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Decode</a:t>
            </a:r>
            <a:r>
              <a:rPr lang="zh-CN" altLang="en-US" sz="9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长序列卸载：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A+K+UB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提升推理吞吐</a:t>
            </a:r>
            <a:endParaRPr lang="en-US" altLang="zh-CN" sz="9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034">
              <a:defRPr/>
            </a:pPr>
            <a:r>
              <a:rPr lang="en-US" altLang="zh-CN" sz="900" b="1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Megakernel</a:t>
            </a:r>
            <a:r>
              <a:rPr lang="zh-CN" altLang="en-US" sz="9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极致融合算子</a:t>
            </a:r>
            <a:r>
              <a:rPr lang="zh-CN" altLang="en-US" sz="9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低时延通信</a:t>
            </a:r>
            <a:endParaRPr lang="en-US" altLang="zh-CN" sz="9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EE27BC9B-BDEC-9E8F-51CC-47FF65F3C0B1}"/>
              </a:ext>
            </a:extLst>
          </p:cNvPr>
          <p:cNvSpPr/>
          <p:nvPr/>
        </p:nvSpPr>
        <p:spPr>
          <a:xfrm>
            <a:off x="8681809" y="2838114"/>
            <a:ext cx="2793653" cy="328964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034">
              <a:defRPr/>
            </a:pPr>
            <a:r>
              <a:rPr lang="zh-CN" altLang="en-US" sz="9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大容量</a:t>
            </a:r>
            <a:r>
              <a:rPr lang="en-US" altLang="zh-CN" sz="9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 cache</a:t>
            </a:r>
            <a:r>
              <a:rPr lang="zh-CN" altLang="en-US" sz="9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分层介质的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缓存系统，支持单卡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10TB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</a:t>
            </a:r>
          </a:p>
        </p:txBody>
      </p:sp>
      <p:sp>
        <p:nvSpPr>
          <p:cNvPr id="294" name="椭圆 293">
            <a:extLst>
              <a:ext uri="{FF2B5EF4-FFF2-40B4-BE49-F238E27FC236}">
                <a16:creationId xmlns:a16="http://schemas.microsoft.com/office/drawing/2014/main" id="{97D8121A-B142-3893-9279-5CF8B66F015B}"/>
              </a:ext>
            </a:extLst>
          </p:cNvPr>
          <p:cNvSpPr/>
          <p:nvPr/>
        </p:nvSpPr>
        <p:spPr>
          <a:xfrm>
            <a:off x="6015212" y="2522628"/>
            <a:ext cx="161937" cy="161937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en-US" altLang="zh-CN" sz="105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/>
              </a:rPr>
              <a:t>4</a:t>
            </a:r>
            <a:endParaRPr lang="zh-CN" altLang="en-US" sz="105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/>
            </a:endParaRPr>
          </a:p>
        </p:txBody>
      </p:sp>
      <p:sp>
        <p:nvSpPr>
          <p:cNvPr id="295" name="椭圆 294">
            <a:extLst>
              <a:ext uri="{FF2B5EF4-FFF2-40B4-BE49-F238E27FC236}">
                <a16:creationId xmlns:a16="http://schemas.microsoft.com/office/drawing/2014/main" id="{7414B7EA-7A73-30C0-003B-038C493890A9}"/>
              </a:ext>
            </a:extLst>
          </p:cNvPr>
          <p:cNvSpPr/>
          <p:nvPr/>
        </p:nvSpPr>
        <p:spPr>
          <a:xfrm>
            <a:off x="6008750" y="2913317"/>
            <a:ext cx="161937" cy="161937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en-US" altLang="zh-CN" sz="105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/>
              </a:rPr>
              <a:t>5</a:t>
            </a:r>
            <a:endParaRPr lang="zh-CN" altLang="en-US" sz="105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FD8DFB81-7E82-DCC7-2C1E-DF6B6A8160AB}"/>
              </a:ext>
            </a:extLst>
          </p:cNvPr>
          <p:cNvSpPr/>
          <p:nvPr/>
        </p:nvSpPr>
        <p:spPr>
          <a:xfrm>
            <a:off x="6014940" y="1715435"/>
            <a:ext cx="161937" cy="161937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en-US" altLang="zh-CN" sz="105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/>
              </a:rPr>
              <a:t>2</a:t>
            </a:r>
            <a:endParaRPr lang="zh-CN" altLang="en-US" sz="105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B8F7F357-EA99-2A4B-182F-04D1A879EA45}"/>
              </a:ext>
            </a:extLst>
          </p:cNvPr>
          <p:cNvSpPr/>
          <p:nvPr/>
        </p:nvSpPr>
        <p:spPr>
          <a:xfrm>
            <a:off x="6014940" y="2118700"/>
            <a:ext cx="161937" cy="161937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en-US" altLang="zh-CN" sz="105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/>
              </a:rPr>
              <a:t>3</a:t>
            </a:r>
            <a:endParaRPr lang="zh-CN" altLang="en-US" sz="105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1B04BDC9-B52A-E809-8708-E1697A744948}"/>
              </a:ext>
            </a:extLst>
          </p:cNvPr>
          <p:cNvCxnSpPr>
            <a:cxnSpLocks/>
          </p:cNvCxnSpPr>
          <p:nvPr/>
        </p:nvCxnSpPr>
        <p:spPr>
          <a:xfrm flipV="1">
            <a:off x="312316" y="3281784"/>
            <a:ext cx="11388765" cy="264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7F32C1E6-9C89-4F76-AFAA-FDE1A6DBBADA}"/>
              </a:ext>
            </a:extLst>
          </p:cNvPr>
          <p:cNvGrpSpPr/>
          <p:nvPr/>
        </p:nvGrpSpPr>
        <p:grpSpPr>
          <a:xfrm>
            <a:off x="1287987" y="3696069"/>
            <a:ext cx="1578060" cy="346993"/>
            <a:chOff x="576976" y="3822086"/>
            <a:chExt cx="1578676" cy="347129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BE1F4253-A316-157F-8E36-E64E79A2BB1E}"/>
                </a:ext>
              </a:extLst>
            </p:cNvPr>
            <p:cNvSpPr txBox="1"/>
            <p:nvPr/>
          </p:nvSpPr>
          <p:spPr>
            <a:xfrm>
              <a:off x="576976" y="3822086"/>
              <a:ext cx="157867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034">
                <a:defRPr/>
              </a:pPr>
              <a:endParaRPr lang="en-US" altLang="zh-CN" sz="1000" b="1" kern="0" dirty="0">
                <a:solidFill>
                  <a:srgbClr val="C00000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0356C716-B4C0-0891-011E-3CE8B30B0F6D}"/>
                </a:ext>
              </a:extLst>
            </p:cNvPr>
            <p:cNvSpPr/>
            <p:nvPr/>
          </p:nvSpPr>
          <p:spPr>
            <a:xfrm>
              <a:off x="1244814" y="3999995"/>
              <a:ext cx="162000" cy="16922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668">
                <a:defRPr/>
              </a:pPr>
              <a:r>
                <a:rPr lang="en-US" altLang="zh-CN" sz="105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/>
                </a:rPr>
                <a:t>1</a:t>
              </a:r>
              <a:endParaRPr lang="zh-CN" altLang="en-US" sz="105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DAF5BBE5-456A-F684-7339-7F4E34AAB5CE}"/>
              </a:ext>
            </a:extLst>
          </p:cNvPr>
          <p:cNvGrpSpPr/>
          <p:nvPr/>
        </p:nvGrpSpPr>
        <p:grpSpPr>
          <a:xfrm>
            <a:off x="1209385" y="5826957"/>
            <a:ext cx="1613899" cy="442472"/>
            <a:chOff x="541123" y="3822086"/>
            <a:chExt cx="1614529" cy="442645"/>
          </a:xfrm>
        </p:grpSpPr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F5D26AB0-B894-3BDB-2D6B-6690BDAB5BCD}"/>
                </a:ext>
              </a:extLst>
            </p:cNvPr>
            <p:cNvSpPr txBox="1"/>
            <p:nvPr/>
          </p:nvSpPr>
          <p:spPr>
            <a:xfrm>
              <a:off x="576976" y="3822086"/>
              <a:ext cx="157867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034">
                <a:defRPr/>
              </a:pPr>
              <a:endParaRPr lang="en-US" altLang="zh-CN" sz="1000" b="1" kern="0" dirty="0">
                <a:solidFill>
                  <a:srgbClr val="C00000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D6632742-59E2-D4B0-FEA2-C912690AD58A}"/>
                </a:ext>
              </a:extLst>
            </p:cNvPr>
            <p:cNvSpPr/>
            <p:nvPr/>
          </p:nvSpPr>
          <p:spPr>
            <a:xfrm>
              <a:off x="541123" y="4095511"/>
              <a:ext cx="162000" cy="16922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668">
                <a:defRPr/>
              </a:pPr>
              <a:r>
                <a:rPr lang="en-US" altLang="zh-CN" sz="105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/>
                </a:rPr>
                <a:t>2</a:t>
              </a:r>
              <a:endParaRPr lang="zh-CN" altLang="en-US" sz="105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A2AF4ED2-7C7B-2198-90CE-6E7B55F9808F}"/>
              </a:ext>
            </a:extLst>
          </p:cNvPr>
          <p:cNvSpPr txBox="1"/>
          <p:nvPr/>
        </p:nvSpPr>
        <p:spPr>
          <a:xfrm>
            <a:off x="3595235" y="5835353"/>
            <a:ext cx="1966875" cy="253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034">
              <a:defRPr/>
            </a:pPr>
            <a:endParaRPr lang="zh-CN" altLang="en-US" sz="1000" dirty="0">
              <a:solidFill>
                <a:srgbClr val="1D1D1A"/>
              </a:solidFill>
              <a:latin typeface="微软雅黑"/>
              <a:ea typeface="微软雅黑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B0FB6AF-4C7B-B1C3-72C9-D2F578F2C819}"/>
              </a:ext>
            </a:extLst>
          </p:cNvPr>
          <p:cNvSpPr txBox="1"/>
          <p:nvPr/>
        </p:nvSpPr>
        <p:spPr>
          <a:xfrm>
            <a:off x="3646517" y="6359565"/>
            <a:ext cx="1663588" cy="215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034">
              <a:defRPr/>
            </a:pPr>
            <a:r>
              <a:rPr lang="zh-CN" altLang="en-US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频繁沙箱调用：容器</a:t>
            </a:r>
            <a:r>
              <a:rPr lang="en-US" altLang="zh-CN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轻量级虚机</a:t>
            </a: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887390D7-42E7-0DC4-CDFE-06D79E24498D}"/>
              </a:ext>
            </a:extLst>
          </p:cNvPr>
          <p:cNvSpPr/>
          <p:nvPr/>
        </p:nvSpPr>
        <p:spPr>
          <a:xfrm>
            <a:off x="3887560" y="6122692"/>
            <a:ext cx="185960" cy="161937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668">
              <a:defRPr/>
            </a:pPr>
            <a:r>
              <a:rPr lang="en-US" altLang="zh-CN" sz="105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/>
              </a:rPr>
              <a:t>3</a:t>
            </a:r>
            <a:endParaRPr lang="zh-CN" altLang="en-US" sz="105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/>
            </a:endParaRP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479B249F-C763-BCFC-4668-A28F57C3B108}"/>
              </a:ext>
            </a:extLst>
          </p:cNvPr>
          <p:cNvSpPr/>
          <p:nvPr/>
        </p:nvSpPr>
        <p:spPr>
          <a:xfrm>
            <a:off x="-13851" y="735397"/>
            <a:ext cx="3388717" cy="434649"/>
          </a:xfrm>
          <a:prstGeom prst="roundRect">
            <a:avLst>
              <a:gd name="adj" fmla="val 0"/>
            </a:avLst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en-US" altLang="zh-CN" sz="1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Agentic AI</a:t>
            </a:r>
            <a:r>
              <a:rPr lang="zh-CN" altLang="en-US" sz="1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对软件系统的挑战和需求</a:t>
            </a: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19ADDACF-6F18-438A-AFFB-6CF69ACEA89F}"/>
              </a:ext>
            </a:extLst>
          </p:cNvPr>
          <p:cNvSpPr/>
          <p:nvPr/>
        </p:nvSpPr>
        <p:spPr>
          <a:xfrm>
            <a:off x="2274262" y="6687349"/>
            <a:ext cx="4230847" cy="464473"/>
          </a:xfrm>
          <a:prstGeom prst="rect">
            <a:avLst/>
          </a:prstGeom>
          <a:solidFill>
            <a:srgbClr val="E9002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kern="0" dirty="0">
                <a:solidFill>
                  <a:srgbClr val="FFFFFF"/>
                </a:solidFill>
                <a:latin typeface="微软雅黑" panose="020B0503020204020204" pitchFamily="34" charset="-122"/>
                <a:ea typeface="等线" panose="02010600030101010101" pitchFamily="2" charset="-122"/>
              </a:rPr>
              <a:t>总体洞察：沙箱，记忆系统，</a:t>
            </a:r>
            <a:r>
              <a:rPr lang="en-US" altLang="zh-CN" kern="0" dirty="0">
                <a:solidFill>
                  <a:srgbClr val="FFFFFF"/>
                </a:solidFill>
                <a:latin typeface="微软雅黑" panose="020B0503020204020204" pitchFamily="34" charset="-122"/>
                <a:ea typeface="等线" panose="02010600030101010101" pitchFamily="2" charset="-122"/>
              </a:rPr>
              <a:t>KV Cache</a:t>
            </a:r>
            <a:endParaRPr lang="zh-CN" altLang="en-US" kern="0" dirty="0">
              <a:solidFill>
                <a:srgbClr val="FFFFFF"/>
              </a:solidFill>
              <a:latin typeface="微软雅黑" panose="020B0503020204020204" pitchFamily="34" charset="-122"/>
              <a:ea typeface="等线" panose="02010600030101010101" pitchFamily="2" charset="-122"/>
            </a:endParaRP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2C1E1575-3C47-4CBA-B752-D49272F29293}"/>
              </a:ext>
            </a:extLst>
          </p:cNvPr>
          <p:cNvSpPr/>
          <p:nvPr/>
        </p:nvSpPr>
        <p:spPr>
          <a:xfrm>
            <a:off x="-35985" y="6651336"/>
            <a:ext cx="1705797" cy="464473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b="1" kern="0" dirty="0">
                <a:solidFill>
                  <a:srgbClr val="C00000"/>
                </a:solidFill>
                <a:latin typeface="微软雅黑" panose="020B0503020204020204" pitchFamily="34" charset="-122"/>
                <a:ea typeface="等线" panose="02010600030101010101" pitchFamily="2" charset="-122"/>
              </a:rPr>
              <a:t>王栋</a:t>
            </a:r>
          </a:p>
        </p:txBody>
      </p:sp>
    </p:spTree>
    <p:extLst>
      <p:ext uri="{BB962C8B-B14F-4D97-AF65-F5344CB8AC3E}">
        <p14:creationId xmlns:p14="http://schemas.microsoft.com/office/powerpoint/2010/main" val="2738345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E0160DE5-DAB2-4B1D-B8C8-71ABA2A45373}"/>
              </a:ext>
            </a:extLst>
          </p:cNvPr>
          <p:cNvSpPr txBox="1"/>
          <p:nvPr/>
        </p:nvSpPr>
        <p:spPr>
          <a:xfrm>
            <a:off x="6053355" y="2024486"/>
            <a:ext cx="5894048" cy="4426237"/>
          </a:xfrm>
          <a:prstGeom prst="rect">
            <a:avLst/>
          </a:prstGeom>
          <a:solidFill>
            <a:srgbClr val="FFFFFF"/>
          </a:solidFill>
          <a:ln w="6350">
            <a:solidFill>
              <a:srgbClr val="1D1D1A">
                <a:lumMod val="25000"/>
                <a:lumOff val="75000"/>
              </a:srgbClr>
            </a:solidFill>
          </a:ln>
          <a:effectLst>
            <a:outerShdw blurRad="50800" dist="38100" dir="2700000" algn="tl" rotWithShape="0">
              <a:srgbClr val="FFFFFF">
                <a:alpha val="40000"/>
              </a:srgbClr>
            </a:outerShdw>
          </a:effectLst>
        </p:spPr>
        <p:txBody>
          <a:bodyPr wrap="square" lIns="72000" tIns="36000" rIns="72000" bIns="36000" rtlCol="0">
            <a:no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400" b="1" kern="0" dirty="0">
                <a:solidFill>
                  <a:srgbClr val="C00000"/>
                </a:solidFill>
                <a:ea typeface="微软雅黑"/>
              </a:rPr>
              <a:t>关键技术</a:t>
            </a:r>
            <a:endParaRPr kumimoji="1" lang="en-US" altLang="zh-CN" sz="1400" b="1" kern="0" dirty="0">
              <a:solidFill>
                <a:srgbClr val="C00000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defRPr/>
            </a:pPr>
            <a:r>
              <a:rPr kumimoji="1" lang="zh-CN" altLang="en-US" sz="1400" b="1" kern="0" dirty="0">
                <a:solidFill>
                  <a:srgbClr val="C7000A"/>
                </a:solidFill>
                <a:latin typeface="微软雅黑"/>
                <a:ea typeface="微软雅黑"/>
              </a:rPr>
              <a:t>① 沙箱：</a:t>
            </a:r>
            <a:r>
              <a:rPr kumimoji="1" lang="en-US" altLang="zh-CN" sz="1400" b="1" kern="0" dirty="0">
                <a:solidFill>
                  <a:srgbClr val="C7000A"/>
                </a:solidFill>
                <a:latin typeface="微软雅黑"/>
                <a:ea typeface="微软雅黑"/>
              </a:rPr>
              <a:t>Agent</a:t>
            </a:r>
            <a:r>
              <a:rPr kumimoji="1" lang="zh-CN" altLang="en-US" sz="1400" b="1" kern="0" dirty="0">
                <a:solidFill>
                  <a:srgbClr val="C7000A"/>
                </a:solidFill>
                <a:latin typeface="微软雅黑"/>
                <a:ea typeface="微软雅黑"/>
              </a:rPr>
              <a:t>运行时加速</a:t>
            </a:r>
            <a:endParaRPr kumimoji="1" lang="en-US" altLang="zh-CN" sz="1400" b="1" kern="0" dirty="0">
              <a:solidFill>
                <a:srgbClr val="C7000A"/>
              </a:solidFill>
              <a:latin typeface="微软雅黑"/>
              <a:ea typeface="微软雅黑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kumimoji="1" lang="en-US" altLang="zh-CN" sz="1200" kern="0" dirty="0">
                <a:solidFill>
                  <a:srgbClr val="1D1D1A"/>
                </a:solidFill>
                <a:latin typeface="微软雅黑"/>
                <a:ea typeface="微软雅黑"/>
              </a:rPr>
              <a:t>SMAP</a:t>
            </a:r>
            <a:r>
              <a:rPr kumimoji="1"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超节点内内存压缩</a:t>
            </a:r>
            <a:r>
              <a:rPr kumimoji="1" lang="en-US" altLang="zh-CN" sz="1200" kern="0" dirty="0">
                <a:solidFill>
                  <a:srgbClr val="1D1D1A"/>
                </a:solidFill>
                <a:latin typeface="微软雅黑"/>
                <a:ea typeface="微软雅黑"/>
              </a:rPr>
              <a:t>/</a:t>
            </a:r>
            <a:r>
              <a:rPr kumimoji="1"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去重，达成</a:t>
            </a:r>
            <a:r>
              <a:rPr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沙箱</a:t>
            </a:r>
            <a:r>
              <a:rPr lang="en-US" altLang="zh-CN" sz="1200" kern="0" dirty="0">
                <a:solidFill>
                  <a:srgbClr val="1D1D1A"/>
                </a:solidFill>
                <a:latin typeface="微软雅黑"/>
                <a:ea typeface="微软雅黑"/>
              </a:rPr>
              <a:t>1:8</a:t>
            </a:r>
            <a:r>
              <a:rPr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超分</a:t>
            </a:r>
            <a:endParaRPr lang="en-US" altLang="zh-CN" sz="1200" kern="0" dirty="0">
              <a:solidFill>
                <a:srgbClr val="1D1D1A"/>
              </a:solidFill>
              <a:latin typeface="微软雅黑"/>
              <a:ea typeface="微软雅黑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超节点域内存级快速复制，达成</a:t>
            </a:r>
            <a:r>
              <a:rPr lang="en-US" altLang="zh-CN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3w</a:t>
            </a:r>
            <a:r>
              <a:rPr lang="zh-CN" altLang="en-US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沙箱</a:t>
            </a:r>
            <a:r>
              <a:rPr lang="en-US" altLang="zh-CN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10s</a:t>
            </a:r>
            <a:r>
              <a:rPr lang="zh-CN" altLang="en-US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快启</a:t>
            </a:r>
            <a:endParaRPr lang="en-US" altLang="zh-CN" sz="1200" kern="0" dirty="0">
              <a:solidFill>
                <a:srgbClr val="1D1D1A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defRPr/>
            </a:pPr>
            <a:r>
              <a:rPr kumimoji="1" lang="zh-CN" altLang="en-US" sz="1400" b="1" kern="0" dirty="0">
                <a:solidFill>
                  <a:srgbClr val="C7000A"/>
                </a:solidFill>
                <a:latin typeface="微软雅黑"/>
                <a:ea typeface="微软雅黑"/>
              </a:rPr>
              <a:t>② 记忆：超节点加速记忆检索</a:t>
            </a:r>
            <a:endParaRPr kumimoji="1" lang="en-US" altLang="zh-CN" sz="1400" b="1" kern="0" dirty="0">
              <a:solidFill>
                <a:srgbClr val="C7000A"/>
              </a:solidFill>
              <a:latin typeface="微软雅黑"/>
              <a:ea typeface="微软雅黑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kumimoji="1"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鲲鹏超节点加速向量检索，千亿千维</a:t>
            </a:r>
            <a:r>
              <a:rPr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时延</a:t>
            </a:r>
            <a:r>
              <a:rPr lang="en-US" altLang="zh-CN" sz="1200" kern="0" dirty="0">
                <a:solidFill>
                  <a:srgbClr val="1D1D1A"/>
                </a:solidFill>
                <a:latin typeface="微软雅黑"/>
                <a:ea typeface="微软雅黑"/>
              </a:rPr>
              <a:t>&lt;50ms</a:t>
            </a:r>
            <a:endParaRPr kumimoji="1" lang="en-US" altLang="zh-CN" sz="1200" kern="0" dirty="0">
              <a:solidFill>
                <a:srgbClr val="1D1D1A"/>
              </a:solidFill>
              <a:latin typeface="微软雅黑"/>
              <a:ea typeface="微软雅黑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kumimoji="1"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混合介质（</a:t>
            </a:r>
            <a:r>
              <a:rPr kumimoji="1" lang="en-US" altLang="zh-CN" sz="1200" kern="0" dirty="0">
                <a:solidFill>
                  <a:srgbClr val="1D1D1A"/>
                </a:solidFill>
                <a:latin typeface="微软雅黑"/>
                <a:ea typeface="微软雅黑"/>
              </a:rPr>
              <a:t>DRAM/HHM</a:t>
            </a:r>
            <a:r>
              <a:rPr kumimoji="1"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）检索，万亿千维节省成本</a:t>
            </a:r>
            <a:r>
              <a:rPr kumimoji="1" lang="en-US" altLang="zh-CN" sz="1200" kern="0" dirty="0">
                <a:solidFill>
                  <a:srgbClr val="1D1D1A"/>
                </a:solidFill>
                <a:latin typeface="微软雅黑"/>
                <a:ea typeface="微软雅黑"/>
              </a:rPr>
              <a:t>85%</a:t>
            </a:r>
            <a:endParaRPr kumimoji="1" lang="en-US" altLang="zh-CN" sz="1400" kern="0" dirty="0">
              <a:solidFill>
                <a:srgbClr val="1D1D1A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  <a:defRPr/>
            </a:pPr>
            <a:r>
              <a:rPr kumimoji="1" lang="zh-CN" altLang="en-US" sz="1400" b="1" kern="0" dirty="0">
                <a:solidFill>
                  <a:srgbClr val="C7000A"/>
                </a:solidFill>
                <a:latin typeface="微软雅黑"/>
                <a:ea typeface="微软雅黑"/>
              </a:rPr>
              <a:t>③ </a:t>
            </a:r>
            <a:r>
              <a:rPr kumimoji="1" lang="en-US" altLang="zh-CN" sz="1400" b="1" kern="0" dirty="0">
                <a:solidFill>
                  <a:srgbClr val="C7000A"/>
                </a:solidFill>
                <a:latin typeface="微软雅黑"/>
                <a:ea typeface="微软雅黑"/>
              </a:rPr>
              <a:t>MaaS KV cache</a:t>
            </a:r>
            <a:r>
              <a:rPr kumimoji="1" lang="zh-CN" altLang="en-US" sz="1400" b="1" kern="0" dirty="0">
                <a:solidFill>
                  <a:srgbClr val="C7000A"/>
                </a:solidFill>
                <a:latin typeface="微软雅黑"/>
                <a:ea typeface="微软雅黑"/>
              </a:rPr>
              <a:t>系统：大容量低成本</a:t>
            </a:r>
            <a:r>
              <a:rPr kumimoji="1" lang="en-US" altLang="zh-CN" sz="1400" b="1" kern="0" dirty="0">
                <a:solidFill>
                  <a:srgbClr val="C7000A"/>
                </a:solidFill>
                <a:latin typeface="微软雅黑"/>
                <a:ea typeface="微软雅黑"/>
              </a:rPr>
              <a:t>Prefix cache</a:t>
            </a: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kumimoji="1" lang="en-US" altLang="zh-CN" sz="1200" kern="0" dirty="0">
                <a:solidFill>
                  <a:srgbClr val="1D1D1A"/>
                </a:solidFill>
                <a:latin typeface="微软雅黑"/>
                <a:ea typeface="微软雅黑"/>
              </a:rPr>
              <a:t>KV</a:t>
            </a:r>
            <a:r>
              <a:rPr kumimoji="1"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分级缓存架构，支持单卡</a:t>
            </a:r>
            <a:r>
              <a:rPr kumimoji="1" lang="en-US" altLang="zh-CN" sz="1200" kern="0" dirty="0">
                <a:solidFill>
                  <a:srgbClr val="1D1D1A"/>
                </a:solidFill>
                <a:latin typeface="微软雅黑"/>
                <a:ea typeface="微软雅黑"/>
              </a:rPr>
              <a:t>10T KV Cache</a:t>
            </a:r>
            <a:r>
              <a:rPr kumimoji="1"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存储</a:t>
            </a:r>
            <a:endParaRPr kumimoji="1" lang="en-US" altLang="zh-CN" sz="1200" kern="0" dirty="0">
              <a:solidFill>
                <a:srgbClr val="1D1D1A"/>
              </a:solidFill>
              <a:latin typeface="微软雅黑"/>
              <a:ea typeface="微软雅黑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kumimoji="1" lang="en-US" altLang="zh-CN" sz="1200" kern="0" dirty="0">
                <a:solidFill>
                  <a:srgbClr val="1D1D1A"/>
                </a:solidFill>
                <a:latin typeface="微软雅黑"/>
                <a:ea typeface="微软雅黑"/>
              </a:rPr>
              <a:t>L0+IOStash</a:t>
            </a:r>
            <a:r>
              <a:rPr kumimoji="1"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缓存直通，</a:t>
            </a:r>
            <a:r>
              <a:rPr kumimoji="1" lang="en-US" altLang="zh-CN" sz="1200" kern="0" dirty="0">
                <a:solidFill>
                  <a:srgbClr val="1D1D1A"/>
                </a:solidFill>
                <a:latin typeface="微软雅黑"/>
                <a:ea typeface="微软雅黑"/>
              </a:rPr>
              <a:t>KV</a:t>
            </a:r>
            <a:r>
              <a:rPr kumimoji="1"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存储节点整体成本下降</a:t>
            </a:r>
            <a:r>
              <a:rPr kumimoji="1" lang="en-US" altLang="zh-CN" sz="1200" kern="0" dirty="0">
                <a:solidFill>
                  <a:srgbClr val="1D1D1A"/>
                </a:solidFill>
                <a:latin typeface="微软雅黑"/>
                <a:ea typeface="微软雅黑"/>
              </a:rPr>
              <a:t>10%</a:t>
            </a:r>
          </a:p>
          <a:p>
            <a:pPr>
              <a:lnSpc>
                <a:spcPct val="150000"/>
              </a:lnSpc>
              <a:defRPr/>
            </a:pPr>
            <a:r>
              <a:rPr kumimoji="1" lang="zh-CN" altLang="en-US" sz="1400" b="1" kern="0" dirty="0">
                <a:solidFill>
                  <a:srgbClr val="C7000A"/>
                </a:solidFill>
                <a:latin typeface="微软雅黑"/>
                <a:ea typeface="微软雅黑"/>
              </a:rPr>
              <a:t>④ </a:t>
            </a:r>
            <a:r>
              <a:rPr kumimoji="1" lang="en-US" altLang="zh-CN" sz="1400" b="1" kern="0" dirty="0">
                <a:solidFill>
                  <a:srgbClr val="C7000A"/>
                </a:solidFill>
                <a:latin typeface="微软雅黑"/>
                <a:ea typeface="微软雅黑"/>
              </a:rPr>
              <a:t>MaaS </a:t>
            </a:r>
            <a:r>
              <a:rPr kumimoji="1" lang="zh-CN" altLang="en-US" sz="1400" b="1" kern="0" dirty="0">
                <a:solidFill>
                  <a:srgbClr val="C7000A"/>
                </a:solidFill>
                <a:latin typeface="微软雅黑"/>
                <a:ea typeface="微软雅黑"/>
              </a:rPr>
              <a:t>推理引擎：支持</a:t>
            </a:r>
            <a:r>
              <a:rPr kumimoji="1" lang="en-US" altLang="zh-CN" sz="1400" b="1" kern="0" dirty="0" err="1">
                <a:solidFill>
                  <a:srgbClr val="C7000A"/>
                </a:solidFill>
                <a:latin typeface="微软雅黑"/>
                <a:ea typeface="微软雅黑"/>
              </a:rPr>
              <a:t>ms</a:t>
            </a:r>
            <a:r>
              <a:rPr kumimoji="1" lang="zh-CN" altLang="en-US" sz="1400" b="1" kern="0" dirty="0">
                <a:solidFill>
                  <a:srgbClr val="C7000A"/>
                </a:solidFill>
                <a:latin typeface="微软雅黑"/>
                <a:ea typeface="微软雅黑"/>
              </a:rPr>
              <a:t>级推理、</a:t>
            </a:r>
            <a:r>
              <a:rPr kumimoji="1" lang="en-US" altLang="zh-CN" sz="1400" b="1" kern="0" dirty="0">
                <a:solidFill>
                  <a:srgbClr val="C7000A"/>
                </a:solidFill>
                <a:latin typeface="微软雅黑"/>
                <a:ea typeface="微软雅黑"/>
              </a:rPr>
              <a:t>1M</a:t>
            </a:r>
            <a:r>
              <a:rPr kumimoji="1" lang="zh-CN" altLang="en-US" sz="1400" b="1" kern="0" dirty="0">
                <a:solidFill>
                  <a:srgbClr val="C7000A"/>
                </a:solidFill>
                <a:latin typeface="微软雅黑"/>
                <a:ea typeface="微软雅黑"/>
              </a:rPr>
              <a:t>序列吞吐提升</a:t>
            </a:r>
            <a:endParaRPr kumimoji="1" lang="en-US" altLang="zh-CN" sz="1400" b="1" kern="0" dirty="0">
              <a:solidFill>
                <a:srgbClr val="C7000A"/>
              </a:solidFill>
              <a:latin typeface="微软雅黑"/>
              <a:ea typeface="微软雅黑"/>
            </a:endParaRPr>
          </a:p>
          <a:p>
            <a:pPr marL="627063" lvl="1" indent="-346075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kumimoji="1" lang="en-US" altLang="zh-CN" sz="1200" kern="0" dirty="0">
                <a:solidFill>
                  <a:srgbClr val="1D1D1A"/>
                </a:solidFill>
                <a:latin typeface="微软雅黑"/>
                <a:ea typeface="微软雅黑"/>
              </a:rPr>
              <a:t>Megakernel</a:t>
            </a:r>
            <a:r>
              <a:rPr kumimoji="1"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、投机、低精加速等，支撑</a:t>
            </a:r>
            <a:r>
              <a:rPr kumimoji="1" lang="en-US" altLang="zh-CN" sz="1200" kern="0" dirty="0" err="1">
                <a:solidFill>
                  <a:srgbClr val="1D1D1A"/>
                </a:solidFill>
                <a:latin typeface="微软雅黑"/>
                <a:ea typeface="微软雅黑"/>
              </a:rPr>
              <a:t>ms</a:t>
            </a:r>
            <a:r>
              <a:rPr kumimoji="1"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级低时延推理</a:t>
            </a:r>
            <a:r>
              <a:rPr kumimoji="1" lang="en-US" altLang="zh-CN" sz="1200" kern="0" dirty="0">
                <a:solidFill>
                  <a:srgbClr val="1D1D1A"/>
                </a:solidFill>
                <a:latin typeface="微软雅黑"/>
                <a:ea typeface="微软雅黑"/>
              </a:rPr>
              <a:t>   </a:t>
            </a:r>
          </a:p>
          <a:p>
            <a:pPr marL="627063" lvl="1" indent="-346075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kumimoji="1" lang="en-US" altLang="zh-CN" sz="1200" kern="0" dirty="0">
                <a:solidFill>
                  <a:srgbClr val="1D1D1A"/>
                </a:solidFill>
                <a:latin typeface="微软雅黑"/>
                <a:ea typeface="微软雅黑"/>
              </a:rPr>
              <a:t>A+K+UB</a:t>
            </a:r>
            <a:r>
              <a:rPr kumimoji="1"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支持</a:t>
            </a:r>
            <a:r>
              <a:rPr kumimoji="1" lang="en-US" altLang="zh-CN" sz="1200" kern="0" dirty="0">
                <a:solidFill>
                  <a:srgbClr val="1D1D1A"/>
                </a:solidFill>
                <a:latin typeface="微软雅黑"/>
                <a:ea typeface="微软雅黑"/>
              </a:rPr>
              <a:t>decode cache</a:t>
            </a:r>
            <a:r>
              <a:rPr kumimoji="1"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卸载，</a:t>
            </a:r>
            <a:r>
              <a:rPr kumimoji="1" lang="en-US" altLang="zh-CN" sz="1200" kern="0" dirty="0">
                <a:solidFill>
                  <a:srgbClr val="1D1D1A"/>
                </a:solidFill>
                <a:latin typeface="微软雅黑"/>
                <a:ea typeface="微软雅黑"/>
              </a:rPr>
              <a:t>1M</a:t>
            </a:r>
            <a:r>
              <a:rPr kumimoji="1"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长序列吞吐提升</a:t>
            </a:r>
            <a:r>
              <a:rPr kumimoji="1" lang="en-US" altLang="zh-CN" sz="1200" kern="0" dirty="0">
                <a:solidFill>
                  <a:srgbClr val="1D1D1A"/>
                </a:solidFill>
                <a:latin typeface="微软雅黑"/>
                <a:ea typeface="微软雅黑"/>
              </a:rPr>
              <a:t>1</a:t>
            </a:r>
            <a:r>
              <a:rPr kumimoji="1"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倍</a:t>
            </a:r>
            <a:r>
              <a:rPr kumimoji="1" lang="en-US" altLang="zh-CN" sz="1200" kern="0" dirty="0">
                <a:solidFill>
                  <a:srgbClr val="1D1D1A"/>
                </a:solidFill>
                <a:latin typeface="微软雅黑"/>
                <a:ea typeface="微软雅黑"/>
              </a:rPr>
              <a:t>+</a:t>
            </a:r>
          </a:p>
          <a:p>
            <a:pPr>
              <a:lnSpc>
                <a:spcPct val="150000"/>
              </a:lnSpc>
              <a:defRPr/>
            </a:pPr>
            <a:r>
              <a:rPr kumimoji="1" lang="zh-CN" altLang="en-US" sz="1400" b="1" kern="0" dirty="0">
                <a:solidFill>
                  <a:srgbClr val="C7000A"/>
                </a:solidFill>
                <a:latin typeface="微软雅黑"/>
                <a:ea typeface="微软雅黑"/>
              </a:rPr>
              <a:t>⑤ 通智协同：</a:t>
            </a:r>
            <a:r>
              <a:rPr kumimoji="1" lang="en-US" altLang="zh-CN" sz="1400" b="1" kern="0" dirty="0">
                <a:solidFill>
                  <a:srgbClr val="C7000A"/>
                </a:solidFill>
                <a:latin typeface="微软雅黑"/>
                <a:ea typeface="微软雅黑"/>
              </a:rPr>
              <a:t>Agent</a:t>
            </a:r>
            <a:r>
              <a:rPr kumimoji="1" lang="zh-CN" altLang="en-US" sz="1400" b="1" kern="0" dirty="0">
                <a:solidFill>
                  <a:srgbClr val="C7000A"/>
                </a:solidFill>
                <a:latin typeface="微软雅黑"/>
                <a:ea typeface="微软雅黑"/>
              </a:rPr>
              <a:t>与</a:t>
            </a:r>
            <a:r>
              <a:rPr kumimoji="1" lang="en-US" altLang="zh-CN" sz="1400" b="1" kern="0" dirty="0" err="1">
                <a:solidFill>
                  <a:srgbClr val="C7000A"/>
                </a:solidFill>
                <a:latin typeface="微软雅黑"/>
                <a:ea typeface="微软雅黑"/>
              </a:rPr>
              <a:t>MaaS</a:t>
            </a:r>
            <a:r>
              <a:rPr kumimoji="1" lang="zh-CN" altLang="en-US" sz="1400" b="1" kern="0" dirty="0">
                <a:solidFill>
                  <a:srgbClr val="C7000A"/>
                </a:solidFill>
                <a:latin typeface="微软雅黑"/>
                <a:ea typeface="微软雅黑"/>
              </a:rPr>
              <a:t>协同提升推理效率</a:t>
            </a:r>
            <a:endParaRPr kumimoji="1" lang="en-US" altLang="zh-CN" sz="1400" b="1" kern="0" dirty="0">
              <a:solidFill>
                <a:srgbClr val="C7000A"/>
              </a:solidFill>
              <a:latin typeface="微软雅黑"/>
              <a:ea typeface="微软雅黑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基于</a:t>
            </a:r>
            <a:r>
              <a:rPr lang="en-US" altLang="zh-CN" sz="1200" kern="0" dirty="0">
                <a:solidFill>
                  <a:srgbClr val="1D1D1A"/>
                </a:solidFill>
                <a:latin typeface="微软雅黑"/>
                <a:ea typeface="微软雅黑"/>
              </a:rPr>
              <a:t>KV</a:t>
            </a:r>
            <a:r>
              <a:rPr lang="zh-CN" altLang="en-US" sz="1200" kern="0" dirty="0">
                <a:solidFill>
                  <a:srgbClr val="1D1D1A"/>
                </a:solidFill>
                <a:latin typeface="微软雅黑"/>
                <a:ea typeface="微软雅黑"/>
              </a:rPr>
              <a:t>生命周期的淘汰和预取；基于相同前缀进行推理引擎调度加速</a:t>
            </a:r>
            <a:endParaRPr lang="en-US" altLang="zh-CN" sz="1200" kern="0" dirty="0">
              <a:solidFill>
                <a:srgbClr val="1D1D1A"/>
              </a:solidFill>
              <a:latin typeface="微软雅黑"/>
              <a:ea typeface="微软雅黑"/>
            </a:endParaRPr>
          </a:p>
        </p:txBody>
      </p:sp>
      <p:sp>
        <p:nvSpPr>
          <p:cNvPr id="19" name="标题 2">
            <a:extLst>
              <a:ext uri="{FF2B5EF4-FFF2-40B4-BE49-F238E27FC236}">
                <a16:creationId xmlns:a16="http://schemas.microsoft.com/office/drawing/2014/main" id="{8D3FFB01-ED57-43A1-B3BE-0DF49F0320A8}"/>
              </a:ext>
            </a:extLst>
          </p:cNvPr>
          <p:cNvSpPr txBox="1">
            <a:spLocks/>
          </p:cNvSpPr>
          <p:nvPr/>
        </p:nvSpPr>
        <p:spPr>
          <a:xfrm>
            <a:off x="254381" y="252000"/>
            <a:ext cx="11916562" cy="3600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 defTabSz="913765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0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defTabSz="913399">
              <a:defRPr/>
            </a:pPr>
            <a:r>
              <a:rPr lang="en-US" altLang="zh-CN" sz="2000" b="1" dirty="0"/>
              <a:t>Agentic AI</a:t>
            </a:r>
            <a:r>
              <a:rPr lang="zh-CN" altLang="en-US" sz="2000" b="1" dirty="0"/>
              <a:t>：沙箱</a:t>
            </a:r>
            <a:r>
              <a:rPr lang="en-US" altLang="zh-CN" sz="2000" b="1" dirty="0"/>
              <a:t>1:8</a:t>
            </a:r>
            <a:r>
              <a:rPr lang="zh-CN" altLang="en-US" sz="2000" b="1" dirty="0"/>
              <a:t>超分，千亿千维</a:t>
            </a:r>
            <a:r>
              <a:rPr lang="en-US" altLang="zh-CN" sz="2000" b="1" dirty="0"/>
              <a:t>50ms</a:t>
            </a:r>
            <a:r>
              <a:rPr lang="zh-CN" altLang="en-US" sz="2000" b="1" dirty="0"/>
              <a:t>记忆检索，</a:t>
            </a:r>
            <a:r>
              <a:rPr lang="en-US" altLang="zh-CN" sz="2000" b="1" dirty="0" err="1"/>
              <a:t>MaaS</a:t>
            </a:r>
            <a:r>
              <a:rPr lang="zh-CN" altLang="en-US" sz="2000" b="1" dirty="0"/>
              <a:t>支持</a:t>
            </a:r>
            <a:r>
              <a:rPr lang="en-US" altLang="zh-CN" sz="2000" b="1" dirty="0"/>
              <a:t>10T</a:t>
            </a:r>
            <a:r>
              <a:rPr lang="zh-CN" altLang="en-US" sz="2000" b="1" dirty="0"/>
              <a:t>模型</a:t>
            </a:r>
            <a:r>
              <a:rPr lang="en-US" altLang="zh-CN" sz="2000" b="1" dirty="0"/>
              <a:t>ms</a:t>
            </a:r>
            <a:r>
              <a:rPr lang="zh-CN" altLang="en-US" sz="2000" b="1" dirty="0"/>
              <a:t>级推理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E3CBEE1-19C2-4E22-A368-9518EED5FF7B}"/>
              </a:ext>
            </a:extLst>
          </p:cNvPr>
          <p:cNvSpPr txBox="1"/>
          <p:nvPr/>
        </p:nvSpPr>
        <p:spPr>
          <a:xfrm>
            <a:off x="6053355" y="790411"/>
            <a:ext cx="5894048" cy="1167974"/>
          </a:xfrm>
          <a:prstGeom prst="rect">
            <a:avLst/>
          </a:prstGeom>
          <a:noFill/>
          <a:ln w="6350">
            <a:solidFill>
              <a:srgbClr val="1D1D1A">
                <a:lumMod val="25000"/>
                <a:lumOff val="75000"/>
              </a:srgbClr>
            </a:solidFill>
          </a:ln>
          <a:effectLst>
            <a:outerShdw blurRad="50800" dist="38100" dir="2700000" algn="tl" rotWithShape="0">
              <a:srgbClr val="EBEBEB">
                <a:alpha val="40000"/>
              </a:srgbClr>
            </a:outerShdw>
          </a:effectLst>
        </p:spPr>
        <p:txBody>
          <a:bodyPr wrap="square" lIns="72000" tIns="36000" rIns="72000" bIns="36000" rtlCol="0">
            <a:noAutofit/>
          </a:bodyPr>
          <a:lstStyle/>
          <a:p>
            <a:pPr algn="ctr">
              <a:lnSpc>
                <a:spcPct val="130000"/>
              </a:lnSpc>
              <a:defRPr/>
            </a:pPr>
            <a:r>
              <a:rPr kumimoji="1" lang="zh-CN" altLang="en-US" sz="1400" b="1" kern="0" dirty="0">
                <a:solidFill>
                  <a:srgbClr val="C00000"/>
                </a:solidFill>
                <a:latin typeface="微软雅黑"/>
                <a:ea typeface="微软雅黑"/>
              </a:rPr>
              <a:t>业务目标</a:t>
            </a:r>
            <a:endParaRPr kumimoji="1" lang="en-US" altLang="zh-CN" sz="1400" b="1" kern="0" dirty="0">
              <a:solidFill>
                <a:srgbClr val="C00000"/>
              </a:solidFill>
              <a:latin typeface="微软雅黑"/>
              <a:ea typeface="微软雅黑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kumimoji="1" lang="zh-CN" altLang="en-US" sz="1400" b="1" kern="0" dirty="0">
                <a:solidFill>
                  <a:srgbClr val="1D1D1A"/>
                </a:solidFill>
                <a:latin typeface="微软雅黑"/>
                <a:ea typeface="微软雅黑"/>
              </a:rPr>
              <a:t>沙箱服务：</a:t>
            </a:r>
            <a:r>
              <a:rPr kumimoji="1" lang="zh-CN" altLang="en-US" sz="1400" kern="0" dirty="0">
                <a:solidFill>
                  <a:srgbClr val="1D1D1A"/>
                </a:solidFill>
                <a:latin typeface="微软雅黑"/>
                <a:ea typeface="微软雅黑"/>
              </a:rPr>
              <a:t>沙箱</a:t>
            </a:r>
            <a:r>
              <a:rPr kumimoji="1" lang="en-US" altLang="zh-CN" sz="1400" kern="0" dirty="0">
                <a:solidFill>
                  <a:srgbClr val="1D1D1A"/>
                </a:solidFill>
                <a:latin typeface="微软雅黑"/>
                <a:ea typeface="微软雅黑"/>
              </a:rPr>
              <a:t>1:8</a:t>
            </a:r>
            <a:r>
              <a:rPr kumimoji="1" lang="zh-CN" altLang="en-US" sz="1400" kern="0" dirty="0">
                <a:solidFill>
                  <a:srgbClr val="1D1D1A"/>
                </a:solidFill>
                <a:latin typeface="微软雅黑"/>
                <a:ea typeface="微软雅黑"/>
              </a:rPr>
              <a:t>超分，超节点内</a:t>
            </a:r>
            <a:r>
              <a:rPr kumimoji="1" lang="en-US" altLang="zh-CN" sz="1400" kern="0" dirty="0">
                <a:solidFill>
                  <a:srgbClr val="C00000"/>
                </a:solidFill>
                <a:latin typeface="微软雅黑"/>
                <a:ea typeface="微软雅黑"/>
              </a:rPr>
              <a:t>20Nodes</a:t>
            </a:r>
            <a:r>
              <a:rPr kumimoji="1" lang="zh-CN" altLang="en-US" sz="1400" kern="0" dirty="0">
                <a:solidFill>
                  <a:srgbClr val="C00000"/>
                </a:solidFill>
                <a:latin typeface="微软雅黑"/>
                <a:ea typeface="微软雅黑"/>
              </a:rPr>
              <a:t>并发启动</a:t>
            </a:r>
            <a:r>
              <a:rPr kumimoji="1" lang="en-US" altLang="zh-CN" sz="1400" kern="0" dirty="0">
                <a:solidFill>
                  <a:srgbClr val="C00000"/>
                </a:solidFill>
                <a:latin typeface="微软雅黑"/>
                <a:ea typeface="微软雅黑"/>
              </a:rPr>
              <a:t>3w@10s</a:t>
            </a:r>
            <a:endParaRPr kumimoji="1" lang="en-US" altLang="zh-CN" sz="1200" kern="0" dirty="0">
              <a:solidFill>
                <a:srgbClr val="C00000"/>
              </a:solidFill>
              <a:latin typeface="微软雅黑"/>
              <a:ea typeface="微软雅黑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kumimoji="1" lang="zh-CN" altLang="en-US" sz="1400" b="1" kern="0" dirty="0">
                <a:solidFill>
                  <a:srgbClr val="1D1D1A"/>
                </a:solidFill>
                <a:latin typeface="微软雅黑"/>
                <a:ea typeface="微软雅黑"/>
              </a:rPr>
              <a:t>记忆服务：</a:t>
            </a:r>
            <a:r>
              <a:rPr kumimoji="1" lang="zh-CN" altLang="en-US" sz="1400" kern="0" dirty="0">
                <a:solidFill>
                  <a:srgbClr val="C00000"/>
                </a:solidFill>
                <a:latin typeface="微软雅黑"/>
                <a:ea typeface="微软雅黑"/>
              </a:rPr>
              <a:t>千亿千维检索</a:t>
            </a:r>
            <a:r>
              <a:rPr kumimoji="1" lang="en-US" altLang="zh-CN" sz="1400" kern="0" dirty="0">
                <a:solidFill>
                  <a:srgbClr val="C00000"/>
                </a:solidFill>
                <a:latin typeface="微软雅黑"/>
                <a:ea typeface="微软雅黑"/>
              </a:rPr>
              <a:t>&lt;50ms</a:t>
            </a:r>
            <a:r>
              <a:rPr kumimoji="1" lang="zh-CN" altLang="en-US" sz="1400" kern="0" dirty="0">
                <a:solidFill>
                  <a:srgbClr val="1D1D1A"/>
                </a:solidFill>
                <a:latin typeface="微软雅黑"/>
                <a:ea typeface="微软雅黑"/>
              </a:rPr>
              <a:t>，</a:t>
            </a:r>
            <a:r>
              <a:rPr kumimoji="1" lang="zh-CN" altLang="en-US" sz="1400" kern="0" dirty="0">
                <a:solidFill>
                  <a:srgbClr val="C00000"/>
                </a:solidFill>
                <a:latin typeface="微软雅黑"/>
                <a:ea typeface="微软雅黑"/>
              </a:rPr>
              <a:t>万亿千维成本降低</a:t>
            </a:r>
            <a:r>
              <a:rPr kumimoji="1" lang="en-US" altLang="zh-CN" sz="1400" kern="0" dirty="0">
                <a:solidFill>
                  <a:srgbClr val="C00000"/>
                </a:solidFill>
                <a:latin typeface="微软雅黑"/>
                <a:ea typeface="微软雅黑"/>
              </a:rPr>
              <a:t>85%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kumimoji="1" lang="en-US" altLang="zh-CN" sz="1400" b="1" kern="0" dirty="0">
                <a:solidFill>
                  <a:srgbClr val="1D1D1A"/>
                </a:solidFill>
                <a:latin typeface="微软雅黑"/>
                <a:ea typeface="微软雅黑"/>
              </a:rPr>
              <a:t>MaaS</a:t>
            </a:r>
            <a:r>
              <a:rPr kumimoji="1" lang="zh-CN" altLang="en-US" sz="1400" b="1" kern="0" dirty="0">
                <a:solidFill>
                  <a:srgbClr val="1D1D1A"/>
                </a:solidFill>
                <a:latin typeface="微软雅黑"/>
                <a:ea typeface="微软雅黑"/>
              </a:rPr>
              <a:t>：</a:t>
            </a:r>
            <a:r>
              <a:rPr kumimoji="1" lang="en-US" altLang="zh-CN" sz="1400" kern="0" dirty="0">
                <a:solidFill>
                  <a:srgbClr val="1D1D1A"/>
                </a:solidFill>
                <a:latin typeface="微软雅黑"/>
                <a:ea typeface="微软雅黑"/>
              </a:rPr>
              <a:t>KV Cache</a:t>
            </a:r>
            <a:r>
              <a:rPr kumimoji="1" lang="zh-CN" altLang="en-US" sz="1400" kern="0" dirty="0">
                <a:solidFill>
                  <a:srgbClr val="1D1D1A"/>
                </a:solidFill>
                <a:latin typeface="微软雅黑"/>
                <a:ea typeface="微软雅黑"/>
              </a:rPr>
              <a:t>支持</a:t>
            </a:r>
            <a:r>
              <a:rPr kumimoji="1" lang="en-US" altLang="zh-CN" sz="1400" kern="0" dirty="0">
                <a:solidFill>
                  <a:srgbClr val="C00000"/>
                </a:solidFill>
                <a:latin typeface="微软雅黑"/>
                <a:ea typeface="微软雅黑"/>
              </a:rPr>
              <a:t>1M</a:t>
            </a:r>
            <a:r>
              <a:rPr kumimoji="1" lang="zh-CN" altLang="en-US" sz="1400" kern="0" dirty="0">
                <a:solidFill>
                  <a:srgbClr val="C00000"/>
                </a:solidFill>
                <a:latin typeface="微软雅黑"/>
                <a:ea typeface="微软雅黑"/>
              </a:rPr>
              <a:t>级长序列，</a:t>
            </a:r>
            <a:r>
              <a:rPr kumimoji="1" lang="en-US" altLang="zh-CN" sz="1400" kern="0" dirty="0">
                <a:solidFill>
                  <a:srgbClr val="C00000"/>
                </a:solidFill>
                <a:latin typeface="微软雅黑"/>
                <a:ea typeface="微软雅黑"/>
              </a:rPr>
              <a:t>99%</a:t>
            </a:r>
            <a:r>
              <a:rPr kumimoji="1" lang="zh-CN" altLang="en-US" sz="1400" kern="0" dirty="0">
                <a:solidFill>
                  <a:srgbClr val="C00000"/>
                </a:solidFill>
                <a:latin typeface="微软雅黑"/>
                <a:ea typeface="微软雅黑"/>
              </a:rPr>
              <a:t>命中率；</a:t>
            </a:r>
            <a:r>
              <a:rPr kumimoji="1" lang="en-US" altLang="zh-CN" sz="1400" kern="0" dirty="0">
                <a:solidFill>
                  <a:srgbClr val="C00000"/>
                </a:solidFill>
                <a:latin typeface="微软雅黑"/>
                <a:ea typeface="微软雅黑"/>
              </a:rPr>
              <a:t>ms</a:t>
            </a:r>
            <a:r>
              <a:rPr kumimoji="1" lang="zh-CN" altLang="en-US" sz="1400" kern="0" dirty="0">
                <a:solidFill>
                  <a:srgbClr val="C00000"/>
                </a:solidFill>
                <a:latin typeface="微软雅黑"/>
                <a:ea typeface="微软雅黑"/>
              </a:rPr>
              <a:t>级</a:t>
            </a:r>
            <a:r>
              <a:rPr kumimoji="1" lang="en-US" altLang="zh-CN" sz="1400" kern="0" dirty="0">
                <a:solidFill>
                  <a:srgbClr val="C00000"/>
                </a:solidFill>
                <a:latin typeface="微软雅黑"/>
                <a:ea typeface="微软雅黑"/>
              </a:rPr>
              <a:t>TPOT</a:t>
            </a:r>
            <a:endParaRPr lang="en-US" altLang="zh-CN" sz="1200" kern="0" dirty="0">
              <a:solidFill>
                <a:srgbClr val="C00000"/>
              </a:solidFill>
              <a:latin typeface="微软雅黑"/>
              <a:ea typeface="微软雅黑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7AD22E01-45D9-401B-9882-C8A68A889F5F}"/>
              </a:ext>
            </a:extLst>
          </p:cNvPr>
          <p:cNvSpPr/>
          <p:nvPr/>
        </p:nvSpPr>
        <p:spPr>
          <a:xfrm>
            <a:off x="323553" y="790412"/>
            <a:ext cx="5439071" cy="338071"/>
          </a:xfrm>
          <a:prstGeom prst="roundRect">
            <a:avLst>
              <a:gd name="adj" fmla="val 0"/>
            </a:avLst>
          </a:prstGeom>
          <a:solidFill>
            <a:srgbClr val="FFFFFF">
              <a:lumMod val="95000"/>
            </a:srgbClr>
          </a:solidFill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1" kern="0" dirty="0">
                <a:solidFill>
                  <a:srgbClr val="282828"/>
                </a:solidFill>
                <a:latin typeface="微软雅黑"/>
                <a:ea typeface="微软雅黑"/>
              </a:rPr>
              <a:t>Agent</a:t>
            </a:r>
            <a:r>
              <a:rPr lang="zh-CN" altLang="en-US" sz="1050" kern="0" dirty="0">
                <a:solidFill>
                  <a:srgbClr val="282828"/>
                </a:solidFill>
                <a:latin typeface="微软雅黑"/>
                <a:ea typeface="微软雅黑"/>
              </a:rPr>
              <a:t>（</a:t>
            </a:r>
            <a:r>
              <a:rPr lang="en-US" altLang="zh-CN" sz="1050" kern="0" dirty="0">
                <a:solidFill>
                  <a:srgbClr val="282828"/>
                </a:solidFill>
                <a:latin typeface="微软雅黑"/>
                <a:ea typeface="微软雅黑"/>
              </a:rPr>
              <a:t>O</a:t>
            </a:r>
            <a:r>
              <a:rPr lang="en-US" altLang="zh-CN" sz="1050" kern="0" dirty="0" err="1">
                <a:solidFill>
                  <a:srgbClr val="282828"/>
                </a:solidFill>
                <a:latin typeface="微软雅黑"/>
                <a:ea typeface="微软雅黑"/>
              </a:rPr>
              <a:t>penClaw</a:t>
            </a:r>
            <a:r>
              <a:rPr lang="en-US" altLang="zh-CN" sz="1050" kern="0" dirty="0">
                <a:solidFill>
                  <a:srgbClr val="282828"/>
                </a:solidFill>
                <a:latin typeface="微软雅黑"/>
                <a:ea typeface="微软雅黑"/>
              </a:rPr>
              <a:t>/</a:t>
            </a:r>
            <a:r>
              <a:rPr lang="en-US" altLang="zh-CN" sz="1050" kern="0" dirty="0" err="1">
                <a:solidFill>
                  <a:srgbClr val="282828"/>
                </a:solidFill>
                <a:latin typeface="微软雅黑"/>
                <a:ea typeface="微软雅黑"/>
              </a:rPr>
              <a:t>workBuddy</a:t>
            </a:r>
            <a:r>
              <a:rPr lang="en-US" altLang="zh-CN" sz="1050" kern="0" dirty="0">
                <a:solidFill>
                  <a:srgbClr val="282828"/>
                </a:solidFill>
                <a:latin typeface="微软雅黑"/>
                <a:ea typeface="微软雅黑"/>
              </a:rPr>
              <a:t>/T</a:t>
            </a:r>
            <a:r>
              <a:rPr lang="en-US" altLang="zh-CN" sz="1050" kern="0" dirty="0" err="1">
                <a:solidFill>
                  <a:srgbClr val="282828"/>
                </a:solidFill>
                <a:latin typeface="微软雅黑"/>
                <a:ea typeface="微软雅黑"/>
              </a:rPr>
              <a:t>rae</a:t>
            </a:r>
            <a:r>
              <a:rPr lang="zh-CN" altLang="en-US" sz="1050" kern="0" dirty="0">
                <a:solidFill>
                  <a:srgbClr val="282828"/>
                </a:solidFill>
                <a:latin typeface="微软雅黑"/>
                <a:ea typeface="微软雅黑"/>
              </a:rPr>
              <a:t>等）</a:t>
            </a:r>
            <a:endParaRPr lang="zh-CN" altLang="en-US" sz="1100" kern="0" dirty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3D45ADF-010B-406F-B7B9-B8933BFAA5E7}"/>
              </a:ext>
            </a:extLst>
          </p:cNvPr>
          <p:cNvSpPr/>
          <p:nvPr/>
        </p:nvSpPr>
        <p:spPr>
          <a:xfrm>
            <a:off x="323560" y="4998413"/>
            <a:ext cx="5439071" cy="403709"/>
          </a:xfrm>
          <a:prstGeom prst="roundRect">
            <a:avLst>
              <a:gd name="adj" fmla="val 0"/>
            </a:avLst>
          </a:prstGeom>
          <a:solidFill>
            <a:srgbClr val="DDF3F7"/>
          </a:solidFill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kern="0" dirty="0">
                <a:solidFill>
                  <a:srgbClr val="282828"/>
                </a:solidFill>
                <a:latin typeface="微软雅黑"/>
                <a:ea typeface="微软雅黑"/>
              </a:rPr>
              <a:t>EulerOS</a:t>
            </a:r>
          </a:p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900" kern="0" dirty="0">
                <a:solidFill>
                  <a:srgbClr val="282828"/>
                </a:solidFill>
                <a:latin typeface="微软雅黑"/>
                <a:ea typeface="微软雅黑"/>
              </a:rPr>
              <a:t>SMAP | </a:t>
            </a:r>
            <a:r>
              <a:rPr lang="zh-CN" altLang="en-US" sz="900" kern="0" dirty="0">
                <a:solidFill>
                  <a:srgbClr val="282828"/>
                </a:solidFill>
                <a:latin typeface="微软雅黑"/>
                <a:ea typeface="微软雅黑"/>
              </a:rPr>
              <a:t>内存压缩 </a:t>
            </a:r>
            <a:endParaRPr lang="en-US" altLang="zh-CN" sz="900" kern="0" dirty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934BC70-1FF8-4CD0-99CE-ADFDC7DD3E88}"/>
              </a:ext>
            </a:extLst>
          </p:cNvPr>
          <p:cNvSpPr/>
          <p:nvPr/>
        </p:nvSpPr>
        <p:spPr>
          <a:xfrm>
            <a:off x="323555" y="4462570"/>
            <a:ext cx="5439071" cy="445552"/>
          </a:xfrm>
          <a:prstGeom prst="roundRect">
            <a:avLst>
              <a:gd name="adj" fmla="val 0"/>
            </a:avLst>
          </a:prstGeom>
          <a:solidFill>
            <a:srgbClr val="DDF3F7"/>
          </a:solidFill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kern="0" dirty="0">
                <a:solidFill>
                  <a:srgbClr val="282828"/>
                </a:solidFill>
                <a:latin typeface="微软雅黑"/>
                <a:ea typeface="微软雅黑"/>
              </a:rPr>
              <a:t>UBS</a:t>
            </a:r>
          </a:p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900" kern="0" dirty="0">
                <a:solidFill>
                  <a:srgbClr val="282828"/>
                </a:solidFill>
                <a:latin typeface="微软雅黑"/>
                <a:ea typeface="微软雅黑"/>
              </a:rPr>
              <a:t>内存池化 </a:t>
            </a:r>
            <a:r>
              <a:rPr lang="en-US" altLang="zh-CN" sz="900" kern="0" dirty="0">
                <a:solidFill>
                  <a:srgbClr val="282828"/>
                </a:solidFill>
                <a:latin typeface="微软雅黑"/>
                <a:ea typeface="微软雅黑"/>
              </a:rPr>
              <a:t>| </a:t>
            </a:r>
            <a:r>
              <a:rPr lang="zh-CN" altLang="en-US" sz="900" kern="0" dirty="0">
                <a:solidFill>
                  <a:srgbClr val="282828"/>
                </a:solidFill>
                <a:latin typeface="微软雅黑"/>
                <a:ea typeface="微软雅黑"/>
              </a:rPr>
              <a:t>内存语义通信</a:t>
            </a:r>
            <a:endParaRPr lang="en-US" altLang="zh-CN" sz="900" kern="0" dirty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08C8E310-77A6-4651-9F5A-BD2150209904}"/>
              </a:ext>
            </a:extLst>
          </p:cNvPr>
          <p:cNvSpPr/>
          <p:nvPr/>
        </p:nvSpPr>
        <p:spPr>
          <a:xfrm>
            <a:off x="2145001" y="2129947"/>
            <a:ext cx="1744939" cy="2149891"/>
          </a:xfrm>
          <a:prstGeom prst="roundRect">
            <a:avLst>
              <a:gd name="adj" fmla="val 0"/>
            </a:avLst>
          </a:prstGeom>
          <a:solidFill>
            <a:srgbClr val="FFFFFF">
              <a:lumMod val="95000"/>
            </a:srgbClr>
          </a:solidFill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b="1" kern="0" dirty="0">
                <a:solidFill>
                  <a:srgbClr val="282828"/>
                </a:solidFill>
                <a:latin typeface="微软雅黑"/>
                <a:ea typeface="微软雅黑"/>
              </a:rPr>
              <a:t>记忆</a:t>
            </a:r>
            <a:endParaRPr lang="en-US" altLang="zh-CN" sz="1200" b="1" kern="0" dirty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ABD16222-CA4A-472D-BB5C-37CA2A101B11}"/>
              </a:ext>
            </a:extLst>
          </p:cNvPr>
          <p:cNvSpPr/>
          <p:nvPr/>
        </p:nvSpPr>
        <p:spPr>
          <a:xfrm>
            <a:off x="2302489" y="2506093"/>
            <a:ext cx="1480821" cy="403759"/>
          </a:xfrm>
          <a:prstGeom prst="roundRect">
            <a:avLst>
              <a:gd name="adj" fmla="val 0"/>
            </a:avLst>
          </a:prstGeom>
          <a:solidFill>
            <a:srgbClr val="92D050">
              <a:alpha val="50000"/>
            </a:srgbClr>
          </a:solidFill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kern="0" dirty="0">
                <a:solidFill>
                  <a:srgbClr val="282828"/>
                </a:solidFill>
                <a:latin typeface="微软雅黑"/>
                <a:ea typeface="微软雅黑"/>
              </a:rPr>
              <a:t>MEM0</a:t>
            </a:r>
            <a:endParaRPr lang="zh-CN" altLang="en-US" sz="1100" i="1" kern="0" dirty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ED162BB-3892-4F8B-BC15-0DAB217039AE}"/>
              </a:ext>
            </a:extLst>
          </p:cNvPr>
          <p:cNvSpPr/>
          <p:nvPr/>
        </p:nvSpPr>
        <p:spPr>
          <a:xfrm>
            <a:off x="2302489" y="3067244"/>
            <a:ext cx="1480821" cy="403759"/>
          </a:xfrm>
          <a:prstGeom prst="roundRect">
            <a:avLst>
              <a:gd name="adj" fmla="val 0"/>
            </a:avLst>
          </a:prstGeom>
          <a:solidFill>
            <a:srgbClr val="92D050">
              <a:alpha val="50000"/>
            </a:srgbClr>
          </a:solidFill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kern="0" dirty="0">
                <a:solidFill>
                  <a:srgbClr val="282828"/>
                </a:solidFill>
                <a:latin typeface="微软雅黑"/>
                <a:ea typeface="微软雅黑"/>
              </a:rPr>
              <a:t>O</a:t>
            </a:r>
            <a:r>
              <a:rPr lang="en-US" altLang="zh-CN" sz="1200" kern="0" dirty="0" err="1">
                <a:solidFill>
                  <a:srgbClr val="282828"/>
                </a:solidFill>
                <a:latin typeface="微软雅黑"/>
                <a:ea typeface="微软雅黑"/>
              </a:rPr>
              <a:t>penViking</a:t>
            </a:r>
            <a:endParaRPr lang="zh-CN" altLang="en-US" sz="1100" i="1" kern="0" dirty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9A26C14A-32A1-4BD2-B517-80535324F033}"/>
              </a:ext>
            </a:extLst>
          </p:cNvPr>
          <p:cNvSpPr/>
          <p:nvPr/>
        </p:nvSpPr>
        <p:spPr>
          <a:xfrm>
            <a:off x="2302489" y="3593446"/>
            <a:ext cx="1480821" cy="413121"/>
          </a:xfrm>
          <a:prstGeom prst="roundRect">
            <a:avLst>
              <a:gd name="adj" fmla="val 0"/>
            </a:avLst>
          </a:prstGeom>
          <a:solidFill>
            <a:srgbClr val="92D050">
              <a:alpha val="50000"/>
            </a:srgbClr>
          </a:solidFill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kern="0" dirty="0">
                <a:solidFill>
                  <a:srgbClr val="282828"/>
                </a:solidFill>
                <a:latin typeface="微软雅黑"/>
                <a:ea typeface="微软雅黑"/>
              </a:rPr>
              <a:t>Milvus</a:t>
            </a:r>
            <a:endParaRPr lang="zh-CN" altLang="en-US" sz="1100" i="1" kern="0" dirty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EF1A58C-F827-43F2-AE5E-69364DC16C20}"/>
              </a:ext>
            </a:extLst>
          </p:cNvPr>
          <p:cNvSpPr/>
          <p:nvPr/>
        </p:nvSpPr>
        <p:spPr>
          <a:xfrm>
            <a:off x="326249" y="2129948"/>
            <a:ext cx="1646809" cy="2149891"/>
          </a:xfrm>
          <a:prstGeom prst="roundRect">
            <a:avLst>
              <a:gd name="adj" fmla="val 0"/>
            </a:avLst>
          </a:prstGeom>
          <a:solidFill>
            <a:srgbClr val="FFFFFF">
              <a:lumMod val="95000"/>
            </a:srgbClr>
          </a:solidFill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b="1" kern="0" dirty="0">
                <a:solidFill>
                  <a:srgbClr val="282828"/>
                </a:solidFill>
                <a:latin typeface="微软雅黑"/>
                <a:ea typeface="微软雅黑"/>
              </a:rPr>
              <a:t>沙箱</a:t>
            </a:r>
            <a:endParaRPr lang="en-US" altLang="zh-CN" sz="1200" b="1" kern="0" dirty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6C005FE9-8C78-4AC0-8FE3-5AA3B51D8248}"/>
              </a:ext>
            </a:extLst>
          </p:cNvPr>
          <p:cNvSpPr/>
          <p:nvPr/>
        </p:nvSpPr>
        <p:spPr>
          <a:xfrm>
            <a:off x="395979" y="3595180"/>
            <a:ext cx="1507347" cy="405248"/>
          </a:xfrm>
          <a:prstGeom prst="roundRect">
            <a:avLst>
              <a:gd name="adj" fmla="val 0"/>
            </a:avLst>
          </a:prstGeom>
          <a:solidFill>
            <a:srgbClr val="92D050">
              <a:alpha val="50000"/>
            </a:srgbClr>
          </a:solidFill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kern="0" dirty="0">
                <a:solidFill>
                  <a:srgbClr val="282828"/>
                </a:solidFill>
                <a:latin typeface="微软雅黑"/>
                <a:ea typeface="微软雅黑"/>
              </a:rPr>
              <a:t>E2B</a:t>
            </a:r>
            <a:endParaRPr lang="zh-CN" altLang="en-US" sz="1100" i="1" kern="0" dirty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22DD1326-C8A9-4AA8-A265-F32E47EE97B6}"/>
              </a:ext>
            </a:extLst>
          </p:cNvPr>
          <p:cNvSpPr/>
          <p:nvPr/>
        </p:nvSpPr>
        <p:spPr>
          <a:xfrm>
            <a:off x="395979" y="3067243"/>
            <a:ext cx="1507347" cy="405248"/>
          </a:xfrm>
          <a:prstGeom prst="roundRect">
            <a:avLst>
              <a:gd name="adj" fmla="val 0"/>
            </a:avLst>
          </a:prstGeom>
          <a:solidFill>
            <a:srgbClr val="92D050">
              <a:alpha val="50000"/>
            </a:srgbClr>
          </a:solidFill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kern="0" dirty="0">
                <a:solidFill>
                  <a:srgbClr val="282828"/>
                </a:solidFill>
                <a:latin typeface="微软雅黑"/>
                <a:ea typeface="微软雅黑"/>
              </a:rPr>
              <a:t>沙箱</a:t>
            </a:r>
            <a:r>
              <a:rPr lang="en-US" altLang="zh-CN" sz="1200" kern="0" dirty="0">
                <a:solidFill>
                  <a:srgbClr val="282828"/>
                </a:solidFill>
                <a:latin typeface="微软雅黑"/>
                <a:ea typeface="微软雅黑"/>
              </a:rPr>
              <a:t>Guest OS</a:t>
            </a:r>
            <a:endParaRPr lang="zh-CN" altLang="en-US" sz="1100" i="1" kern="0" dirty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AC384CE3-CC0E-4191-82C3-E0CDA3C452DF}"/>
              </a:ext>
            </a:extLst>
          </p:cNvPr>
          <p:cNvSpPr/>
          <p:nvPr/>
        </p:nvSpPr>
        <p:spPr>
          <a:xfrm>
            <a:off x="395979" y="2508818"/>
            <a:ext cx="1507347" cy="405248"/>
          </a:xfrm>
          <a:prstGeom prst="roundRect">
            <a:avLst>
              <a:gd name="adj" fmla="val 0"/>
            </a:avLst>
          </a:prstGeom>
          <a:solidFill>
            <a:srgbClr val="92D050">
              <a:alpha val="50000"/>
            </a:srgbClr>
          </a:solidFill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kern="0" dirty="0">
                <a:solidFill>
                  <a:srgbClr val="282828"/>
                </a:solidFill>
                <a:latin typeface="微软雅黑"/>
                <a:ea typeface="微软雅黑"/>
              </a:rPr>
              <a:t>镜像生态</a:t>
            </a:r>
            <a:endParaRPr lang="zh-CN" altLang="en-US" sz="1100" i="1" kern="0" dirty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1CC1A8E-B026-413A-9B9E-52A60E09B5C1}"/>
              </a:ext>
            </a:extLst>
          </p:cNvPr>
          <p:cNvSpPr txBox="1"/>
          <p:nvPr/>
        </p:nvSpPr>
        <p:spPr>
          <a:xfrm>
            <a:off x="598126" y="2090235"/>
            <a:ext cx="416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1" lang="zh-CN" altLang="en-US" sz="1400" b="1" dirty="0">
                <a:solidFill>
                  <a:srgbClr val="C00000"/>
                </a:solidFill>
                <a:latin typeface="微软雅黑"/>
                <a:ea typeface="微软雅黑"/>
              </a:rPr>
              <a:t>①</a:t>
            </a:r>
            <a:endParaRPr lang="zh-CN" altLang="en-US" sz="1400" dirty="0">
              <a:solidFill>
                <a:srgbClr val="1D1D1A"/>
              </a:solidFill>
              <a:latin typeface="Huawei Sans"/>
              <a:ea typeface="微软雅黑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223FFE0-B437-427C-9523-99B90B8ED4AE}"/>
              </a:ext>
            </a:extLst>
          </p:cNvPr>
          <p:cNvSpPr txBox="1"/>
          <p:nvPr/>
        </p:nvSpPr>
        <p:spPr>
          <a:xfrm>
            <a:off x="2330638" y="2094572"/>
            <a:ext cx="416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1" lang="zh-CN" altLang="en-US" sz="1400" b="1" dirty="0">
                <a:solidFill>
                  <a:srgbClr val="C00000"/>
                </a:solidFill>
                <a:latin typeface="微软雅黑"/>
                <a:ea typeface="微软雅黑"/>
              </a:rPr>
              <a:t>②</a:t>
            </a:r>
            <a:endParaRPr lang="zh-CN" altLang="en-US" sz="1400" dirty="0">
              <a:solidFill>
                <a:srgbClr val="1D1D1A"/>
              </a:solidFill>
              <a:latin typeface="Huawei Sans"/>
              <a:ea typeface="微软雅黑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FCB7E2F0-8778-4702-8497-CCA8BF3E8F0C}"/>
              </a:ext>
            </a:extLst>
          </p:cNvPr>
          <p:cNvSpPr/>
          <p:nvPr/>
        </p:nvSpPr>
        <p:spPr>
          <a:xfrm>
            <a:off x="3998028" y="2129945"/>
            <a:ext cx="1764597" cy="2134654"/>
          </a:xfrm>
          <a:prstGeom prst="roundRect">
            <a:avLst>
              <a:gd name="adj" fmla="val 0"/>
            </a:avLst>
          </a:prstGeom>
          <a:solidFill>
            <a:srgbClr val="FFFFFF">
              <a:lumMod val="95000"/>
            </a:srgbClr>
          </a:solidFill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1" kern="0" dirty="0" err="1">
                <a:solidFill>
                  <a:srgbClr val="282828"/>
                </a:solidFill>
                <a:latin typeface="微软雅黑"/>
                <a:ea typeface="微软雅黑"/>
              </a:rPr>
              <a:t>MaaS</a:t>
            </a:r>
            <a:endParaRPr lang="zh-CN" altLang="en-US" sz="1100" b="1" kern="0" dirty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95A5CD1A-3FB0-45E1-B9C4-60C1E6B2C2A8}"/>
              </a:ext>
            </a:extLst>
          </p:cNvPr>
          <p:cNvSpPr/>
          <p:nvPr/>
        </p:nvSpPr>
        <p:spPr>
          <a:xfrm>
            <a:off x="4106113" y="3342246"/>
            <a:ext cx="1548424" cy="658183"/>
          </a:xfrm>
          <a:prstGeom prst="roundRect">
            <a:avLst>
              <a:gd name="adj" fmla="val 0"/>
            </a:avLst>
          </a:prstGeom>
          <a:solidFill>
            <a:srgbClr val="92D050">
              <a:alpha val="50000"/>
            </a:srgbClr>
          </a:solidFill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1" kern="0" dirty="0">
                <a:solidFill>
                  <a:srgbClr val="282828"/>
                </a:solidFill>
                <a:latin typeface="微软雅黑"/>
                <a:ea typeface="微软雅黑"/>
              </a:rPr>
              <a:t>KV cache</a:t>
            </a:r>
            <a:r>
              <a:rPr lang="zh-CN" altLang="en-US" sz="1200" b="1" kern="0" dirty="0">
                <a:solidFill>
                  <a:srgbClr val="282828"/>
                </a:solidFill>
                <a:latin typeface="微软雅黑"/>
                <a:ea typeface="微软雅黑"/>
              </a:rPr>
              <a:t>系统</a:t>
            </a:r>
            <a:endParaRPr lang="en-US" altLang="zh-CN" sz="1200" b="1" kern="0" dirty="0">
              <a:solidFill>
                <a:srgbClr val="282828"/>
              </a:solidFill>
              <a:latin typeface="微软雅黑"/>
              <a:ea typeface="微软雅黑"/>
            </a:endParaRPr>
          </a:p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000" kern="0" dirty="0">
                <a:solidFill>
                  <a:srgbClr val="282828"/>
                </a:solidFill>
                <a:latin typeface="微软雅黑"/>
                <a:ea typeface="微软雅黑"/>
              </a:rPr>
              <a:t>Mooncake/</a:t>
            </a:r>
            <a:r>
              <a:rPr lang="en-US" altLang="zh-CN" sz="1000" kern="0" dirty="0" err="1">
                <a:solidFill>
                  <a:srgbClr val="282828"/>
                </a:solidFill>
                <a:latin typeface="微软雅黑"/>
                <a:ea typeface="微软雅黑"/>
              </a:rPr>
              <a:t>MemCache</a:t>
            </a:r>
            <a:endParaRPr lang="zh-CN" altLang="en-US" sz="900" i="1" kern="0" dirty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FFA4463F-4EB2-486D-AFE5-E2B0DDCA9641}"/>
              </a:ext>
            </a:extLst>
          </p:cNvPr>
          <p:cNvSpPr/>
          <p:nvPr/>
        </p:nvSpPr>
        <p:spPr>
          <a:xfrm>
            <a:off x="4106114" y="2506093"/>
            <a:ext cx="1548423" cy="653420"/>
          </a:xfrm>
          <a:prstGeom prst="roundRect">
            <a:avLst>
              <a:gd name="adj" fmla="val 0"/>
            </a:avLst>
          </a:prstGeom>
          <a:solidFill>
            <a:srgbClr val="92D050">
              <a:alpha val="50000"/>
            </a:srgbClr>
          </a:solidFill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b="1" kern="0" dirty="0">
                <a:solidFill>
                  <a:srgbClr val="282828"/>
                </a:solidFill>
                <a:latin typeface="微软雅黑"/>
                <a:ea typeface="微软雅黑"/>
              </a:rPr>
              <a:t>推理引擎</a:t>
            </a:r>
            <a:endParaRPr lang="en-US" altLang="zh-CN" sz="1200" b="1" kern="0" dirty="0">
              <a:solidFill>
                <a:srgbClr val="282828"/>
              </a:solidFill>
              <a:latin typeface="微软雅黑"/>
              <a:ea typeface="微软雅黑"/>
            </a:endParaRPr>
          </a:p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900" kern="0" dirty="0" err="1">
                <a:solidFill>
                  <a:srgbClr val="282828"/>
                </a:solidFill>
                <a:latin typeface="微软雅黑"/>
                <a:ea typeface="微软雅黑"/>
              </a:rPr>
              <a:t>vLLM</a:t>
            </a:r>
            <a:r>
              <a:rPr lang="en-US" altLang="zh-CN" sz="900" kern="0" dirty="0">
                <a:solidFill>
                  <a:srgbClr val="282828"/>
                </a:solidFill>
                <a:latin typeface="微软雅黑"/>
                <a:ea typeface="微软雅黑"/>
              </a:rPr>
              <a:t>/</a:t>
            </a:r>
            <a:r>
              <a:rPr lang="en-US" altLang="zh-CN" sz="900" kern="0" dirty="0" err="1">
                <a:solidFill>
                  <a:srgbClr val="282828"/>
                </a:solidFill>
                <a:latin typeface="微软雅黑"/>
                <a:ea typeface="微软雅黑"/>
              </a:rPr>
              <a:t>Sglang</a:t>
            </a:r>
            <a:endParaRPr lang="zh-CN" altLang="en-US" sz="800" i="1" kern="0" dirty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88F1CB1-1118-40CE-B663-04F9C87B7BB7}"/>
              </a:ext>
            </a:extLst>
          </p:cNvPr>
          <p:cNvSpPr txBox="1"/>
          <p:nvPr/>
        </p:nvSpPr>
        <p:spPr>
          <a:xfrm>
            <a:off x="4164339" y="2088667"/>
            <a:ext cx="5844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1" lang="zh-CN" altLang="en-US" sz="1400" b="1" dirty="0">
                <a:solidFill>
                  <a:srgbClr val="C00000"/>
                </a:solidFill>
                <a:latin typeface="微软雅黑"/>
                <a:ea typeface="微软雅黑"/>
              </a:rPr>
              <a:t>③④</a:t>
            </a:r>
            <a:endParaRPr lang="zh-CN" altLang="en-US" sz="1400" dirty="0">
              <a:solidFill>
                <a:srgbClr val="1D1D1A"/>
              </a:solidFill>
              <a:latin typeface="Huawei Sans"/>
              <a:ea typeface="微软雅黑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EEEDF47A-584B-415B-BFE1-62B0D55B7A75}"/>
              </a:ext>
            </a:extLst>
          </p:cNvPr>
          <p:cNvSpPr/>
          <p:nvPr/>
        </p:nvSpPr>
        <p:spPr>
          <a:xfrm>
            <a:off x="323562" y="5535427"/>
            <a:ext cx="5439071" cy="813298"/>
          </a:xfrm>
          <a:prstGeom prst="roundRect">
            <a:avLst>
              <a:gd name="adj" fmla="val 0"/>
            </a:avLst>
          </a:prstGeom>
          <a:solidFill>
            <a:srgbClr val="59C8D5">
              <a:lumMod val="20000"/>
              <a:lumOff val="80000"/>
            </a:srgbClr>
          </a:solidFill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b="1" kern="0" dirty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r>
              <a:rPr lang="en-US" altLang="zh-CN" sz="1200" b="1" kern="0" dirty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kern="0" dirty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</a:t>
            </a:r>
            <a:r>
              <a:rPr lang="en-US" altLang="zh-CN" sz="1200" b="1" kern="0" dirty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kern="0" dirty="0">
                <a:solidFill>
                  <a:srgbClr val="2828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</a:t>
            </a:r>
            <a:endParaRPr lang="en-US" altLang="zh-CN" sz="1200" b="1" kern="0" dirty="0">
              <a:solidFill>
                <a:srgbClr val="2828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 kern="0" dirty="0">
              <a:solidFill>
                <a:srgbClr val="2828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 dirty="0">
              <a:solidFill>
                <a:srgbClr val="2828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BCAA6633-F471-4697-B1D9-823127D9F186}"/>
              </a:ext>
            </a:extLst>
          </p:cNvPr>
          <p:cNvGrpSpPr/>
          <p:nvPr/>
        </p:nvGrpSpPr>
        <p:grpSpPr>
          <a:xfrm>
            <a:off x="392135" y="5877787"/>
            <a:ext cx="5234940" cy="345117"/>
            <a:chOff x="632558" y="6256496"/>
            <a:chExt cx="6140574" cy="25860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15F5E72A-B368-4F26-B6A6-EBD4D7CA186E}"/>
                </a:ext>
              </a:extLst>
            </p:cNvPr>
            <p:cNvSpPr/>
            <p:nvPr/>
          </p:nvSpPr>
          <p:spPr>
            <a:xfrm>
              <a:off x="632558" y="6256496"/>
              <a:ext cx="1488450" cy="252996"/>
            </a:xfrm>
            <a:prstGeom prst="rect">
              <a:avLst/>
            </a:prstGeom>
            <a:solidFill>
              <a:srgbClr val="77777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zh-CN" altLang="en-US" sz="900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鲲鹏超节点</a:t>
              </a:r>
              <a:r>
                <a:rPr lang="en-US" altLang="zh-CN" sz="900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/</a:t>
              </a:r>
              <a:r>
                <a:rPr lang="zh-CN" altLang="en-US" sz="900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服务器</a:t>
              </a: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D4698CCA-2D85-470E-A56B-41D1DC0C6AC5}"/>
                </a:ext>
              </a:extLst>
            </p:cNvPr>
            <p:cNvSpPr/>
            <p:nvPr/>
          </p:nvSpPr>
          <p:spPr>
            <a:xfrm>
              <a:off x="2296576" y="6256496"/>
              <a:ext cx="1488450" cy="252996"/>
            </a:xfrm>
            <a:prstGeom prst="rect">
              <a:avLst/>
            </a:prstGeom>
            <a:solidFill>
              <a:srgbClr val="77777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zh-CN" altLang="en-US" sz="900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昇腾超节点</a:t>
              </a:r>
              <a:r>
                <a:rPr lang="en-US" altLang="zh-CN" sz="900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/</a:t>
              </a:r>
              <a:r>
                <a:rPr lang="zh-CN" altLang="en-US" sz="900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服务器</a:t>
              </a: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24C8DF9A-397E-444C-BDA5-CB54C1BC7945}"/>
                </a:ext>
              </a:extLst>
            </p:cNvPr>
            <p:cNvSpPr/>
            <p:nvPr/>
          </p:nvSpPr>
          <p:spPr>
            <a:xfrm>
              <a:off x="3930419" y="6256496"/>
              <a:ext cx="1488451" cy="258603"/>
            </a:xfrm>
            <a:prstGeom prst="rect">
              <a:avLst/>
            </a:prstGeom>
            <a:solidFill>
              <a:srgbClr val="77777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zh-CN" sz="900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SSU/SSD</a:t>
              </a:r>
              <a:r>
                <a:rPr lang="zh-CN" altLang="en-US" sz="900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集中式存储</a:t>
              </a: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992C9217-CD6F-439E-9664-6B3F6BC2A788}"/>
                </a:ext>
              </a:extLst>
            </p:cNvPr>
            <p:cNvSpPr/>
            <p:nvPr/>
          </p:nvSpPr>
          <p:spPr>
            <a:xfrm>
              <a:off x="5524922" y="6256496"/>
              <a:ext cx="1248210" cy="258603"/>
            </a:xfrm>
            <a:prstGeom prst="rect">
              <a:avLst/>
            </a:prstGeom>
            <a:solidFill>
              <a:srgbClr val="77777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zh-CN" sz="900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UB</a:t>
              </a:r>
              <a:r>
                <a:rPr lang="zh-CN" altLang="en-US" sz="900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互联</a:t>
              </a:r>
              <a:r>
                <a:rPr lang="en-US" altLang="zh-CN" sz="900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/ROCE</a:t>
              </a:r>
              <a:r>
                <a:rPr lang="zh-CN" altLang="en-US" sz="900" kern="0" dirty="0">
                  <a:solidFill>
                    <a:srgbClr val="282828"/>
                  </a:solidFill>
                  <a:latin typeface="微软雅黑"/>
                  <a:ea typeface="微软雅黑"/>
                </a:rPr>
                <a:t>互联</a:t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C2893885-B1C2-4554-A022-CB20221E901C}"/>
              </a:ext>
            </a:extLst>
          </p:cNvPr>
          <p:cNvSpPr txBox="1"/>
          <p:nvPr/>
        </p:nvSpPr>
        <p:spPr>
          <a:xfrm>
            <a:off x="2052620" y="5019921"/>
            <a:ext cx="5560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1" lang="zh-CN" altLang="en-US" sz="1400" b="1" dirty="0">
                <a:solidFill>
                  <a:srgbClr val="C00000"/>
                </a:solidFill>
                <a:latin typeface="微软雅黑"/>
                <a:ea typeface="微软雅黑"/>
              </a:rPr>
              <a:t>①②</a:t>
            </a:r>
            <a:endParaRPr lang="zh-CN" altLang="en-US" sz="1400" dirty="0">
              <a:solidFill>
                <a:srgbClr val="1D1D1A"/>
              </a:solidFill>
              <a:latin typeface="Huawei Sans"/>
              <a:ea typeface="微软雅黑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B730458-2750-48E2-9624-B6F257FCE878}"/>
              </a:ext>
            </a:extLst>
          </p:cNvPr>
          <p:cNvSpPr txBox="1"/>
          <p:nvPr/>
        </p:nvSpPr>
        <p:spPr>
          <a:xfrm>
            <a:off x="1383046" y="4552862"/>
            <a:ext cx="9194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1" lang="zh-CN" altLang="en-US" sz="1400" b="1" dirty="0">
                <a:solidFill>
                  <a:srgbClr val="C00000"/>
                </a:solidFill>
                <a:latin typeface="微软雅黑"/>
                <a:ea typeface="微软雅黑"/>
              </a:rPr>
              <a:t>①②③④</a:t>
            </a:r>
            <a:endParaRPr lang="zh-CN" altLang="en-US" sz="1400" dirty="0">
              <a:solidFill>
                <a:srgbClr val="1D1D1A"/>
              </a:solidFill>
              <a:latin typeface="Huawei Sans"/>
              <a:ea typeface="微软雅黑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04E792F4-9963-4F04-8038-4F44CC801295}"/>
              </a:ext>
            </a:extLst>
          </p:cNvPr>
          <p:cNvSpPr/>
          <p:nvPr/>
        </p:nvSpPr>
        <p:spPr>
          <a:xfrm>
            <a:off x="323553" y="1702419"/>
            <a:ext cx="5439071" cy="338071"/>
          </a:xfrm>
          <a:prstGeom prst="roundRect">
            <a:avLst>
              <a:gd name="adj" fmla="val 0"/>
            </a:avLst>
          </a:prstGeom>
          <a:solidFill>
            <a:srgbClr val="FFFFFF">
              <a:lumMod val="95000"/>
            </a:srgbClr>
          </a:solidFill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b="1" kern="0" dirty="0">
                <a:solidFill>
                  <a:srgbClr val="282828"/>
                </a:solidFill>
                <a:latin typeface="微软雅黑"/>
                <a:ea typeface="微软雅黑"/>
              </a:rPr>
              <a:t>通智协同</a:t>
            </a:r>
            <a:endParaRPr lang="zh-CN" altLang="en-US" sz="1100" b="1" kern="0" dirty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1F330B1-67E6-48E4-BB0D-2609B3657057}"/>
              </a:ext>
            </a:extLst>
          </p:cNvPr>
          <p:cNvSpPr txBox="1"/>
          <p:nvPr/>
        </p:nvSpPr>
        <p:spPr>
          <a:xfrm>
            <a:off x="2407506" y="1702419"/>
            <a:ext cx="5844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1" lang="zh-CN" altLang="en-US" sz="1400" b="1" dirty="0">
                <a:solidFill>
                  <a:srgbClr val="C00000"/>
                </a:solidFill>
                <a:latin typeface="微软雅黑"/>
                <a:ea typeface="微软雅黑"/>
              </a:rPr>
              <a:t>⑤</a:t>
            </a:r>
            <a:endParaRPr lang="zh-CN" altLang="en-US" sz="1400" dirty="0">
              <a:solidFill>
                <a:srgbClr val="1D1D1A"/>
              </a:solidFill>
              <a:latin typeface="Huawei Sans"/>
              <a:ea typeface="微软雅黑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5F6A47AC-A664-49BE-AD37-DEA59D9DBDB2}"/>
              </a:ext>
            </a:extLst>
          </p:cNvPr>
          <p:cNvSpPr/>
          <p:nvPr/>
        </p:nvSpPr>
        <p:spPr>
          <a:xfrm>
            <a:off x="323553" y="1246416"/>
            <a:ext cx="5439071" cy="338071"/>
          </a:xfrm>
          <a:prstGeom prst="roundRect">
            <a:avLst>
              <a:gd name="adj" fmla="val 0"/>
            </a:avLst>
          </a:prstGeom>
          <a:solidFill>
            <a:srgbClr val="FFFFFF">
              <a:lumMod val="95000"/>
            </a:srgbClr>
          </a:solidFill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12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1" kern="0" dirty="0">
                <a:solidFill>
                  <a:srgbClr val="282828"/>
                </a:solidFill>
                <a:latin typeface="微软雅黑"/>
                <a:ea typeface="微软雅黑"/>
              </a:rPr>
              <a:t>Agent Framework</a:t>
            </a:r>
            <a:r>
              <a:rPr lang="zh-CN" altLang="en-US" sz="1000" kern="0" dirty="0">
                <a:solidFill>
                  <a:srgbClr val="282828"/>
                </a:solidFill>
                <a:latin typeface="微软雅黑"/>
                <a:ea typeface="微软雅黑"/>
              </a:rPr>
              <a:t>（九问</a:t>
            </a:r>
            <a:r>
              <a:rPr lang="en-US" altLang="zh-CN" sz="1000" kern="0" dirty="0">
                <a:solidFill>
                  <a:srgbClr val="282828"/>
                </a:solidFill>
                <a:latin typeface="微软雅黑"/>
                <a:ea typeface="微软雅黑"/>
              </a:rPr>
              <a:t>/</a:t>
            </a:r>
            <a:r>
              <a:rPr lang="en-US" altLang="zh-CN" sz="1000" kern="0" dirty="0" err="1">
                <a:solidFill>
                  <a:srgbClr val="282828"/>
                </a:solidFill>
                <a:latin typeface="微软雅黑"/>
                <a:ea typeface="微软雅黑"/>
              </a:rPr>
              <a:t>Langchain</a:t>
            </a:r>
            <a:r>
              <a:rPr lang="zh-CN" altLang="en-US" sz="1000" kern="0" dirty="0">
                <a:solidFill>
                  <a:srgbClr val="282828"/>
                </a:solidFill>
                <a:latin typeface="微软雅黑"/>
                <a:ea typeface="微软雅黑"/>
              </a:rPr>
              <a:t>等）</a:t>
            </a:r>
            <a:endParaRPr lang="zh-CN" altLang="en-US" sz="1100" kern="0" dirty="0">
              <a:solidFill>
                <a:srgbClr val="282828"/>
              </a:solidFill>
              <a:latin typeface="微软雅黑"/>
              <a:ea typeface="微软雅黑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CA95B0B-1F60-4FF7-8EBA-CA80268104C9}"/>
              </a:ext>
            </a:extLst>
          </p:cNvPr>
          <p:cNvSpPr/>
          <p:nvPr/>
        </p:nvSpPr>
        <p:spPr>
          <a:xfrm>
            <a:off x="2382" y="6400535"/>
            <a:ext cx="1705797" cy="464473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b="1" kern="0" dirty="0">
                <a:solidFill>
                  <a:srgbClr val="C00000"/>
                </a:solidFill>
                <a:latin typeface="微软雅黑" panose="020B0503020204020204" pitchFamily="34" charset="-122"/>
                <a:ea typeface="等线" panose="02010600030101010101" pitchFamily="2" charset="-122"/>
              </a:rPr>
              <a:t>王栋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1D04AFD-AED8-425D-B4BA-29A7D52850CE}"/>
              </a:ext>
            </a:extLst>
          </p:cNvPr>
          <p:cNvSpPr/>
          <p:nvPr/>
        </p:nvSpPr>
        <p:spPr>
          <a:xfrm>
            <a:off x="1903326" y="6531781"/>
            <a:ext cx="8244587" cy="6261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/>
              <a:t>鲲鹏解决方案规划：明方森（记忆），李洋（沙箱），桥博（</a:t>
            </a:r>
            <a:r>
              <a:rPr lang="en-US" altLang="zh-CN" sz="1400" dirty="0"/>
              <a:t>KV Cache</a:t>
            </a:r>
            <a:r>
              <a:rPr lang="zh-CN" altLang="en-US" sz="1400" dirty="0"/>
              <a:t>）</a:t>
            </a:r>
            <a:endParaRPr lang="en-US" altLang="zh-CN" sz="1400" dirty="0"/>
          </a:p>
          <a:p>
            <a:r>
              <a:rPr lang="zh-CN" altLang="en-US" sz="1400" dirty="0"/>
              <a:t>沙箱：龚磊，解决方案分工，解决方案诉求。</a:t>
            </a:r>
            <a:endParaRPr lang="en-US" altLang="zh-CN" sz="1400" dirty="0"/>
          </a:p>
          <a:p>
            <a:r>
              <a:rPr lang="en-US" altLang="zh-CN" sz="1400" dirty="0"/>
              <a:t>KV Cache</a:t>
            </a:r>
            <a:r>
              <a:rPr lang="zh-CN" altLang="en-US" sz="1400" dirty="0"/>
              <a:t>：桥博</a:t>
            </a:r>
          </a:p>
        </p:txBody>
      </p:sp>
    </p:spTree>
    <p:extLst>
      <p:ext uri="{BB962C8B-B14F-4D97-AF65-F5344CB8AC3E}">
        <p14:creationId xmlns:p14="http://schemas.microsoft.com/office/powerpoint/2010/main" val="19076634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 1">
            <a:extLst>
              <a:ext uri="{FF2B5EF4-FFF2-40B4-BE49-F238E27FC236}">
                <a16:creationId xmlns:a16="http://schemas.microsoft.com/office/drawing/2014/main" id="{863F9A36-988E-8024-B70E-70B3A4A95C87}"/>
              </a:ext>
            </a:extLst>
          </p:cNvPr>
          <p:cNvSpPr txBox="1">
            <a:spLocks/>
          </p:cNvSpPr>
          <p:nvPr/>
        </p:nvSpPr>
        <p:spPr>
          <a:xfrm>
            <a:off x="182233" y="255290"/>
            <a:ext cx="11832299" cy="504184"/>
          </a:xfrm>
          <a:prstGeom prst="rect">
            <a:avLst/>
          </a:prstGeom>
        </p:spPr>
        <p:txBody>
          <a:bodyPr anchor="ctr"/>
          <a:lstStyle>
            <a:lvl1pPr algn="l" defTabSz="11873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186373">
              <a:defRPr/>
            </a:pPr>
            <a:r>
              <a:rPr lang="zh-CN" altLang="en-US" sz="18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记忆系统生态：从静态构建</a:t>
            </a:r>
            <a:r>
              <a:rPr lang="en-US" altLang="zh-CN" sz="18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8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动态更新，多</a:t>
            </a:r>
            <a:r>
              <a:rPr lang="en-US" altLang="zh-CN" sz="18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18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协作带来万亿千维诉求，鲲鹏亲和加速实现高性能记忆系统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B4397FB-F0F3-212B-8268-C8591ADB94DC}"/>
              </a:ext>
            </a:extLst>
          </p:cNvPr>
          <p:cNvSpPr txBox="1"/>
          <p:nvPr/>
        </p:nvSpPr>
        <p:spPr>
          <a:xfrm>
            <a:off x="8365035" y="853559"/>
            <a:ext cx="1620324" cy="3384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12">
              <a:defRPr/>
            </a:pPr>
            <a:r>
              <a:rPr lang="zh-CN" altLang="en-US" sz="15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竞争力构建策略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988AE6E2-B5B2-64B9-23B4-0A10F1D7BC96}"/>
              </a:ext>
            </a:extLst>
          </p:cNvPr>
          <p:cNvSpPr txBox="1"/>
          <p:nvPr/>
        </p:nvSpPr>
        <p:spPr>
          <a:xfrm>
            <a:off x="6808474" y="1230827"/>
            <a:ext cx="5059112" cy="1001314"/>
          </a:xfrm>
          <a:prstGeom prst="rect">
            <a:avLst/>
          </a:prstGeom>
          <a:solidFill>
            <a:srgbClr val="FDFDFD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1944" tIns="0" rIns="107958" bIns="0" rtlCol="0" anchor="ctr">
            <a:noAutofit/>
          </a:bodyPr>
          <a:lstStyle>
            <a:defPPr>
              <a:defRPr lang="en-US"/>
            </a:defPPr>
            <a:lvl1pPr>
              <a:defRPr kumimoji="1" sz="14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marL="285636" indent="-285636" defTabSz="913746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399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记忆系统生态使能：</a:t>
            </a:r>
            <a:endParaRPr lang="en-US" altLang="zh-CN" sz="1399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636" indent="-285636" defTabSz="913746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sz="1399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鲲鹏社区，插件化使能</a:t>
            </a:r>
            <a:r>
              <a:rPr lang="en-US" altLang="zh-CN" sz="1399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</a:t>
            </a:r>
            <a:r>
              <a:rPr lang="zh-CN" altLang="en-US" sz="1399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开源记忆系统</a:t>
            </a:r>
            <a:endParaRPr lang="en-US" altLang="zh-CN" sz="1399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636" indent="-285636" defTabSz="913746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sz="1399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主流开源记忆系统，原生支持鲲鹏加速</a:t>
            </a:r>
            <a:endParaRPr lang="en-US" altLang="zh-CN" sz="1399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4DA53D93-A10C-64ED-668D-1E0D7C2145A2}"/>
              </a:ext>
            </a:extLst>
          </p:cNvPr>
          <p:cNvSpPr>
            <a:spLocks noChangeAspect="1"/>
          </p:cNvSpPr>
          <p:nvPr/>
        </p:nvSpPr>
        <p:spPr>
          <a:xfrm>
            <a:off x="6835982" y="1340553"/>
            <a:ext cx="216206" cy="21591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3668">
              <a:defRPr/>
            </a:pPr>
            <a:r>
              <a:rPr lang="en-US" altLang="zh-CN" sz="1399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399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C35987D5-FF4F-C55B-F3B5-D1585A358A18}"/>
              </a:ext>
            </a:extLst>
          </p:cNvPr>
          <p:cNvSpPr txBox="1"/>
          <p:nvPr/>
        </p:nvSpPr>
        <p:spPr>
          <a:xfrm>
            <a:off x="6806647" y="2396497"/>
            <a:ext cx="5059112" cy="2271098"/>
          </a:xfrm>
          <a:prstGeom prst="rect">
            <a:avLst/>
          </a:prstGeom>
          <a:solidFill>
            <a:srgbClr val="FDFDFD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1972" tIns="0" rIns="107958" bIns="0" rtlCol="0" anchor="ctr">
            <a:noAutofit/>
          </a:bodyPr>
          <a:lstStyle>
            <a:defPPr>
              <a:defRPr lang="en-US"/>
            </a:defPPr>
            <a:lvl1pPr>
              <a:lnSpc>
                <a:spcPct val="130000"/>
              </a:lnSpc>
              <a:spcAft>
                <a:spcPts val="600"/>
              </a:spcAft>
              <a:defRPr kumimoji="1" sz="1600" b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marL="285636" indent="-285636" defTabSz="913746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399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鲲鹏亲和记忆系统加速：</a:t>
            </a:r>
            <a:r>
              <a:rPr lang="zh-CN" altLang="en-US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构建基于鲲鹏芯片、超节点、</a:t>
            </a:r>
            <a:r>
              <a:rPr lang="en-US" altLang="zh-CN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HHM</a:t>
            </a:r>
            <a:r>
              <a:rPr lang="zh-CN" altLang="en-US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的软硬协同加速库，实现高性能记忆系统</a:t>
            </a:r>
            <a:endParaRPr lang="en-US" altLang="zh-CN" sz="1399" b="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636" indent="-285636" defTabSz="913746">
              <a:lnSpc>
                <a:spcPct val="11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记忆检索：基于鲲鹏超节点，千亿千维检索时延</a:t>
            </a:r>
            <a:r>
              <a:rPr lang="en-US" altLang="zh-CN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&lt;50ms</a:t>
            </a:r>
            <a:r>
              <a:rPr lang="zh-CN" altLang="en-US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HHM</a:t>
            </a:r>
            <a:r>
              <a:rPr lang="zh-CN" altLang="en-US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混合介质支持万亿千维检索成本节省</a:t>
            </a:r>
            <a:r>
              <a:rPr lang="en-US" altLang="zh-CN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85%</a:t>
            </a:r>
          </a:p>
          <a:p>
            <a:pPr marL="285636" indent="-285636" defTabSz="913746">
              <a:lnSpc>
                <a:spcPct val="11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记忆更新：鲲鹏</a:t>
            </a:r>
            <a:r>
              <a:rPr lang="en-US" altLang="zh-CN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SVE/SME</a:t>
            </a:r>
            <a:r>
              <a:rPr lang="zh-CN" altLang="en-US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</a:t>
            </a:r>
            <a:r>
              <a:rPr lang="en-US" altLang="zh-CN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Embedding</a:t>
            </a:r>
            <a:r>
              <a:rPr lang="zh-CN" altLang="en-US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加速</a:t>
            </a:r>
            <a:r>
              <a:rPr lang="en-US" altLang="zh-CN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流式索引更新算法，实现秒级记忆更新。</a:t>
            </a:r>
            <a:endParaRPr lang="en-US" altLang="zh-CN" sz="1399" b="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636" indent="-285636" defTabSz="913746">
              <a:lnSpc>
                <a:spcPct val="11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记忆存储：</a:t>
            </a:r>
            <a:r>
              <a:rPr lang="en-US" altLang="zh-CN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UB</a:t>
            </a:r>
            <a:r>
              <a:rPr lang="zh-CN" altLang="en-US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内存池</a:t>
            </a:r>
            <a:r>
              <a:rPr lang="en-US" altLang="zh-CN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-HHM-SSU</a:t>
            </a:r>
            <a:r>
              <a:rPr lang="zh-CN" altLang="en-US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冷热分层存储</a:t>
            </a:r>
            <a:r>
              <a:rPr lang="en-US" altLang="zh-CN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多模态记忆压缩实现</a:t>
            </a:r>
            <a:r>
              <a:rPr lang="en-US" altLang="zh-CN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PB</a:t>
            </a:r>
            <a:r>
              <a:rPr lang="zh-CN" altLang="en-US" sz="1399" b="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级海量记忆低成本存储。</a:t>
            </a:r>
            <a:endParaRPr lang="en-US" altLang="zh-CN" sz="1399" b="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E992F6AC-A5A0-1F19-1F3E-21BD03C5DF03}"/>
              </a:ext>
            </a:extLst>
          </p:cNvPr>
          <p:cNvSpPr>
            <a:spLocks noChangeAspect="1"/>
          </p:cNvSpPr>
          <p:nvPr/>
        </p:nvSpPr>
        <p:spPr>
          <a:xfrm>
            <a:off x="6835982" y="2487627"/>
            <a:ext cx="216206" cy="21591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3668">
              <a:defRPr/>
            </a:pPr>
            <a:r>
              <a:rPr lang="en-US" altLang="zh-CN" sz="1399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399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9" name="圆角矩形 15">
            <a:extLst>
              <a:ext uri="{FF2B5EF4-FFF2-40B4-BE49-F238E27FC236}">
                <a16:creationId xmlns:a16="http://schemas.microsoft.com/office/drawing/2014/main" id="{6D055A59-0E51-4D4F-9C00-5A12C550604A}"/>
              </a:ext>
            </a:extLst>
          </p:cNvPr>
          <p:cNvSpPr/>
          <p:nvPr/>
        </p:nvSpPr>
        <p:spPr>
          <a:xfrm>
            <a:off x="329180" y="1635700"/>
            <a:ext cx="6206925" cy="1613988"/>
          </a:xfrm>
          <a:prstGeom prst="roundRect">
            <a:avLst>
              <a:gd name="adj" fmla="val 2388"/>
            </a:avLst>
          </a:prstGeom>
          <a:solidFill>
            <a:schemeClr val="tx2"/>
          </a:solidFill>
          <a:ln w="6350" cap="flat" cmpd="sng" algn="ctr">
            <a:solidFill>
              <a:srgbClr val="1D1D1A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35986" tIns="35986" rIns="35986" bIns="35986" anchor="t" anchorCtr="1"/>
          <a:lstStyle/>
          <a:p>
            <a:pPr algn="ctr" defTabSz="479484">
              <a:defRPr/>
            </a:pPr>
            <a:r>
              <a:rPr lang="zh-CN" altLang="en-US" sz="1399" b="1" kern="0" spc="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记忆系统生态</a:t>
            </a:r>
          </a:p>
        </p:txBody>
      </p:sp>
      <p:sp>
        <p:nvSpPr>
          <p:cNvPr id="166" name="圆角矩形 15">
            <a:extLst>
              <a:ext uri="{FF2B5EF4-FFF2-40B4-BE49-F238E27FC236}">
                <a16:creationId xmlns:a16="http://schemas.microsoft.com/office/drawing/2014/main" id="{0F29D1C4-4DDF-4C35-99B5-DB93E81C9634}"/>
              </a:ext>
            </a:extLst>
          </p:cNvPr>
          <p:cNvSpPr/>
          <p:nvPr/>
        </p:nvSpPr>
        <p:spPr>
          <a:xfrm>
            <a:off x="342510" y="3391952"/>
            <a:ext cx="6206925" cy="1776494"/>
          </a:xfrm>
          <a:prstGeom prst="roundRect">
            <a:avLst>
              <a:gd name="adj" fmla="val 2388"/>
            </a:avLst>
          </a:prstGeom>
          <a:solidFill>
            <a:schemeClr val="tx2"/>
          </a:solidFill>
          <a:ln w="6350" cap="flat" cmpd="sng" algn="ctr">
            <a:solidFill>
              <a:srgbClr val="1D1D1A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35986" tIns="35986" rIns="35986" bIns="35986" anchor="t" anchorCtr="1"/>
          <a:lstStyle/>
          <a:p>
            <a:pPr algn="ctr" defTabSz="479484">
              <a:defRPr/>
            </a:pPr>
            <a:r>
              <a:rPr lang="zh-CN" altLang="en-US" sz="1399" b="1" kern="0" spc="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鲲鹏亲和记忆系统加速库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F8D20371-5A88-41CA-497A-77A4C52F89EB}"/>
              </a:ext>
            </a:extLst>
          </p:cNvPr>
          <p:cNvGrpSpPr/>
          <p:nvPr/>
        </p:nvGrpSpPr>
        <p:grpSpPr>
          <a:xfrm>
            <a:off x="342510" y="1000548"/>
            <a:ext cx="6193594" cy="584561"/>
            <a:chOff x="74524" y="1653856"/>
            <a:chExt cx="6636637" cy="584789"/>
          </a:xfrm>
        </p:grpSpPr>
        <p:sp>
          <p:nvSpPr>
            <p:cNvPr id="183" name="圆角矩形 15">
              <a:extLst>
                <a:ext uri="{FF2B5EF4-FFF2-40B4-BE49-F238E27FC236}">
                  <a16:creationId xmlns:a16="http://schemas.microsoft.com/office/drawing/2014/main" id="{0D6874A5-469B-44B5-B554-5DA183F48FBF}"/>
                </a:ext>
              </a:extLst>
            </p:cNvPr>
            <p:cNvSpPr/>
            <p:nvPr/>
          </p:nvSpPr>
          <p:spPr>
            <a:xfrm>
              <a:off x="74524" y="1653856"/>
              <a:ext cx="6636637" cy="584789"/>
            </a:xfrm>
            <a:prstGeom prst="roundRect">
              <a:avLst>
                <a:gd name="adj" fmla="val 2388"/>
              </a:avLst>
            </a:prstGeom>
            <a:solidFill>
              <a:schemeClr val="tx2">
                <a:lumMod val="95000"/>
              </a:schemeClr>
            </a:solidFill>
            <a:ln w="6350" cap="flat" cmpd="sng" algn="ctr">
              <a:solidFill>
                <a:srgbClr val="1D1D1A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square" lIns="0" tIns="0" rIns="0" bIns="0" anchor="t" anchorCtr="1"/>
            <a:lstStyle/>
            <a:p>
              <a:pPr algn="ctr" defTabSz="479484">
                <a:defRPr/>
              </a:pPr>
              <a:r>
                <a:rPr lang="en-US" altLang="zh-CN" sz="1398" b="1" kern="0" spc="26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Agent</a:t>
              </a:r>
              <a:r>
                <a:rPr lang="zh-CN" altLang="en-US" sz="1398" b="1" kern="0" spc="26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生态</a:t>
              </a:r>
            </a:p>
            <a:p>
              <a:pPr algn="ctr" defTabSz="479484">
                <a:defRPr/>
              </a:pPr>
              <a:endParaRPr lang="zh-CN" altLang="en-US" sz="1200" b="1" kern="0" spc="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184" name="图片 183">
              <a:extLst>
                <a:ext uri="{FF2B5EF4-FFF2-40B4-BE49-F238E27FC236}">
                  <a16:creationId xmlns:a16="http://schemas.microsoft.com/office/drawing/2014/main" id="{3857B7C3-73B1-4837-AAED-4AFF67ADEC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386" y="1914422"/>
              <a:ext cx="734529" cy="283114"/>
            </a:xfrm>
            <a:prstGeom prst="rect">
              <a:avLst/>
            </a:prstGeom>
          </p:spPr>
        </p:pic>
        <p:pic>
          <p:nvPicPr>
            <p:cNvPr id="188" name="Picture 2" descr="扣子专业版：低代码能力+专业级SLA，让「企业级AI Bot」更快落地| 极客公园">
              <a:extLst>
                <a:ext uri="{FF2B5EF4-FFF2-40B4-BE49-F238E27FC236}">
                  <a16:creationId xmlns:a16="http://schemas.microsoft.com/office/drawing/2014/main" id="{6FCB23AD-5AB7-4661-ABA9-47253E9DE3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25555" y="1925911"/>
              <a:ext cx="643377" cy="2601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9" name="图片 188">
              <a:extLst>
                <a:ext uri="{FF2B5EF4-FFF2-40B4-BE49-F238E27FC236}">
                  <a16:creationId xmlns:a16="http://schemas.microsoft.com/office/drawing/2014/main" id="{54F7D63F-6613-4E35-B77A-5EC206293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12934" y="1911170"/>
              <a:ext cx="695084" cy="289618"/>
            </a:xfrm>
            <a:prstGeom prst="rect">
              <a:avLst/>
            </a:prstGeom>
          </p:spPr>
        </p:pic>
        <p:pic>
          <p:nvPicPr>
            <p:cNvPr id="2050" name="Picture 2" descr="My Experience with Claude Code: AI-Assisted Development in Practice — Bruce  from Tennessee - Podfeet Podcasts">
              <a:extLst>
                <a:ext uri="{FF2B5EF4-FFF2-40B4-BE49-F238E27FC236}">
                  <a16:creationId xmlns:a16="http://schemas.microsoft.com/office/drawing/2014/main" id="{11A129CF-3DBE-65D5-16F4-B8C313ED4FC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173" b="25149"/>
            <a:stretch/>
          </p:blipFill>
          <p:spPr bwMode="auto">
            <a:xfrm>
              <a:off x="1838916" y="1922411"/>
              <a:ext cx="942638" cy="2671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B49DEC5-518F-1FE7-0EB6-C7DC23B448AD}"/>
                </a:ext>
              </a:extLst>
            </p:cNvPr>
            <p:cNvSpPr/>
            <p:nvPr/>
          </p:nvSpPr>
          <p:spPr>
            <a:xfrm>
              <a:off x="5989868" y="1779713"/>
              <a:ext cx="441291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13381" fontAlgn="t">
                <a:defRPr/>
              </a:pPr>
              <a:r>
                <a:rPr lang="en-US" altLang="zh-CN" sz="1799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…</a:t>
              </a:r>
            </a:p>
          </p:txBody>
        </p:sp>
      </p:grp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319B2CF-543B-6FF7-699A-DE1E8B7DD936}"/>
              </a:ext>
            </a:extLst>
          </p:cNvPr>
          <p:cNvSpPr/>
          <p:nvPr/>
        </p:nvSpPr>
        <p:spPr>
          <a:xfrm>
            <a:off x="484988" y="2003155"/>
            <a:ext cx="956421" cy="374649"/>
          </a:xfrm>
          <a:prstGeom prst="roundRect">
            <a:avLst/>
          </a:prstGeom>
          <a:solidFill>
            <a:srgbClr val="D4F1F5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Mem0</a:t>
            </a:r>
          </a:p>
          <a:p>
            <a:pPr algn="ctr" defTabSz="914034">
              <a:defRPr/>
            </a:pP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社区开源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E239450-8687-E18F-F1F6-DD861A2D3581}"/>
              </a:ext>
            </a:extLst>
          </p:cNvPr>
          <p:cNvSpPr/>
          <p:nvPr/>
        </p:nvSpPr>
        <p:spPr>
          <a:xfrm>
            <a:off x="1507204" y="2003155"/>
            <a:ext cx="1016728" cy="374649"/>
          </a:xfrm>
          <a:prstGeom prst="roundRect">
            <a:avLst/>
          </a:prstGeom>
          <a:solidFill>
            <a:srgbClr val="D4F1F5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en-US" altLang="zh-CN" sz="12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MemOS</a:t>
            </a:r>
            <a:endParaRPr lang="en-US" altLang="zh-CN" sz="12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034">
              <a:defRPr/>
            </a:pP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记忆张量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F11B3DD-7D52-CB38-FD99-F642341E1511}"/>
              </a:ext>
            </a:extLst>
          </p:cNvPr>
          <p:cNvSpPr/>
          <p:nvPr/>
        </p:nvSpPr>
        <p:spPr>
          <a:xfrm>
            <a:off x="2585978" y="2003155"/>
            <a:ext cx="1229505" cy="374649"/>
          </a:xfrm>
          <a:prstGeom prst="roundRect">
            <a:avLst/>
          </a:prstGeom>
          <a:solidFill>
            <a:srgbClr val="D4F1F5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en-US" altLang="zh-CN" sz="12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OpenViking</a:t>
            </a:r>
            <a:endParaRPr lang="en-US" altLang="zh-CN" sz="12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034">
              <a:defRPr/>
            </a:pP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67AFB86-FC39-7E59-9E0F-CACB90D0BDFE}"/>
              </a:ext>
            </a:extLst>
          </p:cNvPr>
          <p:cNvSpPr/>
          <p:nvPr/>
        </p:nvSpPr>
        <p:spPr>
          <a:xfrm>
            <a:off x="3864307" y="2003155"/>
            <a:ext cx="2177456" cy="374649"/>
          </a:xfrm>
          <a:prstGeom prst="roundRect">
            <a:avLst/>
          </a:prstGeom>
          <a:solidFill>
            <a:srgbClr val="D4F1F5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en-US" altLang="zh-CN" sz="12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TencentDB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Agent Memory</a:t>
            </a:r>
          </a:p>
          <a:p>
            <a:pPr algn="ctr" defTabSz="914034">
              <a:defRPr/>
            </a:pP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腾讯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0045200-F5F3-D63F-5A36-C04FAA31D736}"/>
              </a:ext>
            </a:extLst>
          </p:cNvPr>
          <p:cNvSpPr/>
          <p:nvPr/>
        </p:nvSpPr>
        <p:spPr>
          <a:xfrm>
            <a:off x="6081204" y="1955251"/>
            <a:ext cx="412719" cy="2768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381" fontAlgn="t">
              <a:defRPr/>
            </a:pP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A5B570E-A8D2-C50D-8860-BC6BF1AEBD30}"/>
              </a:ext>
            </a:extLst>
          </p:cNvPr>
          <p:cNvSpPr/>
          <p:nvPr/>
        </p:nvSpPr>
        <p:spPr>
          <a:xfrm>
            <a:off x="473878" y="2427841"/>
            <a:ext cx="5951149" cy="3354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记忆数据底座：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Milvus/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</a:t>
            </a:r>
            <a:r>
              <a:rPr lang="en-US" altLang="zh-CN" sz="12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VikingDB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腾讯</a:t>
            </a:r>
            <a:r>
              <a:rPr lang="en-US" altLang="zh-CN" sz="12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TencentDB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/…</a:t>
            </a:r>
            <a:endParaRPr lang="zh-CN" altLang="en-US" sz="12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圆角矩形 15">
            <a:extLst>
              <a:ext uri="{FF2B5EF4-FFF2-40B4-BE49-F238E27FC236}">
                <a16:creationId xmlns:a16="http://schemas.microsoft.com/office/drawing/2014/main" id="{2390D38A-8903-2BDB-172C-EA368A56135A}"/>
              </a:ext>
            </a:extLst>
          </p:cNvPr>
          <p:cNvSpPr/>
          <p:nvPr/>
        </p:nvSpPr>
        <p:spPr>
          <a:xfrm>
            <a:off x="420934" y="3764355"/>
            <a:ext cx="1942043" cy="1294784"/>
          </a:xfrm>
          <a:prstGeom prst="roundRect">
            <a:avLst>
              <a:gd name="adj" fmla="val 2388"/>
            </a:avLst>
          </a:prstGeom>
          <a:solidFill>
            <a:schemeClr val="tx2"/>
          </a:solidFill>
          <a:ln w="6350" cap="flat" cmpd="sng" algn="ctr">
            <a:solidFill>
              <a:srgbClr val="1D1D1A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35986" tIns="35986" rIns="35986" bIns="35986" anchor="t" anchorCtr="1"/>
          <a:lstStyle/>
          <a:p>
            <a:pPr algn="ctr" defTabSz="479484">
              <a:defRPr/>
            </a:pPr>
            <a:r>
              <a:rPr lang="zh-CN" altLang="en-US" sz="1200" b="1" kern="0" spc="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记忆检索</a:t>
            </a:r>
          </a:p>
          <a:p>
            <a:pPr algn="ctr" defTabSz="479484">
              <a:defRPr/>
            </a:pPr>
            <a:endParaRPr lang="zh-CN" altLang="en-US" sz="1200" b="1" kern="0" spc="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0" name="圆角矩形 9">
            <a:extLst>
              <a:ext uri="{FF2B5EF4-FFF2-40B4-BE49-F238E27FC236}">
                <a16:creationId xmlns:a16="http://schemas.microsoft.com/office/drawing/2014/main" id="{72A2D2E6-E26C-C78D-7717-821162135A11}"/>
              </a:ext>
            </a:extLst>
          </p:cNvPr>
          <p:cNvSpPr/>
          <p:nvPr/>
        </p:nvSpPr>
        <p:spPr>
          <a:xfrm>
            <a:off x="564610" y="4125619"/>
            <a:ext cx="1640053" cy="344403"/>
          </a:xfrm>
          <a:prstGeom prst="roundRect">
            <a:avLst>
              <a:gd name="adj" fmla="val 3795"/>
            </a:avLst>
          </a:prstGeom>
          <a:solidFill>
            <a:srgbClr val="DFF3D2"/>
          </a:solidFill>
          <a:ln w="6350" cap="flat" cmpd="sng" algn="ctr">
            <a:solidFill>
              <a:srgbClr val="1D1D1A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/>
          <a:lstStyle/>
          <a:p>
            <a:pPr algn="ctr" defTabSz="910766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defRPr/>
            </a:pPr>
            <a:r>
              <a:rPr lang="zh-CN" altLang="en-US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基于</a:t>
            </a:r>
            <a:r>
              <a:rPr lang="en-US" altLang="zh-CN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UB</a:t>
            </a:r>
            <a:r>
              <a:rPr lang="zh-CN" altLang="en-US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</a:t>
            </a:r>
            <a:endParaRPr lang="en-US" altLang="zh-CN" sz="110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ctr" defTabSz="910766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defRPr/>
            </a:pPr>
            <a:r>
              <a:rPr lang="en-US" altLang="zh-CN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HNSW</a:t>
            </a:r>
            <a:r>
              <a:rPr lang="zh-CN" altLang="en-US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全局内存检索</a:t>
            </a:r>
          </a:p>
        </p:txBody>
      </p:sp>
      <p:sp>
        <p:nvSpPr>
          <p:cNvPr id="21" name="圆角矩形 9">
            <a:extLst>
              <a:ext uri="{FF2B5EF4-FFF2-40B4-BE49-F238E27FC236}">
                <a16:creationId xmlns:a16="http://schemas.microsoft.com/office/drawing/2014/main" id="{2A2C22B6-C8E1-7583-6E53-A8211C3B1A3A}"/>
              </a:ext>
            </a:extLst>
          </p:cNvPr>
          <p:cNvSpPr/>
          <p:nvPr/>
        </p:nvSpPr>
        <p:spPr>
          <a:xfrm>
            <a:off x="564610" y="4597960"/>
            <a:ext cx="1640053" cy="344403"/>
          </a:xfrm>
          <a:prstGeom prst="roundRect">
            <a:avLst>
              <a:gd name="adj" fmla="val 3795"/>
            </a:avLst>
          </a:prstGeom>
          <a:solidFill>
            <a:srgbClr val="DFF3D2"/>
          </a:solidFill>
          <a:ln w="6350" cap="flat" cmpd="sng" algn="ctr">
            <a:solidFill>
              <a:srgbClr val="1D1D1A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/>
          <a:lstStyle/>
          <a:p>
            <a:pPr algn="ctr" defTabSz="910766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defRPr/>
            </a:pPr>
            <a:r>
              <a:rPr lang="zh-CN" altLang="en-US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基于</a:t>
            </a:r>
            <a:r>
              <a:rPr lang="en-US" altLang="zh-CN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HHM</a:t>
            </a:r>
            <a:r>
              <a:rPr lang="zh-CN" altLang="en-US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</a:t>
            </a:r>
            <a:endParaRPr lang="en-US" altLang="zh-CN" sz="110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ctr" defTabSz="910766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defRPr/>
            </a:pPr>
            <a:r>
              <a:rPr lang="en-US" altLang="zh-CN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Laser</a:t>
            </a:r>
            <a:r>
              <a:rPr lang="zh-CN" altLang="en-US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混合介质检索</a:t>
            </a:r>
          </a:p>
        </p:txBody>
      </p:sp>
      <p:sp>
        <p:nvSpPr>
          <p:cNvPr id="17" name="圆角矩形 15">
            <a:extLst>
              <a:ext uri="{FF2B5EF4-FFF2-40B4-BE49-F238E27FC236}">
                <a16:creationId xmlns:a16="http://schemas.microsoft.com/office/drawing/2014/main" id="{D28350AA-3451-0620-9A9A-044B37C6FDF4}"/>
              </a:ext>
            </a:extLst>
          </p:cNvPr>
          <p:cNvSpPr/>
          <p:nvPr/>
        </p:nvSpPr>
        <p:spPr>
          <a:xfrm>
            <a:off x="2476047" y="3764355"/>
            <a:ext cx="1942043" cy="1294784"/>
          </a:xfrm>
          <a:prstGeom prst="roundRect">
            <a:avLst>
              <a:gd name="adj" fmla="val 2388"/>
            </a:avLst>
          </a:prstGeom>
          <a:solidFill>
            <a:schemeClr val="tx2"/>
          </a:solidFill>
          <a:ln w="6350" cap="flat" cmpd="sng" algn="ctr">
            <a:solidFill>
              <a:srgbClr val="1D1D1A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35986" tIns="35986" rIns="35986" bIns="35986" anchor="t" anchorCtr="1"/>
          <a:lstStyle/>
          <a:p>
            <a:pPr algn="ctr" defTabSz="479484">
              <a:defRPr/>
            </a:pPr>
            <a:r>
              <a:rPr lang="zh-CN" altLang="en-US" sz="1200" b="1" kern="0" spc="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记忆更新</a:t>
            </a:r>
          </a:p>
          <a:p>
            <a:pPr algn="ctr" defTabSz="479484">
              <a:defRPr/>
            </a:pPr>
            <a:endParaRPr lang="zh-CN" altLang="en-US" sz="1200" b="1" kern="0" spc="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2" name="圆角矩形 9">
            <a:extLst>
              <a:ext uri="{FF2B5EF4-FFF2-40B4-BE49-F238E27FC236}">
                <a16:creationId xmlns:a16="http://schemas.microsoft.com/office/drawing/2014/main" id="{657FCDE0-C4CC-2AF3-4941-97DFA9F5B3DF}"/>
              </a:ext>
            </a:extLst>
          </p:cNvPr>
          <p:cNvSpPr/>
          <p:nvPr/>
        </p:nvSpPr>
        <p:spPr>
          <a:xfrm>
            <a:off x="2627041" y="4125619"/>
            <a:ext cx="1640053" cy="344403"/>
          </a:xfrm>
          <a:prstGeom prst="roundRect">
            <a:avLst>
              <a:gd name="adj" fmla="val 3795"/>
            </a:avLst>
          </a:prstGeom>
          <a:solidFill>
            <a:srgbClr val="DFF3D2"/>
          </a:solidFill>
          <a:ln w="6350" cap="flat" cmpd="sng" algn="ctr">
            <a:solidFill>
              <a:srgbClr val="1D1D1A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/>
          <a:lstStyle/>
          <a:p>
            <a:pPr algn="ctr" defTabSz="910766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defRPr/>
            </a:pPr>
            <a:r>
              <a:rPr lang="zh-CN" altLang="en-US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鲲鹏</a:t>
            </a:r>
            <a:r>
              <a:rPr lang="en-US" altLang="zh-CN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SVE/SME</a:t>
            </a:r>
          </a:p>
          <a:p>
            <a:pPr algn="ctr" defTabSz="910766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defRPr/>
            </a:pPr>
            <a:r>
              <a:rPr lang="zh-CN" altLang="en-US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向量</a:t>
            </a:r>
            <a:r>
              <a:rPr lang="en-US" altLang="zh-CN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Embedding</a:t>
            </a:r>
            <a:r>
              <a:rPr lang="zh-CN" altLang="en-US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加速</a:t>
            </a:r>
          </a:p>
        </p:txBody>
      </p:sp>
      <p:sp>
        <p:nvSpPr>
          <p:cNvPr id="23" name="圆角矩形 9">
            <a:extLst>
              <a:ext uri="{FF2B5EF4-FFF2-40B4-BE49-F238E27FC236}">
                <a16:creationId xmlns:a16="http://schemas.microsoft.com/office/drawing/2014/main" id="{D7233DA6-B428-7765-9A00-F0F67A45CE15}"/>
              </a:ext>
            </a:extLst>
          </p:cNvPr>
          <p:cNvSpPr/>
          <p:nvPr/>
        </p:nvSpPr>
        <p:spPr>
          <a:xfrm>
            <a:off x="2627041" y="4591311"/>
            <a:ext cx="1640053" cy="344403"/>
          </a:xfrm>
          <a:prstGeom prst="roundRect">
            <a:avLst>
              <a:gd name="adj" fmla="val 3795"/>
            </a:avLst>
          </a:prstGeom>
          <a:solidFill>
            <a:srgbClr val="DFF3D2"/>
          </a:solidFill>
          <a:ln w="6350" cap="flat" cmpd="sng" algn="ctr">
            <a:solidFill>
              <a:srgbClr val="1D1D1A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/>
          <a:lstStyle/>
          <a:p>
            <a:pPr algn="ctr" defTabSz="910766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defRPr/>
            </a:pPr>
            <a:r>
              <a:rPr lang="zh-CN" altLang="en-US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流式索引更新算法</a:t>
            </a:r>
          </a:p>
        </p:txBody>
      </p:sp>
      <p:sp>
        <p:nvSpPr>
          <p:cNvPr id="19" name="圆角矩形 15">
            <a:extLst>
              <a:ext uri="{FF2B5EF4-FFF2-40B4-BE49-F238E27FC236}">
                <a16:creationId xmlns:a16="http://schemas.microsoft.com/office/drawing/2014/main" id="{6F4C3958-A36E-38AB-4AC3-49F411833320}"/>
              </a:ext>
            </a:extLst>
          </p:cNvPr>
          <p:cNvSpPr/>
          <p:nvPr/>
        </p:nvSpPr>
        <p:spPr>
          <a:xfrm>
            <a:off x="4531159" y="3764355"/>
            <a:ext cx="1942043" cy="1294784"/>
          </a:xfrm>
          <a:prstGeom prst="roundRect">
            <a:avLst>
              <a:gd name="adj" fmla="val 2388"/>
            </a:avLst>
          </a:prstGeom>
          <a:solidFill>
            <a:schemeClr val="tx2"/>
          </a:solidFill>
          <a:ln w="6350" cap="flat" cmpd="sng" algn="ctr">
            <a:solidFill>
              <a:srgbClr val="1D1D1A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35986" tIns="35986" rIns="35986" bIns="35986" anchor="t" anchorCtr="1"/>
          <a:lstStyle/>
          <a:p>
            <a:pPr algn="ctr" defTabSz="479484">
              <a:defRPr/>
            </a:pPr>
            <a:r>
              <a:rPr lang="zh-CN" altLang="en-US" sz="1200" b="1" kern="0" spc="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记忆存储</a:t>
            </a:r>
          </a:p>
          <a:p>
            <a:pPr algn="ctr" defTabSz="479484">
              <a:defRPr/>
            </a:pPr>
            <a:endParaRPr lang="zh-CN" altLang="en-US" sz="1200" b="1" kern="0" spc="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 defTabSz="479484">
              <a:defRPr/>
            </a:pPr>
            <a:endParaRPr lang="zh-CN" altLang="en-US" sz="1200" b="1" kern="0" spc="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4" name="圆角矩形 9">
            <a:extLst>
              <a:ext uri="{FF2B5EF4-FFF2-40B4-BE49-F238E27FC236}">
                <a16:creationId xmlns:a16="http://schemas.microsoft.com/office/drawing/2014/main" id="{DC9119BA-EDFD-5746-9C55-D2BD1636BD95}"/>
              </a:ext>
            </a:extLst>
          </p:cNvPr>
          <p:cNvSpPr/>
          <p:nvPr/>
        </p:nvSpPr>
        <p:spPr>
          <a:xfrm>
            <a:off x="4697901" y="4131659"/>
            <a:ext cx="1640053" cy="344403"/>
          </a:xfrm>
          <a:prstGeom prst="roundRect">
            <a:avLst>
              <a:gd name="adj" fmla="val 3795"/>
            </a:avLst>
          </a:prstGeom>
          <a:solidFill>
            <a:srgbClr val="DFF3D2"/>
          </a:solidFill>
          <a:ln w="6350" cap="flat" cmpd="sng" algn="ctr">
            <a:solidFill>
              <a:srgbClr val="1D1D1A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/>
          <a:lstStyle/>
          <a:p>
            <a:pPr algn="ctr" defTabSz="910766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defRPr/>
            </a:pPr>
            <a:r>
              <a:rPr lang="en-US" altLang="zh-CN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UB</a:t>
            </a:r>
            <a:r>
              <a:rPr lang="zh-CN" altLang="en-US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内存池</a:t>
            </a:r>
            <a:r>
              <a:rPr lang="en-US" altLang="zh-CN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-HHM-SSU</a:t>
            </a:r>
          </a:p>
          <a:p>
            <a:pPr algn="ctr" defTabSz="910766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defRPr/>
            </a:pPr>
            <a:r>
              <a:rPr lang="zh-CN" altLang="en-US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冷热分层存储</a:t>
            </a:r>
          </a:p>
        </p:txBody>
      </p:sp>
      <p:sp>
        <p:nvSpPr>
          <p:cNvPr id="25" name="圆角矩形 9">
            <a:extLst>
              <a:ext uri="{FF2B5EF4-FFF2-40B4-BE49-F238E27FC236}">
                <a16:creationId xmlns:a16="http://schemas.microsoft.com/office/drawing/2014/main" id="{FFBFCFD8-22D5-73F2-58D6-E60F8C95BCAF}"/>
              </a:ext>
            </a:extLst>
          </p:cNvPr>
          <p:cNvSpPr/>
          <p:nvPr/>
        </p:nvSpPr>
        <p:spPr>
          <a:xfrm>
            <a:off x="4697901" y="4594980"/>
            <a:ext cx="1640053" cy="344403"/>
          </a:xfrm>
          <a:prstGeom prst="roundRect">
            <a:avLst>
              <a:gd name="adj" fmla="val 3795"/>
            </a:avLst>
          </a:prstGeom>
          <a:solidFill>
            <a:srgbClr val="DFF3D2"/>
          </a:solidFill>
          <a:ln w="6350" cap="flat" cmpd="sng" algn="ctr">
            <a:solidFill>
              <a:srgbClr val="1D1D1A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/>
          <a:lstStyle/>
          <a:p>
            <a:pPr algn="ctr" defTabSz="910766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defRPr/>
            </a:pPr>
            <a:r>
              <a:rPr lang="zh-CN" altLang="en-US" sz="11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多模态记忆压缩</a:t>
            </a:r>
          </a:p>
        </p:txBody>
      </p:sp>
      <p:sp>
        <p:nvSpPr>
          <p:cNvPr id="159" name="圆角矩形 15">
            <a:extLst>
              <a:ext uri="{FF2B5EF4-FFF2-40B4-BE49-F238E27FC236}">
                <a16:creationId xmlns:a16="http://schemas.microsoft.com/office/drawing/2014/main" id="{A156FB19-AC94-4186-8D60-9A606440F938}"/>
              </a:ext>
            </a:extLst>
          </p:cNvPr>
          <p:cNvSpPr/>
          <p:nvPr/>
        </p:nvSpPr>
        <p:spPr>
          <a:xfrm>
            <a:off x="342510" y="5310710"/>
            <a:ext cx="6206925" cy="793711"/>
          </a:xfrm>
          <a:prstGeom prst="roundRect">
            <a:avLst>
              <a:gd name="adj" fmla="val 3795"/>
            </a:avLst>
          </a:prstGeom>
          <a:solidFill>
            <a:schemeClr val="tx2">
              <a:lumMod val="95000"/>
            </a:schemeClr>
          </a:solidFill>
          <a:ln w="6350" cap="flat" cmpd="sng" algn="ctr">
            <a:solidFill>
              <a:srgbClr val="1D1D1A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35986" tIns="35986" rIns="35986" bIns="35986" anchor="t" anchorCtr="1"/>
          <a:lstStyle/>
          <a:p>
            <a:pPr algn="ctr" defTabSz="479484">
              <a:defRPr/>
            </a:pPr>
            <a:r>
              <a:rPr lang="zh-CN" altLang="en-US" sz="1399" b="1" kern="0" spc="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算力底座</a:t>
            </a:r>
          </a:p>
          <a:p>
            <a:pPr algn="ctr" defTabSz="479484">
              <a:defRPr/>
            </a:pPr>
            <a:endParaRPr lang="zh-CN" altLang="en-US" sz="1598" b="1" kern="0" spc="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 defTabSz="479484">
              <a:defRPr/>
            </a:pPr>
            <a:endParaRPr lang="zh-CN" altLang="en-US" sz="1598" b="1" kern="0" spc="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 defTabSz="479484">
              <a:defRPr/>
            </a:pPr>
            <a:endParaRPr lang="zh-CN" altLang="en-US" sz="1598" b="1" kern="0" spc="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63" name="圆角矩形 13">
            <a:extLst>
              <a:ext uri="{FF2B5EF4-FFF2-40B4-BE49-F238E27FC236}">
                <a16:creationId xmlns:a16="http://schemas.microsoft.com/office/drawing/2014/main" id="{51DFA349-0A91-4612-9E3E-D3D63AEF74E7}"/>
              </a:ext>
            </a:extLst>
          </p:cNvPr>
          <p:cNvSpPr/>
          <p:nvPr/>
        </p:nvSpPr>
        <p:spPr>
          <a:xfrm>
            <a:off x="1927042" y="5653732"/>
            <a:ext cx="1377671" cy="366840"/>
          </a:xfrm>
          <a:prstGeom prst="roundRect">
            <a:avLst>
              <a:gd name="adj" fmla="val 3795"/>
            </a:avLst>
          </a:prstGeom>
          <a:solidFill>
            <a:srgbClr val="FEFEFF"/>
          </a:solidFill>
          <a:ln w="6350" cap="flat" cmpd="sng" algn="ctr">
            <a:solidFill>
              <a:srgbClr val="1D1D1A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/>
          <a:lstStyle/>
          <a:p>
            <a:pPr algn="ctr" defTabSz="479484">
              <a:defRPr/>
            </a:pPr>
            <a:r>
              <a:rPr lang="zh-CN" altLang="en-US" sz="1200" kern="0" spc="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鲲鹏超节点</a:t>
            </a:r>
          </a:p>
        </p:txBody>
      </p:sp>
      <p:sp>
        <p:nvSpPr>
          <p:cNvPr id="161" name="圆角矩形 13">
            <a:extLst>
              <a:ext uri="{FF2B5EF4-FFF2-40B4-BE49-F238E27FC236}">
                <a16:creationId xmlns:a16="http://schemas.microsoft.com/office/drawing/2014/main" id="{7D835C11-1C27-4999-9ACD-50AC42CE5E77}"/>
              </a:ext>
            </a:extLst>
          </p:cNvPr>
          <p:cNvSpPr/>
          <p:nvPr/>
        </p:nvSpPr>
        <p:spPr>
          <a:xfrm>
            <a:off x="473878" y="5653732"/>
            <a:ext cx="1377671" cy="366840"/>
          </a:xfrm>
          <a:prstGeom prst="roundRect">
            <a:avLst>
              <a:gd name="adj" fmla="val 3795"/>
            </a:avLst>
          </a:prstGeom>
          <a:solidFill>
            <a:srgbClr val="FEFEFF"/>
          </a:solidFill>
          <a:ln w="6350" cap="flat" cmpd="sng" algn="ctr">
            <a:solidFill>
              <a:srgbClr val="1D1D1A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/>
          <a:lstStyle/>
          <a:p>
            <a:pPr algn="ctr" defTabSz="479484">
              <a:defRPr/>
            </a:pPr>
            <a:r>
              <a:rPr lang="zh-CN" altLang="en-US" sz="1200" kern="0" spc="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鲲鹏标准服务器</a:t>
            </a:r>
          </a:p>
        </p:txBody>
      </p:sp>
      <p:sp>
        <p:nvSpPr>
          <p:cNvPr id="26" name="圆角矩形 13">
            <a:extLst>
              <a:ext uri="{FF2B5EF4-FFF2-40B4-BE49-F238E27FC236}">
                <a16:creationId xmlns:a16="http://schemas.microsoft.com/office/drawing/2014/main" id="{876FAB8A-89B3-F243-709D-185FA020EA74}"/>
              </a:ext>
            </a:extLst>
          </p:cNvPr>
          <p:cNvSpPr/>
          <p:nvPr/>
        </p:nvSpPr>
        <p:spPr>
          <a:xfrm>
            <a:off x="3380205" y="5653732"/>
            <a:ext cx="893881" cy="366840"/>
          </a:xfrm>
          <a:prstGeom prst="roundRect">
            <a:avLst>
              <a:gd name="adj" fmla="val 3795"/>
            </a:avLst>
          </a:prstGeom>
          <a:solidFill>
            <a:srgbClr val="FEFEFF"/>
          </a:solidFill>
          <a:ln w="6350" cap="flat" cmpd="sng" algn="ctr">
            <a:solidFill>
              <a:srgbClr val="1D1D1A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/>
          <a:lstStyle/>
          <a:p>
            <a:pPr algn="ctr" defTabSz="479484">
              <a:defRPr/>
            </a:pPr>
            <a:r>
              <a:rPr lang="en-US" altLang="zh-CN" sz="1200" kern="0" spc="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HHM</a:t>
            </a:r>
            <a:r>
              <a:rPr lang="zh-CN" altLang="en-US" sz="1200" kern="0" spc="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池</a:t>
            </a:r>
          </a:p>
        </p:txBody>
      </p:sp>
      <p:sp>
        <p:nvSpPr>
          <p:cNvPr id="27" name="圆角矩形 13">
            <a:extLst>
              <a:ext uri="{FF2B5EF4-FFF2-40B4-BE49-F238E27FC236}">
                <a16:creationId xmlns:a16="http://schemas.microsoft.com/office/drawing/2014/main" id="{F3104334-D0E2-9CE0-4378-F5EF811FC67D}"/>
              </a:ext>
            </a:extLst>
          </p:cNvPr>
          <p:cNvSpPr/>
          <p:nvPr/>
        </p:nvSpPr>
        <p:spPr>
          <a:xfrm>
            <a:off x="4342261" y="5653732"/>
            <a:ext cx="893881" cy="366840"/>
          </a:xfrm>
          <a:prstGeom prst="roundRect">
            <a:avLst>
              <a:gd name="adj" fmla="val 3795"/>
            </a:avLst>
          </a:prstGeom>
          <a:solidFill>
            <a:srgbClr val="FEFEFF"/>
          </a:solidFill>
          <a:ln w="6350" cap="flat" cmpd="sng" algn="ctr">
            <a:solidFill>
              <a:srgbClr val="1D1D1A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/>
          <a:lstStyle/>
          <a:p>
            <a:pPr algn="ctr" defTabSz="479484">
              <a:defRPr/>
            </a:pPr>
            <a:r>
              <a:rPr lang="en-US" altLang="zh-CN" sz="1200" kern="0" spc="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SSU</a:t>
            </a:r>
            <a:r>
              <a:rPr lang="zh-CN" altLang="en-US" sz="1200" kern="0" spc="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池</a:t>
            </a:r>
          </a:p>
        </p:txBody>
      </p:sp>
      <p:sp>
        <p:nvSpPr>
          <p:cNvPr id="28" name="圆角矩形 13">
            <a:extLst>
              <a:ext uri="{FF2B5EF4-FFF2-40B4-BE49-F238E27FC236}">
                <a16:creationId xmlns:a16="http://schemas.microsoft.com/office/drawing/2014/main" id="{F8A9FA0D-9CD8-165B-066D-0E2DBC229B2A}"/>
              </a:ext>
            </a:extLst>
          </p:cNvPr>
          <p:cNvSpPr/>
          <p:nvPr/>
        </p:nvSpPr>
        <p:spPr>
          <a:xfrm>
            <a:off x="5304316" y="5653731"/>
            <a:ext cx="1120710" cy="366840"/>
          </a:xfrm>
          <a:prstGeom prst="roundRect">
            <a:avLst>
              <a:gd name="adj" fmla="val 3795"/>
            </a:avLst>
          </a:prstGeom>
          <a:solidFill>
            <a:srgbClr val="FEFEFF"/>
          </a:solidFill>
          <a:ln w="6350" cap="flat" cmpd="sng" algn="ctr">
            <a:solidFill>
              <a:srgbClr val="1D1D1A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/>
          <a:lstStyle/>
          <a:p>
            <a:pPr algn="ctr" defTabSz="479484">
              <a:defRPr/>
            </a:pPr>
            <a:r>
              <a:rPr lang="zh-CN" altLang="en-US" sz="1200" kern="0" spc="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昇腾</a:t>
            </a:r>
            <a:r>
              <a:rPr lang="en-US" altLang="zh-CN" sz="1200" kern="0" spc="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NPU</a:t>
            </a:r>
            <a:endParaRPr lang="zh-CN" altLang="en-US" sz="1200" kern="0" spc="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216FE589-4EFE-E3D3-E537-0D1169A7CA4B}"/>
              </a:ext>
            </a:extLst>
          </p:cNvPr>
          <p:cNvSpPr/>
          <p:nvPr/>
        </p:nvSpPr>
        <p:spPr>
          <a:xfrm>
            <a:off x="2627040" y="1684953"/>
            <a:ext cx="215916" cy="21591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3668">
              <a:defRPr/>
            </a:pPr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B450A476-8777-E736-3AD8-E862549D1C49}"/>
              </a:ext>
            </a:extLst>
          </p:cNvPr>
          <p:cNvSpPr/>
          <p:nvPr/>
        </p:nvSpPr>
        <p:spPr>
          <a:xfrm>
            <a:off x="2204662" y="3441550"/>
            <a:ext cx="215916" cy="21591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3668">
              <a:defRPr/>
            </a:pPr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圆角矩形 9">
            <a:extLst>
              <a:ext uri="{FF2B5EF4-FFF2-40B4-BE49-F238E27FC236}">
                <a16:creationId xmlns:a16="http://schemas.microsoft.com/office/drawing/2014/main" id="{1EBE37BC-DB00-8D71-DD67-741D71AB52CA}"/>
              </a:ext>
            </a:extLst>
          </p:cNvPr>
          <p:cNvSpPr/>
          <p:nvPr/>
        </p:nvSpPr>
        <p:spPr>
          <a:xfrm>
            <a:off x="473877" y="2795979"/>
            <a:ext cx="5951150" cy="344403"/>
          </a:xfrm>
          <a:prstGeom prst="roundRect">
            <a:avLst>
              <a:gd name="adj" fmla="val 3795"/>
            </a:avLst>
          </a:prstGeom>
          <a:solidFill>
            <a:srgbClr val="DFF3D2"/>
          </a:solidFill>
          <a:ln w="6350" cap="flat" cmpd="sng" algn="ctr">
            <a:solidFill>
              <a:srgbClr val="1D1D1A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 anchorCtr="1"/>
          <a:lstStyle/>
          <a:p>
            <a:pPr algn="ctr" defTabSz="910766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defRPr/>
            </a:pPr>
            <a:r>
              <a:rPr lang="zh-CN" altLang="en-US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鲲鹏亲和加速库插件（</a:t>
            </a:r>
            <a:r>
              <a:rPr lang="en-US" altLang="zh-CN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Mem0/</a:t>
            </a:r>
            <a:r>
              <a:rPr lang="en-US" altLang="zh-CN" sz="1200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MemOS</a:t>
            </a:r>
            <a:r>
              <a:rPr lang="en-US" altLang="zh-CN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/</a:t>
            </a:r>
            <a:r>
              <a:rPr lang="en-US" altLang="zh-CN" sz="1200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OpenViking</a:t>
            </a:r>
            <a:r>
              <a:rPr lang="en-US" altLang="zh-CN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…</a:t>
            </a:r>
            <a:r>
              <a:rPr lang="zh-CN" altLang="en-US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）</a:t>
            </a: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D646B412-1D09-47AF-AE7C-C18B486879A6}"/>
              </a:ext>
            </a:extLst>
          </p:cNvPr>
          <p:cNvCxnSpPr>
            <a:cxnSpLocks/>
          </p:cNvCxnSpPr>
          <p:nvPr/>
        </p:nvCxnSpPr>
        <p:spPr>
          <a:xfrm>
            <a:off x="6806648" y="5588245"/>
            <a:ext cx="48979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14F53622-928C-40A8-BCEC-07C977CF98B2}"/>
              </a:ext>
            </a:extLst>
          </p:cNvPr>
          <p:cNvCxnSpPr>
            <a:cxnSpLocks/>
          </p:cNvCxnSpPr>
          <p:nvPr/>
        </p:nvCxnSpPr>
        <p:spPr>
          <a:xfrm>
            <a:off x="7456593" y="5526539"/>
            <a:ext cx="0" cy="6170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CD77D179-7979-4F24-858A-FA39DA1610C4}"/>
              </a:ext>
            </a:extLst>
          </p:cNvPr>
          <p:cNvCxnSpPr>
            <a:cxnSpLocks/>
          </p:cNvCxnSpPr>
          <p:nvPr/>
        </p:nvCxnSpPr>
        <p:spPr>
          <a:xfrm>
            <a:off x="9262800" y="5526539"/>
            <a:ext cx="0" cy="61706"/>
          </a:xfrm>
          <a:prstGeom prst="line">
            <a:avLst/>
          </a:prstGeom>
          <a:ln w="38100">
            <a:solidFill>
              <a:schemeClr val="tx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826BF2D0-750A-445C-935A-138776279FDC}"/>
              </a:ext>
            </a:extLst>
          </p:cNvPr>
          <p:cNvCxnSpPr>
            <a:cxnSpLocks/>
          </p:cNvCxnSpPr>
          <p:nvPr/>
        </p:nvCxnSpPr>
        <p:spPr>
          <a:xfrm>
            <a:off x="10930904" y="5526539"/>
            <a:ext cx="0" cy="6170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86A03EB4-2779-492D-8CF8-68CBA367EF72}"/>
              </a:ext>
            </a:extLst>
          </p:cNvPr>
          <p:cNvSpPr/>
          <p:nvPr/>
        </p:nvSpPr>
        <p:spPr>
          <a:xfrm>
            <a:off x="6800610" y="5048917"/>
            <a:ext cx="1424833" cy="4076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3016" fontAlgn="t">
              <a:defRPr/>
            </a:pPr>
            <a:r>
              <a:rPr lang="zh-CN" altLang="en-US" sz="10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阶段一：</a:t>
            </a:r>
            <a:r>
              <a:rPr lang="en-US" altLang="zh-CN" sz="10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RAG</a:t>
            </a:r>
            <a:r>
              <a:rPr lang="zh-CN" altLang="en-US" sz="10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知识库</a:t>
            </a:r>
            <a:endParaRPr lang="en-US" altLang="zh-CN" sz="105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3016" fontAlgn="t">
              <a:defRPr/>
            </a:pPr>
            <a:r>
              <a:rPr lang="en-US" altLang="zh-CN" sz="9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(2023~2024)</a:t>
            </a:r>
            <a:endParaRPr lang="zh-CN" altLang="en-US" sz="9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541A9A9A-D817-470A-98F0-62F91E160F26}"/>
              </a:ext>
            </a:extLst>
          </p:cNvPr>
          <p:cNvSpPr/>
          <p:nvPr/>
        </p:nvSpPr>
        <p:spPr>
          <a:xfrm>
            <a:off x="6948496" y="5620652"/>
            <a:ext cx="1276946" cy="399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312" indent="-171312" defTabSz="913016" fontAlgn="t"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百亿千维规模</a:t>
            </a:r>
            <a:endParaRPr lang="en-US" altLang="zh-CN" sz="1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312" indent="-171312" defTabSz="913016" fontAlgn="t"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</a:t>
            </a:r>
            <a:r>
              <a:rPr lang="en-US" altLang="zh-CN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RAG</a:t>
            </a:r>
            <a:r>
              <a: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知识库</a:t>
            </a:r>
            <a:endParaRPr lang="en-US" altLang="zh-CN" sz="1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80C9DCEE-8A91-4E34-BA09-2AF9AA6A9368}"/>
              </a:ext>
            </a:extLst>
          </p:cNvPr>
          <p:cNvSpPr/>
          <p:nvPr/>
        </p:nvSpPr>
        <p:spPr>
          <a:xfrm>
            <a:off x="8420379" y="5048917"/>
            <a:ext cx="1673202" cy="4076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3016" fontAlgn="t">
              <a:defRPr/>
            </a:pPr>
            <a:r>
              <a:rPr lang="zh-CN" altLang="en-US" sz="10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阶段二：</a:t>
            </a:r>
            <a:r>
              <a:rPr lang="en-US" altLang="zh-CN" sz="10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10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记忆系统</a:t>
            </a:r>
            <a:endParaRPr lang="en-US" altLang="zh-CN" sz="105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3016" fontAlgn="t">
              <a:defRPr/>
            </a:pPr>
            <a:r>
              <a:rPr lang="en-US" altLang="zh-CN" sz="9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(2025~2027)</a:t>
            </a:r>
            <a:endParaRPr lang="zh-CN" altLang="en-US" sz="9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2B39DC94-742A-42D2-AC42-C09122FCCF03}"/>
              </a:ext>
            </a:extLst>
          </p:cNvPr>
          <p:cNvSpPr/>
          <p:nvPr/>
        </p:nvSpPr>
        <p:spPr>
          <a:xfrm>
            <a:off x="8648003" y="5623458"/>
            <a:ext cx="1229596" cy="553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312" indent="-171312" defTabSz="913016" fontAlgn="t">
              <a:buFont typeface="Arial" panose="020B0604020202020204" pitchFamily="34" charset="0"/>
              <a:buChar char="•"/>
              <a:defRPr/>
            </a:pPr>
            <a:r>
              <a:rPr lang="zh-CN" altLang="en-US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千亿千维规模</a:t>
            </a:r>
            <a:endParaRPr lang="en-US" altLang="zh-CN" sz="1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312" indent="-171312" defTabSz="913016" fontAlgn="t"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动态记忆更新</a:t>
            </a:r>
          </a:p>
          <a:p>
            <a:pPr marL="171312" indent="-171312" defTabSz="913016" fontAlgn="t"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多路记忆检索</a:t>
            </a:r>
            <a:endParaRPr lang="en-US" altLang="zh-CN" sz="1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9F853544-0099-41D5-B758-FEBEDB691FF2}"/>
              </a:ext>
            </a:extLst>
          </p:cNvPr>
          <p:cNvSpPr/>
          <p:nvPr/>
        </p:nvSpPr>
        <p:spPr>
          <a:xfrm>
            <a:off x="10097391" y="5048917"/>
            <a:ext cx="1807801" cy="4076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3016" fontAlgn="t">
              <a:defRPr/>
            </a:pPr>
            <a:r>
              <a:rPr lang="zh-CN" altLang="en-US" sz="10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阶段三：多</a:t>
            </a:r>
            <a:r>
              <a:rPr lang="en-US" altLang="zh-CN" sz="10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10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记忆系统</a:t>
            </a:r>
            <a:endParaRPr lang="en-US" altLang="zh-CN" sz="105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3016" fontAlgn="t">
              <a:defRPr/>
            </a:pPr>
            <a:r>
              <a:rPr lang="en-US" altLang="zh-CN" sz="9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(2028~2030)</a:t>
            </a:r>
            <a:endParaRPr lang="zh-CN" altLang="en-US" sz="9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51275A27-AB3F-4717-A2E1-181A5206311C}"/>
              </a:ext>
            </a:extLst>
          </p:cNvPr>
          <p:cNvSpPr/>
          <p:nvPr/>
        </p:nvSpPr>
        <p:spPr>
          <a:xfrm>
            <a:off x="10374708" y="5624582"/>
            <a:ext cx="1117814" cy="399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312" indent="-171312" defTabSz="913016" fontAlgn="t">
              <a:buFont typeface="Arial" panose="020B0604020202020204" pitchFamily="34" charset="0"/>
              <a:buChar char="•"/>
              <a:defRPr/>
            </a:pPr>
            <a:r>
              <a:rPr lang="zh-CN" altLang="en-US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万亿千维规模</a:t>
            </a:r>
            <a:endParaRPr lang="en-US" altLang="zh-CN" sz="1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312" indent="-171312" defTabSz="913016" fontAlgn="t"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多模融合检索</a:t>
            </a:r>
            <a:endParaRPr lang="en-US" altLang="zh-CN" sz="1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A88B4BC-69BA-4C9F-8F74-C22FF34E6043}"/>
              </a:ext>
            </a:extLst>
          </p:cNvPr>
          <p:cNvSpPr/>
          <p:nvPr/>
        </p:nvSpPr>
        <p:spPr>
          <a:xfrm>
            <a:off x="1927041" y="6327063"/>
            <a:ext cx="10426440" cy="464473"/>
          </a:xfrm>
          <a:prstGeom prst="rect">
            <a:avLst/>
          </a:prstGeom>
          <a:solidFill>
            <a:srgbClr val="E9002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竞争力目标：记忆系统竞争力</a:t>
            </a:r>
            <a:r>
              <a:rPr lang="en-US" altLang="zh-CN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记忆检索，记忆更新，记忆存储，核心技术是</a:t>
            </a:r>
            <a:r>
              <a:rPr lang="en-US" altLang="zh-CN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HHM</a:t>
            </a:r>
            <a:endParaRPr lang="zh-CN" altLang="en-US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2CB6144-01BF-4CCC-9C26-93D7480ECBD2}"/>
              </a:ext>
            </a:extLst>
          </p:cNvPr>
          <p:cNvSpPr/>
          <p:nvPr/>
        </p:nvSpPr>
        <p:spPr>
          <a:xfrm>
            <a:off x="37420" y="6327064"/>
            <a:ext cx="1705797" cy="464473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b="1" kern="0" dirty="0">
                <a:solidFill>
                  <a:srgbClr val="C00000"/>
                </a:solidFill>
                <a:latin typeface="微软雅黑" panose="020B0503020204020204" pitchFamily="34" charset="-122"/>
                <a:ea typeface="等线" panose="02010600030101010101" pitchFamily="2" charset="-122"/>
              </a:rPr>
              <a:t>王栋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E41F6ED-40BA-4B37-B759-B7919285F55D}"/>
              </a:ext>
            </a:extLst>
          </p:cNvPr>
          <p:cNvSpPr txBox="1"/>
          <p:nvPr/>
        </p:nvSpPr>
        <p:spPr>
          <a:xfrm>
            <a:off x="244192" y="3611931"/>
            <a:ext cx="91852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yulichen</a:t>
            </a:r>
            <a:endParaRPr kumimoji="1" lang="zh-CN" altLang="en-US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6458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E6AC83F-E70B-4D3D-B4AF-5521C5656A84}"/>
              </a:ext>
            </a:extLst>
          </p:cNvPr>
          <p:cNvSpPr/>
          <p:nvPr/>
        </p:nvSpPr>
        <p:spPr>
          <a:xfrm>
            <a:off x="8127931" y="1669473"/>
            <a:ext cx="3960000" cy="1872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2" name="图表 91">
            <a:extLst>
              <a:ext uri="{FF2B5EF4-FFF2-40B4-BE49-F238E27FC236}">
                <a16:creationId xmlns:a16="http://schemas.microsoft.com/office/drawing/2014/main" id="{A7AF816A-8B1A-438F-B65A-90F289A153F6}"/>
              </a:ext>
            </a:extLst>
          </p:cNvPr>
          <p:cNvGraphicFramePr>
            <a:graphicFrameLocks/>
          </p:cNvGraphicFramePr>
          <p:nvPr/>
        </p:nvGraphicFramePr>
        <p:xfrm>
          <a:off x="8618955" y="1787465"/>
          <a:ext cx="1872000" cy="16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4" name="图表 93">
            <a:extLst>
              <a:ext uri="{FF2B5EF4-FFF2-40B4-BE49-F238E27FC236}">
                <a16:creationId xmlns:a16="http://schemas.microsoft.com/office/drawing/2014/main" id="{86650A4D-4A95-48B1-9B4E-413037AD04AB}"/>
              </a:ext>
            </a:extLst>
          </p:cNvPr>
          <p:cNvGraphicFramePr>
            <a:graphicFrameLocks/>
          </p:cNvGraphicFramePr>
          <p:nvPr/>
        </p:nvGraphicFramePr>
        <p:xfrm>
          <a:off x="10572788" y="1787465"/>
          <a:ext cx="1872000" cy="16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0" name="矩形 79">
            <a:extLst>
              <a:ext uri="{FF2B5EF4-FFF2-40B4-BE49-F238E27FC236}">
                <a16:creationId xmlns:a16="http://schemas.microsoft.com/office/drawing/2014/main" id="{252826CE-5D4A-4364-9680-E85D253F73EC}"/>
              </a:ext>
            </a:extLst>
          </p:cNvPr>
          <p:cNvSpPr/>
          <p:nvPr/>
        </p:nvSpPr>
        <p:spPr>
          <a:xfrm>
            <a:off x="6201959" y="1815670"/>
            <a:ext cx="1800000" cy="38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Inductor</a:t>
            </a:r>
            <a:endParaRPr lang="zh-CN" alt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86A61DE4-707D-4BE2-B61F-65D5958CD6A0}"/>
              </a:ext>
            </a:extLst>
          </p:cNvPr>
          <p:cNvSpPr/>
          <p:nvPr/>
        </p:nvSpPr>
        <p:spPr>
          <a:xfrm>
            <a:off x="4304182" y="1815670"/>
            <a:ext cx="1800000" cy="38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Eager</a:t>
            </a:r>
            <a:endParaRPr lang="zh-CN" alt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AAC7EF93-7EBA-4B71-9079-04880588CEC3}"/>
              </a:ext>
            </a:extLst>
          </p:cNvPr>
          <p:cNvSpPr/>
          <p:nvPr/>
        </p:nvSpPr>
        <p:spPr>
          <a:xfrm>
            <a:off x="2238508" y="1815670"/>
            <a:ext cx="1800000" cy="38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Inductor</a:t>
            </a:r>
            <a:endParaRPr lang="zh-CN" alt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912C811A-3CC8-4F0B-8241-96620B16E711}"/>
              </a:ext>
            </a:extLst>
          </p:cNvPr>
          <p:cNvSpPr/>
          <p:nvPr/>
        </p:nvSpPr>
        <p:spPr>
          <a:xfrm>
            <a:off x="350507" y="1815670"/>
            <a:ext cx="1800000" cy="38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Eager</a:t>
            </a:r>
            <a:endParaRPr lang="zh-CN" alt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58AE570-BFD5-483D-B667-473F99133C20}"/>
              </a:ext>
            </a:extLst>
          </p:cNvPr>
          <p:cNvSpPr/>
          <p:nvPr/>
        </p:nvSpPr>
        <p:spPr>
          <a:xfrm>
            <a:off x="302153" y="1577860"/>
            <a:ext cx="3780000" cy="4140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vLLM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60B40A4-0A54-454D-B394-5EA6AEE28197}"/>
              </a:ext>
            </a:extLst>
          </p:cNvPr>
          <p:cNvSpPr/>
          <p:nvPr/>
        </p:nvSpPr>
        <p:spPr>
          <a:xfrm>
            <a:off x="4256511" y="1577860"/>
            <a:ext cx="3780000" cy="4140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SGLang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8A2F2CD-B76D-40E5-BEC1-7A1337334C95}"/>
              </a:ext>
            </a:extLst>
          </p:cNvPr>
          <p:cNvSpPr/>
          <p:nvPr/>
        </p:nvSpPr>
        <p:spPr>
          <a:xfrm>
            <a:off x="440507" y="2103772"/>
            <a:ext cx="1620000" cy="216000"/>
          </a:xfrm>
          <a:prstGeom prst="rect">
            <a:avLst/>
          </a:prstGeom>
          <a:solidFill>
            <a:schemeClr val="accent6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：请求处理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3ED4AC9-73B1-494E-BA23-02ACE112C16A}"/>
              </a:ext>
            </a:extLst>
          </p:cNvPr>
          <p:cNvSpPr/>
          <p:nvPr/>
        </p:nvSpPr>
        <p:spPr>
          <a:xfrm>
            <a:off x="440507" y="2434888"/>
            <a:ext cx="1620000" cy="216000"/>
          </a:xfrm>
          <a:prstGeom prst="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9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Python/Rust: tokenization</a:t>
            </a:r>
            <a:endParaRPr lang="zh-CN" altLang="en-US" sz="9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563DE27-B66C-42AB-8B7D-9753BF663FE7}"/>
              </a:ext>
            </a:extLst>
          </p:cNvPr>
          <p:cNvSpPr/>
          <p:nvPr/>
        </p:nvSpPr>
        <p:spPr>
          <a:xfrm>
            <a:off x="440507" y="3293887"/>
            <a:ext cx="1620000" cy="216000"/>
          </a:xfrm>
          <a:prstGeom prst="rect">
            <a:avLst/>
          </a:prstGeom>
          <a:solidFill>
            <a:schemeClr val="accent6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：算子构建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BAA1EDC-AB2B-4B81-AEC0-955E5D29467E}"/>
              </a:ext>
            </a:extLst>
          </p:cNvPr>
          <p:cNvSpPr/>
          <p:nvPr/>
        </p:nvSpPr>
        <p:spPr>
          <a:xfrm>
            <a:off x="440507" y="3953651"/>
            <a:ext cx="1620000" cy="216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：算子执行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32A0BF-C65A-4D05-BAED-7E26ED4E1CDE}"/>
              </a:ext>
            </a:extLst>
          </p:cNvPr>
          <p:cNvSpPr/>
          <p:nvPr/>
        </p:nvSpPr>
        <p:spPr>
          <a:xfrm>
            <a:off x="440507" y="3623769"/>
            <a:ext cx="1620000" cy="216000"/>
          </a:xfrm>
          <a:prstGeom prst="rect">
            <a:avLst/>
          </a:prstGeom>
          <a:solidFill>
            <a:schemeClr val="accent6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：算子下发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F3CE1C5-21AE-4191-90A9-765700BD25FB}"/>
              </a:ext>
            </a:extLst>
          </p:cNvPr>
          <p:cNvSpPr/>
          <p:nvPr/>
        </p:nvSpPr>
        <p:spPr>
          <a:xfrm>
            <a:off x="440507" y="5357585"/>
            <a:ext cx="1620000" cy="216000"/>
          </a:xfrm>
          <a:prstGeom prst="rect">
            <a:avLst/>
          </a:prstGeom>
          <a:solidFill>
            <a:schemeClr val="accent6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：终止判断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776412F-3A6A-4F40-B9A3-F74A227AA155}"/>
              </a:ext>
            </a:extLst>
          </p:cNvPr>
          <p:cNvSpPr/>
          <p:nvPr/>
        </p:nvSpPr>
        <p:spPr>
          <a:xfrm>
            <a:off x="440507" y="5026468"/>
            <a:ext cx="1620000" cy="216000"/>
          </a:xfrm>
          <a:prstGeom prst="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Python/RUST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decode</a:t>
            </a:r>
            <a:endParaRPr lang="zh-CN" altLang="en-US" sz="1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E35F86B-1E55-4848-AEF8-7780A0E9C9A3}"/>
              </a:ext>
            </a:extLst>
          </p:cNvPr>
          <p:cNvSpPr/>
          <p:nvPr/>
        </p:nvSpPr>
        <p:spPr>
          <a:xfrm>
            <a:off x="386507" y="3097120"/>
            <a:ext cx="1728000" cy="11520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循环执行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3BAB0D0-0718-43EE-9ABE-FF4BE5314A28}"/>
              </a:ext>
            </a:extLst>
          </p:cNvPr>
          <p:cNvSpPr/>
          <p:nvPr/>
        </p:nvSpPr>
        <p:spPr>
          <a:xfrm>
            <a:off x="2328508" y="2103772"/>
            <a:ext cx="1620000" cy="216000"/>
          </a:xfrm>
          <a:prstGeom prst="rect">
            <a:avLst/>
          </a:prstGeom>
          <a:solidFill>
            <a:schemeClr val="accent6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：请求处理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1467272-4707-4C96-BAED-7714C15E9303}"/>
              </a:ext>
            </a:extLst>
          </p:cNvPr>
          <p:cNvSpPr/>
          <p:nvPr/>
        </p:nvSpPr>
        <p:spPr>
          <a:xfrm>
            <a:off x="2328508" y="2434888"/>
            <a:ext cx="1620000" cy="216000"/>
          </a:xfrm>
          <a:prstGeom prst="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9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Python/Rust: tokenization</a:t>
            </a:r>
            <a:endParaRPr lang="zh-CN" altLang="en-US" sz="9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2976BEC-EC91-45F4-BD88-DA2395BBEF15}"/>
              </a:ext>
            </a:extLst>
          </p:cNvPr>
          <p:cNvSpPr/>
          <p:nvPr/>
        </p:nvSpPr>
        <p:spPr>
          <a:xfrm>
            <a:off x="2328508" y="3623769"/>
            <a:ext cx="1620000" cy="216000"/>
          </a:xfrm>
          <a:prstGeom prst="rect">
            <a:avLst/>
          </a:prstGeom>
          <a:solidFill>
            <a:schemeClr val="accent6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：算子下发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AA89DB1-27E6-41A3-9554-6407117182AE}"/>
              </a:ext>
            </a:extLst>
          </p:cNvPr>
          <p:cNvSpPr/>
          <p:nvPr/>
        </p:nvSpPr>
        <p:spPr>
          <a:xfrm>
            <a:off x="2328508" y="3953651"/>
            <a:ext cx="1620000" cy="216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：算子执行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CA94234-3A50-4B7D-998A-A51D56954B9F}"/>
              </a:ext>
            </a:extLst>
          </p:cNvPr>
          <p:cNvSpPr/>
          <p:nvPr/>
        </p:nvSpPr>
        <p:spPr>
          <a:xfrm>
            <a:off x="1816371" y="3655644"/>
            <a:ext cx="216000" cy="14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GIL</a:t>
            </a:r>
            <a:endParaRPr lang="zh-CN" altLang="en-US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A1CE52D-7FF6-427A-BC0B-992646175047}"/>
              </a:ext>
            </a:extLst>
          </p:cNvPr>
          <p:cNvSpPr/>
          <p:nvPr/>
        </p:nvSpPr>
        <p:spPr>
          <a:xfrm>
            <a:off x="4394182" y="2103772"/>
            <a:ext cx="1620000" cy="216000"/>
          </a:xfrm>
          <a:prstGeom prst="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：请求处理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EBEE572-CDAE-49DD-B171-25F288B55E0C}"/>
              </a:ext>
            </a:extLst>
          </p:cNvPr>
          <p:cNvSpPr/>
          <p:nvPr/>
        </p:nvSpPr>
        <p:spPr>
          <a:xfrm>
            <a:off x="4394182" y="2434888"/>
            <a:ext cx="1620000" cy="216000"/>
          </a:xfrm>
          <a:prstGeom prst="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1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DSL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解析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FCFD6FC-A83B-4CDC-840C-85A573899596}"/>
              </a:ext>
            </a:extLst>
          </p:cNvPr>
          <p:cNvSpPr/>
          <p:nvPr/>
        </p:nvSpPr>
        <p:spPr>
          <a:xfrm>
            <a:off x="4394182" y="3623769"/>
            <a:ext cx="1620000" cy="216000"/>
          </a:xfrm>
          <a:prstGeom prst="rect">
            <a:avLst/>
          </a:prstGeom>
          <a:solidFill>
            <a:schemeClr val="accent6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：算子下发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69D2201-6B48-4316-A486-BF8A15E7E133}"/>
              </a:ext>
            </a:extLst>
          </p:cNvPr>
          <p:cNvSpPr/>
          <p:nvPr/>
        </p:nvSpPr>
        <p:spPr>
          <a:xfrm>
            <a:off x="4394182" y="3953651"/>
            <a:ext cx="1620000" cy="216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：算子执行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B9331D2-D1B1-416C-B172-BC90FE8E8607}"/>
              </a:ext>
            </a:extLst>
          </p:cNvPr>
          <p:cNvSpPr/>
          <p:nvPr/>
        </p:nvSpPr>
        <p:spPr>
          <a:xfrm>
            <a:off x="4394182" y="5026468"/>
            <a:ext cx="1620000" cy="216000"/>
          </a:xfrm>
          <a:prstGeom prst="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decode</a:t>
            </a:r>
            <a:endParaRPr lang="zh-CN" altLang="en-US" sz="1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6014CEC-F5DC-4FE3-B486-2F184EDCA2DA}"/>
              </a:ext>
            </a:extLst>
          </p:cNvPr>
          <p:cNvSpPr/>
          <p:nvPr/>
        </p:nvSpPr>
        <p:spPr>
          <a:xfrm>
            <a:off x="4340182" y="3097120"/>
            <a:ext cx="1728000" cy="11520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循环执行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79FA5D5-6603-4C7D-9A51-699127DAAB4E}"/>
              </a:ext>
            </a:extLst>
          </p:cNvPr>
          <p:cNvSpPr/>
          <p:nvPr/>
        </p:nvSpPr>
        <p:spPr>
          <a:xfrm>
            <a:off x="6291959" y="2103772"/>
            <a:ext cx="1620000" cy="216000"/>
          </a:xfrm>
          <a:prstGeom prst="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：请求处理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D872029-1D5B-4D36-8C04-A5BADC1A28A8}"/>
              </a:ext>
            </a:extLst>
          </p:cNvPr>
          <p:cNvSpPr/>
          <p:nvPr/>
        </p:nvSpPr>
        <p:spPr>
          <a:xfrm>
            <a:off x="6291959" y="2434888"/>
            <a:ext cx="1620000" cy="216000"/>
          </a:xfrm>
          <a:prstGeom prst="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1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DSL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解析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BF90D93-AE56-47CE-89D9-6A546078343E}"/>
              </a:ext>
            </a:extLst>
          </p:cNvPr>
          <p:cNvSpPr/>
          <p:nvPr/>
        </p:nvSpPr>
        <p:spPr>
          <a:xfrm>
            <a:off x="6291959" y="3623769"/>
            <a:ext cx="1620000" cy="216000"/>
          </a:xfrm>
          <a:prstGeom prst="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：算子下发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30AFEF9-1E30-4247-A7A0-02A8F8BE3AD8}"/>
              </a:ext>
            </a:extLst>
          </p:cNvPr>
          <p:cNvSpPr/>
          <p:nvPr/>
        </p:nvSpPr>
        <p:spPr>
          <a:xfrm>
            <a:off x="6291959" y="3953651"/>
            <a:ext cx="1620000" cy="216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：算子执行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BA08D10-DE3B-42AB-B17D-F9036C351423}"/>
              </a:ext>
            </a:extLst>
          </p:cNvPr>
          <p:cNvSpPr/>
          <p:nvPr/>
        </p:nvSpPr>
        <p:spPr>
          <a:xfrm>
            <a:off x="6291959" y="5026468"/>
            <a:ext cx="1620000" cy="216000"/>
          </a:xfrm>
          <a:prstGeom prst="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decode</a:t>
            </a:r>
            <a:endParaRPr lang="zh-CN" altLang="en-US" sz="1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989027CD-F866-4400-BD57-C84DFF7BCE78}"/>
              </a:ext>
            </a:extLst>
          </p:cNvPr>
          <p:cNvSpPr/>
          <p:nvPr/>
        </p:nvSpPr>
        <p:spPr>
          <a:xfrm>
            <a:off x="4394182" y="2766004"/>
            <a:ext cx="1620000" cy="216000"/>
          </a:xfrm>
          <a:prstGeom prst="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前缀匹配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调度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C8FE2E6C-542B-4EB2-A6CE-5172F358E9A9}"/>
              </a:ext>
            </a:extLst>
          </p:cNvPr>
          <p:cNvSpPr/>
          <p:nvPr/>
        </p:nvSpPr>
        <p:spPr>
          <a:xfrm>
            <a:off x="6291959" y="2766004"/>
            <a:ext cx="1620000" cy="216000"/>
          </a:xfrm>
          <a:prstGeom prst="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前缀匹配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调度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2B1426D-6CD0-4CAC-9E9A-090BAB1CB729}"/>
              </a:ext>
            </a:extLst>
          </p:cNvPr>
          <p:cNvSpPr/>
          <p:nvPr/>
        </p:nvSpPr>
        <p:spPr>
          <a:xfrm>
            <a:off x="440507" y="2766004"/>
            <a:ext cx="1620000" cy="216000"/>
          </a:xfrm>
          <a:prstGeom prst="rect">
            <a:avLst/>
          </a:prstGeom>
          <a:solidFill>
            <a:schemeClr val="accent6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前缀匹配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调度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555A2958-198A-453B-8C4F-54F1316F725D}"/>
              </a:ext>
            </a:extLst>
          </p:cNvPr>
          <p:cNvSpPr/>
          <p:nvPr/>
        </p:nvSpPr>
        <p:spPr>
          <a:xfrm>
            <a:off x="2328508" y="2766004"/>
            <a:ext cx="1620000" cy="216000"/>
          </a:xfrm>
          <a:prstGeom prst="rect">
            <a:avLst/>
          </a:prstGeom>
          <a:solidFill>
            <a:schemeClr val="accent6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前缀匹配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调度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8699914A-958A-4126-B669-029C5BB869F6}"/>
              </a:ext>
            </a:extLst>
          </p:cNvPr>
          <p:cNvSpPr/>
          <p:nvPr/>
        </p:nvSpPr>
        <p:spPr>
          <a:xfrm>
            <a:off x="5771946" y="3659769"/>
            <a:ext cx="216000" cy="14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GIL</a:t>
            </a:r>
            <a:endParaRPr lang="zh-CN" altLang="en-US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D8D7B6E8-4810-4D59-A49E-563817BB9642}"/>
              </a:ext>
            </a:extLst>
          </p:cNvPr>
          <p:cNvSpPr/>
          <p:nvPr/>
        </p:nvSpPr>
        <p:spPr>
          <a:xfrm>
            <a:off x="4394182" y="3293887"/>
            <a:ext cx="1620000" cy="216000"/>
          </a:xfrm>
          <a:prstGeom prst="rect">
            <a:avLst/>
          </a:prstGeom>
          <a:solidFill>
            <a:schemeClr val="accent6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：算子构建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32A3416C-8A6A-4CD7-856A-F630E1AFD085}"/>
              </a:ext>
            </a:extLst>
          </p:cNvPr>
          <p:cNvSpPr/>
          <p:nvPr/>
        </p:nvSpPr>
        <p:spPr>
          <a:xfrm>
            <a:off x="2328508" y="3293887"/>
            <a:ext cx="1620000" cy="216000"/>
          </a:xfrm>
          <a:prstGeom prst="rect">
            <a:avLst/>
          </a:prstGeom>
          <a:solidFill>
            <a:schemeClr val="accent6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Guard</a:t>
            </a:r>
            <a:endParaRPr lang="zh-CN" altLang="en-US" sz="1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906593DE-7D4D-49CC-B71B-4C9F4F39E92E}"/>
              </a:ext>
            </a:extLst>
          </p:cNvPr>
          <p:cNvSpPr/>
          <p:nvPr/>
        </p:nvSpPr>
        <p:spPr>
          <a:xfrm>
            <a:off x="6291959" y="3293887"/>
            <a:ext cx="1620000" cy="216000"/>
          </a:xfrm>
          <a:prstGeom prst="rect">
            <a:avLst/>
          </a:prstGeom>
          <a:solidFill>
            <a:schemeClr val="accent6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Guard</a:t>
            </a:r>
            <a:endParaRPr lang="zh-CN" altLang="en-US" sz="1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CC26FD24-B38D-446B-99A0-E6CBA4D6CE2A}"/>
              </a:ext>
            </a:extLst>
          </p:cNvPr>
          <p:cNvSpPr/>
          <p:nvPr/>
        </p:nvSpPr>
        <p:spPr>
          <a:xfrm>
            <a:off x="1816371" y="3345724"/>
            <a:ext cx="216000" cy="14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GIL</a:t>
            </a:r>
            <a:endParaRPr lang="zh-CN" altLang="en-US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50870143-7891-4081-866B-528CBBE49FF6}"/>
              </a:ext>
            </a:extLst>
          </p:cNvPr>
          <p:cNvSpPr txBox="1"/>
          <p:nvPr/>
        </p:nvSpPr>
        <p:spPr>
          <a:xfrm>
            <a:off x="178713" y="233312"/>
            <a:ext cx="12082960" cy="332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6629" tIns="53313" rIns="106629" bIns="53313" numCol="1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R="0" lvl="0" indent="0" defTabSz="800415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defRPr>
            </a:lvl1pPr>
            <a:lvl2pPr marL="460375" marR="0" indent="-230188" defTabSz="656908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SzTx/>
              <a:buFont typeface="Wingdings" panose="05000000000000000000" pitchFamily="2" charset="2"/>
              <a:buChar char="Ø"/>
              <a:tabLst/>
              <a:defRPr sz="1400" baseline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628650" marR="0" indent="-168275" defTabSz="656908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sz="1200" baseline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 marL="801688" marR="0" indent="-173038" defTabSz="656908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 sz="1000" baseline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4pPr>
            <a:lvl5pPr marL="914400" marR="0" indent="-112713" defTabSz="656908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 baseline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5pPr>
            <a:lvl6pPr marL="1885950" indent="-17145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~"/>
              <a:defRPr sz="1200"/>
            </a:lvl6pPr>
            <a:lvl7pPr marL="2228850" indent="-17145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~"/>
              <a:defRPr sz="1200"/>
            </a:lvl7pPr>
            <a:lvl8pPr marL="2571750" indent="-17145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~"/>
              <a:defRPr sz="1200"/>
            </a:lvl8pPr>
            <a:lvl9pPr marL="2914650" indent="-17145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~"/>
              <a:defRPr sz="1200"/>
            </a:lvl9pPr>
          </a:lstStyle>
          <a:p>
            <a:pPr defTabSz="800095">
              <a:defRPr/>
            </a:pPr>
            <a:r>
              <a:rPr lang="en-US" altLang="zh-CN" sz="2399" dirty="0">
                <a:latin typeface="微软雅黑" panose="020B0503020204020204" pitchFamily="34" charset="-122"/>
              </a:rPr>
              <a:t>Python/RUST</a:t>
            </a:r>
            <a:r>
              <a:rPr lang="zh-CN" altLang="en-US" sz="2399" dirty="0">
                <a:latin typeface="微软雅黑" panose="020B0503020204020204" pitchFamily="34" charset="-122"/>
              </a:rPr>
              <a:t>优化带来大模型推理中</a:t>
            </a:r>
            <a:r>
              <a:rPr lang="en-US" altLang="zh-CN" sz="2399" dirty="0">
                <a:latin typeface="微软雅黑" panose="020B0503020204020204" pitchFamily="34" charset="-122"/>
              </a:rPr>
              <a:t>CPU</a:t>
            </a:r>
            <a:r>
              <a:rPr lang="zh-CN" altLang="en-US" sz="2399" dirty="0">
                <a:latin typeface="微软雅黑" panose="020B0503020204020204" pitchFamily="34" charset="-122"/>
              </a:rPr>
              <a:t>调度和控制面性能提升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8724E70-06E6-4A62-8A11-078C318BD8F8}"/>
              </a:ext>
            </a:extLst>
          </p:cNvPr>
          <p:cNvSpPr/>
          <p:nvPr/>
        </p:nvSpPr>
        <p:spPr>
          <a:xfrm>
            <a:off x="440507" y="4364236"/>
            <a:ext cx="1620000" cy="216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GPU/Python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Sampler</a:t>
            </a:r>
            <a:endParaRPr lang="zh-CN" altLang="en-US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2BD23052-E48B-4D4D-81D8-073DD3E13411}"/>
              </a:ext>
            </a:extLst>
          </p:cNvPr>
          <p:cNvSpPr/>
          <p:nvPr/>
        </p:nvSpPr>
        <p:spPr>
          <a:xfrm>
            <a:off x="440507" y="4695352"/>
            <a:ext cx="1620000" cy="216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D2H copy</a:t>
            </a:r>
            <a:endParaRPr lang="zh-CN" altLang="en-US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A93F2C3-519E-44FA-9F65-F173CACDF94A}"/>
              </a:ext>
            </a:extLst>
          </p:cNvPr>
          <p:cNvSpPr/>
          <p:nvPr/>
        </p:nvSpPr>
        <p:spPr>
          <a:xfrm>
            <a:off x="2328508" y="5026468"/>
            <a:ext cx="1620000" cy="216000"/>
          </a:xfrm>
          <a:prstGeom prst="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Python/RUST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decode</a:t>
            </a:r>
            <a:endParaRPr lang="zh-CN" altLang="en-US" sz="1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591F1FA8-A72E-49A1-96D3-505315F822F2}"/>
              </a:ext>
            </a:extLst>
          </p:cNvPr>
          <p:cNvSpPr/>
          <p:nvPr/>
        </p:nvSpPr>
        <p:spPr>
          <a:xfrm>
            <a:off x="2328508" y="4364236"/>
            <a:ext cx="1620000" cy="216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GPU/Python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Sampler</a:t>
            </a:r>
            <a:endParaRPr lang="zh-CN" altLang="en-US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1026617C-C539-4206-8A85-0CCE4B4AF81A}"/>
              </a:ext>
            </a:extLst>
          </p:cNvPr>
          <p:cNvSpPr/>
          <p:nvPr/>
        </p:nvSpPr>
        <p:spPr>
          <a:xfrm>
            <a:off x="2328508" y="4695352"/>
            <a:ext cx="1620000" cy="216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D2H copy</a:t>
            </a:r>
            <a:endParaRPr lang="zh-CN" altLang="en-US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F54CCB1C-EFF5-44C4-83F7-42B9A76E6E8D}"/>
              </a:ext>
            </a:extLst>
          </p:cNvPr>
          <p:cNvSpPr/>
          <p:nvPr/>
        </p:nvSpPr>
        <p:spPr>
          <a:xfrm>
            <a:off x="2328508" y="5357585"/>
            <a:ext cx="1620000" cy="216000"/>
          </a:xfrm>
          <a:prstGeom prst="rect">
            <a:avLst/>
          </a:prstGeom>
          <a:solidFill>
            <a:schemeClr val="accent6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：终止判断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2004BA4E-9ADA-4E29-9CA2-DED664143A33}"/>
              </a:ext>
            </a:extLst>
          </p:cNvPr>
          <p:cNvSpPr/>
          <p:nvPr/>
        </p:nvSpPr>
        <p:spPr>
          <a:xfrm>
            <a:off x="6291959" y="5357585"/>
            <a:ext cx="1620000" cy="216000"/>
          </a:xfrm>
          <a:prstGeom prst="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：终止判断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32AECE8A-7857-4169-BADF-0E557576A3A6}"/>
              </a:ext>
            </a:extLst>
          </p:cNvPr>
          <p:cNvSpPr/>
          <p:nvPr/>
        </p:nvSpPr>
        <p:spPr>
          <a:xfrm>
            <a:off x="4394182" y="5357585"/>
            <a:ext cx="1620000" cy="216000"/>
          </a:xfrm>
          <a:prstGeom prst="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：终止判断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85E68F26-B648-4DE4-B5DB-3E32A6334A5B}"/>
              </a:ext>
            </a:extLst>
          </p:cNvPr>
          <p:cNvSpPr/>
          <p:nvPr/>
        </p:nvSpPr>
        <p:spPr>
          <a:xfrm>
            <a:off x="4394182" y="4364236"/>
            <a:ext cx="1620000" cy="216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GPU/Python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Sampler</a:t>
            </a:r>
            <a:endParaRPr lang="zh-CN" altLang="en-US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964F49EF-C2C6-49A7-8E88-C04F22D41E25}"/>
              </a:ext>
            </a:extLst>
          </p:cNvPr>
          <p:cNvSpPr/>
          <p:nvPr/>
        </p:nvSpPr>
        <p:spPr>
          <a:xfrm>
            <a:off x="4394182" y="4695352"/>
            <a:ext cx="1620000" cy="216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D2H copy</a:t>
            </a:r>
            <a:endParaRPr lang="zh-CN" altLang="en-US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D4B275F2-BAE8-43F6-8530-7D6683256BCE}"/>
              </a:ext>
            </a:extLst>
          </p:cNvPr>
          <p:cNvSpPr/>
          <p:nvPr/>
        </p:nvSpPr>
        <p:spPr>
          <a:xfrm>
            <a:off x="6291959" y="4364236"/>
            <a:ext cx="1620000" cy="216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GPU/C++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Sampler</a:t>
            </a:r>
            <a:endParaRPr lang="zh-CN" altLang="en-US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FCB5D189-D9F0-466D-8FFF-BFE94D9D8067}"/>
              </a:ext>
            </a:extLst>
          </p:cNvPr>
          <p:cNvSpPr/>
          <p:nvPr/>
        </p:nvSpPr>
        <p:spPr>
          <a:xfrm>
            <a:off x="6291959" y="4695352"/>
            <a:ext cx="1620000" cy="216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D2H copy</a:t>
            </a:r>
            <a:endParaRPr lang="zh-CN" altLang="en-US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C4B0CCD6-2611-4ACB-B8D6-94E62E57524B}"/>
              </a:ext>
            </a:extLst>
          </p:cNvPr>
          <p:cNvSpPr/>
          <p:nvPr/>
        </p:nvSpPr>
        <p:spPr>
          <a:xfrm>
            <a:off x="2274508" y="3097120"/>
            <a:ext cx="1728000" cy="11520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单次执行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2D1D7185-9FD1-4173-895F-84E12153B69E}"/>
              </a:ext>
            </a:extLst>
          </p:cNvPr>
          <p:cNvSpPr/>
          <p:nvPr/>
        </p:nvSpPr>
        <p:spPr>
          <a:xfrm>
            <a:off x="6237959" y="3097120"/>
            <a:ext cx="1728000" cy="11520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单次执行</a:t>
            </a:r>
          </a:p>
        </p:txBody>
      </p: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C7D6DF09-8F51-48AA-AD4C-D027D6ECE9DB}"/>
              </a:ext>
            </a:extLst>
          </p:cNvPr>
          <p:cNvGrpSpPr/>
          <p:nvPr/>
        </p:nvGrpSpPr>
        <p:grpSpPr>
          <a:xfrm>
            <a:off x="310472" y="639721"/>
            <a:ext cx="11559863" cy="759573"/>
            <a:chOff x="165071" y="463177"/>
            <a:chExt cx="11265681" cy="447421"/>
          </a:xfrm>
        </p:grpSpPr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D4C18819-9BE7-44BB-8C8C-6A28D0BB3FDE}"/>
                </a:ext>
              </a:extLst>
            </p:cNvPr>
            <p:cNvSpPr/>
            <p:nvPr/>
          </p:nvSpPr>
          <p:spPr>
            <a:xfrm>
              <a:off x="765192" y="470849"/>
              <a:ext cx="10665560" cy="439749"/>
            </a:xfrm>
            <a:prstGeom prst="rect">
              <a:avLst/>
            </a:prstGeom>
            <a:solidFill>
              <a:srgbClr val="EEEEEE">
                <a:alpha val="20000"/>
              </a:srgbClr>
            </a:solidFill>
            <a:ln w="12700" cap="flat" cmpd="sng" algn="ctr">
              <a:solidFill>
                <a:schemeClr val="tx1">
                  <a:lumMod val="10000"/>
                  <a:lumOff val="9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defTabSz="912938">
                <a:lnSpc>
                  <a:spcPct val="120000"/>
                </a:lnSpc>
                <a:defRPr/>
              </a:pPr>
              <a:r>
                <a:rPr kumimoji="1" lang="en-US" altLang="zh-CN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① </a:t>
              </a: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高并发</a:t>
              </a:r>
              <a:r>
                <a:rPr kumimoji="1" lang="en-US" altLang="zh-CN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Decode</a:t>
              </a: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密集型负载，</a:t>
              </a:r>
              <a:r>
                <a:rPr kumimoji="1" lang="en-US" altLang="zh-CN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Python</a:t>
              </a: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和</a:t>
              </a:r>
              <a:r>
                <a:rPr kumimoji="1" lang="en-US" altLang="zh-CN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Rust</a:t>
              </a: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的占比比较大，优化</a:t>
              </a:r>
              <a:r>
                <a:rPr kumimoji="1" lang="en-US" altLang="zh-CN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Python</a:t>
              </a: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和</a:t>
              </a:r>
              <a:r>
                <a:rPr kumimoji="1" lang="en-US" altLang="zh-CN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Rust</a:t>
              </a: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性能可带来</a:t>
              </a:r>
              <a:r>
                <a:rPr kumimoji="1" lang="en-US" altLang="zh-CN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GPU free time</a:t>
              </a: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的减少。 </a:t>
              </a:r>
              <a:endParaRPr kumimoji="1" lang="en-US" altLang="zh-CN" sz="1399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defTabSz="912938">
                <a:lnSpc>
                  <a:spcPct val="120000"/>
                </a:lnSpc>
                <a:defRPr/>
              </a:pP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② </a:t>
              </a:r>
              <a:r>
                <a:rPr kumimoji="1" lang="en-US" altLang="zh-CN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Eager</a:t>
              </a: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模式，</a:t>
              </a:r>
              <a:r>
                <a:rPr kumimoji="1" lang="en-US" altLang="zh-CN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Python</a:t>
              </a: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和</a:t>
              </a:r>
              <a:r>
                <a:rPr kumimoji="1" lang="en-US" altLang="zh-CN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Rust</a:t>
              </a: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占比较大，</a:t>
              </a:r>
              <a:r>
                <a:rPr kumimoji="1" lang="en-US" altLang="zh-CN" sz="1399" dirty="0" err="1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vLLM</a:t>
              </a: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中受</a:t>
              </a:r>
              <a:r>
                <a:rPr kumimoji="1" lang="en-US" altLang="zh-CN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GIL</a:t>
              </a: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限制，</a:t>
              </a:r>
              <a:r>
                <a:rPr kumimoji="1" lang="en-US" altLang="zh-CN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Python</a:t>
              </a: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时间占比高。</a:t>
              </a:r>
              <a:endParaRPr kumimoji="1" lang="en-US" altLang="zh-CN" sz="1399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B2259D4E-70B5-4A3F-B22A-DD881BC399C6}"/>
                </a:ext>
              </a:extLst>
            </p:cNvPr>
            <p:cNvSpPr/>
            <p:nvPr/>
          </p:nvSpPr>
          <p:spPr>
            <a:xfrm>
              <a:off x="165071" y="463177"/>
              <a:ext cx="606071" cy="447421"/>
            </a:xfrm>
            <a:prstGeom prst="rect">
              <a:avLst/>
            </a:prstGeom>
            <a:solidFill>
              <a:srgbClr val="C7000A"/>
            </a:solidFill>
            <a:ln w="3175" cap="flat">
              <a:noFill/>
              <a:miter lim="400000"/>
            </a:ln>
            <a:effectLst/>
          </p:spPr>
          <p:txBody>
            <a:bodyPr wrap="square" lIns="35907" tIns="35907" rIns="35907" bIns="35907" numCol="1" anchor="ctr">
              <a:noAutofit/>
            </a:bodyPr>
            <a:lstStyle/>
            <a:p>
              <a:pPr algn="ctr" defTabSz="1716777">
                <a:defRPr/>
              </a:pPr>
              <a:r>
                <a:rPr lang="zh-CN" altLang="en-US" sz="1597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洞察</a:t>
              </a:r>
              <a:endParaRPr lang="en-US" altLang="zh-CN" sz="1597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1716777">
                <a:defRPr/>
              </a:pPr>
              <a:r>
                <a:rPr lang="zh-CN" altLang="en-US" sz="1597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启示</a:t>
              </a:r>
              <a:endParaRPr lang="en-US" altLang="zh-CN" sz="1396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E72F4330-2B28-496C-8124-1333A3FBE823}"/>
              </a:ext>
            </a:extLst>
          </p:cNvPr>
          <p:cNvSpPr txBox="1"/>
          <p:nvPr/>
        </p:nvSpPr>
        <p:spPr>
          <a:xfrm>
            <a:off x="8627554" y="1532429"/>
            <a:ext cx="2960747" cy="184666"/>
          </a:xfrm>
          <a:prstGeom prst="rect">
            <a:avLst/>
          </a:prstGeom>
          <a:solidFill>
            <a:schemeClr val="tx2"/>
          </a:solidFill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12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推理典型场景</a:t>
            </a:r>
            <a:r>
              <a:rPr kumimoji="1" lang="en-US" altLang="zh-CN" sz="12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：高并发</a:t>
            </a:r>
            <a:r>
              <a:rPr kumimoji="1" lang="en-US" altLang="zh-CN" sz="12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Decode</a:t>
            </a:r>
            <a:r>
              <a:rPr kumimoji="1" lang="zh-CN" altLang="en-US" sz="12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密集型负载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06DFCC51-FF99-4C69-AE9E-446A02630282}"/>
              </a:ext>
            </a:extLst>
          </p:cNvPr>
          <p:cNvSpPr/>
          <p:nvPr/>
        </p:nvSpPr>
        <p:spPr>
          <a:xfrm>
            <a:off x="8134288" y="3854158"/>
            <a:ext cx="3960000" cy="1872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08AEC3C2-3E41-4D33-A275-D63E57D1F9A0}"/>
              </a:ext>
            </a:extLst>
          </p:cNvPr>
          <p:cNvSpPr txBox="1"/>
          <p:nvPr/>
        </p:nvSpPr>
        <p:spPr>
          <a:xfrm>
            <a:off x="8819036" y="3723670"/>
            <a:ext cx="2855782" cy="184666"/>
          </a:xfrm>
          <a:prstGeom prst="rect">
            <a:avLst/>
          </a:prstGeom>
          <a:solidFill>
            <a:schemeClr val="tx2"/>
          </a:solidFill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kumimoji="1" sz="12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推理典型场景</a:t>
            </a:r>
            <a:r>
              <a:rPr lang="en-US" altLang="zh-CN" dirty="0"/>
              <a:t>2</a:t>
            </a:r>
            <a:r>
              <a:rPr lang="zh-CN" altLang="en-US" dirty="0"/>
              <a:t>：长文本</a:t>
            </a:r>
            <a:r>
              <a:rPr lang="en-US" altLang="zh-CN" dirty="0"/>
              <a:t>Prefill</a:t>
            </a:r>
            <a:r>
              <a:rPr lang="zh-CN" altLang="en-US" dirty="0"/>
              <a:t>密集型负载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459B490-9216-4548-A86E-EF1237CE7238}"/>
              </a:ext>
            </a:extLst>
          </p:cNvPr>
          <p:cNvSpPr/>
          <p:nvPr/>
        </p:nvSpPr>
        <p:spPr>
          <a:xfrm>
            <a:off x="8875367" y="3343442"/>
            <a:ext cx="180000" cy="18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5D8E9AFB-BA10-4094-99D9-BA9F1BD97957}"/>
              </a:ext>
            </a:extLst>
          </p:cNvPr>
          <p:cNvSpPr/>
          <p:nvPr/>
        </p:nvSpPr>
        <p:spPr>
          <a:xfrm>
            <a:off x="9817843" y="3343442"/>
            <a:ext cx="180000" cy="18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2D1A7674-DA89-4175-92E1-CFD39A72D714}"/>
              </a:ext>
            </a:extLst>
          </p:cNvPr>
          <p:cNvSpPr/>
          <p:nvPr/>
        </p:nvSpPr>
        <p:spPr>
          <a:xfrm>
            <a:off x="10760320" y="3343442"/>
            <a:ext cx="180000" cy="1800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00570EE-B2E8-4F8D-A090-B6780145D267}"/>
              </a:ext>
            </a:extLst>
          </p:cNvPr>
          <p:cNvSpPr txBox="1"/>
          <p:nvPr/>
        </p:nvSpPr>
        <p:spPr>
          <a:xfrm>
            <a:off x="9105938" y="3365387"/>
            <a:ext cx="57387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sz="8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kumimoji="1" lang="zh-CN" altLang="en-US" sz="8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占比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659A951F-2A01-43F4-BD6A-CC9B0EA601FB}"/>
              </a:ext>
            </a:extLst>
          </p:cNvPr>
          <p:cNvSpPr txBox="1"/>
          <p:nvPr/>
        </p:nvSpPr>
        <p:spPr>
          <a:xfrm>
            <a:off x="10028117" y="3376957"/>
            <a:ext cx="437620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sz="8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Rust</a:t>
            </a:r>
            <a:r>
              <a:rPr kumimoji="1" lang="zh-CN" altLang="en-US" sz="8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占比</a:t>
            </a: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4B2FF9E7-8AFB-40CD-9077-33B5173B219A}"/>
              </a:ext>
            </a:extLst>
          </p:cNvPr>
          <p:cNvSpPr txBox="1"/>
          <p:nvPr/>
        </p:nvSpPr>
        <p:spPr>
          <a:xfrm>
            <a:off x="10978131" y="3371887"/>
            <a:ext cx="43120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sz="8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GPU</a:t>
            </a:r>
            <a:r>
              <a:rPr kumimoji="1" lang="zh-CN" altLang="en-US" sz="8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占比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978C70C-7BB7-4836-A3A8-B9C5705F3FCE}"/>
              </a:ext>
            </a:extLst>
          </p:cNvPr>
          <p:cNvSpPr txBox="1"/>
          <p:nvPr/>
        </p:nvSpPr>
        <p:spPr>
          <a:xfrm>
            <a:off x="8210869" y="1839485"/>
            <a:ext cx="379411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Batch Size</a:t>
            </a:r>
            <a:r>
              <a:rPr kumimoji="1"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kumimoji="1" lang="en-US" altLang="zh-CN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32~64</a:t>
            </a:r>
            <a:r>
              <a:rPr kumimoji="1"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kumimoji="1" lang="en-US" altLang="zh-CN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input token</a:t>
            </a:r>
            <a:r>
              <a:rPr kumimoji="1"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短；</a:t>
            </a:r>
            <a:r>
              <a:rPr kumimoji="1" lang="en-US" altLang="zh-CN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output token</a:t>
            </a:r>
            <a:r>
              <a:rPr kumimoji="1"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长</a:t>
            </a:r>
          </a:p>
        </p:txBody>
      </p:sp>
      <p:graphicFrame>
        <p:nvGraphicFramePr>
          <p:cNvPr id="100" name="图表 99">
            <a:extLst>
              <a:ext uri="{FF2B5EF4-FFF2-40B4-BE49-F238E27FC236}">
                <a16:creationId xmlns:a16="http://schemas.microsoft.com/office/drawing/2014/main" id="{D3F3E27B-D598-4A6E-8792-408DFFE6F60B}"/>
              </a:ext>
            </a:extLst>
          </p:cNvPr>
          <p:cNvGraphicFramePr>
            <a:graphicFrameLocks/>
          </p:cNvGraphicFramePr>
          <p:nvPr/>
        </p:nvGraphicFramePr>
        <p:xfrm>
          <a:off x="7657474" y="3956203"/>
          <a:ext cx="1872000" cy="16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01" name="图表 100">
            <a:extLst>
              <a:ext uri="{FF2B5EF4-FFF2-40B4-BE49-F238E27FC236}">
                <a16:creationId xmlns:a16="http://schemas.microsoft.com/office/drawing/2014/main" id="{3F7DFFEB-6784-4B94-A5FB-A1AD4A967B2B}"/>
              </a:ext>
            </a:extLst>
          </p:cNvPr>
          <p:cNvGraphicFramePr>
            <a:graphicFrameLocks/>
          </p:cNvGraphicFramePr>
          <p:nvPr/>
        </p:nvGraphicFramePr>
        <p:xfrm>
          <a:off x="8650311" y="3956203"/>
          <a:ext cx="1872000" cy="16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02" name="图表 101">
            <a:extLst>
              <a:ext uri="{FF2B5EF4-FFF2-40B4-BE49-F238E27FC236}">
                <a16:creationId xmlns:a16="http://schemas.microsoft.com/office/drawing/2014/main" id="{8AAF2A03-BE9E-4738-BF1F-187E2AF67953}"/>
              </a:ext>
            </a:extLst>
          </p:cNvPr>
          <p:cNvGraphicFramePr>
            <a:graphicFrameLocks/>
          </p:cNvGraphicFramePr>
          <p:nvPr/>
        </p:nvGraphicFramePr>
        <p:xfrm>
          <a:off x="9643148" y="3956203"/>
          <a:ext cx="1872000" cy="16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03" name="图表 102">
            <a:extLst>
              <a:ext uri="{FF2B5EF4-FFF2-40B4-BE49-F238E27FC236}">
                <a16:creationId xmlns:a16="http://schemas.microsoft.com/office/drawing/2014/main" id="{CD84952A-8860-4501-B30F-A2BCD9601FB9}"/>
              </a:ext>
            </a:extLst>
          </p:cNvPr>
          <p:cNvGraphicFramePr>
            <a:graphicFrameLocks/>
          </p:cNvGraphicFramePr>
          <p:nvPr/>
        </p:nvGraphicFramePr>
        <p:xfrm>
          <a:off x="10635986" y="3956203"/>
          <a:ext cx="1872000" cy="16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04" name="文本框 103">
            <a:extLst>
              <a:ext uri="{FF2B5EF4-FFF2-40B4-BE49-F238E27FC236}">
                <a16:creationId xmlns:a16="http://schemas.microsoft.com/office/drawing/2014/main" id="{94DDDCCB-9E8F-46DD-9E23-82EC1B7C2F5E}"/>
              </a:ext>
            </a:extLst>
          </p:cNvPr>
          <p:cNvSpPr txBox="1"/>
          <p:nvPr/>
        </p:nvSpPr>
        <p:spPr>
          <a:xfrm>
            <a:off x="8246038" y="3988889"/>
            <a:ext cx="37237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Batch Size</a:t>
            </a:r>
            <a:r>
              <a:rPr kumimoji="1" lang="zh-CN" altLang="en-US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1~4</a:t>
            </a:r>
            <a:r>
              <a:rPr kumimoji="1" lang="zh-CN" altLang="en-US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input token</a:t>
            </a:r>
            <a:r>
              <a:rPr kumimoji="1" lang="zh-CN" altLang="en-US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极长</a:t>
            </a:r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(4K~32K)</a:t>
            </a:r>
            <a:r>
              <a:rPr kumimoji="1" lang="zh-CN" altLang="en-US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output token</a:t>
            </a:r>
            <a:r>
              <a:rPr kumimoji="1" lang="zh-CN" altLang="en-US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端</a:t>
            </a:r>
          </a:p>
        </p:txBody>
      </p:sp>
      <p:graphicFrame>
        <p:nvGraphicFramePr>
          <p:cNvPr id="93" name="图表 92">
            <a:extLst>
              <a:ext uri="{FF2B5EF4-FFF2-40B4-BE49-F238E27FC236}">
                <a16:creationId xmlns:a16="http://schemas.microsoft.com/office/drawing/2014/main" id="{291D55D8-8AA0-4DFB-A6A0-5E965CD4E313}"/>
              </a:ext>
            </a:extLst>
          </p:cNvPr>
          <p:cNvGraphicFramePr>
            <a:graphicFrameLocks/>
          </p:cNvGraphicFramePr>
          <p:nvPr/>
        </p:nvGraphicFramePr>
        <p:xfrm>
          <a:off x="9595872" y="1787465"/>
          <a:ext cx="1872000" cy="16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91" name="图表 90">
            <a:extLst>
              <a:ext uri="{FF2B5EF4-FFF2-40B4-BE49-F238E27FC236}">
                <a16:creationId xmlns:a16="http://schemas.microsoft.com/office/drawing/2014/main" id="{B7995251-1A6C-4A78-98E8-B769C1B9B4DD}"/>
              </a:ext>
            </a:extLst>
          </p:cNvPr>
          <p:cNvGraphicFramePr>
            <a:graphicFrameLocks/>
          </p:cNvGraphicFramePr>
          <p:nvPr/>
        </p:nvGraphicFramePr>
        <p:xfrm>
          <a:off x="7642038" y="1787465"/>
          <a:ext cx="1872000" cy="16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105" name="矩形 104">
            <a:extLst>
              <a:ext uri="{FF2B5EF4-FFF2-40B4-BE49-F238E27FC236}">
                <a16:creationId xmlns:a16="http://schemas.microsoft.com/office/drawing/2014/main" id="{F7678034-447D-4E8E-A32E-E34EEA7BF8EF}"/>
              </a:ext>
            </a:extLst>
          </p:cNvPr>
          <p:cNvSpPr/>
          <p:nvPr/>
        </p:nvSpPr>
        <p:spPr>
          <a:xfrm>
            <a:off x="8875367" y="5483585"/>
            <a:ext cx="180000" cy="18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40C999BE-87B8-43B2-B3C6-9E968E56F092}"/>
              </a:ext>
            </a:extLst>
          </p:cNvPr>
          <p:cNvSpPr/>
          <p:nvPr/>
        </p:nvSpPr>
        <p:spPr>
          <a:xfrm>
            <a:off x="9817843" y="5483585"/>
            <a:ext cx="180000" cy="18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21057F3A-DEB8-4183-AAE8-D8A417758344}"/>
              </a:ext>
            </a:extLst>
          </p:cNvPr>
          <p:cNvSpPr/>
          <p:nvPr/>
        </p:nvSpPr>
        <p:spPr>
          <a:xfrm>
            <a:off x="10760320" y="5483585"/>
            <a:ext cx="180000" cy="1800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34B2E189-031C-4515-A3E7-C31576D5DBAE}"/>
              </a:ext>
            </a:extLst>
          </p:cNvPr>
          <p:cNvSpPr txBox="1"/>
          <p:nvPr/>
        </p:nvSpPr>
        <p:spPr>
          <a:xfrm>
            <a:off x="9105938" y="5505530"/>
            <a:ext cx="57387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sz="8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kumimoji="1" lang="zh-CN" altLang="en-US" sz="8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占比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9B90BF1B-BF70-4D00-98AF-60DB1F3A4108}"/>
              </a:ext>
            </a:extLst>
          </p:cNvPr>
          <p:cNvSpPr txBox="1"/>
          <p:nvPr/>
        </p:nvSpPr>
        <p:spPr>
          <a:xfrm>
            <a:off x="10028117" y="5517100"/>
            <a:ext cx="437620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sz="8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Rust</a:t>
            </a:r>
            <a:r>
              <a:rPr kumimoji="1" lang="zh-CN" altLang="en-US" sz="8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占比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E6023D1C-0AAF-4A8B-8CDF-EF2C4AD4E273}"/>
              </a:ext>
            </a:extLst>
          </p:cNvPr>
          <p:cNvSpPr txBox="1"/>
          <p:nvPr/>
        </p:nvSpPr>
        <p:spPr>
          <a:xfrm>
            <a:off x="10978131" y="5512030"/>
            <a:ext cx="43120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sz="8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GPU</a:t>
            </a:r>
            <a:r>
              <a:rPr kumimoji="1" lang="zh-CN" altLang="en-US" sz="8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占比</a:t>
            </a:r>
          </a:p>
        </p:txBody>
      </p:sp>
    </p:spTree>
    <p:extLst>
      <p:ext uri="{BB962C8B-B14F-4D97-AF65-F5344CB8AC3E}">
        <p14:creationId xmlns:p14="http://schemas.microsoft.com/office/powerpoint/2010/main" val="1396295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FFAF84FC-4941-BC14-BFF3-87C93C78F156}"/>
              </a:ext>
            </a:extLst>
          </p:cNvPr>
          <p:cNvGrpSpPr/>
          <p:nvPr/>
        </p:nvGrpSpPr>
        <p:grpSpPr>
          <a:xfrm>
            <a:off x="310472" y="639721"/>
            <a:ext cx="11559863" cy="759573"/>
            <a:chOff x="165071" y="463177"/>
            <a:chExt cx="11265681" cy="447421"/>
          </a:xfrm>
        </p:grpSpPr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3883FE6D-8DBD-6DC1-1757-04FEA7B9066B}"/>
                </a:ext>
              </a:extLst>
            </p:cNvPr>
            <p:cNvSpPr/>
            <p:nvPr/>
          </p:nvSpPr>
          <p:spPr>
            <a:xfrm>
              <a:off x="765192" y="470849"/>
              <a:ext cx="10665560" cy="439749"/>
            </a:xfrm>
            <a:prstGeom prst="rect">
              <a:avLst/>
            </a:prstGeom>
            <a:solidFill>
              <a:srgbClr val="EEEEEE">
                <a:alpha val="20000"/>
              </a:srgbClr>
            </a:solidFill>
            <a:ln w="12700" cap="flat" cmpd="sng" algn="ctr">
              <a:solidFill>
                <a:schemeClr val="tx1">
                  <a:lumMod val="10000"/>
                  <a:lumOff val="9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defTabSz="912938">
                <a:lnSpc>
                  <a:spcPct val="120000"/>
                </a:lnSpc>
                <a:defRPr/>
              </a:pPr>
              <a:r>
                <a:rPr kumimoji="1" lang="en-US" altLang="zh-CN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① Free-threaded</a:t>
              </a: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：突破 </a:t>
              </a:r>
              <a:r>
                <a:rPr kumimoji="1" lang="en-US" altLang="zh-CN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GIL</a:t>
              </a: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，释放进程内多线程并行；但 </a:t>
              </a:r>
              <a:r>
                <a:rPr kumimoji="1" lang="zh-CN" altLang="en-US" sz="1399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线程调度、原子操作及内存访问等关键路径尚缺鲲鹏亲和优化</a:t>
              </a: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。 </a:t>
              </a:r>
              <a:endParaRPr kumimoji="1" lang="en-US" altLang="zh-CN" sz="1399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defTabSz="912938">
                <a:lnSpc>
                  <a:spcPct val="120000"/>
                </a:lnSpc>
                <a:defRPr/>
              </a:pP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② </a:t>
              </a:r>
              <a:r>
                <a:rPr kumimoji="1" lang="en-US" altLang="zh-CN" sz="1399" dirty="0" err="1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PyTorch</a:t>
              </a:r>
              <a:r>
                <a:rPr kumimoji="1" lang="en-US" altLang="zh-CN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</a:t>
              </a: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适配：</a:t>
              </a:r>
              <a:r>
                <a:rPr kumimoji="1" lang="en-US" altLang="zh-CN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Free-threaded</a:t>
              </a: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基础运行及部分编译能力已逐步打通；但 </a:t>
              </a:r>
              <a:r>
                <a:rPr kumimoji="1" lang="zh-CN" altLang="en-US" sz="1399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多线程算子下发仍未闭环</a:t>
              </a:r>
              <a:r>
                <a:rPr kumimoji="1" lang="zh-CN" altLang="en-US" sz="1399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。</a:t>
              </a:r>
              <a:endParaRPr kumimoji="1" lang="en-US" altLang="zh-CN" sz="1399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73EADB53-2F9C-D988-EC9B-9A84A0AF0700}"/>
                </a:ext>
              </a:extLst>
            </p:cNvPr>
            <p:cNvSpPr/>
            <p:nvPr/>
          </p:nvSpPr>
          <p:spPr>
            <a:xfrm>
              <a:off x="165071" y="463177"/>
              <a:ext cx="606071" cy="447421"/>
            </a:xfrm>
            <a:prstGeom prst="rect">
              <a:avLst/>
            </a:prstGeom>
            <a:solidFill>
              <a:srgbClr val="C7000A"/>
            </a:solidFill>
            <a:ln w="3175" cap="flat">
              <a:noFill/>
              <a:miter lim="400000"/>
            </a:ln>
            <a:effectLst/>
          </p:spPr>
          <p:txBody>
            <a:bodyPr wrap="square" lIns="35907" tIns="35907" rIns="35907" bIns="35907" numCol="1" anchor="ctr">
              <a:noAutofit/>
            </a:bodyPr>
            <a:lstStyle/>
            <a:p>
              <a:pPr algn="ctr" defTabSz="1716777">
                <a:defRPr/>
              </a:pPr>
              <a:r>
                <a:rPr lang="zh-CN" altLang="en-US" sz="1597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洞察</a:t>
              </a:r>
              <a:endParaRPr lang="en-US" altLang="zh-CN" sz="1597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1716777">
                <a:defRPr/>
              </a:pPr>
              <a:r>
                <a:rPr lang="zh-CN" altLang="en-US" sz="1597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启示</a:t>
              </a:r>
              <a:endParaRPr lang="en-US" altLang="zh-CN" sz="1396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0B67AE02-EE3D-4AF0-2C6C-43CBCBD74E74}"/>
              </a:ext>
            </a:extLst>
          </p:cNvPr>
          <p:cNvSpPr txBox="1"/>
          <p:nvPr/>
        </p:nvSpPr>
        <p:spPr>
          <a:xfrm>
            <a:off x="178713" y="233312"/>
            <a:ext cx="12082960" cy="332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6629" tIns="53313" rIns="106629" bIns="53313" numCol="1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R="0" lvl="0" indent="0" defTabSz="800415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defRPr>
            </a:lvl1pPr>
            <a:lvl2pPr marL="460375" marR="0" indent="-230188" defTabSz="656908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SzTx/>
              <a:buFont typeface="Wingdings" panose="05000000000000000000" pitchFamily="2" charset="2"/>
              <a:buChar char="Ø"/>
              <a:tabLst/>
              <a:defRPr sz="1400" baseline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628650" marR="0" indent="-168275" defTabSz="656908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sz="1200" baseline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 marL="801688" marR="0" indent="-173038" defTabSz="656908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 sz="1000" baseline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4pPr>
            <a:lvl5pPr marL="914400" marR="0" indent="-112713" defTabSz="656908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 baseline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5pPr>
            <a:lvl6pPr marL="1885950" indent="-17145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~"/>
              <a:defRPr sz="1200"/>
            </a:lvl6pPr>
            <a:lvl7pPr marL="2228850" indent="-17145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~"/>
              <a:defRPr sz="1200"/>
            </a:lvl7pPr>
            <a:lvl8pPr marL="2571750" indent="-17145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~"/>
              <a:defRPr sz="1200"/>
            </a:lvl8pPr>
            <a:lvl9pPr marL="2914650" indent="-17145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~"/>
              <a:defRPr sz="1200"/>
            </a:lvl9pPr>
          </a:lstStyle>
          <a:p>
            <a:pPr defTabSz="800095">
              <a:defRPr/>
            </a:pPr>
            <a:r>
              <a:rPr lang="en-US" altLang="zh-CN" sz="2399" dirty="0">
                <a:latin typeface="微软雅黑" panose="020B0503020204020204" pitchFamily="34" charset="-122"/>
              </a:rPr>
              <a:t>Python Free-threaded</a:t>
            </a:r>
            <a:r>
              <a:rPr lang="zh-CN" altLang="en-US" sz="2399" dirty="0">
                <a:latin typeface="微软雅黑" panose="020B0503020204020204" pitchFamily="34" charset="-122"/>
              </a:rPr>
              <a:t>逐步成熟，</a:t>
            </a:r>
            <a:r>
              <a:rPr lang="en-US" altLang="zh-CN" sz="2399" dirty="0" err="1">
                <a:latin typeface="微软雅黑" panose="020B0503020204020204" pitchFamily="34" charset="-122"/>
              </a:rPr>
              <a:t>PyTorch</a:t>
            </a:r>
            <a:r>
              <a:rPr lang="zh-CN" altLang="en-US" sz="2399" dirty="0">
                <a:latin typeface="微软雅黑" panose="020B0503020204020204" pitchFamily="34" charset="-122"/>
              </a:rPr>
              <a:t>积极跟进，</a:t>
            </a:r>
            <a:r>
              <a:rPr lang="en-US" altLang="zh-CN" sz="2399" dirty="0">
                <a:latin typeface="微软雅黑" panose="020B0503020204020204" pitchFamily="34" charset="-122"/>
              </a:rPr>
              <a:t>Host</a:t>
            </a:r>
            <a:r>
              <a:rPr lang="zh-CN" altLang="en-US" sz="2399" dirty="0">
                <a:latin typeface="微软雅黑" panose="020B0503020204020204" pitchFamily="34" charset="-122"/>
              </a:rPr>
              <a:t>并行下发成为新优化方向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44519B-8883-CF49-9602-3B42EB117F8B}"/>
              </a:ext>
            </a:extLst>
          </p:cNvPr>
          <p:cNvSpPr/>
          <p:nvPr/>
        </p:nvSpPr>
        <p:spPr>
          <a:xfrm>
            <a:off x="6069601" y="1458988"/>
            <a:ext cx="5778867" cy="5105689"/>
          </a:xfrm>
          <a:prstGeom prst="rect">
            <a:avLst/>
          </a:prstGeom>
          <a:solidFill>
            <a:srgbClr val="FBFBFC"/>
          </a:solidFill>
          <a:ln w="12700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188" tIns="45594" rIns="91188" bIns="45594" numCol="1" spcCol="0" rtlCol="0" fromWordArt="0" anchor="t" anchorCtr="0" forceAA="0" compatLnSpc="1">
            <a:noAutofit/>
          </a:bodyPr>
          <a:lstStyle/>
          <a:p>
            <a:pPr algn="ctr" defTabSz="911400">
              <a:defRPr/>
            </a:pPr>
            <a:r>
              <a:rPr lang="en-US" altLang="zh-CN" sz="1299" b="1" kern="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PyTorch</a:t>
            </a:r>
            <a:r>
              <a:rPr lang="zh-CN" altLang="en-US" sz="1299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适配：打通</a:t>
            </a:r>
            <a:r>
              <a:rPr lang="en-US" altLang="zh-CN" sz="1299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Free-threaded</a:t>
            </a:r>
            <a:r>
              <a:rPr lang="zh-CN" altLang="en-US" sz="1299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基础能力，并行下发仍待完善</a:t>
            </a:r>
          </a:p>
          <a:p>
            <a:pPr algn="ctr" defTabSz="911400">
              <a:defRPr/>
            </a:pPr>
            <a:endParaRPr lang="zh-CN" altLang="en-US" sz="1392" b="1" kern="0" dirty="0">
              <a:solidFill>
                <a:srgbClr val="C00000"/>
              </a:solidFill>
              <a:latin typeface="Arial" panose="020B0604020202020204"/>
              <a:ea typeface="微软雅黑"/>
              <a:cs typeface="+mn-ea"/>
              <a:sym typeface="+mn-lt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884D087-A2F5-E249-9549-42346E46BC5E}"/>
              </a:ext>
            </a:extLst>
          </p:cNvPr>
          <p:cNvSpPr/>
          <p:nvPr/>
        </p:nvSpPr>
        <p:spPr>
          <a:xfrm>
            <a:off x="310471" y="1458988"/>
            <a:ext cx="5402971" cy="5105689"/>
          </a:xfrm>
          <a:prstGeom prst="rect">
            <a:avLst/>
          </a:prstGeom>
          <a:solidFill>
            <a:srgbClr val="FBFBFC"/>
          </a:solidFill>
          <a:ln w="12700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188" tIns="45594" rIns="91188" bIns="45594" numCol="1" spcCol="0" rtlCol="0" fromWordArt="0" anchor="t" anchorCtr="0" forceAA="0" compatLnSpc="1">
            <a:noAutofit/>
          </a:bodyPr>
          <a:lstStyle/>
          <a:p>
            <a:pPr algn="ctr" defTabSz="911400">
              <a:defRPr/>
            </a:pPr>
            <a:r>
              <a:rPr lang="en-US" altLang="zh-CN" sz="1299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Free-threaded</a:t>
            </a:r>
            <a:r>
              <a:rPr lang="zh-CN" altLang="en-US" sz="1299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：释放进程内多线程并行，鲲鹏亲和仍待增强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B499176-6EA2-24D9-BA7A-3C4D5B09C898}"/>
              </a:ext>
            </a:extLst>
          </p:cNvPr>
          <p:cNvGrpSpPr/>
          <p:nvPr/>
        </p:nvGrpSpPr>
        <p:grpSpPr>
          <a:xfrm>
            <a:off x="8929894" y="20107"/>
            <a:ext cx="3248665" cy="171065"/>
            <a:chOff x="8932105" y="17441"/>
            <a:chExt cx="3251204" cy="17119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412A312-A1CB-BB0F-55E4-4A6522E1E025}"/>
                </a:ext>
              </a:extLst>
            </p:cNvPr>
            <p:cNvSpPr/>
            <p:nvPr/>
          </p:nvSpPr>
          <p:spPr bwMode="auto">
            <a:xfrm>
              <a:off x="10588289" y="17441"/>
              <a:ext cx="802932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3668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 b="1" i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/>
                </a:rPr>
                <a:t>技术构想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3DC53C4-49C3-931D-57CF-7ACE71A19E8B}"/>
                </a:ext>
              </a:extLst>
            </p:cNvPr>
            <p:cNvSpPr/>
            <p:nvPr/>
          </p:nvSpPr>
          <p:spPr bwMode="auto">
            <a:xfrm>
              <a:off x="9796201" y="17441"/>
              <a:ext cx="802932" cy="171199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3668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 b="1" i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/>
                </a:rPr>
                <a:t>洞察分析</a:t>
              </a:r>
              <a:endParaRPr lang="en-US" sz="1050" b="1" i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2C70FD8-3D9F-742B-F1A2-E322AC1E9C92}"/>
                </a:ext>
              </a:extLst>
            </p:cNvPr>
            <p:cNvSpPr/>
            <p:nvPr/>
          </p:nvSpPr>
          <p:spPr bwMode="auto">
            <a:xfrm>
              <a:off x="8932105" y="17441"/>
              <a:ext cx="868316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3668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/>
                </a:rPr>
                <a:t>任务书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4E177BD9-1895-4EE6-AAB5-C8FF7D495144}"/>
                </a:ext>
              </a:extLst>
            </p:cNvPr>
            <p:cNvSpPr/>
            <p:nvPr/>
          </p:nvSpPr>
          <p:spPr bwMode="auto">
            <a:xfrm>
              <a:off x="11380377" y="17441"/>
              <a:ext cx="802932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3668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/>
                </a:rPr>
                <a:t>执行策略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</p:grpSp>
      <p:grpSp>
        <p:nvGrpSpPr>
          <p:cNvPr id="443" name="组合 442">
            <a:extLst>
              <a:ext uri="{FF2B5EF4-FFF2-40B4-BE49-F238E27FC236}">
                <a16:creationId xmlns:a16="http://schemas.microsoft.com/office/drawing/2014/main" id="{273B2D72-28FB-4D55-B370-837ABAC8101F}"/>
              </a:ext>
            </a:extLst>
          </p:cNvPr>
          <p:cNvGrpSpPr/>
          <p:nvPr/>
        </p:nvGrpSpPr>
        <p:grpSpPr>
          <a:xfrm>
            <a:off x="414758" y="2452604"/>
            <a:ext cx="2455014" cy="1419912"/>
            <a:chOff x="688766" y="2323630"/>
            <a:chExt cx="1965960" cy="1097280"/>
          </a:xfrm>
        </p:grpSpPr>
        <p:sp>
          <p:nvSpPr>
            <p:cNvPr id="88" name="Shape 74">
              <a:extLst>
                <a:ext uri="{FF2B5EF4-FFF2-40B4-BE49-F238E27FC236}">
                  <a16:creationId xmlns:a16="http://schemas.microsoft.com/office/drawing/2014/main" id="{2F8CEC14-852F-4FB9-8EA8-4EAAC0317920}"/>
                </a:ext>
              </a:extLst>
            </p:cNvPr>
            <p:cNvSpPr/>
            <p:nvPr/>
          </p:nvSpPr>
          <p:spPr>
            <a:xfrm>
              <a:off x="688766" y="2323630"/>
              <a:ext cx="1965960" cy="1097280"/>
            </a:xfrm>
            <a:prstGeom prst="roundRect">
              <a:avLst>
                <a:gd name="adj" fmla="val 6667"/>
              </a:avLst>
            </a:prstGeom>
            <a:solidFill>
              <a:srgbClr val="F2F5F9"/>
            </a:solidFill>
            <a:ln w="12700">
              <a:solidFill>
                <a:srgbClr val="B8C0CC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Text 75">
              <a:extLst>
                <a:ext uri="{FF2B5EF4-FFF2-40B4-BE49-F238E27FC236}">
                  <a16:creationId xmlns:a16="http://schemas.microsoft.com/office/drawing/2014/main" id="{DB71FD0C-9359-43E2-9E81-ADE917721F2B}"/>
                </a:ext>
              </a:extLst>
            </p:cNvPr>
            <p:cNvSpPr txBox="1"/>
            <p:nvPr/>
          </p:nvSpPr>
          <p:spPr>
            <a:xfrm>
              <a:off x="1420286" y="2412195"/>
              <a:ext cx="80467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defTabSz="914034">
                <a:defRPr/>
              </a:pPr>
              <a:r>
                <a:rPr lang="en-US" sz="1120" b="1" dirty="0">
                  <a:solidFill>
                    <a:srgbClr val="5E6878"/>
                  </a:solidFill>
                  <a:latin typeface=" 微软雅黑"/>
                  <a:ea typeface="Noto Sans CJK SC" pitchFamily="34" charset="-122"/>
                  <a:cs typeface="Noto Sans CJK SC" pitchFamily="34" charset="-120"/>
                </a:rPr>
                <a:t>GIL 串行</a:t>
              </a:r>
              <a:endParaRPr lang="en-US" sz="1120" dirty="0">
                <a:solidFill>
                  <a:prstClr val="black"/>
                </a:solidFill>
                <a:latin typeface=" 微软雅黑"/>
              </a:endParaRPr>
            </a:p>
          </p:txBody>
        </p:sp>
        <p:sp>
          <p:nvSpPr>
            <p:cNvPr id="92" name="Shape 78">
              <a:extLst>
                <a:ext uri="{FF2B5EF4-FFF2-40B4-BE49-F238E27FC236}">
                  <a16:creationId xmlns:a16="http://schemas.microsoft.com/office/drawing/2014/main" id="{2CC48BEC-1896-484E-A684-50C962AC7C11}"/>
                </a:ext>
              </a:extLst>
            </p:cNvPr>
            <p:cNvSpPr/>
            <p:nvPr/>
          </p:nvSpPr>
          <p:spPr>
            <a:xfrm>
              <a:off x="844214" y="2826550"/>
              <a:ext cx="329184" cy="210312"/>
            </a:xfrm>
            <a:prstGeom prst="roundRect">
              <a:avLst>
                <a:gd name="adj" fmla="val 21739"/>
              </a:avLst>
            </a:prstGeom>
            <a:solidFill>
              <a:srgbClr val="8E96A3"/>
            </a:solidFill>
            <a:ln w="12700">
              <a:solidFill>
                <a:srgbClr val="8E96A3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Text 79">
              <a:extLst>
                <a:ext uri="{FF2B5EF4-FFF2-40B4-BE49-F238E27FC236}">
                  <a16:creationId xmlns:a16="http://schemas.microsoft.com/office/drawing/2014/main" id="{FD56A6CD-5F27-40CA-9A1D-15562CC8D0ED}"/>
                </a:ext>
              </a:extLst>
            </p:cNvPr>
            <p:cNvSpPr txBox="1"/>
            <p:nvPr/>
          </p:nvSpPr>
          <p:spPr>
            <a:xfrm>
              <a:off x="844214" y="2826550"/>
              <a:ext cx="329184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algn="ctr" defTabSz="914034">
                <a:defRPr/>
              </a:pPr>
              <a:r>
                <a:rPr lang="en-US" sz="730" b="1" dirty="0">
                  <a:solidFill>
                    <a:srgbClr val="FFFFFF"/>
                  </a:solidFill>
                  <a:latin typeface=" 微软雅黑"/>
                  <a:ea typeface="Noto Sans CJK SC" pitchFamily="34" charset="-122"/>
                  <a:cs typeface="Noto Sans CJK SC" pitchFamily="34" charset="-120"/>
                </a:rPr>
                <a:t>任务1</a:t>
              </a:r>
              <a:endParaRPr lang="en-US" sz="730" dirty="0">
                <a:solidFill>
                  <a:prstClr val="black"/>
                </a:solidFill>
                <a:latin typeface=" 微软雅黑"/>
              </a:endParaRPr>
            </a:p>
          </p:txBody>
        </p:sp>
        <p:sp>
          <p:nvSpPr>
            <p:cNvPr id="94" name="Shape 80">
              <a:extLst>
                <a:ext uri="{FF2B5EF4-FFF2-40B4-BE49-F238E27FC236}">
                  <a16:creationId xmlns:a16="http://schemas.microsoft.com/office/drawing/2014/main" id="{35B35A89-975D-4A73-B099-9F63B8C3B400}"/>
                </a:ext>
              </a:extLst>
            </p:cNvPr>
            <p:cNvSpPr/>
            <p:nvPr/>
          </p:nvSpPr>
          <p:spPr>
            <a:xfrm>
              <a:off x="1173398" y="2931706"/>
              <a:ext cx="54864" cy="0"/>
            </a:xfrm>
            <a:prstGeom prst="line">
              <a:avLst/>
            </a:prstGeom>
            <a:noFill/>
            <a:ln w="15240">
              <a:solidFill>
                <a:srgbClr val="8E96A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Shape 81">
              <a:extLst>
                <a:ext uri="{FF2B5EF4-FFF2-40B4-BE49-F238E27FC236}">
                  <a16:creationId xmlns:a16="http://schemas.microsoft.com/office/drawing/2014/main" id="{F4E8DC82-69DE-4880-9954-AB0B7DA11A30}"/>
                </a:ext>
              </a:extLst>
            </p:cNvPr>
            <p:cNvSpPr/>
            <p:nvPr/>
          </p:nvSpPr>
          <p:spPr>
            <a:xfrm>
              <a:off x="1228262" y="2826550"/>
              <a:ext cx="329184" cy="210312"/>
            </a:xfrm>
            <a:prstGeom prst="roundRect">
              <a:avLst>
                <a:gd name="adj" fmla="val 21739"/>
              </a:avLst>
            </a:prstGeom>
            <a:solidFill>
              <a:srgbClr val="8E96A3"/>
            </a:solidFill>
            <a:ln w="12700">
              <a:solidFill>
                <a:srgbClr val="8E96A3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Text 82">
              <a:extLst>
                <a:ext uri="{FF2B5EF4-FFF2-40B4-BE49-F238E27FC236}">
                  <a16:creationId xmlns:a16="http://schemas.microsoft.com/office/drawing/2014/main" id="{8078630C-AB83-4558-942A-3C165214EC95}"/>
                </a:ext>
              </a:extLst>
            </p:cNvPr>
            <p:cNvSpPr txBox="1"/>
            <p:nvPr/>
          </p:nvSpPr>
          <p:spPr>
            <a:xfrm>
              <a:off x="1228262" y="2826550"/>
              <a:ext cx="329184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algn="ctr" defTabSz="914034">
                <a:defRPr/>
              </a:pPr>
              <a:r>
                <a:rPr lang="en-US" sz="730" b="1" dirty="0">
                  <a:solidFill>
                    <a:srgbClr val="FFFFFF"/>
                  </a:solidFill>
                  <a:latin typeface=" 微软雅黑"/>
                  <a:ea typeface="Noto Sans CJK SC" pitchFamily="34" charset="-122"/>
                  <a:cs typeface="Noto Sans CJK SC" pitchFamily="34" charset="-120"/>
                </a:rPr>
                <a:t>任务2</a:t>
              </a:r>
              <a:endParaRPr lang="en-US" sz="730" dirty="0">
                <a:solidFill>
                  <a:prstClr val="black"/>
                </a:solidFill>
                <a:latin typeface=" 微软雅黑"/>
              </a:endParaRPr>
            </a:p>
          </p:txBody>
        </p:sp>
        <p:sp>
          <p:nvSpPr>
            <p:cNvPr id="97" name="Shape 83">
              <a:extLst>
                <a:ext uri="{FF2B5EF4-FFF2-40B4-BE49-F238E27FC236}">
                  <a16:creationId xmlns:a16="http://schemas.microsoft.com/office/drawing/2014/main" id="{989260E9-262C-433F-9C26-51AAFCF41162}"/>
                </a:ext>
              </a:extLst>
            </p:cNvPr>
            <p:cNvSpPr/>
            <p:nvPr/>
          </p:nvSpPr>
          <p:spPr>
            <a:xfrm>
              <a:off x="1557446" y="2931706"/>
              <a:ext cx="54864" cy="0"/>
            </a:xfrm>
            <a:prstGeom prst="line">
              <a:avLst/>
            </a:prstGeom>
            <a:noFill/>
            <a:ln w="15240">
              <a:solidFill>
                <a:srgbClr val="8E96A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Shape 84">
              <a:extLst>
                <a:ext uri="{FF2B5EF4-FFF2-40B4-BE49-F238E27FC236}">
                  <a16:creationId xmlns:a16="http://schemas.microsoft.com/office/drawing/2014/main" id="{77EA23C0-BD65-48C2-8ACA-5C67C5F92C53}"/>
                </a:ext>
              </a:extLst>
            </p:cNvPr>
            <p:cNvSpPr/>
            <p:nvPr/>
          </p:nvSpPr>
          <p:spPr>
            <a:xfrm>
              <a:off x="1612310" y="2826550"/>
              <a:ext cx="329184" cy="210312"/>
            </a:xfrm>
            <a:prstGeom prst="roundRect">
              <a:avLst>
                <a:gd name="adj" fmla="val 21739"/>
              </a:avLst>
            </a:prstGeom>
            <a:solidFill>
              <a:srgbClr val="8E96A3"/>
            </a:solidFill>
            <a:ln w="12700">
              <a:solidFill>
                <a:srgbClr val="8E96A3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Text 85">
              <a:extLst>
                <a:ext uri="{FF2B5EF4-FFF2-40B4-BE49-F238E27FC236}">
                  <a16:creationId xmlns:a16="http://schemas.microsoft.com/office/drawing/2014/main" id="{1BE0CB80-841F-47AA-A51F-7E2E2961687B}"/>
                </a:ext>
              </a:extLst>
            </p:cNvPr>
            <p:cNvSpPr txBox="1"/>
            <p:nvPr/>
          </p:nvSpPr>
          <p:spPr>
            <a:xfrm>
              <a:off x="1612310" y="2826550"/>
              <a:ext cx="329184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algn="ctr" defTabSz="914034">
                <a:defRPr/>
              </a:pPr>
              <a:r>
                <a:rPr lang="en-US" sz="730" b="1" dirty="0">
                  <a:solidFill>
                    <a:srgbClr val="FFFFFF"/>
                  </a:solidFill>
                  <a:latin typeface=" 微软雅黑"/>
                  <a:ea typeface="Noto Sans CJK SC" pitchFamily="34" charset="-122"/>
                  <a:cs typeface="Noto Sans CJK SC" pitchFamily="34" charset="-120"/>
                </a:rPr>
                <a:t>任务3</a:t>
              </a:r>
              <a:endParaRPr lang="en-US" sz="730" dirty="0">
                <a:solidFill>
                  <a:prstClr val="black"/>
                </a:solidFill>
                <a:latin typeface=" 微软雅黑"/>
              </a:endParaRPr>
            </a:p>
          </p:txBody>
        </p:sp>
        <p:sp>
          <p:nvSpPr>
            <p:cNvPr id="100" name="Shape 86">
              <a:extLst>
                <a:ext uri="{FF2B5EF4-FFF2-40B4-BE49-F238E27FC236}">
                  <a16:creationId xmlns:a16="http://schemas.microsoft.com/office/drawing/2014/main" id="{E6A8C9E6-4163-451C-A415-737C0DE1E6AB}"/>
                </a:ext>
              </a:extLst>
            </p:cNvPr>
            <p:cNvSpPr/>
            <p:nvPr/>
          </p:nvSpPr>
          <p:spPr>
            <a:xfrm>
              <a:off x="1941494" y="2931706"/>
              <a:ext cx="54864" cy="0"/>
            </a:xfrm>
            <a:prstGeom prst="line">
              <a:avLst/>
            </a:prstGeom>
            <a:noFill/>
            <a:ln w="15240">
              <a:solidFill>
                <a:srgbClr val="8E96A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Shape 87">
              <a:extLst>
                <a:ext uri="{FF2B5EF4-FFF2-40B4-BE49-F238E27FC236}">
                  <a16:creationId xmlns:a16="http://schemas.microsoft.com/office/drawing/2014/main" id="{D9ACF181-D265-4937-88A4-3899153441C4}"/>
                </a:ext>
              </a:extLst>
            </p:cNvPr>
            <p:cNvSpPr/>
            <p:nvPr/>
          </p:nvSpPr>
          <p:spPr>
            <a:xfrm>
              <a:off x="1996358" y="2826550"/>
              <a:ext cx="329184" cy="210312"/>
            </a:xfrm>
            <a:prstGeom prst="roundRect">
              <a:avLst>
                <a:gd name="adj" fmla="val 21739"/>
              </a:avLst>
            </a:prstGeom>
            <a:solidFill>
              <a:srgbClr val="8E96A3"/>
            </a:solidFill>
            <a:ln w="12700">
              <a:solidFill>
                <a:srgbClr val="8E96A3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Text 88">
              <a:extLst>
                <a:ext uri="{FF2B5EF4-FFF2-40B4-BE49-F238E27FC236}">
                  <a16:creationId xmlns:a16="http://schemas.microsoft.com/office/drawing/2014/main" id="{39271D01-831F-4842-B892-A41DEB771B11}"/>
                </a:ext>
              </a:extLst>
            </p:cNvPr>
            <p:cNvSpPr txBox="1"/>
            <p:nvPr/>
          </p:nvSpPr>
          <p:spPr>
            <a:xfrm>
              <a:off x="1996358" y="2826550"/>
              <a:ext cx="329184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algn="ctr" defTabSz="914034">
                <a:defRPr/>
              </a:pPr>
              <a:r>
                <a:rPr lang="en-US" sz="730" b="1" dirty="0">
                  <a:solidFill>
                    <a:srgbClr val="FFFFFF"/>
                  </a:solidFill>
                  <a:latin typeface=" 微软雅黑"/>
                  <a:ea typeface="Noto Sans CJK SC" pitchFamily="34" charset="-122"/>
                  <a:cs typeface="Noto Sans CJK SC" pitchFamily="34" charset="-120"/>
                </a:rPr>
                <a:t>任务N</a:t>
              </a:r>
              <a:endParaRPr lang="en-US" sz="730" dirty="0">
                <a:solidFill>
                  <a:prstClr val="black"/>
                </a:solidFill>
                <a:latin typeface=" 微软雅黑"/>
              </a:endParaRPr>
            </a:p>
          </p:txBody>
        </p:sp>
        <p:sp>
          <p:nvSpPr>
            <p:cNvPr id="103" name="Shape 89">
              <a:extLst>
                <a:ext uri="{FF2B5EF4-FFF2-40B4-BE49-F238E27FC236}">
                  <a16:creationId xmlns:a16="http://schemas.microsoft.com/office/drawing/2014/main" id="{0012DA26-7536-44DF-9B3D-6A032580707B}"/>
                </a:ext>
              </a:extLst>
            </p:cNvPr>
            <p:cNvSpPr/>
            <p:nvPr/>
          </p:nvSpPr>
          <p:spPr>
            <a:xfrm>
              <a:off x="853358" y="3247174"/>
              <a:ext cx="1481328" cy="0"/>
            </a:xfrm>
            <a:prstGeom prst="line">
              <a:avLst/>
            </a:prstGeom>
            <a:noFill/>
            <a:ln w="12700">
              <a:solidFill>
                <a:srgbClr val="8792A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Text 90">
              <a:extLst>
                <a:ext uri="{FF2B5EF4-FFF2-40B4-BE49-F238E27FC236}">
                  <a16:creationId xmlns:a16="http://schemas.microsoft.com/office/drawing/2014/main" id="{F73D3B08-8CA6-4E03-9934-BD849F23E30A}"/>
                </a:ext>
              </a:extLst>
            </p:cNvPr>
            <p:cNvSpPr txBox="1"/>
            <p:nvPr/>
          </p:nvSpPr>
          <p:spPr>
            <a:xfrm>
              <a:off x="2160950" y="3265462"/>
              <a:ext cx="32004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defTabSz="914034">
                <a:defRPr/>
              </a:pPr>
              <a:r>
                <a:rPr lang="en-US" sz="740" dirty="0">
                  <a:solidFill>
                    <a:srgbClr val="5E6878"/>
                  </a:solidFill>
                  <a:latin typeface=" 微软雅黑"/>
                  <a:ea typeface="Noto Sans CJK SC" pitchFamily="34" charset="-122"/>
                  <a:cs typeface="Noto Sans CJK SC" pitchFamily="34" charset="-120"/>
                </a:rPr>
                <a:t>时间</a:t>
              </a:r>
              <a:endParaRPr lang="en-US" sz="740" dirty="0">
                <a:solidFill>
                  <a:prstClr val="black"/>
                </a:solidFill>
                <a:latin typeface=" 微软雅黑"/>
              </a:endParaRPr>
            </a:p>
          </p:txBody>
        </p:sp>
      </p:grpSp>
      <p:sp>
        <p:nvSpPr>
          <p:cNvPr id="107" name="Shape 93">
            <a:extLst>
              <a:ext uri="{FF2B5EF4-FFF2-40B4-BE49-F238E27FC236}">
                <a16:creationId xmlns:a16="http://schemas.microsoft.com/office/drawing/2014/main" id="{3AD3868A-88A4-4683-9C8F-56A74DEEBBEB}"/>
              </a:ext>
            </a:extLst>
          </p:cNvPr>
          <p:cNvSpPr/>
          <p:nvPr/>
        </p:nvSpPr>
        <p:spPr>
          <a:xfrm>
            <a:off x="3170538" y="2446088"/>
            <a:ext cx="2455013" cy="1453780"/>
          </a:xfrm>
          <a:prstGeom prst="roundRect">
            <a:avLst>
              <a:gd name="adj" fmla="val 6667"/>
            </a:avLst>
          </a:prstGeom>
          <a:solidFill>
            <a:srgbClr val="F2F5F9"/>
          </a:solidFill>
          <a:ln w="12700">
            <a:solidFill>
              <a:srgbClr val="B8C0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Text 97">
            <a:extLst>
              <a:ext uri="{FF2B5EF4-FFF2-40B4-BE49-F238E27FC236}">
                <a16:creationId xmlns:a16="http://schemas.microsoft.com/office/drawing/2014/main" id="{6AEFC694-5A79-4199-ADF2-C7C30462331E}"/>
              </a:ext>
            </a:extLst>
          </p:cNvPr>
          <p:cNvSpPr txBox="1"/>
          <p:nvPr/>
        </p:nvSpPr>
        <p:spPr>
          <a:xfrm>
            <a:off x="3363089" y="2901645"/>
            <a:ext cx="472118" cy="205953"/>
          </a:xfrm>
          <a:prstGeom prst="rect">
            <a:avLst/>
          </a:prstGeom>
          <a:solidFill>
            <a:srgbClr val="F2F5F9"/>
          </a:solidFill>
          <a:ln w="12700">
            <a:solidFill>
              <a:srgbClr val="B8C0CC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defTabSz="914034">
              <a:defRPr/>
            </a:pPr>
            <a:r>
              <a:rPr lang="en-US" sz="760" dirty="0">
                <a:solidFill>
                  <a:srgbClr val="10245C"/>
                </a:solidFill>
                <a:latin typeface=" 微软雅黑"/>
                <a:ea typeface="Noto Sans CJK SC" pitchFamily="34" charset="-122"/>
                <a:cs typeface="Noto Sans CJK SC" pitchFamily="34" charset="-120"/>
              </a:rPr>
              <a:t>线程1</a:t>
            </a:r>
            <a:endParaRPr lang="en-US" sz="760" dirty="0">
              <a:solidFill>
                <a:prstClr val="black"/>
              </a:solidFill>
              <a:latin typeface=" 微软雅黑"/>
            </a:endParaRPr>
          </a:p>
        </p:txBody>
      </p:sp>
      <p:sp>
        <p:nvSpPr>
          <p:cNvPr id="112" name="Shape 98">
            <a:extLst>
              <a:ext uri="{FF2B5EF4-FFF2-40B4-BE49-F238E27FC236}">
                <a16:creationId xmlns:a16="http://schemas.microsoft.com/office/drawing/2014/main" id="{F0574D88-76B5-4D3B-87BA-2919DA75C921}"/>
              </a:ext>
            </a:extLst>
          </p:cNvPr>
          <p:cNvSpPr/>
          <p:nvPr/>
        </p:nvSpPr>
        <p:spPr>
          <a:xfrm>
            <a:off x="3882421" y="2907443"/>
            <a:ext cx="401300" cy="205953"/>
          </a:xfrm>
          <a:prstGeom prst="roundRect">
            <a:avLst>
              <a:gd name="adj" fmla="val 17647"/>
            </a:avLst>
          </a:prstGeom>
          <a:solidFill>
            <a:srgbClr val="F2F5F9"/>
          </a:solidFill>
          <a:ln w="12700">
            <a:solidFill>
              <a:srgbClr val="B8C0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Shape 99">
            <a:extLst>
              <a:ext uri="{FF2B5EF4-FFF2-40B4-BE49-F238E27FC236}">
                <a16:creationId xmlns:a16="http://schemas.microsoft.com/office/drawing/2014/main" id="{B7D5659B-F8E5-45F3-A0C1-C937C62B78A1}"/>
              </a:ext>
            </a:extLst>
          </p:cNvPr>
          <p:cNvSpPr/>
          <p:nvPr/>
        </p:nvSpPr>
        <p:spPr>
          <a:xfrm>
            <a:off x="4295521" y="3002260"/>
            <a:ext cx="127276" cy="0"/>
          </a:xfrm>
          <a:prstGeom prst="line">
            <a:avLst/>
          </a:prstGeom>
          <a:solidFill>
            <a:srgbClr val="F2F5F9"/>
          </a:solidFill>
          <a:ln w="12700">
            <a:solidFill>
              <a:srgbClr val="B8C0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7" name="Shape 100">
            <a:extLst>
              <a:ext uri="{FF2B5EF4-FFF2-40B4-BE49-F238E27FC236}">
                <a16:creationId xmlns:a16="http://schemas.microsoft.com/office/drawing/2014/main" id="{70ED56E3-37DE-4408-A9A0-9DD77FE39872}"/>
              </a:ext>
            </a:extLst>
          </p:cNvPr>
          <p:cNvSpPr/>
          <p:nvPr/>
        </p:nvSpPr>
        <p:spPr>
          <a:xfrm>
            <a:off x="4431902" y="2905832"/>
            <a:ext cx="401300" cy="205953"/>
          </a:xfrm>
          <a:prstGeom prst="roundRect">
            <a:avLst>
              <a:gd name="adj" fmla="val 17647"/>
            </a:avLst>
          </a:prstGeom>
          <a:solidFill>
            <a:srgbClr val="F2F5F9"/>
          </a:solidFill>
          <a:ln w="12700">
            <a:solidFill>
              <a:srgbClr val="B8C0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Shape 101">
            <a:extLst>
              <a:ext uri="{FF2B5EF4-FFF2-40B4-BE49-F238E27FC236}">
                <a16:creationId xmlns:a16="http://schemas.microsoft.com/office/drawing/2014/main" id="{BED102C7-C70E-4632-B897-463A9A0D4C8D}"/>
              </a:ext>
            </a:extLst>
          </p:cNvPr>
          <p:cNvSpPr/>
          <p:nvPr/>
        </p:nvSpPr>
        <p:spPr>
          <a:xfrm>
            <a:off x="4850262" y="3014321"/>
            <a:ext cx="94423" cy="0"/>
          </a:xfrm>
          <a:prstGeom prst="line">
            <a:avLst/>
          </a:prstGeom>
          <a:solidFill>
            <a:srgbClr val="F2F5F9"/>
          </a:solidFill>
          <a:ln w="12700">
            <a:solidFill>
              <a:srgbClr val="B8C0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9" name="Shape 102">
            <a:extLst>
              <a:ext uri="{FF2B5EF4-FFF2-40B4-BE49-F238E27FC236}">
                <a16:creationId xmlns:a16="http://schemas.microsoft.com/office/drawing/2014/main" id="{AFC1E4DE-8271-4EF2-9E37-F78992661085}"/>
              </a:ext>
            </a:extLst>
          </p:cNvPr>
          <p:cNvSpPr/>
          <p:nvPr/>
        </p:nvSpPr>
        <p:spPr>
          <a:xfrm>
            <a:off x="4985281" y="2912693"/>
            <a:ext cx="401300" cy="205953"/>
          </a:xfrm>
          <a:prstGeom prst="roundRect">
            <a:avLst>
              <a:gd name="adj" fmla="val 17647"/>
            </a:avLst>
          </a:prstGeom>
          <a:solidFill>
            <a:srgbClr val="F2F5F9"/>
          </a:solidFill>
          <a:ln w="12700">
            <a:solidFill>
              <a:srgbClr val="B8C0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0" name="Text 103">
            <a:extLst>
              <a:ext uri="{FF2B5EF4-FFF2-40B4-BE49-F238E27FC236}">
                <a16:creationId xmlns:a16="http://schemas.microsoft.com/office/drawing/2014/main" id="{A5A321A7-8F10-4E07-89C5-4D378FF46CDA}"/>
              </a:ext>
            </a:extLst>
          </p:cNvPr>
          <p:cNvSpPr txBox="1"/>
          <p:nvPr/>
        </p:nvSpPr>
        <p:spPr>
          <a:xfrm>
            <a:off x="3357992" y="3235255"/>
            <a:ext cx="472118" cy="205953"/>
          </a:xfrm>
          <a:prstGeom prst="rect">
            <a:avLst/>
          </a:prstGeom>
          <a:solidFill>
            <a:srgbClr val="F2F5F9"/>
          </a:solidFill>
          <a:ln w="12700">
            <a:solidFill>
              <a:srgbClr val="B8C0CC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defTabSz="914034">
              <a:defRPr/>
            </a:pPr>
            <a:r>
              <a:rPr lang="en-US" sz="760" dirty="0">
                <a:solidFill>
                  <a:srgbClr val="10245C"/>
                </a:solidFill>
                <a:latin typeface=" 微软雅黑"/>
                <a:ea typeface="Noto Sans CJK SC" pitchFamily="34" charset="-122"/>
                <a:cs typeface="Noto Sans CJK SC" pitchFamily="34" charset="-120"/>
              </a:rPr>
              <a:t>线程2</a:t>
            </a:r>
            <a:endParaRPr lang="en-US" sz="760" dirty="0">
              <a:solidFill>
                <a:prstClr val="black"/>
              </a:solidFill>
              <a:latin typeface=" 微软雅黑"/>
            </a:endParaRPr>
          </a:p>
        </p:txBody>
      </p:sp>
      <p:sp>
        <p:nvSpPr>
          <p:cNvPr id="121" name="Shape 104">
            <a:extLst>
              <a:ext uri="{FF2B5EF4-FFF2-40B4-BE49-F238E27FC236}">
                <a16:creationId xmlns:a16="http://schemas.microsoft.com/office/drawing/2014/main" id="{5933864C-2DBB-480E-93BB-1612A70BAB73}"/>
              </a:ext>
            </a:extLst>
          </p:cNvPr>
          <p:cNvSpPr/>
          <p:nvPr/>
        </p:nvSpPr>
        <p:spPr>
          <a:xfrm>
            <a:off x="3901463" y="3259484"/>
            <a:ext cx="401300" cy="205953"/>
          </a:xfrm>
          <a:prstGeom prst="roundRect">
            <a:avLst>
              <a:gd name="adj" fmla="val 17647"/>
            </a:avLst>
          </a:prstGeom>
          <a:solidFill>
            <a:srgbClr val="F2F5F9"/>
          </a:solidFill>
          <a:ln w="12700">
            <a:solidFill>
              <a:srgbClr val="B8C0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Shape 105">
            <a:extLst>
              <a:ext uri="{FF2B5EF4-FFF2-40B4-BE49-F238E27FC236}">
                <a16:creationId xmlns:a16="http://schemas.microsoft.com/office/drawing/2014/main" id="{995D6A72-E053-43E0-938B-1A41458BCA7B}"/>
              </a:ext>
            </a:extLst>
          </p:cNvPr>
          <p:cNvSpPr/>
          <p:nvPr/>
        </p:nvSpPr>
        <p:spPr>
          <a:xfrm>
            <a:off x="4317381" y="3362459"/>
            <a:ext cx="94423" cy="0"/>
          </a:xfrm>
          <a:prstGeom prst="line">
            <a:avLst/>
          </a:prstGeom>
          <a:solidFill>
            <a:srgbClr val="F2F5F9"/>
          </a:solidFill>
          <a:ln w="12700">
            <a:solidFill>
              <a:srgbClr val="B8C0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" name="Shape 106">
            <a:extLst>
              <a:ext uri="{FF2B5EF4-FFF2-40B4-BE49-F238E27FC236}">
                <a16:creationId xmlns:a16="http://schemas.microsoft.com/office/drawing/2014/main" id="{EE9711E7-34B6-4543-8ADB-413B47A5497D}"/>
              </a:ext>
            </a:extLst>
          </p:cNvPr>
          <p:cNvSpPr/>
          <p:nvPr/>
        </p:nvSpPr>
        <p:spPr>
          <a:xfrm>
            <a:off x="4439854" y="3272561"/>
            <a:ext cx="401300" cy="205953"/>
          </a:xfrm>
          <a:prstGeom prst="roundRect">
            <a:avLst>
              <a:gd name="adj" fmla="val 17647"/>
            </a:avLst>
          </a:prstGeom>
          <a:solidFill>
            <a:srgbClr val="F2F5F9"/>
          </a:solidFill>
          <a:ln w="12700">
            <a:solidFill>
              <a:srgbClr val="B8C0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Shape 107">
            <a:extLst>
              <a:ext uri="{FF2B5EF4-FFF2-40B4-BE49-F238E27FC236}">
                <a16:creationId xmlns:a16="http://schemas.microsoft.com/office/drawing/2014/main" id="{99661412-08AA-4616-8AC8-D19CA1E5D58D}"/>
              </a:ext>
            </a:extLst>
          </p:cNvPr>
          <p:cNvSpPr/>
          <p:nvPr/>
        </p:nvSpPr>
        <p:spPr>
          <a:xfrm>
            <a:off x="4857305" y="3362459"/>
            <a:ext cx="94423" cy="0"/>
          </a:xfrm>
          <a:prstGeom prst="line">
            <a:avLst/>
          </a:prstGeom>
          <a:solidFill>
            <a:srgbClr val="F2F5F9"/>
          </a:solidFill>
          <a:ln w="12700">
            <a:solidFill>
              <a:srgbClr val="B8C0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5" name="Shape 108">
            <a:extLst>
              <a:ext uri="{FF2B5EF4-FFF2-40B4-BE49-F238E27FC236}">
                <a16:creationId xmlns:a16="http://schemas.microsoft.com/office/drawing/2014/main" id="{2C75B3B1-3805-4F2C-B119-91401B54AB46}"/>
              </a:ext>
            </a:extLst>
          </p:cNvPr>
          <p:cNvSpPr/>
          <p:nvPr/>
        </p:nvSpPr>
        <p:spPr>
          <a:xfrm>
            <a:off x="4990798" y="3259484"/>
            <a:ext cx="401300" cy="205953"/>
          </a:xfrm>
          <a:prstGeom prst="roundRect">
            <a:avLst>
              <a:gd name="adj" fmla="val 17647"/>
            </a:avLst>
          </a:prstGeom>
          <a:solidFill>
            <a:srgbClr val="F2F5F9"/>
          </a:solidFill>
          <a:ln w="12700">
            <a:solidFill>
              <a:srgbClr val="B8C0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Text 109">
            <a:extLst>
              <a:ext uri="{FF2B5EF4-FFF2-40B4-BE49-F238E27FC236}">
                <a16:creationId xmlns:a16="http://schemas.microsoft.com/office/drawing/2014/main" id="{0ACC1FB9-2D20-483F-8528-7F1BD85DF8FA}"/>
              </a:ext>
            </a:extLst>
          </p:cNvPr>
          <p:cNvSpPr txBox="1"/>
          <p:nvPr/>
        </p:nvSpPr>
        <p:spPr>
          <a:xfrm>
            <a:off x="3363473" y="3581979"/>
            <a:ext cx="472118" cy="205953"/>
          </a:xfrm>
          <a:prstGeom prst="rect">
            <a:avLst/>
          </a:prstGeom>
          <a:solidFill>
            <a:srgbClr val="F2F5F9"/>
          </a:solidFill>
          <a:ln w="12700">
            <a:solidFill>
              <a:srgbClr val="B8C0CC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defTabSz="914034">
              <a:defRPr/>
            </a:pPr>
            <a:r>
              <a:rPr lang="en-US" sz="760" dirty="0">
                <a:solidFill>
                  <a:srgbClr val="10245C"/>
                </a:solidFill>
                <a:latin typeface=" 微软雅黑"/>
                <a:ea typeface="Noto Sans CJK SC" pitchFamily="34" charset="-122"/>
                <a:cs typeface="Noto Sans CJK SC" pitchFamily="34" charset="-120"/>
              </a:rPr>
              <a:t>线程N</a:t>
            </a:r>
            <a:endParaRPr lang="en-US" sz="760" dirty="0">
              <a:solidFill>
                <a:prstClr val="black"/>
              </a:solidFill>
              <a:latin typeface=" 微软雅黑"/>
            </a:endParaRPr>
          </a:p>
        </p:txBody>
      </p:sp>
      <p:sp>
        <p:nvSpPr>
          <p:cNvPr id="127" name="Shape 110">
            <a:extLst>
              <a:ext uri="{FF2B5EF4-FFF2-40B4-BE49-F238E27FC236}">
                <a16:creationId xmlns:a16="http://schemas.microsoft.com/office/drawing/2014/main" id="{86399C10-3D3B-4700-8BF0-903E4A14C0CC}"/>
              </a:ext>
            </a:extLst>
          </p:cNvPr>
          <p:cNvSpPr/>
          <p:nvPr/>
        </p:nvSpPr>
        <p:spPr>
          <a:xfrm>
            <a:off x="3901012" y="3595024"/>
            <a:ext cx="401300" cy="205953"/>
          </a:xfrm>
          <a:prstGeom prst="roundRect">
            <a:avLst>
              <a:gd name="adj" fmla="val 17647"/>
            </a:avLst>
          </a:prstGeom>
          <a:solidFill>
            <a:srgbClr val="F2F5F9"/>
          </a:solidFill>
          <a:ln w="12700">
            <a:solidFill>
              <a:srgbClr val="B8C0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Shape 111">
            <a:extLst>
              <a:ext uri="{FF2B5EF4-FFF2-40B4-BE49-F238E27FC236}">
                <a16:creationId xmlns:a16="http://schemas.microsoft.com/office/drawing/2014/main" id="{44B20291-D4D3-49C6-9A5D-12F01F72703F}"/>
              </a:ext>
            </a:extLst>
          </p:cNvPr>
          <p:cNvSpPr/>
          <p:nvPr/>
        </p:nvSpPr>
        <p:spPr>
          <a:xfrm>
            <a:off x="4334723" y="3709183"/>
            <a:ext cx="94423" cy="0"/>
          </a:xfrm>
          <a:prstGeom prst="line">
            <a:avLst/>
          </a:prstGeom>
          <a:solidFill>
            <a:srgbClr val="F2F5F9"/>
          </a:solidFill>
          <a:ln w="12700">
            <a:solidFill>
              <a:srgbClr val="B8C0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9" name="Shape 112">
            <a:extLst>
              <a:ext uri="{FF2B5EF4-FFF2-40B4-BE49-F238E27FC236}">
                <a16:creationId xmlns:a16="http://schemas.microsoft.com/office/drawing/2014/main" id="{034286EC-4256-4AAB-90AF-2499D872B8F5}"/>
              </a:ext>
            </a:extLst>
          </p:cNvPr>
          <p:cNvSpPr/>
          <p:nvPr/>
        </p:nvSpPr>
        <p:spPr>
          <a:xfrm>
            <a:off x="4441026" y="3606208"/>
            <a:ext cx="401300" cy="205953"/>
          </a:xfrm>
          <a:prstGeom prst="roundRect">
            <a:avLst>
              <a:gd name="adj" fmla="val 17647"/>
            </a:avLst>
          </a:prstGeom>
          <a:solidFill>
            <a:srgbClr val="F2F5F9"/>
          </a:solidFill>
          <a:ln w="12700">
            <a:solidFill>
              <a:srgbClr val="B8C0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Shape 113">
            <a:extLst>
              <a:ext uri="{FF2B5EF4-FFF2-40B4-BE49-F238E27FC236}">
                <a16:creationId xmlns:a16="http://schemas.microsoft.com/office/drawing/2014/main" id="{76C9DACE-6F3B-421D-9866-2E4DFAEB5B8A}"/>
              </a:ext>
            </a:extLst>
          </p:cNvPr>
          <p:cNvSpPr/>
          <p:nvPr/>
        </p:nvSpPr>
        <p:spPr>
          <a:xfrm>
            <a:off x="4868812" y="3709183"/>
            <a:ext cx="94423" cy="0"/>
          </a:xfrm>
          <a:prstGeom prst="line">
            <a:avLst/>
          </a:prstGeom>
          <a:solidFill>
            <a:srgbClr val="F2F5F9"/>
          </a:solidFill>
          <a:ln w="12700">
            <a:solidFill>
              <a:srgbClr val="B8C0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1" name="Shape 114">
            <a:extLst>
              <a:ext uri="{FF2B5EF4-FFF2-40B4-BE49-F238E27FC236}">
                <a16:creationId xmlns:a16="http://schemas.microsoft.com/office/drawing/2014/main" id="{A044E91C-4243-4B3B-A48E-424BA96FBE4F}"/>
              </a:ext>
            </a:extLst>
          </p:cNvPr>
          <p:cNvSpPr/>
          <p:nvPr/>
        </p:nvSpPr>
        <p:spPr>
          <a:xfrm>
            <a:off x="4985330" y="3595024"/>
            <a:ext cx="401300" cy="205953"/>
          </a:xfrm>
          <a:prstGeom prst="roundRect">
            <a:avLst>
              <a:gd name="adj" fmla="val 17647"/>
            </a:avLst>
          </a:prstGeom>
          <a:solidFill>
            <a:srgbClr val="F2F5F9"/>
          </a:solidFill>
          <a:ln w="12700">
            <a:solidFill>
              <a:srgbClr val="B8C0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3BEA187-DCBD-4DD9-B0C5-3AC064D075CC}"/>
              </a:ext>
            </a:extLst>
          </p:cNvPr>
          <p:cNvSpPr txBox="1"/>
          <p:nvPr/>
        </p:nvSpPr>
        <p:spPr>
          <a:xfrm>
            <a:off x="1449288" y="2071720"/>
            <a:ext cx="548673" cy="215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034">
              <a:defRPr/>
            </a:pPr>
            <a:r>
              <a:rPr kumimoji="1" lang="en-US" altLang="zh-CN" sz="1399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AS-IS</a:t>
            </a:r>
            <a:endParaRPr kumimoji="1" lang="zh-CN" altLang="en-US" sz="1399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283E41A2-4B8E-4E46-87D9-0C7ACF58F32F}"/>
              </a:ext>
            </a:extLst>
          </p:cNvPr>
          <p:cNvSpPr txBox="1"/>
          <p:nvPr/>
        </p:nvSpPr>
        <p:spPr>
          <a:xfrm>
            <a:off x="3780343" y="2082331"/>
            <a:ext cx="661676" cy="215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034">
              <a:defRPr/>
            </a:pPr>
            <a:r>
              <a:rPr kumimoji="1" lang="en-US" altLang="zh-CN" sz="1399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TO-BE</a:t>
            </a:r>
            <a:endParaRPr kumimoji="1" lang="zh-CN" altLang="en-US" sz="1399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3" name="组合 302">
            <a:extLst>
              <a:ext uri="{FF2B5EF4-FFF2-40B4-BE49-F238E27FC236}">
                <a16:creationId xmlns:a16="http://schemas.microsoft.com/office/drawing/2014/main" id="{CE3615BB-656C-493C-8A3E-58C1858CE9D0}"/>
              </a:ext>
            </a:extLst>
          </p:cNvPr>
          <p:cNvGrpSpPr/>
          <p:nvPr/>
        </p:nvGrpSpPr>
        <p:grpSpPr>
          <a:xfrm>
            <a:off x="6122692" y="1794491"/>
            <a:ext cx="4025047" cy="3410959"/>
            <a:chOff x="3768" y="2045818"/>
            <a:chExt cx="5458420" cy="3412291"/>
          </a:xfrm>
        </p:grpSpPr>
        <p:sp>
          <p:nvSpPr>
            <p:cNvPr id="305" name="矩形 304">
              <a:extLst>
                <a:ext uri="{FF2B5EF4-FFF2-40B4-BE49-F238E27FC236}">
                  <a16:creationId xmlns:a16="http://schemas.microsoft.com/office/drawing/2014/main" id="{189D782C-5CFB-412E-9E22-0B9C47C534B9}"/>
                </a:ext>
              </a:extLst>
            </p:cNvPr>
            <p:cNvSpPr/>
            <p:nvPr/>
          </p:nvSpPr>
          <p:spPr>
            <a:xfrm>
              <a:off x="840657" y="2396935"/>
              <a:ext cx="3924066" cy="617328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3668">
                <a:defRPr/>
              </a:pPr>
              <a:r>
                <a:rPr lang="en-US" altLang="zh-CN" sz="900" kern="0" dirty="0" err="1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PyTorch</a:t>
              </a:r>
              <a:endParaRPr lang="zh-CN" altLang="en-US" sz="900" kern="0" dirty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316" name="矩形 315">
              <a:extLst>
                <a:ext uri="{FF2B5EF4-FFF2-40B4-BE49-F238E27FC236}">
                  <a16:creationId xmlns:a16="http://schemas.microsoft.com/office/drawing/2014/main" id="{5F3FC60B-007D-4062-83D6-5996CFCEC1CA}"/>
                </a:ext>
              </a:extLst>
            </p:cNvPr>
            <p:cNvSpPr/>
            <p:nvPr/>
          </p:nvSpPr>
          <p:spPr>
            <a:xfrm>
              <a:off x="2849012" y="3154880"/>
              <a:ext cx="1915708" cy="569296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3668">
                <a:defRPr/>
              </a:pPr>
              <a:r>
                <a:rPr lang="en-US" altLang="zh-CN" sz="900" kern="0" dirty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PTA</a:t>
              </a:r>
            </a:p>
            <a:p>
              <a:pPr defTabSz="913668">
                <a:defRPr/>
              </a:pPr>
              <a:r>
                <a:rPr lang="en-US" altLang="zh-CN" sz="900" kern="0" dirty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Inductor</a:t>
              </a:r>
              <a:endParaRPr lang="zh-CN" altLang="en-US" sz="900" kern="0" dirty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317" name="矩形 316">
              <a:extLst>
                <a:ext uri="{FF2B5EF4-FFF2-40B4-BE49-F238E27FC236}">
                  <a16:creationId xmlns:a16="http://schemas.microsoft.com/office/drawing/2014/main" id="{F8DCCB2F-BEF5-4805-96A2-A160C063EF3E}"/>
                </a:ext>
              </a:extLst>
            </p:cNvPr>
            <p:cNvSpPr/>
            <p:nvPr/>
          </p:nvSpPr>
          <p:spPr>
            <a:xfrm>
              <a:off x="3627588" y="3228324"/>
              <a:ext cx="1054003" cy="263418"/>
            </a:xfrm>
            <a:prstGeom prst="rect">
              <a:avLst/>
            </a:prstGeom>
            <a:solidFill>
              <a:srgbClr val="DDDDDD"/>
            </a:solidFill>
            <a:ln w="63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668">
                <a:defRPr/>
              </a:pPr>
              <a:r>
                <a:rPr lang="en-US" altLang="zh-CN" sz="900" kern="0" dirty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Python</a:t>
              </a:r>
            </a:p>
            <a:p>
              <a:pPr algn="ctr" defTabSz="913668">
                <a:defRPr/>
              </a:pPr>
              <a:r>
                <a:rPr lang="en-US" altLang="zh-CN" sz="900" kern="0" dirty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Wrapper</a:t>
              </a:r>
              <a:endParaRPr lang="zh-CN" altLang="en-US" sz="900" kern="0" dirty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318" name="矩形 317">
              <a:extLst>
                <a:ext uri="{FF2B5EF4-FFF2-40B4-BE49-F238E27FC236}">
                  <a16:creationId xmlns:a16="http://schemas.microsoft.com/office/drawing/2014/main" id="{E4DA8BE2-E9DA-4731-88ED-A12D6DA4E43F}"/>
                </a:ext>
              </a:extLst>
            </p:cNvPr>
            <p:cNvSpPr/>
            <p:nvPr/>
          </p:nvSpPr>
          <p:spPr>
            <a:xfrm>
              <a:off x="840655" y="4477822"/>
              <a:ext cx="4021817" cy="23494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3668">
                <a:defRPr/>
              </a:pPr>
              <a:r>
                <a:rPr lang="en-US" altLang="zh-CN" sz="900" kern="0" dirty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                             </a:t>
              </a:r>
            </a:p>
            <a:p>
              <a:pPr defTabSz="913668">
                <a:defRPr/>
              </a:pPr>
              <a:r>
                <a:rPr lang="en-US" altLang="zh-CN" sz="900" kern="0" dirty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                                PTA  Core</a:t>
              </a:r>
            </a:p>
            <a:p>
              <a:pPr defTabSz="913668">
                <a:defRPr/>
              </a:pPr>
              <a:endParaRPr lang="zh-CN" altLang="en-US" sz="900" kern="0" dirty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320" name="矩形 319">
              <a:extLst>
                <a:ext uri="{FF2B5EF4-FFF2-40B4-BE49-F238E27FC236}">
                  <a16:creationId xmlns:a16="http://schemas.microsoft.com/office/drawing/2014/main" id="{ACE8F27F-FFB4-4C20-BB26-1B3395C75546}"/>
                </a:ext>
              </a:extLst>
            </p:cNvPr>
            <p:cNvSpPr/>
            <p:nvPr/>
          </p:nvSpPr>
          <p:spPr>
            <a:xfrm>
              <a:off x="840657" y="4808018"/>
              <a:ext cx="4024815" cy="221702"/>
            </a:xfrm>
            <a:prstGeom prst="rect">
              <a:avLst/>
            </a:prstGeom>
            <a:noFill/>
            <a:ln w="190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668">
                <a:defRPr/>
              </a:pPr>
              <a:r>
                <a:rPr lang="en-US" altLang="zh-CN" sz="900" kern="0" dirty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CANN</a:t>
              </a:r>
              <a:endParaRPr lang="zh-CN" altLang="en-US" sz="900" kern="0" dirty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cxnSp>
          <p:nvCxnSpPr>
            <p:cNvPr id="324" name="直接箭头连接符 323">
              <a:extLst>
                <a:ext uri="{FF2B5EF4-FFF2-40B4-BE49-F238E27FC236}">
                  <a16:creationId xmlns:a16="http://schemas.microsoft.com/office/drawing/2014/main" id="{49E94EA5-DD42-4E6B-A9D1-DC383DCD24C7}"/>
                </a:ext>
              </a:extLst>
            </p:cNvPr>
            <p:cNvCxnSpPr>
              <a:cxnSpLocks/>
            </p:cNvCxnSpPr>
            <p:nvPr/>
          </p:nvCxnSpPr>
          <p:spPr>
            <a:xfrm>
              <a:off x="143191" y="5096417"/>
              <a:ext cx="5318997" cy="13238"/>
            </a:xfrm>
            <a:prstGeom prst="straightConnector1">
              <a:avLst/>
            </a:prstGeom>
            <a:noFill/>
            <a:ln w="19050" cap="flat" cmpd="sng" algn="ctr">
              <a:solidFill>
                <a:srgbClr val="1D1D1A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325" name="矩形 324">
              <a:extLst>
                <a:ext uri="{FF2B5EF4-FFF2-40B4-BE49-F238E27FC236}">
                  <a16:creationId xmlns:a16="http://schemas.microsoft.com/office/drawing/2014/main" id="{6D83D27F-B265-4B00-B373-109542C5847D}"/>
                </a:ext>
              </a:extLst>
            </p:cNvPr>
            <p:cNvSpPr/>
            <p:nvPr/>
          </p:nvSpPr>
          <p:spPr>
            <a:xfrm>
              <a:off x="840657" y="5175460"/>
              <a:ext cx="4027199" cy="254473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666" rIns="0" bIns="456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303">
                <a:defRPr/>
              </a:pPr>
              <a:r>
                <a:rPr lang="en-US" altLang="zh-CN" sz="800" kern="0" dirty="0">
                  <a:solidFill>
                    <a:srgbClr val="1D1D1A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kernel</a:t>
              </a:r>
              <a:endParaRPr lang="zh-CN" altLang="en-US" sz="800" kern="0" dirty="0">
                <a:solidFill>
                  <a:srgbClr val="1D1D1A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sp>
          <p:nvSpPr>
            <p:cNvPr id="334" name="矩形 333">
              <a:extLst>
                <a:ext uri="{FF2B5EF4-FFF2-40B4-BE49-F238E27FC236}">
                  <a16:creationId xmlns:a16="http://schemas.microsoft.com/office/drawing/2014/main" id="{B019E455-C00D-465C-819B-C0B47DE8F847}"/>
                </a:ext>
              </a:extLst>
            </p:cNvPr>
            <p:cNvSpPr/>
            <p:nvPr/>
          </p:nvSpPr>
          <p:spPr>
            <a:xfrm>
              <a:off x="18613" y="4815503"/>
              <a:ext cx="74328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3303">
                <a:defRPr/>
              </a:pPr>
              <a:r>
                <a:rPr lang="en-US" altLang="zh-CN" sz="1000" b="1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CPU</a:t>
              </a:r>
            </a:p>
          </p:txBody>
        </p:sp>
        <p:sp>
          <p:nvSpPr>
            <p:cNvPr id="335" name="矩形 334">
              <a:extLst>
                <a:ext uri="{FF2B5EF4-FFF2-40B4-BE49-F238E27FC236}">
                  <a16:creationId xmlns:a16="http://schemas.microsoft.com/office/drawing/2014/main" id="{F2A9EF8B-AE81-49BA-BE80-650731026824}"/>
                </a:ext>
              </a:extLst>
            </p:cNvPr>
            <p:cNvSpPr/>
            <p:nvPr/>
          </p:nvSpPr>
          <p:spPr>
            <a:xfrm>
              <a:off x="3768" y="5211888"/>
              <a:ext cx="831506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3303">
                <a:defRPr/>
              </a:pPr>
              <a:r>
                <a:rPr lang="en-US" altLang="zh-CN" sz="1000" b="1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NPU</a:t>
              </a:r>
            </a:p>
          </p:txBody>
        </p:sp>
        <p:sp>
          <p:nvSpPr>
            <p:cNvPr id="345" name="矩形 344">
              <a:extLst>
                <a:ext uri="{FF2B5EF4-FFF2-40B4-BE49-F238E27FC236}">
                  <a16:creationId xmlns:a16="http://schemas.microsoft.com/office/drawing/2014/main" id="{79074A76-A4B1-41E2-B53C-A6E616BADD21}"/>
                </a:ext>
              </a:extLst>
            </p:cNvPr>
            <p:cNvSpPr/>
            <p:nvPr/>
          </p:nvSpPr>
          <p:spPr>
            <a:xfrm>
              <a:off x="2841938" y="3932643"/>
              <a:ext cx="2020534" cy="495858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3668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Triton</a:t>
              </a:r>
            </a:p>
            <a:p>
              <a:pPr defTabSz="913668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Ascend</a:t>
              </a:r>
              <a:endParaRPr lang="zh-CN" altLang="en-US" sz="900" kern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346" name="矩形 345">
              <a:extLst>
                <a:ext uri="{FF2B5EF4-FFF2-40B4-BE49-F238E27FC236}">
                  <a16:creationId xmlns:a16="http://schemas.microsoft.com/office/drawing/2014/main" id="{CBE7C356-8486-43B9-8792-771B852B9A05}"/>
                </a:ext>
              </a:extLst>
            </p:cNvPr>
            <p:cNvSpPr/>
            <p:nvPr/>
          </p:nvSpPr>
          <p:spPr>
            <a:xfrm>
              <a:off x="3484093" y="4174440"/>
              <a:ext cx="1287703" cy="183173"/>
            </a:xfrm>
            <a:prstGeom prst="rect">
              <a:avLst/>
            </a:prstGeom>
            <a:solidFill>
              <a:srgbClr val="EBEBEB"/>
            </a:solidFill>
            <a:ln w="63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668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launch</a:t>
              </a:r>
              <a:endParaRPr lang="zh-CN" altLang="en-US" sz="900" kern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347" name="矩形 346">
              <a:extLst>
                <a:ext uri="{FF2B5EF4-FFF2-40B4-BE49-F238E27FC236}">
                  <a16:creationId xmlns:a16="http://schemas.microsoft.com/office/drawing/2014/main" id="{0480DD8E-F735-45BD-BFFE-63F414484E1D}"/>
                </a:ext>
              </a:extLst>
            </p:cNvPr>
            <p:cNvSpPr/>
            <p:nvPr/>
          </p:nvSpPr>
          <p:spPr>
            <a:xfrm>
              <a:off x="3477016" y="3970459"/>
              <a:ext cx="1287704" cy="152928"/>
            </a:xfrm>
            <a:prstGeom prst="rect">
              <a:avLst/>
            </a:prstGeom>
            <a:solidFill>
              <a:srgbClr val="EBEBEB"/>
            </a:solidFill>
            <a:ln w="63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668">
                <a:defRPr/>
              </a:pPr>
              <a:r>
                <a:rPr lang="en-US" altLang="zh-CN" sz="800" kern="0" dirty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Launch-</a:t>
              </a:r>
              <a:r>
                <a:rPr lang="en-US" altLang="zh-CN" sz="800" kern="0" dirty="0" err="1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pybind</a:t>
              </a:r>
              <a:endParaRPr lang="zh-CN" altLang="en-US" sz="800" kern="0" dirty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348" name="矩形 347">
              <a:extLst>
                <a:ext uri="{FF2B5EF4-FFF2-40B4-BE49-F238E27FC236}">
                  <a16:creationId xmlns:a16="http://schemas.microsoft.com/office/drawing/2014/main" id="{67EA09DE-8869-4B0C-A4CD-BCB9985CD3DB}"/>
                </a:ext>
              </a:extLst>
            </p:cNvPr>
            <p:cNvSpPr/>
            <p:nvPr/>
          </p:nvSpPr>
          <p:spPr>
            <a:xfrm>
              <a:off x="2841937" y="2762183"/>
              <a:ext cx="1839653" cy="238842"/>
            </a:xfrm>
            <a:prstGeom prst="rect">
              <a:avLst/>
            </a:prstGeom>
            <a:solidFill>
              <a:srgbClr val="DDDDDD"/>
            </a:solidFill>
            <a:ln w="63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668">
                <a:defRPr/>
              </a:pPr>
              <a:r>
                <a:rPr lang="en-US" altLang="zh-CN" sz="900" kern="0" dirty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t</a:t>
              </a:r>
              <a:r>
                <a:rPr lang="en-US" altLang="zh-CN" sz="900" kern="0" dirty="0" err="1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orch.compile</a:t>
              </a:r>
              <a:endParaRPr lang="zh-CN" altLang="en-US" sz="900" kern="0" dirty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350" name="矩形 349">
              <a:extLst>
                <a:ext uri="{FF2B5EF4-FFF2-40B4-BE49-F238E27FC236}">
                  <a16:creationId xmlns:a16="http://schemas.microsoft.com/office/drawing/2014/main" id="{4951130C-C240-491D-8302-DCBEA97E0E23}"/>
                </a:ext>
              </a:extLst>
            </p:cNvPr>
            <p:cNvSpPr/>
            <p:nvPr/>
          </p:nvSpPr>
          <p:spPr>
            <a:xfrm>
              <a:off x="1674476" y="2467658"/>
              <a:ext cx="3007114" cy="238842"/>
            </a:xfrm>
            <a:prstGeom prst="rect">
              <a:avLst/>
            </a:prstGeom>
            <a:solidFill>
              <a:srgbClr val="EBEBEB"/>
            </a:solidFill>
            <a:ln w="63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668">
                <a:defRPr/>
              </a:pPr>
              <a:r>
                <a:rPr lang="en-US" altLang="zh-CN" sz="900" kern="0" err="1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torch.module</a:t>
              </a:r>
              <a:endParaRPr lang="zh-CN" altLang="en-US" sz="900" kern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351" name="矩形 350">
              <a:extLst>
                <a:ext uri="{FF2B5EF4-FFF2-40B4-BE49-F238E27FC236}">
                  <a16:creationId xmlns:a16="http://schemas.microsoft.com/office/drawing/2014/main" id="{DA2C7FAC-7DC9-43A8-8CB8-83ECCD2A47B8}"/>
                </a:ext>
              </a:extLst>
            </p:cNvPr>
            <p:cNvSpPr/>
            <p:nvPr/>
          </p:nvSpPr>
          <p:spPr>
            <a:xfrm>
              <a:off x="1674476" y="2754622"/>
              <a:ext cx="1119294" cy="238842"/>
            </a:xfrm>
            <a:prstGeom prst="rect">
              <a:avLst/>
            </a:prstGeom>
            <a:solidFill>
              <a:srgbClr val="EBEBEB"/>
            </a:solidFill>
            <a:ln w="63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12">
                <a:defRPr/>
              </a:pPr>
              <a:r>
                <a:rPr lang="en-US" altLang="zh-CN" sz="900" kern="0" dirty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dispatcher</a:t>
              </a:r>
              <a:endParaRPr lang="zh-CN" altLang="en-US" sz="900" kern="0" dirty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355" name="文本框 354">
              <a:extLst>
                <a:ext uri="{FF2B5EF4-FFF2-40B4-BE49-F238E27FC236}">
                  <a16:creationId xmlns:a16="http://schemas.microsoft.com/office/drawing/2014/main" id="{336A4834-0361-494A-8D64-A413003A2E49}"/>
                </a:ext>
              </a:extLst>
            </p:cNvPr>
            <p:cNvSpPr txBox="1"/>
            <p:nvPr/>
          </p:nvSpPr>
          <p:spPr>
            <a:xfrm>
              <a:off x="1494616" y="2045818"/>
              <a:ext cx="89153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034">
                <a:defRPr/>
              </a:pPr>
              <a:r>
                <a:rPr lang="en-US" altLang="zh-CN" sz="1399" b="1" kern="0" dirty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eager</a:t>
              </a:r>
              <a:endParaRPr lang="zh-CN" altLang="en-US" sz="1399" b="1" kern="0" dirty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356" name="文本框 355">
              <a:extLst>
                <a:ext uri="{FF2B5EF4-FFF2-40B4-BE49-F238E27FC236}">
                  <a16:creationId xmlns:a16="http://schemas.microsoft.com/office/drawing/2014/main" id="{FD5A0C97-4BA9-42FC-8F0F-F15A26BF203A}"/>
                </a:ext>
              </a:extLst>
            </p:cNvPr>
            <p:cNvSpPr txBox="1"/>
            <p:nvPr/>
          </p:nvSpPr>
          <p:spPr>
            <a:xfrm>
              <a:off x="3408328" y="2050539"/>
              <a:ext cx="111400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034">
                <a:defRPr/>
              </a:pPr>
              <a:r>
                <a:rPr lang="en-US" altLang="zh-CN" sz="1399" b="1" kern="0" dirty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inductor</a:t>
              </a:r>
              <a:endParaRPr lang="zh-CN" altLang="en-US" sz="1399" b="1" kern="0" dirty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357" name="矩形 356">
              <a:extLst>
                <a:ext uri="{FF2B5EF4-FFF2-40B4-BE49-F238E27FC236}">
                  <a16:creationId xmlns:a16="http://schemas.microsoft.com/office/drawing/2014/main" id="{0082D20D-25DC-4D47-BA1C-84E8CEEF764A}"/>
                </a:ext>
              </a:extLst>
            </p:cNvPr>
            <p:cNvSpPr/>
            <p:nvPr/>
          </p:nvSpPr>
          <p:spPr>
            <a:xfrm>
              <a:off x="840657" y="3154880"/>
              <a:ext cx="1953113" cy="58066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just" defTabSz="913668">
                <a:defRPr/>
              </a:pPr>
              <a:r>
                <a:rPr lang="en-US" altLang="zh-CN" sz="900" kern="0" dirty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PTA</a:t>
              </a:r>
            </a:p>
            <a:p>
              <a:pPr defTabSz="913668">
                <a:defRPr/>
              </a:pPr>
              <a:r>
                <a:rPr lang="en-US" altLang="zh-CN" sz="900" kern="0" dirty="0" err="1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OpPlugin</a:t>
              </a:r>
              <a:endParaRPr lang="en-US" altLang="zh-CN" sz="900" kern="0" dirty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  <a:p>
              <a:pPr defTabSz="913668">
                <a:defRPr/>
              </a:pPr>
              <a:endParaRPr lang="zh-CN" altLang="en-US" sz="900" kern="0" dirty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</p:grpSp>
      <p:sp>
        <p:nvSpPr>
          <p:cNvPr id="366" name="矩形 365">
            <a:extLst>
              <a:ext uri="{FF2B5EF4-FFF2-40B4-BE49-F238E27FC236}">
                <a16:creationId xmlns:a16="http://schemas.microsoft.com/office/drawing/2014/main" id="{F506ACD7-6DE2-4D15-BE5E-97D5F0777244}"/>
              </a:ext>
            </a:extLst>
          </p:cNvPr>
          <p:cNvSpPr/>
          <p:nvPr/>
        </p:nvSpPr>
        <p:spPr>
          <a:xfrm>
            <a:off x="6656790" y="2862564"/>
            <a:ext cx="3050928" cy="66322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endParaRPr lang="zh-CN" altLang="en-US" sz="1799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5" name="Text 52">
            <a:extLst>
              <a:ext uri="{FF2B5EF4-FFF2-40B4-BE49-F238E27FC236}">
                <a16:creationId xmlns:a16="http://schemas.microsoft.com/office/drawing/2014/main" id="{618A72A5-1475-4D06-850E-8F793CD4501A}"/>
              </a:ext>
            </a:extLst>
          </p:cNvPr>
          <p:cNvSpPr/>
          <p:nvPr/>
        </p:nvSpPr>
        <p:spPr>
          <a:xfrm>
            <a:off x="353940" y="4308955"/>
            <a:ext cx="5359502" cy="310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914034">
              <a:defRPr/>
            </a:pPr>
            <a:r>
              <a:rPr lang="en-US" sz="1399" b="1" dirty="0" err="1">
                <a:solidFill>
                  <a:srgbClr val="1D1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多核释放：</a:t>
            </a:r>
            <a:r>
              <a:rPr lang="en-US" altLang="zh-CN" sz="1399" dirty="0" err="1">
                <a:solidFill>
                  <a:srgbClr val="1D1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</a:t>
            </a:r>
            <a:r>
              <a:rPr lang="en-US" altLang="zh-CN" sz="1399" dirty="0">
                <a:solidFill>
                  <a:srgbClr val="1D1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GIL </a:t>
            </a:r>
            <a:r>
              <a:rPr lang="en-US" altLang="zh-CN" sz="1399" dirty="0" err="1">
                <a:solidFill>
                  <a:srgbClr val="1D1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串行瓶颈，释放</a:t>
            </a:r>
            <a:r>
              <a:rPr lang="en-US" altLang="zh-CN" sz="1399" dirty="0">
                <a:solidFill>
                  <a:srgbClr val="1D1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Python </a:t>
            </a:r>
            <a:r>
              <a:rPr lang="en-US" altLang="zh-CN" sz="1399" dirty="0" err="1">
                <a:solidFill>
                  <a:srgbClr val="1D1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多线程并行能力</a:t>
            </a:r>
            <a:r>
              <a:rPr lang="en-US" altLang="zh-CN" sz="1399" dirty="0">
                <a:solidFill>
                  <a:srgbClr val="1D1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altLang="zh-CN" sz="1399" dirty="0">
              <a:solidFill>
                <a:srgbClr val="1D1D1A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437" name="Text 64">
            <a:extLst>
              <a:ext uri="{FF2B5EF4-FFF2-40B4-BE49-F238E27FC236}">
                <a16:creationId xmlns:a16="http://schemas.microsoft.com/office/drawing/2014/main" id="{7D3E8F2C-D9FF-494F-A880-9E6772B9BA68}"/>
              </a:ext>
            </a:extLst>
          </p:cNvPr>
          <p:cNvSpPr/>
          <p:nvPr/>
        </p:nvSpPr>
        <p:spPr>
          <a:xfrm>
            <a:off x="353941" y="4948613"/>
            <a:ext cx="5316033" cy="5174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914034">
              <a:defRPr/>
            </a:pPr>
            <a:r>
              <a:rPr lang="zh-CN" altLang="en-US" sz="1399" b="1" dirty="0">
                <a:solidFill>
                  <a:srgbClr val="1D1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实现原理</a:t>
            </a:r>
            <a:r>
              <a:rPr lang="en-US" sz="1399" b="1" dirty="0">
                <a:solidFill>
                  <a:srgbClr val="1D1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altLang="zh-CN" sz="1399" dirty="0" err="1">
                <a:solidFill>
                  <a:srgbClr val="1D1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移除全局</a:t>
            </a:r>
            <a:r>
              <a:rPr lang="en-US" altLang="zh-CN" sz="1399" dirty="0">
                <a:solidFill>
                  <a:srgbClr val="1D1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399" dirty="0" err="1">
                <a:solidFill>
                  <a:srgbClr val="1D1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GIL，并通过原子引用计数、细粒度锁等机制实现多线程真正并行</a:t>
            </a:r>
            <a:r>
              <a:rPr lang="en-US" altLang="zh-CN" sz="1399" dirty="0">
                <a:solidFill>
                  <a:srgbClr val="1D1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altLang="zh-CN" sz="1399" dirty="0">
              <a:solidFill>
                <a:srgbClr val="1D1D1A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438" name="Text 65">
            <a:extLst>
              <a:ext uri="{FF2B5EF4-FFF2-40B4-BE49-F238E27FC236}">
                <a16:creationId xmlns:a16="http://schemas.microsoft.com/office/drawing/2014/main" id="{1ED040C9-DEA7-4180-81EF-36C573E44C98}"/>
              </a:ext>
            </a:extLst>
          </p:cNvPr>
          <p:cNvSpPr/>
          <p:nvPr/>
        </p:nvSpPr>
        <p:spPr>
          <a:xfrm>
            <a:off x="2093935" y="5040188"/>
            <a:ext cx="5255747" cy="3838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914034">
              <a:defRPr/>
            </a:pPr>
            <a:endParaRPr lang="en-US" sz="1180" dirty="0">
              <a:solidFill>
                <a:srgbClr val="1D1D1A"/>
              </a:solidFill>
              <a:latin typeface="Calibri"/>
            </a:endParaRPr>
          </a:p>
        </p:txBody>
      </p:sp>
      <p:sp>
        <p:nvSpPr>
          <p:cNvPr id="441" name="Text 68">
            <a:extLst>
              <a:ext uri="{FF2B5EF4-FFF2-40B4-BE49-F238E27FC236}">
                <a16:creationId xmlns:a16="http://schemas.microsoft.com/office/drawing/2014/main" id="{8912F3E4-D865-4D40-BDFE-8CE796D5AF34}"/>
              </a:ext>
            </a:extLst>
          </p:cNvPr>
          <p:cNvSpPr/>
          <p:nvPr/>
        </p:nvSpPr>
        <p:spPr>
          <a:xfrm>
            <a:off x="353941" y="5769080"/>
            <a:ext cx="5234143" cy="424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defTabSz="914034">
              <a:defRPr/>
            </a:pPr>
            <a:r>
              <a:rPr lang="en-US" sz="1399" b="1" dirty="0" err="1">
                <a:solidFill>
                  <a:srgbClr val="1D1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</a:t>
            </a:r>
            <a:r>
              <a:rPr lang="zh-CN" altLang="en-US" sz="1399" b="1" dirty="0">
                <a:solidFill>
                  <a:srgbClr val="1D1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</a:t>
            </a:r>
            <a:r>
              <a:rPr lang="en-US" sz="1399" b="1" dirty="0">
                <a:solidFill>
                  <a:srgbClr val="1D1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altLang="zh-CN" sz="1399" dirty="0" err="1">
                <a:solidFill>
                  <a:srgbClr val="1D1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线程安全生态仍在完善，</a:t>
            </a:r>
            <a:r>
              <a:rPr lang="en-US" altLang="zh-CN" sz="1399" dirty="0" err="1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关键并行路径尚缺面向鲲鹏微架构的亲和优化</a:t>
            </a:r>
            <a:r>
              <a:rPr lang="en-US" altLang="zh-CN" sz="1399" dirty="0">
                <a:solidFill>
                  <a:srgbClr val="1D1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altLang="zh-CN" sz="1399" dirty="0">
              <a:solidFill>
                <a:srgbClr val="1D1D1A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442" name="Text 69">
            <a:extLst>
              <a:ext uri="{FF2B5EF4-FFF2-40B4-BE49-F238E27FC236}">
                <a16:creationId xmlns:a16="http://schemas.microsoft.com/office/drawing/2014/main" id="{0EB65347-8B92-4952-BB4F-D0047F5BCFA8}"/>
              </a:ext>
            </a:extLst>
          </p:cNvPr>
          <p:cNvSpPr/>
          <p:nvPr/>
        </p:nvSpPr>
        <p:spPr>
          <a:xfrm>
            <a:off x="2425746" y="5954230"/>
            <a:ext cx="5255747" cy="3838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914034">
              <a:defRPr/>
            </a:pPr>
            <a:endParaRPr lang="en-US" sz="1180" dirty="0">
              <a:solidFill>
                <a:srgbClr val="1D1D1A"/>
              </a:solidFill>
              <a:latin typeface="Calibri"/>
            </a:endParaRPr>
          </a:p>
        </p:txBody>
      </p:sp>
      <p:sp>
        <p:nvSpPr>
          <p:cNvPr id="445" name="文本框 444">
            <a:extLst>
              <a:ext uri="{FF2B5EF4-FFF2-40B4-BE49-F238E27FC236}">
                <a16:creationId xmlns:a16="http://schemas.microsoft.com/office/drawing/2014/main" id="{E3E02D29-3FEB-40CD-903C-B073090DFF0F}"/>
              </a:ext>
            </a:extLst>
          </p:cNvPr>
          <p:cNvSpPr txBox="1"/>
          <p:nvPr/>
        </p:nvSpPr>
        <p:spPr>
          <a:xfrm>
            <a:off x="10154835" y="2264559"/>
            <a:ext cx="1673687" cy="3691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034">
              <a:defRPr/>
            </a:pP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已完成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Free-threaded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运行时兼容</a:t>
            </a:r>
          </a:p>
        </p:txBody>
      </p:sp>
      <p:sp>
        <p:nvSpPr>
          <p:cNvPr id="446" name="矩形 445">
            <a:extLst>
              <a:ext uri="{FF2B5EF4-FFF2-40B4-BE49-F238E27FC236}">
                <a16:creationId xmlns:a16="http://schemas.microsoft.com/office/drawing/2014/main" id="{B9B30614-F899-4278-88CE-A8A045CF06B7}"/>
              </a:ext>
            </a:extLst>
          </p:cNvPr>
          <p:cNvSpPr/>
          <p:nvPr/>
        </p:nvSpPr>
        <p:spPr>
          <a:xfrm>
            <a:off x="6654578" y="2076728"/>
            <a:ext cx="3050928" cy="719653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endParaRPr lang="zh-CN" altLang="en-US" sz="1799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8" name="直接箭头连接符 447">
            <a:extLst>
              <a:ext uri="{FF2B5EF4-FFF2-40B4-BE49-F238E27FC236}">
                <a16:creationId xmlns:a16="http://schemas.microsoft.com/office/drawing/2014/main" id="{BA0E54A6-0BC5-4389-B57F-E5C510FF7912}"/>
              </a:ext>
            </a:extLst>
          </p:cNvPr>
          <p:cNvCxnSpPr>
            <a:cxnSpLocks/>
            <a:endCxn id="445" idx="1"/>
          </p:cNvCxnSpPr>
          <p:nvPr/>
        </p:nvCxnSpPr>
        <p:spPr>
          <a:xfrm flipV="1">
            <a:off x="9748416" y="2449153"/>
            <a:ext cx="406418" cy="53866"/>
          </a:xfrm>
          <a:prstGeom prst="straightConnector1">
            <a:avLst/>
          </a:prstGeom>
          <a:noFill/>
          <a:ln w="28575">
            <a:solidFill>
              <a:srgbClr val="00B050"/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50" name="文本框 449">
            <a:extLst>
              <a:ext uri="{FF2B5EF4-FFF2-40B4-BE49-F238E27FC236}">
                <a16:creationId xmlns:a16="http://schemas.microsoft.com/office/drawing/2014/main" id="{5AFACE77-C078-40F6-9E2F-91F1F94FE19B}"/>
              </a:ext>
            </a:extLst>
          </p:cNvPr>
          <p:cNvSpPr txBox="1"/>
          <p:nvPr/>
        </p:nvSpPr>
        <p:spPr>
          <a:xfrm>
            <a:off x="10154835" y="3729414"/>
            <a:ext cx="1673687" cy="1845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034">
              <a:defRPr/>
            </a:pPr>
            <a:r>
              <a:rPr kumimoji="1" lang="zh-CN" altLang="en-US" sz="1200" dirty="0">
                <a:solidFill>
                  <a:srgbClr val="7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未适配</a:t>
            </a:r>
          </a:p>
        </p:txBody>
      </p:sp>
      <p:cxnSp>
        <p:nvCxnSpPr>
          <p:cNvPr id="451" name="直接箭头连接符 450">
            <a:extLst>
              <a:ext uri="{FF2B5EF4-FFF2-40B4-BE49-F238E27FC236}">
                <a16:creationId xmlns:a16="http://schemas.microsoft.com/office/drawing/2014/main" id="{C3032385-28F0-46B4-9E87-5775E88032F7}"/>
              </a:ext>
            </a:extLst>
          </p:cNvPr>
          <p:cNvCxnSpPr>
            <a:cxnSpLocks/>
          </p:cNvCxnSpPr>
          <p:nvPr/>
        </p:nvCxnSpPr>
        <p:spPr>
          <a:xfrm>
            <a:off x="9705507" y="3363160"/>
            <a:ext cx="541387" cy="340379"/>
          </a:xfrm>
          <a:prstGeom prst="straightConnector1">
            <a:avLst/>
          </a:prstGeom>
          <a:noFill/>
          <a:ln w="28575">
            <a:solidFill>
              <a:srgbClr val="C00000"/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55" name="矩形 454">
            <a:extLst>
              <a:ext uri="{FF2B5EF4-FFF2-40B4-BE49-F238E27FC236}">
                <a16:creationId xmlns:a16="http://schemas.microsoft.com/office/drawing/2014/main" id="{0C320C5F-3F04-4A00-8117-7C45F356B79C}"/>
              </a:ext>
            </a:extLst>
          </p:cNvPr>
          <p:cNvSpPr/>
          <p:nvPr/>
        </p:nvSpPr>
        <p:spPr>
          <a:xfrm>
            <a:off x="7354674" y="2969818"/>
            <a:ext cx="791811" cy="263315"/>
          </a:xfrm>
          <a:prstGeom prst="rect">
            <a:avLst/>
          </a:prstGeom>
          <a:solidFill>
            <a:srgbClr val="DDDDDD"/>
          </a:solidFill>
          <a:ln w="635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3668">
              <a:defRPr/>
            </a:pPr>
            <a:r>
              <a:rPr lang="en-US" altLang="zh-CN" sz="700" kern="0" dirty="0" err="1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rPr>
              <a:t>OpCommand</a:t>
            </a:r>
            <a:endParaRPr lang="zh-CN" altLang="en-US" sz="700" kern="0" dirty="0">
              <a:solidFill>
                <a:srgbClr val="1D1D1A"/>
              </a:solidFill>
              <a:latin typeface=" 微软雅黑"/>
              <a:ea typeface="黑体" panose="02010609060101010101" pitchFamily="49" charset="-122"/>
            </a:endParaRPr>
          </a:p>
        </p:txBody>
      </p:sp>
      <p:sp>
        <p:nvSpPr>
          <p:cNvPr id="465" name="文本框 464">
            <a:extLst>
              <a:ext uri="{FF2B5EF4-FFF2-40B4-BE49-F238E27FC236}">
                <a16:creationId xmlns:a16="http://schemas.microsoft.com/office/drawing/2014/main" id="{78BBA153-758E-4E3D-BCB1-D959487AEED1}"/>
              </a:ext>
            </a:extLst>
          </p:cNvPr>
          <p:cNvSpPr txBox="1"/>
          <p:nvPr/>
        </p:nvSpPr>
        <p:spPr>
          <a:xfrm>
            <a:off x="8689088" y="5245741"/>
            <a:ext cx="1059328" cy="215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034">
              <a:defRPr/>
            </a:pPr>
            <a:r>
              <a:rPr kumimoji="1" lang="zh-CN" altLang="en-US" sz="1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关键挑战</a:t>
            </a:r>
          </a:p>
        </p:txBody>
      </p:sp>
      <p:graphicFrame>
        <p:nvGraphicFramePr>
          <p:cNvPr id="469" name="表格 468">
            <a:extLst>
              <a:ext uri="{FF2B5EF4-FFF2-40B4-BE49-F238E27FC236}">
                <a16:creationId xmlns:a16="http://schemas.microsoft.com/office/drawing/2014/main" id="{7250885F-F4C8-4623-8DFC-A36708760350}"/>
              </a:ext>
            </a:extLst>
          </p:cNvPr>
          <p:cNvGraphicFramePr>
            <a:graphicFrameLocks noGrp="1"/>
          </p:cNvGraphicFramePr>
          <p:nvPr/>
        </p:nvGraphicFramePr>
        <p:xfrm>
          <a:off x="6140904" y="5534089"/>
          <a:ext cx="5645554" cy="989320"/>
        </p:xfrm>
        <a:graphic>
          <a:graphicData uri="http://schemas.openxmlformats.org/drawingml/2006/table">
            <a:tbl>
              <a:tblPr/>
              <a:tblGrid>
                <a:gridCol w="831601">
                  <a:extLst>
                    <a:ext uri="{9D8B030D-6E8A-4147-A177-3AD203B41FA5}">
                      <a16:colId xmlns:a16="http://schemas.microsoft.com/office/drawing/2014/main" val="1598693597"/>
                    </a:ext>
                  </a:extLst>
                </a:gridCol>
                <a:gridCol w="2765563">
                  <a:extLst>
                    <a:ext uri="{9D8B030D-6E8A-4147-A177-3AD203B41FA5}">
                      <a16:colId xmlns:a16="http://schemas.microsoft.com/office/drawing/2014/main" val="3056343155"/>
                    </a:ext>
                  </a:extLst>
                </a:gridCol>
                <a:gridCol w="2048390">
                  <a:extLst>
                    <a:ext uri="{9D8B030D-6E8A-4147-A177-3AD203B41FA5}">
                      <a16:colId xmlns:a16="http://schemas.microsoft.com/office/drawing/2014/main" val="4167573154"/>
                    </a:ext>
                  </a:extLst>
                </a:gridCol>
              </a:tblGrid>
              <a:tr h="24972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挑战</a:t>
                      </a:r>
                    </a:p>
                  </a:txBody>
                  <a:tcPr marL="9521" marR="9521" marT="95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核心问题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1" marR="9521" marT="95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影响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1" marR="9521" marT="95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878426"/>
                  </a:ext>
                </a:extLst>
              </a:tr>
              <a:tr h="3698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准备并行</a:t>
                      </a:r>
                    </a:p>
                  </a:txBody>
                  <a:tcPr marL="9521" marR="9521" marT="95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Host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侧参数、元数据、</a:t>
                      </a:r>
                      <a:r>
                        <a:rPr lang="en-US" altLang="zh-CN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Plan 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仍串行准备</a:t>
                      </a:r>
                      <a:endParaRPr 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1" marR="9521" marT="95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队列空洞，</a:t>
                      </a:r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Free</a:t>
                      </a:r>
                      <a:r>
                        <a:rPr lang="zh-CN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偏高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1" marR="9521" marT="95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546043"/>
                  </a:ext>
                </a:extLst>
              </a:tr>
              <a:tr h="3698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有序提交</a:t>
                      </a:r>
                    </a:p>
                  </a:txBody>
                  <a:tcPr marL="9521" marR="9521" marT="95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多线程准备后需保证依赖与提交顺序</a:t>
                      </a:r>
                      <a:endParaRPr lang="en-US" sz="1100" b="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1" marR="9521" marT="95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并行收益难稳定转化为吞吐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1" marR="9521" marT="95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793393"/>
                  </a:ext>
                </a:extLst>
              </a:tr>
            </a:tbl>
          </a:graphicData>
        </a:graphic>
      </p:graphicFrame>
      <p:sp>
        <p:nvSpPr>
          <p:cNvPr id="470" name="Text 75">
            <a:extLst>
              <a:ext uri="{FF2B5EF4-FFF2-40B4-BE49-F238E27FC236}">
                <a16:creationId xmlns:a16="http://schemas.microsoft.com/office/drawing/2014/main" id="{20796EA8-A6AE-43FF-A01B-D22A4AF66883}"/>
              </a:ext>
            </a:extLst>
          </p:cNvPr>
          <p:cNvSpPr txBox="1"/>
          <p:nvPr/>
        </p:nvSpPr>
        <p:spPr>
          <a:xfrm>
            <a:off x="3959332" y="2555483"/>
            <a:ext cx="1210483" cy="28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914034">
              <a:defRPr/>
            </a:pPr>
            <a:r>
              <a:rPr lang="en-US" sz="1120" b="1" dirty="0">
                <a:solidFill>
                  <a:srgbClr val="5E6878"/>
                </a:solidFill>
                <a:latin typeface=" 微软雅黑"/>
                <a:ea typeface="Noto Sans CJK SC" pitchFamily="34" charset="-122"/>
                <a:cs typeface="Noto Sans CJK SC" pitchFamily="34" charset="-120"/>
              </a:rPr>
              <a:t>F</a:t>
            </a:r>
            <a:r>
              <a:rPr lang="en-US" altLang="zh-CN" sz="1120" b="1" dirty="0">
                <a:solidFill>
                  <a:srgbClr val="5E6878"/>
                </a:solidFill>
                <a:latin typeface=" 微软雅黑"/>
                <a:ea typeface="Noto Sans CJK SC" pitchFamily="34" charset="-122"/>
                <a:cs typeface="Noto Sans CJK SC" pitchFamily="34" charset="-120"/>
              </a:rPr>
              <a:t>ree-</a:t>
            </a:r>
            <a:r>
              <a:rPr lang="en-US" altLang="zh-CN" sz="1120" b="1" dirty="0" err="1">
                <a:solidFill>
                  <a:srgbClr val="5E6878"/>
                </a:solidFill>
                <a:latin typeface=" 微软雅黑"/>
                <a:ea typeface="Noto Sans CJK SC" pitchFamily="34" charset="-122"/>
                <a:cs typeface="Noto Sans CJK SC" pitchFamily="34" charset="-120"/>
              </a:rPr>
              <a:t>thread</a:t>
            </a:r>
            <a:r>
              <a:rPr lang="en-US" sz="1120" b="1" dirty="0" err="1">
                <a:solidFill>
                  <a:srgbClr val="5E6878"/>
                </a:solidFill>
                <a:latin typeface=" 微软雅黑"/>
                <a:ea typeface="Noto Sans CJK SC" pitchFamily="34" charset="-122"/>
                <a:cs typeface="Noto Sans CJK SC" pitchFamily="34" charset="-120"/>
              </a:rPr>
              <a:t>串行</a:t>
            </a:r>
            <a:endParaRPr lang="en-US" sz="1120" dirty="0">
              <a:solidFill>
                <a:prstClr val="black"/>
              </a:solidFill>
              <a:latin typeface=" 微软雅黑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CA23735-91A2-436E-BA60-50165061EFC2}"/>
              </a:ext>
            </a:extLst>
          </p:cNvPr>
          <p:cNvSpPr txBox="1"/>
          <p:nvPr/>
        </p:nvSpPr>
        <p:spPr>
          <a:xfrm>
            <a:off x="353940" y="6338128"/>
            <a:ext cx="4707992" cy="215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034"/>
            <a:r>
              <a:rPr kumimoji="1" lang="en-US" altLang="zh-CN" sz="1399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3.13 </a:t>
            </a:r>
            <a:r>
              <a:rPr kumimoji="1" lang="zh-CN" altLang="en-US" sz="1399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实验特性 </a:t>
            </a:r>
            <a:r>
              <a:rPr kumimoji="1" lang="en-US" altLang="zh-CN" sz="1399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 3.14 </a:t>
            </a:r>
            <a:r>
              <a:rPr kumimoji="1" lang="zh-CN" altLang="en-US" sz="1399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非实验特性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8FECA1D7-642B-4F51-80F5-AA0C4FA4AF93}"/>
              </a:ext>
            </a:extLst>
          </p:cNvPr>
          <p:cNvSpPr/>
          <p:nvPr/>
        </p:nvSpPr>
        <p:spPr>
          <a:xfrm>
            <a:off x="1769770" y="6613145"/>
            <a:ext cx="7058572" cy="292325"/>
          </a:xfrm>
          <a:prstGeom prst="rect">
            <a:avLst/>
          </a:prstGeom>
          <a:solidFill>
            <a:srgbClr val="E9002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sz="1200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洞察：</a:t>
            </a:r>
            <a:r>
              <a:rPr lang="en-US" altLang="zh-CN" sz="1200" kern="0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Pytorch</a:t>
            </a:r>
            <a:r>
              <a:rPr lang="zh-CN" altLang="en-US" sz="1200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Inductor</a:t>
            </a:r>
            <a:r>
              <a:rPr lang="zh-CN" altLang="en-US" sz="1200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Triton——python</a:t>
            </a:r>
            <a:r>
              <a:rPr lang="zh-CN" altLang="en-US" sz="1200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执行性能，算子并行下发可作为发力点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FE87B4D4-1734-448F-B922-99FEA2D4E192}"/>
              </a:ext>
            </a:extLst>
          </p:cNvPr>
          <p:cNvSpPr/>
          <p:nvPr/>
        </p:nvSpPr>
        <p:spPr>
          <a:xfrm>
            <a:off x="2382" y="6604590"/>
            <a:ext cx="1705797" cy="464473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b="1" kern="0" dirty="0">
                <a:solidFill>
                  <a:srgbClr val="C00000"/>
                </a:solidFill>
                <a:latin typeface="微软雅黑" panose="020B0503020204020204" pitchFamily="34" charset="-122"/>
                <a:ea typeface="等线" panose="02010600030101010101" pitchFamily="2" charset="-122"/>
              </a:rPr>
              <a:t>周永哲</a:t>
            </a:r>
          </a:p>
        </p:txBody>
      </p:sp>
    </p:spTree>
    <p:extLst>
      <p:ext uri="{BB962C8B-B14F-4D97-AF65-F5344CB8AC3E}">
        <p14:creationId xmlns:p14="http://schemas.microsoft.com/office/powerpoint/2010/main" val="19434672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BFCE46-2BF2-4CCB-85BB-61209485C4F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04825" y="339725"/>
            <a:ext cx="11691938" cy="360363"/>
          </a:xfrm>
          <a:prstGeom prst="rect">
            <a:avLst/>
          </a:prstGeom>
        </p:spPr>
        <p:txBody>
          <a:bodyPr/>
          <a:lstStyle/>
          <a:p>
            <a:r>
              <a:rPr lang="en-US" altLang="zh-CN" sz="1999" dirty="0"/>
              <a:t>Python</a:t>
            </a:r>
            <a:r>
              <a:rPr lang="zh-CN" altLang="en-US" sz="1999" dirty="0"/>
              <a:t>：基于</a:t>
            </a:r>
            <a:r>
              <a:rPr lang="en-US" altLang="zh-CN" sz="1999" dirty="0"/>
              <a:t>python</a:t>
            </a:r>
            <a:r>
              <a:rPr lang="zh-CN" altLang="en-US" sz="1999" dirty="0"/>
              <a:t> </a:t>
            </a:r>
            <a:r>
              <a:rPr lang="en-US" altLang="zh-CN" sz="1999" dirty="0"/>
              <a:t>Free-Threaded</a:t>
            </a:r>
            <a:r>
              <a:rPr lang="zh-CN" altLang="en-US" sz="1999" dirty="0"/>
              <a:t>使能并行算子下发，降低卡侧</a:t>
            </a:r>
            <a:r>
              <a:rPr lang="en-US" altLang="zh-CN" sz="1999" dirty="0"/>
              <a:t>Free</a:t>
            </a:r>
            <a:r>
              <a:rPr lang="zh-CN" altLang="en-US" sz="1999" dirty="0"/>
              <a:t>时间</a:t>
            </a:r>
            <a:r>
              <a:rPr lang="en-US" altLang="zh-CN" sz="1999" dirty="0"/>
              <a:t>20%</a:t>
            </a:r>
            <a:r>
              <a:rPr lang="zh-CN" altLang="en-US" sz="1999" dirty="0"/>
              <a:t>，提升模型吞吐</a:t>
            </a:r>
            <a:r>
              <a:rPr lang="en-US" altLang="zh-CN" sz="1999" dirty="0"/>
              <a:t>5%</a:t>
            </a:r>
            <a:endParaRPr lang="zh-CN" altLang="en-US" sz="1999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A82D6ED-933C-450D-A8B2-F0AA3A417EAB}"/>
              </a:ext>
            </a:extLst>
          </p:cNvPr>
          <p:cNvSpPr/>
          <p:nvPr/>
        </p:nvSpPr>
        <p:spPr>
          <a:xfrm>
            <a:off x="480918" y="852754"/>
            <a:ext cx="705744" cy="813293"/>
          </a:xfrm>
          <a:prstGeom prst="rect">
            <a:avLst/>
          </a:prstGeom>
          <a:solidFill>
            <a:srgbClr val="C7000A"/>
          </a:solidFill>
          <a:ln w="3175" cap="flat">
            <a:noFill/>
            <a:miter lim="400000"/>
          </a:ln>
          <a:effectLst/>
        </p:spPr>
        <p:txBody>
          <a:bodyPr wrap="square" lIns="35930" tIns="35930" rIns="35930" bIns="35930" numCol="1" anchor="ctr">
            <a:noAutofit/>
          </a:bodyPr>
          <a:lstStyle/>
          <a:p>
            <a:pPr algn="ctr" defTabSz="1717570" hangingPunct="0">
              <a:defRPr/>
            </a:pPr>
            <a:r>
              <a:rPr lang="zh-CN" altLang="en-US" sz="1598" b="1" ker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关键</a:t>
            </a:r>
            <a:endParaRPr lang="en-US" altLang="zh-CN" sz="1598" b="1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  <a:p>
            <a:pPr algn="ctr" defTabSz="1717570" hangingPunct="0">
              <a:defRPr/>
            </a:pPr>
            <a:r>
              <a:rPr lang="zh-CN" altLang="en-US" sz="1598" b="1" ker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目标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E336F49-83D9-4894-BAD7-F300B48E8F90}"/>
              </a:ext>
            </a:extLst>
          </p:cNvPr>
          <p:cNvSpPr/>
          <p:nvPr/>
        </p:nvSpPr>
        <p:spPr>
          <a:xfrm>
            <a:off x="1218856" y="852754"/>
            <a:ext cx="10496989" cy="813293"/>
          </a:xfrm>
          <a:prstGeom prst="rect">
            <a:avLst/>
          </a:prstGeom>
          <a:solidFill>
            <a:srgbClr val="FFFFFF">
              <a:lumMod val="95000"/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913668">
              <a:lnSpc>
                <a:spcPct val="150000"/>
              </a:lnSpc>
              <a:defRPr/>
            </a:pP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A+K</a:t>
            </a:r>
            <a:r>
              <a:rPr kumimoji="1" lang="zh-CN" altLang="en-US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eager</a:t>
            </a:r>
            <a:r>
              <a:rPr kumimoji="1" lang="zh-CN" altLang="en-US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模式：卡侧</a:t>
            </a: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</a:t>
            </a:r>
            <a:r>
              <a:rPr kumimoji="1" lang="zh-CN" altLang="en-US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时间减少</a:t>
            </a: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20%</a:t>
            </a:r>
            <a:r>
              <a:rPr kumimoji="1" lang="zh-CN" altLang="en-US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，极致吞吐提升</a:t>
            </a: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5%</a:t>
            </a:r>
            <a:r>
              <a:rPr kumimoji="1" lang="zh-CN" altLang="en-US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inductor</a:t>
            </a:r>
            <a:r>
              <a:rPr kumimoji="1" lang="zh-CN" altLang="en-US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模式：卡侧</a:t>
            </a: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</a:t>
            </a:r>
            <a:r>
              <a:rPr kumimoji="1" lang="zh-CN" altLang="en-US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时间减少</a:t>
            </a: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20%</a:t>
            </a:r>
            <a:r>
              <a:rPr kumimoji="1" lang="zh-CN" altLang="en-US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，极致吞吐提升</a:t>
            </a: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5%</a:t>
            </a:r>
          </a:p>
          <a:p>
            <a:pPr defTabSz="913668">
              <a:lnSpc>
                <a:spcPct val="150000"/>
              </a:lnSpc>
              <a:defRPr/>
            </a:pP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A+X</a:t>
            </a:r>
            <a:r>
              <a:rPr kumimoji="1" lang="zh-CN" altLang="en-US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eager</a:t>
            </a:r>
            <a:r>
              <a:rPr kumimoji="1" lang="zh-CN" altLang="en-US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模式：卡侧</a:t>
            </a: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</a:t>
            </a:r>
            <a:r>
              <a:rPr kumimoji="1" lang="zh-CN" altLang="en-US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时间减少</a:t>
            </a: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15%</a:t>
            </a:r>
            <a:r>
              <a:rPr kumimoji="1" lang="zh-CN" altLang="en-US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，极致吞吐提升</a:t>
            </a: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5%</a:t>
            </a:r>
            <a:r>
              <a:rPr kumimoji="1" lang="zh-CN" altLang="en-US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inductor</a:t>
            </a:r>
            <a:r>
              <a:rPr kumimoji="1" lang="zh-CN" altLang="en-US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模式：卡侧</a:t>
            </a: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</a:t>
            </a:r>
            <a:r>
              <a:rPr kumimoji="1" lang="zh-CN" altLang="en-US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时间减少</a:t>
            </a: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15%</a:t>
            </a:r>
            <a:r>
              <a:rPr kumimoji="1" lang="zh-CN" altLang="en-US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，极致吞吐提升</a:t>
            </a:r>
            <a:r>
              <a:rPr kumimoji="1" lang="en-US" altLang="zh-CN" sz="1399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5%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CC93A25-EF48-4A41-B4E5-C0FB002282F9}"/>
              </a:ext>
            </a:extLst>
          </p:cNvPr>
          <p:cNvSpPr/>
          <p:nvPr/>
        </p:nvSpPr>
        <p:spPr>
          <a:xfrm>
            <a:off x="6112538" y="1797740"/>
            <a:ext cx="5584922" cy="2037588"/>
          </a:xfrm>
          <a:prstGeom prst="rect">
            <a:avLst/>
          </a:prstGeom>
          <a:solidFill>
            <a:srgbClr val="FAFAFA"/>
          </a:solidFill>
          <a:ln w="9525" cap="flat" cmpd="sng" algn="ctr">
            <a:gradFill flip="none" rotWithShape="1">
              <a:gsLst>
                <a:gs pos="94000">
                  <a:srgbClr val="FFFFFF"/>
                </a:gs>
                <a:gs pos="100000">
                  <a:srgbClr val="C7000B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0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lnSpc>
                <a:spcPct val="150000"/>
              </a:lnSpc>
              <a:defRPr/>
            </a:pPr>
            <a:r>
              <a:rPr lang="zh-CN" altLang="en-US" sz="1399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挑战</a:t>
            </a:r>
            <a:endParaRPr lang="en-US" altLang="zh-CN" sz="1399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034">
              <a:lnSpc>
                <a:spcPct val="150000"/>
              </a:lnSpc>
              <a:defRPr/>
            </a:pPr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小算子累计下发开销高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Host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供给速度不足，流水重叠后仍暴露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 ms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卡侧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034">
              <a:lnSpc>
                <a:spcPct val="150000"/>
              </a:lnSpc>
              <a:defRPr/>
            </a:pPr>
            <a:r>
              <a:rPr kumimoji="1" lang="en-US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Guard</a:t>
            </a:r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检查开销高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Dynamo Cache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命中后仍需遍历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Guard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树，单次整体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Lookup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耗时约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ms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034">
              <a:lnSpc>
                <a:spcPct val="150000"/>
              </a:lnSpc>
              <a:defRPr/>
            </a:pPr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安全并行难度大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：需要并行准备大量算子任务，同时保障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PTA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共享状态安全及算子按依赖顺序提交。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5DE689E-D049-40C8-AD7D-88CA60A67C8E}"/>
              </a:ext>
            </a:extLst>
          </p:cNvPr>
          <p:cNvSpPr/>
          <p:nvPr/>
        </p:nvSpPr>
        <p:spPr>
          <a:xfrm>
            <a:off x="6112538" y="4034879"/>
            <a:ext cx="5584922" cy="2334694"/>
          </a:xfrm>
          <a:prstGeom prst="rect">
            <a:avLst/>
          </a:prstGeom>
          <a:solidFill>
            <a:srgbClr val="FAFAFA"/>
          </a:solidFill>
          <a:ln w="9525" cap="flat" cmpd="sng" algn="ctr">
            <a:gradFill flip="none" rotWithShape="1">
              <a:gsLst>
                <a:gs pos="94000">
                  <a:srgbClr val="FFFFFF"/>
                </a:gs>
                <a:gs pos="100000">
                  <a:srgbClr val="C7000B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7197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zh-CN" altLang="en-US" sz="1399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8B2DF6A-8CA4-4F0D-83C4-180CB9FEC892}"/>
              </a:ext>
            </a:extLst>
          </p:cNvPr>
          <p:cNvSpPr txBox="1"/>
          <p:nvPr/>
        </p:nvSpPr>
        <p:spPr>
          <a:xfrm>
            <a:off x="6186471" y="4480422"/>
            <a:ext cx="5486844" cy="16564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763" indent="-342763" defTabSz="914034">
              <a:lnSpc>
                <a:spcPct val="130000"/>
              </a:lnSpc>
              <a:buFont typeface="+mj-ea"/>
              <a:buAutoNum type="circleNumDbPlain"/>
              <a:defRPr/>
            </a:pPr>
            <a:r>
              <a:rPr kumimoji="1" lang="en-US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 Runtime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：构造鲲鹏亲和的解释执行和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Free-threaded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多线程并行。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763" indent="-342763" defTabSz="914034">
              <a:lnSpc>
                <a:spcPct val="130000"/>
              </a:lnSpc>
              <a:buFont typeface="+mj-ea"/>
              <a:buAutoNum type="circleNumDbPlain"/>
              <a:defRPr/>
            </a:pPr>
            <a:r>
              <a:rPr kumimoji="1" lang="en-US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Dynamo Cache Lookup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：将稳定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Guard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树压缩为可失效指纹，命中后跳过整树检查。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763" indent="-342763" defTabSz="914034">
              <a:lnSpc>
                <a:spcPct val="130000"/>
              </a:lnSpc>
              <a:buFont typeface="+mj-ea"/>
              <a:buAutoNum type="circleNumDbPlain"/>
              <a:defRPr/>
            </a:pPr>
            <a:r>
              <a:rPr kumimoji="1" lang="en-US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PTA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OpPlugin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：完成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Free-threaded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适配，解决共享缓存、执行器、工作区、流及对象生命周期的并发安全问题。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763" indent="-342763" defTabSz="914034">
              <a:lnSpc>
                <a:spcPct val="130000"/>
              </a:lnSpc>
              <a:buFont typeface="+mj-ea"/>
              <a:buAutoNum type="circleNumDbPlain"/>
              <a:defRPr/>
            </a:pPr>
            <a:r>
              <a:rPr kumimoji="1" lang="en-US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 Wrapper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：并行准备算子任务，按原始依赖顺序提交，持续填充设备队列。 </a:t>
            </a: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210B0B19-BE20-46DF-BAA3-A85A6DFFFA77}"/>
              </a:ext>
            </a:extLst>
          </p:cNvPr>
          <p:cNvSpPr/>
          <p:nvPr/>
        </p:nvSpPr>
        <p:spPr>
          <a:xfrm>
            <a:off x="-51641" y="3920917"/>
            <a:ext cx="555632" cy="230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3303">
              <a:defRPr/>
            </a:pPr>
            <a:r>
              <a:rPr lang="en-US" altLang="zh-CN" sz="900" b="1" kern="0">
                <a:solidFill>
                  <a:srgbClr val="C00000"/>
                </a:solidFill>
                <a:latin typeface="微软雅黑" panose="020B0503020204020204" pitchFamily="34" charset="-122"/>
                <a:ea typeface="等线" panose="02010600030101010101" pitchFamily="2" charset="-122"/>
              </a:rPr>
              <a:t>C++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5ED6D31-5B5E-40AF-9854-BD22697DB7C2}"/>
              </a:ext>
            </a:extLst>
          </p:cNvPr>
          <p:cNvGrpSpPr/>
          <p:nvPr/>
        </p:nvGrpSpPr>
        <p:grpSpPr>
          <a:xfrm>
            <a:off x="45454" y="1742809"/>
            <a:ext cx="5640828" cy="4911403"/>
            <a:chOff x="43089" y="1742149"/>
            <a:chExt cx="5643031" cy="4913322"/>
          </a:xfrm>
        </p:grpSpPr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664556C2-97BC-42EB-82E8-7971048C7E70}"/>
                </a:ext>
              </a:extLst>
            </p:cNvPr>
            <p:cNvSpPr/>
            <p:nvPr/>
          </p:nvSpPr>
          <p:spPr>
            <a:xfrm>
              <a:off x="1184744" y="6269508"/>
              <a:ext cx="2297258" cy="385963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34">
                <a:defRPr/>
              </a:pPr>
              <a:endParaRPr lang="zh-CN" altLang="en-US" sz="1799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43" name="矩形 242">
              <a:extLst>
                <a:ext uri="{FF2B5EF4-FFF2-40B4-BE49-F238E27FC236}">
                  <a16:creationId xmlns:a16="http://schemas.microsoft.com/office/drawing/2014/main" id="{5A02AF8D-C80E-4E34-BA83-EED02DACE215}"/>
                </a:ext>
              </a:extLst>
            </p:cNvPr>
            <p:cNvSpPr/>
            <p:nvPr/>
          </p:nvSpPr>
          <p:spPr>
            <a:xfrm>
              <a:off x="840657" y="2396935"/>
              <a:ext cx="3924066" cy="617328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3668">
                <a:defRPr/>
              </a:pPr>
              <a:r>
                <a:rPr lang="en-US" altLang="zh-CN" sz="900" kern="0" err="1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PyTorch</a:t>
              </a:r>
              <a:endParaRPr lang="zh-CN" altLang="en-US" sz="900" kern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cxnSp>
          <p:nvCxnSpPr>
            <p:cNvPr id="188" name="直接箭头连接符 187">
              <a:extLst>
                <a:ext uri="{FF2B5EF4-FFF2-40B4-BE49-F238E27FC236}">
                  <a16:creationId xmlns:a16="http://schemas.microsoft.com/office/drawing/2014/main" id="{C184A724-B9C7-4660-82B5-4295AE8241CD}"/>
                </a:ext>
              </a:extLst>
            </p:cNvPr>
            <p:cNvCxnSpPr>
              <a:cxnSpLocks/>
              <a:stCxn id="196" idx="2"/>
              <a:endCxn id="210" idx="0"/>
            </p:cNvCxnSpPr>
            <p:nvPr/>
          </p:nvCxnSpPr>
          <p:spPr>
            <a:xfrm>
              <a:off x="3546657" y="2067359"/>
              <a:ext cx="11504" cy="2998363"/>
            </a:xfrm>
            <a:prstGeom prst="straightConnector1">
              <a:avLst/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89" name="直接箭头连接符 188">
              <a:extLst>
                <a:ext uri="{FF2B5EF4-FFF2-40B4-BE49-F238E27FC236}">
                  <a16:creationId xmlns:a16="http://schemas.microsoft.com/office/drawing/2014/main" id="{A23B3A6A-CB11-4408-ACEE-55E3A6CF0593}"/>
                </a:ext>
              </a:extLst>
            </p:cNvPr>
            <p:cNvCxnSpPr>
              <a:cxnSpLocks/>
              <a:stCxn id="197" idx="2"/>
              <a:endCxn id="211" idx="0"/>
            </p:cNvCxnSpPr>
            <p:nvPr/>
          </p:nvCxnSpPr>
          <p:spPr>
            <a:xfrm>
              <a:off x="3969596" y="2067359"/>
              <a:ext cx="10584" cy="2998363"/>
            </a:xfrm>
            <a:prstGeom prst="straightConnector1">
              <a:avLst/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90" name="直接箭头连接符 189">
              <a:extLst>
                <a:ext uri="{FF2B5EF4-FFF2-40B4-BE49-F238E27FC236}">
                  <a16:creationId xmlns:a16="http://schemas.microsoft.com/office/drawing/2014/main" id="{EFBE10FD-E042-47B7-82F9-1E6B0ABAC1F5}"/>
                </a:ext>
              </a:extLst>
            </p:cNvPr>
            <p:cNvCxnSpPr>
              <a:cxnSpLocks/>
              <a:stCxn id="195" idx="2"/>
              <a:endCxn id="209" idx="0"/>
            </p:cNvCxnSpPr>
            <p:nvPr/>
          </p:nvCxnSpPr>
          <p:spPr>
            <a:xfrm>
              <a:off x="3097287" y="2067359"/>
              <a:ext cx="11505" cy="2998363"/>
            </a:xfrm>
            <a:prstGeom prst="straightConnector1">
              <a:avLst/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91" name="矩形 190">
              <a:extLst>
                <a:ext uri="{FF2B5EF4-FFF2-40B4-BE49-F238E27FC236}">
                  <a16:creationId xmlns:a16="http://schemas.microsoft.com/office/drawing/2014/main" id="{B98AE66D-1466-4879-9F64-715ADBC270EE}"/>
                </a:ext>
              </a:extLst>
            </p:cNvPr>
            <p:cNvSpPr/>
            <p:nvPr/>
          </p:nvSpPr>
          <p:spPr>
            <a:xfrm>
              <a:off x="1354524" y="4994748"/>
              <a:ext cx="3327065" cy="451051"/>
            </a:xfrm>
            <a:prstGeom prst="rect">
              <a:avLst/>
            </a:prstGeom>
            <a:solidFill>
              <a:srgbClr val="EBEBEB"/>
            </a:solidFill>
            <a:ln w="63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3668">
                <a:defRPr/>
              </a:pPr>
              <a:r>
                <a:rPr lang="zh-CN" altLang="en-US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算子</a:t>
              </a:r>
              <a:endParaRPr lang="en-US" altLang="zh-CN" sz="900" kern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  <a:p>
              <a:pPr defTabSz="913668">
                <a:defRPr/>
              </a:pPr>
              <a:r>
                <a:rPr lang="zh-CN" altLang="en-US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队列</a:t>
              </a:r>
            </a:p>
          </p:txBody>
        </p:sp>
        <p:cxnSp>
          <p:nvCxnSpPr>
            <p:cNvPr id="192" name="直接箭头连接符 191">
              <a:extLst>
                <a:ext uri="{FF2B5EF4-FFF2-40B4-BE49-F238E27FC236}">
                  <a16:creationId xmlns:a16="http://schemas.microsoft.com/office/drawing/2014/main" id="{5731C232-E2D9-4DB1-8993-1C8F10B5657D}"/>
                </a:ext>
              </a:extLst>
            </p:cNvPr>
            <p:cNvCxnSpPr>
              <a:cxnSpLocks/>
              <a:stCxn id="194" idx="2"/>
              <a:endCxn id="203" idx="0"/>
            </p:cNvCxnSpPr>
            <p:nvPr/>
          </p:nvCxnSpPr>
          <p:spPr>
            <a:xfrm>
              <a:off x="2227000" y="2067359"/>
              <a:ext cx="11504" cy="2998363"/>
            </a:xfrm>
            <a:prstGeom prst="straightConnector1">
              <a:avLst/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93" name="直接箭头连接符 192">
              <a:extLst>
                <a:ext uri="{FF2B5EF4-FFF2-40B4-BE49-F238E27FC236}">
                  <a16:creationId xmlns:a16="http://schemas.microsoft.com/office/drawing/2014/main" id="{5BCC66E0-9DB6-4A4E-8819-5F895C904FE1}"/>
                </a:ext>
              </a:extLst>
            </p:cNvPr>
            <p:cNvCxnSpPr>
              <a:cxnSpLocks/>
            </p:cNvCxnSpPr>
            <p:nvPr/>
          </p:nvCxnSpPr>
          <p:spPr>
            <a:xfrm>
              <a:off x="1253635" y="1877181"/>
              <a:ext cx="3108284" cy="0"/>
            </a:xfrm>
            <a:prstGeom prst="straightConnector1">
              <a:avLst/>
            </a:prstGeom>
            <a:noFill/>
            <a:ln w="28575" cap="flat" cmpd="sng" algn="ctr">
              <a:solidFill>
                <a:srgbClr val="1D1D1A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94" name="矩形 193">
              <a:extLst>
                <a:ext uri="{FF2B5EF4-FFF2-40B4-BE49-F238E27FC236}">
                  <a16:creationId xmlns:a16="http://schemas.microsoft.com/office/drawing/2014/main" id="{C00AFB77-681C-4E0F-8F7B-10727A37B192}"/>
                </a:ext>
              </a:extLst>
            </p:cNvPr>
            <p:cNvSpPr/>
            <p:nvPr/>
          </p:nvSpPr>
          <p:spPr>
            <a:xfrm>
              <a:off x="2091532" y="1742149"/>
              <a:ext cx="270936" cy="32521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666" rIns="0" bIns="456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303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op1</a:t>
              </a:r>
              <a:endParaRPr lang="zh-CN" altLang="en-US" sz="900" kern="0">
                <a:solidFill>
                  <a:srgbClr val="1D1D1A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sp>
          <p:nvSpPr>
            <p:cNvPr id="195" name="矩形 194">
              <a:extLst>
                <a:ext uri="{FF2B5EF4-FFF2-40B4-BE49-F238E27FC236}">
                  <a16:creationId xmlns:a16="http://schemas.microsoft.com/office/drawing/2014/main" id="{80A296D9-9900-4D80-BD0E-28E45F822C17}"/>
                </a:ext>
              </a:extLst>
            </p:cNvPr>
            <p:cNvSpPr/>
            <p:nvPr/>
          </p:nvSpPr>
          <p:spPr>
            <a:xfrm>
              <a:off x="2961819" y="1742149"/>
              <a:ext cx="270936" cy="32521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666" rIns="0" bIns="456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303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op2</a:t>
              </a:r>
              <a:endParaRPr lang="zh-CN" altLang="en-US" sz="900" kern="0">
                <a:solidFill>
                  <a:srgbClr val="1D1D1A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sp>
          <p:nvSpPr>
            <p:cNvPr id="196" name="矩形 195">
              <a:extLst>
                <a:ext uri="{FF2B5EF4-FFF2-40B4-BE49-F238E27FC236}">
                  <a16:creationId xmlns:a16="http://schemas.microsoft.com/office/drawing/2014/main" id="{02E19062-A3D2-45CE-981E-7D4CCEB97D7D}"/>
                </a:ext>
              </a:extLst>
            </p:cNvPr>
            <p:cNvSpPr/>
            <p:nvPr/>
          </p:nvSpPr>
          <p:spPr>
            <a:xfrm>
              <a:off x="3411189" y="1742149"/>
              <a:ext cx="270936" cy="32521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666" rIns="0" bIns="456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303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op3</a:t>
              </a:r>
              <a:endParaRPr lang="zh-CN" altLang="en-US" sz="900" kern="0">
                <a:solidFill>
                  <a:srgbClr val="1D1D1A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sp>
          <p:nvSpPr>
            <p:cNvPr id="197" name="矩形 196">
              <a:extLst>
                <a:ext uri="{FF2B5EF4-FFF2-40B4-BE49-F238E27FC236}">
                  <a16:creationId xmlns:a16="http://schemas.microsoft.com/office/drawing/2014/main" id="{FD11C5F9-2EA5-4C95-9967-FB1B76003734}"/>
                </a:ext>
              </a:extLst>
            </p:cNvPr>
            <p:cNvSpPr/>
            <p:nvPr/>
          </p:nvSpPr>
          <p:spPr>
            <a:xfrm>
              <a:off x="3834128" y="1742149"/>
              <a:ext cx="270936" cy="32521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666" rIns="0" bIns="456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303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op4</a:t>
              </a:r>
              <a:endParaRPr lang="zh-CN" altLang="en-US" sz="900" kern="0">
                <a:solidFill>
                  <a:srgbClr val="1D1D1A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sp>
          <p:nvSpPr>
            <p:cNvPr id="198" name="矩形 197">
              <a:extLst>
                <a:ext uri="{FF2B5EF4-FFF2-40B4-BE49-F238E27FC236}">
                  <a16:creationId xmlns:a16="http://schemas.microsoft.com/office/drawing/2014/main" id="{55D4D060-2CD3-46BA-8252-58A5694A9F45}"/>
                </a:ext>
              </a:extLst>
            </p:cNvPr>
            <p:cNvSpPr/>
            <p:nvPr/>
          </p:nvSpPr>
          <p:spPr>
            <a:xfrm>
              <a:off x="2849013" y="3154880"/>
              <a:ext cx="1915709" cy="437038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3668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PTA</a:t>
              </a:r>
            </a:p>
            <a:p>
              <a:pPr defTabSz="913668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Inductor</a:t>
              </a:r>
              <a:endParaRPr lang="zh-CN" altLang="en-US" sz="900" kern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199" name="矩形 198">
              <a:extLst>
                <a:ext uri="{FF2B5EF4-FFF2-40B4-BE49-F238E27FC236}">
                  <a16:creationId xmlns:a16="http://schemas.microsoft.com/office/drawing/2014/main" id="{A3DE779A-DC16-4B2A-B02A-C7FBC8180714}"/>
                </a:ext>
              </a:extLst>
            </p:cNvPr>
            <p:cNvSpPr/>
            <p:nvPr/>
          </p:nvSpPr>
          <p:spPr>
            <a:xfrm>
              <a:off x="3424801" y="3228324"/>
              <a:ext cx="1256792" cy="314354"/>
            </a:xfrm>
            <a:prstGeom prst="rect">
              <a:avLst/>
            </a:prstGeom>
            <a:solidFill>
              <a:schemeClr val="bg2"/>
            </a:solidFill>
            <a:ln w="63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668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Python</a:t>
              </a:r>
            </a:p>
            <a:p>
              <a:pPr algn="ctr" defTabSz="913668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Wrapper</a:t>
              </a:r>
              <a:endParaRPr lang="zh-CN" altLang="en-US" sz="900" kern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200" name="矩形 199">
              <a:extLst>
                <a:ext uri="{FF2B5EF4-FFF2-40B4-BE49-F238E27FC236}">
                  <a16:creationId xmlns:a16="http://schemas.microsoft.com/office/drawing/2014/main" id="{7607698F-07FA-44C4-AF03-6351CB048791}"/>
                </a:ext>
              </a:extLst>
            </p:cNvPr>
            <p:cNvSpPr/>
            <p:nvPr/>
          </p:nvSpPr>
          <p:spPr>
            <a:xfrm>
              <a:off x="840656" y="4352678"/>
              <a:ext cx="3924065" cy="476446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3668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PTA</a:t>
              </a:r>
            </a:p>
            <a:p>
              <a:pPr defTabSz="913668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Core</a:t>
              </a:r>
            </a:p>
            <a:p>
              <a:pPr defTabSz="913668">
                <a:defRPr/>
              </a:pPr>
              <a:endParaRPr lang="zh-CN" altLang="en-US" sz="900" kern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1807EA62-77C6-4C50-BCF9-A17FA91C2F75}"/>
                </a:ext>
              </a:extLst>
            </p:cNvPr>
            <p:cNvSpPr/>
            <p:nvPr/>
          </p:nvSpPr>
          <p:spPr>
            <a:xfrm>
              <a:off x="1354525" y="4449111"/>
              <a:ext cx="3327064" cy="314355"/>
            </a:xfrm>
            <a:prstGeom prst="rect">
              <a:avLst/>
            </a:prstGeom>
            <a:solidFill>
              <a:srgbClr val="EBEBEB"/>
            </a:solidFill>
            <a:ln w="63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668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Enqueue</a:t>
              </a:r>
              <a:endParaRPr lang="zh-CN" altLang="en-US" sz="900" kern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202" name="矩形 201">
              <a:extLst>
                <a:ext uri="{FF2B5EF4-FFF2-40B4-BE49-F238E27FC236}">
                  <a16:creationId xmlns:a16="http://schemas.microsoft.com/office/drawing/2014/main" id="{A1F82C09-CB2B-4B55-97F9-E7DFE47FACA3}"/>
                </a:ext>
              </a:extLst>
            </p:cNvPr>
            <p:cNvSpPr/>
            <p:nvPr/>
          </p:nvSpPr>
          <p:spPr>
            <a:xfrm>
              <a:off x="840657" y="4937343"/>
              <a:ext cx="3924066" cy="985322"/>
            </a:xfrm>
            <a:prstGeom prst="rect">
              <a:avLst/>
            </a:prstGeom>
            <a:noFill/>
            <a:ln w="190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3668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CANN</a:t>
              </a:r>
              <a:endParaRPr lang="zh-CN" altLang="en-US" sz="900" kern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203" name="矩形 202">
              <a:extLst>
                <a:ext uri="{FF2B5EF4-FFF2-40B4-BE49-F238E27FC236}">
                  <a16:creationId xmlns:a16="http://schemas.microsoft.com/office/drawing/2014/main" id="{8827C450-1753-4E3E-9972-29BD78D29D69}"/>
                </a:ext>
              </a:extLst>
            </p:cNvPr>
            <p:cNvSpPr/>
            <p:nvPr/>
          </p:nvSpPr>
          <p:spPr>
            <a:xfrm>
              <a:off x="2043244" y="5065722"/>
              <a:ext cx="390520" cy="319050"/>
            </a:xfrm>
            <a:prstGeom prst="rect">
              <a:avLst/>
            </a:prstGeom>
            <a:solidFill>
              <a:srgbClr val="30B5C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666" rIns="0" bIns="456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303">
                <a:defRPr/>
              </a:pPr>
              <a:endParaRPr lang="zh-CN" altLang="en-US" sz="900" kern="0">
                <a:solidFill>
                  <a:srgbClr val="1D1D1A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2EA30EE9-0930-4082-A5E5-9FE6A281CAE5}"/>
                </a:ext>
              </a:extLst>
            </p:cNvPr>
            <p:cNvSpPr/>
            <p:nvPr/>
          </p:nvSpPr>
          <p:spPr>
            <a:xfrm>
              <a:off x="2299630" y="5564913"/>
              <a:ext cx="390520" cy="319050"/>
            </a:xfrm>
            <a:prstGeom prst="rect">
              <a:avLst/>
            </a:prstGeom>
            <a:solidFill>
              <a:srgbClr val="30B5C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666" rIns="0" bIns="456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303">
                <a:defRPr/>
              </a:pPr>
              <a:r>
                <a:rPr lang="en-US" altLang="zh-CN" sz="800" kern="0">
                  <a:solidFill>
                    <a:srgbClr val="1D1D1A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process</a:t>
              </a:r>
              <a:endParaRPr lang="zh-CN" altLang="en-US" sz="800" kern="0">
                <a:solidFill>
                  <a:srgbClr val="1D1D1A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sp>
          <p:nvSpPr>
            <p:cNvPr id="205" name="矩形 204">
              <a:extLst>
                <a:ext uri="{FF2B5EF4-FFF2-40B4-BE49-F238E27FC236}">
                  <a16:creationId xmlns:a16="http://schemas.microsoft.com/office/drawing/2014/main" id="{1F58A5F8-6082-45B3-B4BF-B9D9815A5BB9}"/>
                </a:ext>
              </a:extLst>
            </p:cNvPr>
            <p:cNvSpPr/>
            <p:nvPr/>
          </p:nvSpPr>
          <p:spPr>
            <a:xfrm>
              <a:off x="2995931" y="5564913"/>
              <a:ext cx="390520" cy="319050"/>
            </a:xfrm>
            <a:prstGeom prst="rect">
              <a:avLst/>
            </a:prstGeom>
            <a:solidFill>
              <a:srgbClr val="30B5C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666" rIns="0" bIns="456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303">
                <a:defRPr/>
              </a:pPr>
              <a:r>
                <a:rPr lang="en-US" altLang="zh-CN" sz="800" kern="0">
                  <a:solidFill>
                    <a:srgbClr val="1D1D1A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process</a:t>
              </a:r>
              <a:endParaRPr lang="zh-CN" altLang="en-US" sz="800" kern="0">
                <a:solidFill>
                  <a:srgbClr val="1D1D1A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cxnSp>
          <p:nvCxnSpPr>
            <p:cNvPr id="206" name="直接箭头连接符 205">
              <a:extLst>
                <a:ext uri="{FF2B5EF4-FFF2-40B4-BE49-F238E27FC236}">
                  <a16:creationId xmlns:a16="http://schemas.microsoft.com/office/drawing/2014/main" id="{C454F1EE-978D-4F07-967F-634CFA99B147}"/>
                </a:ext>
              </a:extLst>
            </p:cNvPr>
            <p:cNvCxnSpPr>
              <a:cxnSpLocks/>
            </p:cNvCxnSpPr>
            <p:nvPr/>
          </p:nvCxnSpPr>
          <p:spPr>
            <a:xfrm>
              <a:off x="302320" y="5983765"/>
              <a:ext cx="5318997" cy="13238"/>
            </a:xfrm>
            <a:prstGeom prst="straightConnector1">
              <a:avLst/>
            </a:prstGeom>
            <a:noFill/>
            <a:ln w="19050" cap="flat" cmpd="sng" algn="ctr">
              <a:solidFill>
                <a:srgbClr val="1D1D1A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207" name="矩形 206">
              <a:extLst>
                <a:ext uri="{FF2B5EF4-FFF2-40B4-BE49-F238E27FC236}">
                  <a16:creationId xmlns:a16="http://schemas.microsoft.com/office/drawing/2014/main" id="{2E30429D-28F4-4DEE-9BF6-ACC6241E8AF4}"/>
                </a:ext>
              </a:extLst>
            </p:cNvPr>
            <p:cNvSpPr/>
            <p:nvPr/>
          </p:nvSpPr>
          <p:spPr>
            <a:xfrm>
              <a:off x="2433763" y="6127955"/>
              <a:ext cx="761863" cy="31905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666" rIns="0" bIns="456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303">
                <a:defRPr/>
              </a:pPr>
              <a:r>
                <a:rPr lang="en-US" altLang="zh-CN" sz="800" kern="0">
                  <a:solidFill>
                    <a:srgbClr val="1D1D1A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kernel1</a:t>
              </a:r>
              <a:endParaRPr lang="zh-CN" altLang="en-US" sz="800" kern="0">
                <a:solidFill>
                  <a:srgbClr val="1D1D1A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sp>
          <p:nvSpPr>
            <p:cNvPr id="208" name="矩形 207">
              <a:extLst>
                <a:ext uri="{FF2B5EF4-FFF2-40B4-BE49-F238E27FC236}">
                  <a16:creationId xmlns:a16="http://schemas.microsoft.com/office/drawing/2014/main" id="{70677EDA-5F24-400E-93B4-22BF7D46CB14}"/>
                </a:ext>
              </a:extLst>
            </p:cNvPr>
            <p:cNvSpPr/>
            <p:nvPr/>
          </p:nvSpPr>
          <p:spPr>
            <a:xfrm>
              <a:off x="3263602" y="6127955"/>
              <a:ext cx="493689" cy="31905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666" rIns="0" bIns="456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303">
                <a:defRPr/>
              </a:pPr>
              <a:r>
                <a:rPr lang="en-US" altLang="zh-CN" sz="800" kern="0">
                  <a:solidFill>
                    <a:srgbClr val="1D1D1A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kernel2</a:t>
              </a:r>
              <a:endParaRPr lang="zh-CN" altLang="en-US" sz="800" kern="0">
                <a:solidFill>
                  <a:srgbClr val="1D1D1A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sp>
          <p:nvSpPr>
            <p:cNvPr id="209" name="矩形 208">
              <a:extLst>
                <a:ext uri="{FF2B5EF4-FFF2-40B4-BE49-F238E27FC236}">
                  <a16:creationId xmlns:a16="http://schemas.microsoft.com/office/drawing/2014/main" id="{F15C47BF-DE91-4F35-B34D-7B0675CF6EA3}"/>
                </a:ext>
              </a:extLst>
            </p:cNvPr>
            <p:cNvSpPr/>
            <p:nvPr/>
          </p:nvSpPr>
          <p:spPr>
            <a:xfrm>
              <a:off x="2913532" y="5065722"/>
              <a:ext cx="390520" cy="319050"/>
            </a:xfrm>
            <a:prstGeom prst="rect">
              <a:avLst/>
            </a:prstGeom>
            <a:solidFill>
              <a:srgbClr val="30B5C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666" rIns="0" bIns="456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303">
                <a:defRPr/>
              </a:pPr>
              <a:endParaRPr lang="zh-CN" altLang="en-US" sz="900" kern="0">
                <a:solidFill>
                  <a:srgbClr val="1D1D1A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sp>
          <p:nvSpPr>
            <p:cNvPr id="210" name="矩形 209">
              <a:extLst>
                <a:ext uri="{FF2B5EF4-FFF2-40B4-BE49-F238E27FC236}">
                  <a16:creationId xmlns:a16="http://schemas.microsoft.com/office/drawing/2014/main" id="{32040FEB-8124-4EDA-9CA6-13D9AAB5A26C}"/>
                </a:ext>
              </a:extLst>
            </p:cNvPr>
            <p:cNvSpPr/>
            <p:nvPr/>
          </p:nvSpPr>
          <p:spPr>
            <a:xfrm>
              <a:off x="3362901" y="5065722"/>
              <a:ext cx="390520" cy="319050"/>
            </a:xfrm>
            <a:prstGeom prst="rect">
              <a:avLst/>
            </a:prstGeom>
            <a:solidFill>
              <a:srgbClr val="30B5C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666" rIns="0" bIns="456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303">
                <a:defRPr/>
              </a:pPr>
              <a:endParaRPr lang="zh-CN" altLang="en-US" sz="900" kern="0">
                <a:solidFill>
                  <a:srgbClr val="1D1D1A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sp>
          <p:nvSpPr>
            <p:cNvPr id="211" name="矩形 210">
              <a:extLst>
                <a:ext uri="{FF2B5EF4-FFF2-40B4-BE49-F238E27FC236}">
                  <a16:creationId xmlns:a16="http://schemas.microsoft.com/office/drawing/2014/main" id="{CC3E6DD0-10B7-483A-8392-EDDCA87E1175}"/>
                </a:ext>
              </a:extLst>
            </p:cNvPr>
            <p:cNvSpPr/>
            <p:nvPr/>
          </p:nvSpPr>
          <p:spPr>
            <a:xfrm>
              <a:off x="3784920" y="5065722"/>
              <a:ext cx="390520" cy="319050"/>
            </a:xfrm>
            <a:prstGeom prst="rect">
              <a:avLst/>
            </a:prstGeom>
            <a:solidFill>
              <a:srgbClr val="30B5C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666" rIns="0" bIns="456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303">
                <a:defRPr/>
              </a:pPr>
              <a:endParaRPr lang="zh-CN" altLang="en-US" sz="900" kern="0">
                <a:solidFill>
                  <a:srgbClr val="1D1D1A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sp>
          <p:nvSpPr>
            <p:cNvPr id="212" name="矩形 211">
              <a:extLst>
                <a:ext uri="{FF2B5EF4-FFF2-40B4-BE49-F238E27FC236}">
                  <a16:creationId xmlns:a16="http://schemas.microsoft.com/office/drawing/2014/main" id="{6B0D0CC0-F001-493C-8170-E295DE1AD530}"/>
                </a:ext>
              </a:extLst>
            </p:cNvPr>
            <p:cNvSpPr/>
            <p:nvPr/>
          </p:nvSpPr>
          <p:spPr>
            <a:xfrm>
              <a:off x="3587887" y="5564913"/>
              <a:ext cx="390520" cy="319050"/>
            </a:xfrm>
            <a:prstGeom prst="rect">
              <a:avLst/>
            </a:prstGeom>
            <a:solidFill>
              <a:srgbClr val="30B5C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666" rIns="0" bIns="456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303">
                <a:defRPr/>
              </a:pPr>
              <a:r>
                <a:rPr lang="en-US" altLang="zh-CN" sz="800" kern="0">
                  <a:solidFill>
                    <a:srgbClr val="1D1D1A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process</a:t>
              </a:r>
              <a:endParaRPr lang="zh-CN" altLang="en-US" sz="800" kern="0">
                <a:solidFill>
                  <a:srgbClr val="1D1D1A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sp>
          <p:nvSpPr>
            <p:cNvPr id="213" name="矩形 212">
              <a:extLst>
                <a:ext uri="{FF2B5EF4-FFF2-40B4-BE49-F238E27FC236}">
                  <a16:creationId xmlns:a16="http://schemas.microsoft.com/office/drawing/2014/main" id="{E87954E0-5134-46E6-B613-987886B04A48}"/>
                </a:ext>
              </a:extLst>
            </p:cNvPr>
            <p:cNvSpPr/>
            <p:nvPr/>
          </p:nvSpPr>
          <p:spPr>
            <a:xfrm>
              <a:off x="4178164" y="5564913"/>
              <a:ext cx="390520" cy="319050"/>
            </a:xfrm>
            <a:prstGeom prst="rect">
              <a:avLst/>
            </a:prstGeom>
            <a:solidFill>
              <a:srgbClr val="30B5C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666" rIns="0" bIns="456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303">
                <a:defRPr/>
              </a:pPr>
              <a:r>
                <a:rPr lang="en-US" altLang="zh-CN" sz="800" kern="0">
                  <a:solidFill>
                    <a:srgbClr val="1D1D1A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process</a:t>
              </a:r>
              <a:endParaRPr lang="zh-CN" altLang="en-US" sz="800" kern="0">
                <a:solidFill>
                  <a:srgbClr val="1D1D1A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sp>
          <p:nvSpPr>
            <p:cNvPr id="214" name="矩形 213">
              <a:extLst>
                <a:ext uri="{FF2B5EF4-FFF2-40B4-BE49-F238E27FC236}">
                  <a16:creationId xmlns:a16="http://schemas.microsoft.com/office/drawing/2014/main" id="{C9960598-36D2-4F1F-908E-33E4F9FC114B}"/>
                </a:ext>
              </a:extLst>
            </p:cNvPr>
            <p:cNvSpPr/>
            <p:nvPr/>
          </p:nvSpPr>
          <p:spPr>
            <a:xfrm>
              <a:off x="3835377" y="6127955"/>
              <a:ext cx="367076" cy="31905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666" rIns="0" bIns="456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303">
                <a:defRPr/>
              </a:pPr>
              <a:r>
                <a:rPr lang="en-US" altLang="zh-CN" sz="800" kern="0">
                  <a:solidFill>
                    <a:srgbClr val="1D1D1A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kernel3</a:t>
              </a:r>
              <a:endParaRPr lang="zh-CN" altLang="en-US" sz="800" kern="0">
                <a:solidFill>
                  <a:srgbClr val="1D1D1A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sp>
          <p:nvSpPr>
            <p:cNvPr id="215" name="矩形 214">
              <a:extLst>
                <a:ext uri="{FF2B5EF4-FFF2-40B4-BE49-F238E27FC236}">
                  <a16:creationId xmlns:a16="http://schemas.microsoft.com/office/drawing/2014/main" id="{E7D4E256-7FB6-4981-B913-9CD6EE2BF350}"/>
                </a:ext>
              </a:extLst>
            </p:cNvPr>
            <p:cNvSpPr/>
            <p:nvPr/>
          </p:nvSpPr>
          <p:spPr>
            <a:xfrm>
              <a:off x="4280539" y="6127955"/>
              <a:ext cx="620300" cy="31905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666" rIns="0" bIns="4566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303">
                <a:defRPr/>
              </a:pPr>
              <a:r>
                <a:rPr lang="en-US" altLang="zh-CN" sz="800" kern="0">
                  <a:solidFill>
                    <a:srgbClr val="1D1D1A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kernel4</a:t>
              </a:r>
              <a:endParaRPr lang="zh-CN" altLang="en-US" sz="800" kern="0">
                <a:solidFill>
                  <a:srgbClr val="1D1D1A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sp>
          <p:nvSpPr>
            <p:cNvPr id="216" name="矩形 215">
              <a:extLst>
                <a:ext uri="{FF2B5EF4-FFF2-40B4-BE49-F238E27FC236}">
                  <a16:creationId xmlns:a16="http://schemas.microsoft.com/office/drawing/2014/main" id="{54020F1F-FBA1-4185-953E-FE01055595A2}"/>
                </a:ext>
              </a:extLst>
            </p:cNvPr>
            <p:cNvSpPr/>
            <p:nvPr/>
          </p:nvSpPr>
          <p:spPr>
            <a:xfrm>
              <a:off x="56861" y="5601328"/>
              <a:ext cx="55584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3303">
                <a:defRPr/>
              </a:pPr>
              <a:r>
                <a:rPr lang="en-US" altLang="zh-CN" sz="1000" b="1" kern="0">
                  <a:solidFill>
                    <a:srgbClr val="C00000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CPU</a:t>
              </a:r>
            </a:p>
          </p:txBody>
        </p:sp>
        <p:sp>
          <p:nvSpPr>
            <p:cNvPr id="217" name="矩形 216">
              <a:extLst>
                <a:ext uri="{FF2B5EF4-FFF2-40B4-BE49-F238E27FC236}">
                  <a16:creationId xmlns:a16="http://schemas.microsoft.com/office/drawing/2014/main" id="{CF77202F-70CB-4AFD-83DA-F6E9022C0F45}"/>
                </a:ext>
              </a:extLst>
            </p:cNvPr>
            <p:cNvSpPr/>
            <p:nvPr/>
          </p:nvSpPr>
          <p:spPr>
            <a:xfrm>
              <a:off x="43089" y="6117848"/>
              <a:ext cx="55584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3303">
                <a:defRPr/>
              </a:pPr>
              <a:r>
                <a:rPr lang="en-US" altLang="zh-CN" sz="1000" b="1" kern="0">
                  <a:solidFill>
                    <a:srgbClr val="C00000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NPU</a:t>
              </a:r>
            </a:p>
          </p:txBody>
        </p:sp>
        <p:cxnSp>
          <p:nvCxnSpPr>
            <p:cNvPr id="218" name="连接符: 肘形 217">
              <a:extLst>
                <a:ext uri="{FF2B5EF4-FFF2-40B4-BE49-F238E27FC236}">
                  <a16:creationId xmlns:a16="http://schemas.microsoft.com/office/drawing/2014/main" id="{BCA03D71-EE21-4D48-BF51-F911F7227A2C}"/>
                </a:ext>
              </a:extLst>
            </p:cNvPr>
            <p:cNvCxnSpPr>
              <a:cxnSpLocks/>
              <a:stCxn id="203" idx="2"/>
              <a:endCxn id="204" idx="0"/>
            </p:cNvCxnSpPr>
            <p:nvPr/>
          </p:nvCxnSpPr>
          <p:spPr>
            <a:xfrm rot="16200000" flipH="1">
              <a:off x="2276627" y="5346650"/>
              <a:ext cx="180141" cy="256386"/>
            </a:xfrm>
            <a:prstGeom prst="bentConnector3">
              <a:avLst/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 w="sm" len="sm"/>
            </a:ln>
            <a:effectLst/>
          </p:spPr>
        </p:cxnSp>
        <p:cxnSp>
          <p:nvCxnSpPr>
            <p:cNvPr id="219" name="连接符: 肘形 218">
              <a:extLst>
                <a:ext uri="{FF2B5EF4-FFF2-40B4-BE49-F238E27FC236}">
                  <a16:creationId xmlns:a16="http://schemas.microsoft.com/office/drawing/2014/main" id="{F8A7188D-D2C4-4B6F-B794-C88415FDDF0F}"/>
                </a:ext>
              </a:extLst>
            </p:cNvPr>
            <p:cNvCxnSpPr>
              <a:cxnSpLocks/>
              <a:stCxn id="209" idx="2"/>
              <a:endCxn id="205" idx="0"/>
            </p:cNvCxnSpPr>
            <p:nvPr/>
          </p:nvCxnSpPr>
          <p:spPr>
            <a:xfrm rot="16200000" flipH="1">
              <a:off x="3059920" y="5433642"/>
              <a:ext cx="180141" cy="82399"/>
            </a:xfrm>
            <a:prstGeom prst="bentConnector3">
              <a:avLst>
                <a:gd name="adj1" fmla="val 50000"/>
              </a:avLst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 w="sm" len="sm"/>
            </a:ln>
            <a:effectLst/>
          </p:spPr>
        </p:cxnSp>
        <p:cxnSp>
          <p:nvCxnSpPr>
            <p:cNvPr id="220" name="连接符: 肘形 219">
              <a:extLst>
                <a:ext uri="{FF2B5EF4-FFF2-40B4-BE49-F238E27FC236}">
                  <a16:creationId xmlns:a16="http://schemas.microsoft.com/office/drawing/2014/main" id="{50CC9B07-8745-452F-A97F-EA26D0B3CD82}"/>
                </a:ext>
              </a:extLst>
            </p:cNvPr>
            <p:cNvCxnSpPr>
              <a:cxnSpLocks/>
              <a:stCxn id="210" idx="2"/>
              <a:endCxn id="212" idx="0"/>
            </p:cNvCxnSpPr>
            <p:nvPr/>
          </p:nvCxnSpPr>
          <p:spPr>
            <a:xfrm rot="16200000" flipH="1">
              <a:off x="3580584" y="5362350"/>
              <a:ext cx="180141" cy="224986"/>
            </a:xfrm>
            <a:prstGeom prst="bentConnector3">
              <a:avLst>
                <a:gd name="adj1" fmla="val 50000"/>
              </a:avLst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 w="sm" len="sm"/>
            </a:ln>
            <a:effectLst/>
          </p:spPr>
        </p:cxnSp>
        <p:cxnSp>
          <p:nvCxnSpPr>
            <p:cNvPr id="221" name="连接符: 肘形 220">
              <a:extLst>
                <a:ext uri="{FF2B5EF4-FFF2-40B4-BE49-F238E27FC236}">
                  <a16:creationId xmlns:a16="http://schemas.microsoft.com/office/drawing/2014/main" id="{87066EA8-5679-4CF3-97AA-2FFA92D9C448}"/>
                </a:ext>
              </a:extLst>
            </p:cNvPr>
            <p:cNvCxnSpPr>
              <a:cxnSpLocks/>
              <a:stCxn id="211" idx="2"/>
              <a:endCxn id="213" idx="0"/>
            </p:cNvCxnSpPr>
            <p:nvPr/>
          </p:nvCxnSpPr>
          <p:spPr>
            <a:xfrm rot="16200000" flipH="1">
              <a:off x="4086731" y="5278220"/>
              <a:ext cx="180141" cy="393244"/>
            </a:xfrm>
            <a:prstGeom prst="bentConnector3">
              <a:avLst>
                <a:gd name="adj1" fmla="val 50000"/>
              </a:avLst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 w="sm" len="sm"/>
            </a:ln>
            <a:effectLst/>
          </p:spPr>
        </p:cxnSp>
        <p:cxnSp>
          <p:nvCxnSpPr>
            <p:cNvPr id="222" name="连接符: 肘形 221">
              <a:extLst>
                <a:ext uri="{FF2B5EF4-FFF2-40B4-BE49-F238E27FC236}">
                  <a16:creationId xmlns:a16="http://schemas.microsoft.com/office/drawing/2014/main" id="{C214B625-BF68-45F7-9832-5937668705BF}"/>
                </a:ext>
              </a:extLst>
            </p:cNvPr>
            <p:cNvCxnSpPr>
              <a:cxnSpLocks/>
              <a:stCxn id="204" idx="2"/>
              <a:endCxn id="207" idx="0"/>
            </p:cNvCxnSpPr>
            <p:nvPr/>
          </p:nvCxnSpPr>
          <p:spPr>
            <a:xfrm rot="16200000" flipH="1">
              <a:off x="2532797" y="5846056"/>
              <a:ext cx="243991" cy="319806"/>
            </a:xfrm>
            <a:prstGeom prst="bentConnector3">
              <a:avLst>
                <a:gd name="adj1" fmla="val 50000"/>
              </a:avLst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 w="sm" len="sm"/>
            </a:ln>
            <a:effectLst/>
          </p:spPr>
        </p:cxnSp>
        <p:cxnSp>
          <p:nvCxnSpPr>
            <p:cNvPr id="223" name="连接符: 肘形 222">
              <a:extLst>
                <a:ext uri="{FF2B5EF4-FFF2-40B4-BE49-F238E27FC236}">
                  <a16:creationId xmlns:a16="http://schemas.microsoft.com/office/drawing/2014/main" id="{9D696020-4AAC-411D-91AB-B571B46E69AC}"/>
                </a:ext>
              </a:extLst>
            </p:cNvPr>
            <p:cNvCxnSpPr>
              <a:cxnSpLocks/>
              <a:stCxn id="205" idx="2"/>
              <a:endCxn id="208" idx="0"/>
            </p:cNvCxnSpPr>
            <p:nvPr/>
          </p:nvCxnSpPr>
          <p:spPr>
            <a:xfrm rot="16200000" flipH="1">
              <a:off x="3228822" y="5846332"/>
              <a:ext cx="243991" cy="319254"/>
            </a:xfrm>
            <a:prstGeom prst="bentConnector3">
              <a:avLst>
                <a:gd name="adj1" fmla="val 50000"/>
              </a:avLst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 w="sm" len="sm"/>
            </a:ln>
            <a:effectLst/>
          </p:spPr>
        </p:cxnSp>
        <p:cxnSp>
          <p:nvCxnSpPr>
            <p:cNvPr id="224" name="连接符: 肘形 223">
              <a:extLst>
                <a:ext uri="{FF2B5EF4-FFF2-40B4-BE49-F238E27FC236}">
                  <a16:creationId xmlns:a16="http://schemas.microsoft.com/office/drawing/2014/main" id="{0D9C8EAF-8644-4FD5-BFAC-307120D5C989}"/>
                </a:ext>
              </a:extLst>
            </p:cNvPr>
            <p:cNvCxnSpPr>
              <a:cxnSpLocks/>
              <a:stCxn id="212" idx="2"/>
              <a:endCxn id="214" idx="0"/>
            </p:cNvCxnSpPr>
            <p:nvPr/>
          </p:nvCxnSpPr>
          <p:spPr>
            <a:xfrm rot="16200000" flipH="1">
              <a:off x="3779035" y="5888074"/>
              <a:ext cx="243991" cy="235768"/>
            </a:xfrm>
            <a:prstGeom prst="bentConnector3">
              <a:avLst>
                <a:gd name="adj1" fmla="val 50000"/>
              </a:avLst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 w="sm" len="sm"/>
            </a:ln>
            <a:effectLst/>
          </p:spPr>
        </p:cxnSp>
        <p:cxnSp>
          <p:nvCxnSpPr>
            <p:cNvPr id="225" name="连接符: 肘形 224">
              <a:extLst>
                <a:ext uri="{FF2B5EF4-FFF2-40B4-BE49-F238E27FC236}">
                  <a16:creationId xmlns:a16="http://schemas.microsoft.com/office/drawing/2014/main" id="{85D69A58-2BAF-4C0D-8534-C1EEC5B39CDF}"/>
                </a:ext>
              </a:extLst>
            </p:cNvPr>
            <p:cNvCxnSpPr>
              <a:cxnSpLocks/>
              <a:stCxn id="213" idx="2"/>
              <a:endCxn id="215" idx="0"/>
            </p:cNvCxnSpPr>
            <p:nvPr/>
          </p:nvCxnSpPr>
          <p:spPr>
            <a:xfrm rot="16200000" flipH="1">
              <a:off x="4360061" y="5897325"/>
              <a:ext cx="243991" cy="217266"/>
            </a:xfrm>
            <a:prstGeom prst="bentConnector3">
              <a:avLst>
                <a:gd name="adj1" fmla="val 50000"/>
              </a:avLst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 w="sm" len="sm"/>
            </a:ln>
            <a:effectLst/>
          </p:spPr>
        </p:cxnSp>
        <p:sp>
          <p:nvSpPr>
            <p:cNvPr id="226" name="矩形 225">
              <a:extLst>
                <a:ext uri="{FF2B5EF4-FFF2-40B4-BE49-F238E27FC236}">
                  <a16:creationId xmlns:a16="http://schemas.microsoft.com/office/drawing/2014/main" id="{4E92DB50-3DAB-4FDE-9B19-517AEE6A4621}"/>
                </a:ext>
              </a:extLst>
            </p:cNvPr>
            <p:cNvSpPr/>
            <p:nvPr/>
          </p:nvSpPr>
          <p:spPr>
            <a:xfrm>
              <a:off x="1431618" y="5414144"/>
              <a:ext cx="1368445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3303">
                <a:defRPr/>
              </a:pPr>
              <a:r>
                <a:rPr lang="zh-CN" altLang="en-US" sz="600" kern="0">
                  <a:solidFill>
                    <a:srgbClr val="1D1D1A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异步</a:t>
              </a:r>
              <a:r>
                <a:rPr lang="en-US" altLang="zh-CN" sz="600" kern="0">
                  <a:solidFill>
                    <a:srgbClr val="1D1D1A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dequeue</a:t>
              </a:r>
            </a:p>
          </p:txBody>
        </p:sp>
        <p:sp>
          <p:nvSpPr>
            <p:cNvPr id="227" name="矩形 226">
              <a:extLst>
                <a:ext uri="{FF2B5EF4-FFF2-40B4-BE49-F238E27FC236}">
                  <a16:creationId xmlns:a16="http://schemas.microsoft.com/office/drawing/2014/main" id="{C17030D8-F1AD-41F4-A4A1-3D4FF043555B}"/>
                </a:ext>
              </a:extLst>
            </p:cNvPr>
            <p:cNvSpPr/>
            <p:nvPr/>
          </p:nvSpPr>
          <p:spPr>
            <a:xfrm>
              <a:off x="2841937" y="3710685"/>
              <a:ext cx="1922784" cy="437038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3668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Triton</a:t>
              </a:r>
            </a:p>
            <a:p>
              <a:pPr defTabSz="913668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Ascend</a:t>
              </a:r>
              <a:endParaRPr lang="zh-CN" altLang="en-US" sz="900" kern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228" name="矩形 227">
              <a:extLst>
                <a:ext uri="{FF2B5EF4-FFF2-40B4-BE49-F238E27FC236}">
                  <a16:creationId xmlns:a16="http://schemas.microsoft.com/office/drawing/2014/main" id="{55D08A33-0A2C-433B-A01D-C5F624322F39}"/>
                </a:ext>
              </a:extLst>
            </p:cNvPr>
            <p:cNvSpPr/>
            <p:nvPr/>
          </p:nvSpPr>
          <p:spPr>
            <a:xfrm>
              <a:off x="3393886" y="3904297"/>
              <a:ext cx="1287703" cy="183173"/>
            </a:xfrm>
            <a:prstGeom prst="rect">
              <a:avLst/>
            </a:prstGeom>
            <a:solidFill>
              <a:srgbClr val="EBEBEB"/>
            </a:solidFill>
            <a:ln w="63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668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launch</a:t>
              </a:r>
              <a:endParaRPr lang="zh-CN" altLang="en-US" sz="900" kern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231" name="矩形 230">
              <a:extLst>
                <a:ext uri="{FF2B5EF4-FFF2-40B4-BE49-F238E27FC236}">
                  <a16:creationId xmlns:a16="http://schemas.microsoft.com/office/drawing/2014/main" id="{FE2EB7A0-4DC0-4045-A403-B09CED80931E}"/>
                </a:ext>
              </a:extLst>
            </p:cNvPr>
            <p:cNvSpPr/>
            <p:nvPr/>
          </p:nvSpPr>
          <p:spPr>
            <a:xfrm>
              <a:off x="3393886" y="3717191"/>
              <a:ext cx="1287705" cy="152928"/>
            </a:xfrm>
            <a:prstGeom prst="rect">
              <a:avLst/>
            </a:prstGeom>
            <a:solidFill>
              <a:srgbClr val="EBEBEB"/>
            </a:solidFill>
            <a:ln w="63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668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Launch-pybind</a:t>
              </a:r>
              <a:endParaRPr lang="zh-CN" altLang="en-US" sz="900" kern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187" name="矩形 186">
              <a:extLst>
                <a:ext uri="{FF2B5EF4-FFF2-40B4-BE49-F238E27FC236}">
                  <a16:creationId xmlns:a16="http://schemas.microsoft.com/office/drawing/2014/main" id="{660143F6-134D-43A7-9E93-486351BC47AB}"/>
                </a:ext>
              </a:extLst>
            </p:cNvPr>
            <p:cNvSpPr/>
            <p:nvPr/>
          </p:nvSpPr>
          <p:spPr>
            <a:xfrm>
              <a:off x="2841937" y="2762183"/>
              <a:ext cx="1839653" cy="238842"/>
            </a:xfrm>
            <a:prstGeom prst="rect">
              <a:avLst/>
            </a:prstGeom>
            <a:solidFill>
              <a:schemeClr val="bg2"/>
            </a:solidFill>
            <a:ln w="63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668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Dynamo Cache Lookup</a:t>
              </a:r>
              <a:endParaRPr lang="zh-CN" altLang="en-US" sz="900" kern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241" name="文本框 240">
              <a:extLst>
                <a:ext uri="{FF2B5EF4-FFF2-40B4-BE49-F238E27FC236}">
                  <a16:creationId xmlns:a16="http://schemas.microsoft.com/office/drawing/2014/main" id="{035A1B57-F755-4270-B493-E4188024EE4D}"/>
                </a:ext>
              </a:extLst>
            </p:cNvPr>
            <p:cNvSpPr txBox="1"/>
            <p:nvPr/>
          </p:nvSpPr>
          <p:spPr>
            <a:xfrm>
              <a:off x="4966222" y="2383634"/>
              <a:ext cx="509032" cy="1268006"/>
            </a:xfrm>
            <a:prstGeom prst="rect">
              <a:avLst/>
            </a:prstGeom>
            <a:solidFill>
              <a:srgbClr val="FCC800">
                <a:lumMod val="20000"/>
                <a:lumOff val="80000"/>
              </a:srgbClr>
            </a:solidFill>
            <a:ln>
              <a:solidFill>
                <a:srgbClr val="FCC800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 defTabSz="913746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Python</a:t>
              </a:r>
            </a:p>
            <a:p>
              <a:pPr algn="ctr" defTabSz="913746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Runtime</a:t>
              </a:r>
            </a:p>
          </p:txBody>
        </p:sp>
        <p:sp>
          <p:nvSpPr>
            <p:cNvPr id="244" name="矩形 243">
              <a:extLst>
                <a:ext uri="{FF2B5EF4-FFF2-40B4-BE49-F238E27FC236}">
                  <a16:creationId xmlns:a16="http://schemas.microsoft.com/office/drawing/2014/main" id="{984D46F4-213D-47D4-8138-2F9510B49F8A}"/>
                </a:ext>
              </a:extLst>
            </p:cNvPr>
            <p:cNvSpPr/>
            <p:nvPr/>
          </p:nvSpPr>
          <p:spPr>
            <a:xfrm>
              <a:off x="1488599" y="2467658"/>
              <a:ext cx="3192991" cy="238842"/>
            </a:xfrm>
            <a:prstGeom prst="rect">
              <a:avLst/>
            </a:prstGeom>
            <a:solidFill>
              <a:srgbClr val="EBEBEB"/>
            </a:solidFill>
            <a:ln w="63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668">
                <a:defRPr/>
              </a:pPr>
              <a:r>
                <a:rPr lang="en-US" altLang="zh-CN" sz="900" kern="0" err="1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torch.module</a:t>
              </a:r>
              <a:endParaRPr lang="zh-CN" altLang="en-US" sz="900" kern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245" name="矩形 244">
              <a:extLst>
                <a:ext uri="{FF2B5EF4-FFF2-40B4-BE49-F238E27FC236}">
                  <a16:creationId xmlns:a16="http://schemas.microsoft.com/office/drawing/2014/main" id="{2A9AD728-8E01-4A10-BCDB-D051A658FBD6}"/>
                </a:ext>
              </a:extLst>
            </p:cNvPr>
            <p:cNvSpPr/>
            <p:nvPr/>
          </p:nvSpPr>
          <p:spPr>
            <a:xfrm>
              <a:off x="1486451" y="2754622"/>
              <a:ext cx="1307319" cy="238842"/>
            </a:xfrm>
            <a:prstGeom prst="rect">
              <a:avLst/>
            </a:prstGeom>
            <a:solidFill>
              <a:srgbClr val="EBEBEB"/>
            </a:solidFill>
            <a:ln w="63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12">
                <a:defRPr/>
              </a:pPr>
              <a:r>
                <a:rPr lang="en-US" altLang="zh-CN" sz="90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dispatcher</a:t>
              </a:r>
              <a:endParaRPr lang="zh-CN" altLang="en-US" sz="90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247" name="椭圆 246">
              <a:extLst>
                <a:ext uri="{FF2B5EF4-FFF2-40B4-BE49-F238E27FC236}">
                  <a16:creationId xmlns:a16="http://schemas.microsoft.com/office/drawing/2014/main" id="{366B5DA9-D98A-427B-9032-0B8FD8C6519F}"/>
                </a:ext>
              </a:extLst>
            </p:cNvPr>
            <p:cNvSpPr/>
            <p:nvPr/>
          </p:nvSpPr>
          <p:spPr>
            <a:xfrm>
              <a:off x="5125986" y="2568328"/>
              <a:ext cx="179930" cy="179930"/>
            </a:xfrm>
            <a:prstGeom prst="ellipse">
              <a:avLst/>
            </a:prstGeom>
            <a:solidFill>
              <a:srgbClr val="7F000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746">
                <a:defRPr/>
              </a:pPr>
              <a:r>
                <a:rPr lang="en-US" altLang="zh-CN" sz="12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1</a:t>
              </a:r>
              <a:endParaRPr lang="zh-CN" altLang="en-US" sz="12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sp>
          <p:nvSpPr>
            <p:cNvPr id="248" name="椭圆 247">
              <a:extLst>
                <a:ext uri="{FF2B5EF4-FFF2-40B4-BE49-F238E27FC236}">
                  <a16:creationId xmlns:a16="http://schemas.microsoft.com/office/drawing/2014/main" id="{24902861-1B24-4D37-8BB4-F513A6F05452}"/>
                </a:ext>
              </a:extLst>
            </p:cNvPr>
            <p:cNvSpPr/>
            <p:nvPr/>
          </p:nvSpPr>
          <p:spPr>
            <a:xfrm>
              <a:off x="3438624" y="3258208"/>
              <a:ext cx="179930" cy="179930"/>
            </a:xfrm>
            <a:prstGeom prst="ellipse">
              <a:avLst/>
            </a:prstGeom>
            <a:solidFill>
              <a:srgbClr val="7F000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746">
                <a:defRPr/>
              </a:pPr>
              <a:r>
                <a:rPr lang="en-US" altLang="zh-CN" sz="1200" b="1" kern="0">
                  <a:solidFill>
                    <a:srgbClr val="FFFFFF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4</a:t>
              </a:r>
              <a:endParaRPr lang="zh-CN" altLang="en-US" sz="1200" b="1" kern="0">
                <a:solidFill>
                  <a:srgbClr val="FFFFFF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sp>
          <p:nvSpPr>
            <p:cNvPr id="249" name="椭圆 248">
              <a:extLst>
                <a:ext uri="{FF2B5EF4-FFF2-40B4-BE49-F238E27FC236}">
                  <a16:creationId xmlns:a16="http://schemas.microsoft.com/office/drawing/2014/main" id="{E1D23500-90A6-448A-A0A1-574EA12E3E8F}"/>
                </a:ext>
              </a:extLst>
            </p:cNvPr>
            <p:cNvSpPr/>
            <p:nvPr/>
          </p:nvSpPr>
          <p:spPr>
            <a:xfrm>
              <a:off x="2907347" y="2798937"/>
              <a:ext cx="179930" cy="179930"/>
            </a:xfrm>
            <a:prstGeom prst="ellipse">
              <a:avLst/>
            </a:prstGeom>
            <a:solidFill>
              <a:srgbClr val="7F000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746">
                <a:defRPr/>
              </a:pPr>
              <a:r>
                <a:rPr lang="en-US" altLang="zh-CN" sz="1200" b="1" kern="0">
                  <a:solidFill>
                    <a:srgbClr val="FFFFFF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2</a:t>
              </a:r>
              <a:endParaRPr lang="zh-CN" altLang="en-US" sz="1200" b="1" kern="0">
                <a:solidFill>
                  <a:srgbClr val="FFFFFF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  <p:sp>
          <p:nvSpPr>
            <p:cNvPr id="251" name="文本框 250">
              <a:extLst>
                <a:ext uri="{FF2B5EF4-FFF2-40B4-BE49-F238E27FC236}">
                  <a16:creationId xmlns:a16="http://schemas.microsoft.com/office/drawing/2014/main" id="{EC8B7148-0149-4F69-B867-DCB8D681DF9A}"/>
                </a:ext>
              </a:extLst>
            </p:cNvPr>
            <p:cNvSpPr txBox="1"/>
            <p:nvPr/>
          </p:nvSpPr>
          <p:spPr>
            <a:xfrm>
              <a:off x="2019604" y="2185110"/>
              <a:ext cx="49214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034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eager</a:t>
              </a:r>
              <a:endParaRPr lang="zh-CN" altLang="en-US" sz="900" kern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252" name="文本框 251">
              <a:extLst>
                <a:ext uri="{FF2B5EF4-FFF2-40B4-BE49-F238E27FC236}">
                  <a16:creationId xmlns:a16="http://schemas.microsoft.com/office/drawing/2014/main" id="{09F961CA-BD65-4D15-8DC4-B31FCF91B663}"/>
                </a:ext>
              </a:extLst>
            </p:cNvPr>
            <p:cNvSpPr txBox="1"/>
            <p:nvPr/>
          </p:nvSpPr>
          <p:spPr>
            <a:xfrm>
              <a:off x="3799879" y="2201296"/>
              <a:ext cx="49214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034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inductor</a:t>
              </a:r>
              <a:endParaRPr lang="zh-CN" altLang="en-US" sz="900" kern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sp>
          <p:nvSpPr>
            <p:cNvPr id="254" name="矩形 253">
              <a:extLst>
                <a:ext uri="{FF2B5EF4-FFF2-40B4-BE49-F238E27FC236}">
                  <a16:creationId xmlns:a16="http://schemas.microsoft.com/office/drawing/2014/main" id="{ECD64731-D893-4237-8431-0592254B3BB4}"/>
                </a:ext>
              </a:extLst>
            </p:cNvPr>
            <p:cNvSpPr/>
            <p:nvPr/>
          </p:nvSpPr>
          <p:spPr>
            <a:xfrm>
              <a:off x="840657" y="3154880"/>
              <a:ext cx="1953113" cy="987964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3668">
                <a:defRPr/>
              </a:pPr>
              <a:r>
                <a:rPr lang="en-US" altLang="zh-CN" sz="900" kern="0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PTA</a:t>
              </a:r>
            </a:p>
            <a:p>
              <a:pPr defTabSz="913668">
                <a:defRPr/>
              </a:pPr>
              <a:r>
                <a:rPr lang="en-US" altLang="zh-CN" sz="900" kern="0" err="1">
                  <a:solidFill>
                    <a:srgbClr val="1D1D1A"/>
                  </a:solidFill>
                  <a:latin typeface=" 微软雅黑"/>
                  <a:ea typeface="黑体" panose="02010609060101010101" pitchFamily="49" charset="-122"/>
                </a:rPr>
                <a:t>OpPlugin</a:t>
              </a:r>
              <a:endParaRPr lang="en-US" altLang="zh-CN" sz="900" kern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  <a:p>
              <a:pPr defTabSz="913668">
                <a:defRPr/>
              </a:pPr>
              <a:endParaRPr lang="zh-CN" altLang="en-US" sz="900" kern="0">
                <a:solidFill>
                  <a:srgbClr val="1D1D1A"/>
                </a:solidFill>
                <a:latin typeface=" 微软雅黑"/>
                <a:ea typeface="黑体" panose="02010609060101010101" pitchFamily="49" charset="-122"/>
              </a:endParaRPr>
            </a:p>
          </p:txBody>
        </p:sp>
        <p:cxnSp>
          <p:nvCxnSpPr>
            <p:cNvPr id="229" name="直接箭头连接符 228">
              <a:extLst>
                <a:ext uri="{FF2B5EF4-FFF2-40B4-BE49-F238E27FC236}">
                  <a16:creationId xmlns:a16="http://schemas.microsoft.com/office/drawing/2014/main" id="{23125BEB-70A1-4206-97D9-086CBDA822D1}"/>
                </a:ext>
              </a:extLst>
            </p:cNvPr>
            <p:cNvCxnSpPr>
              <a:cxnSpLocks/>
            </p:cNvCxnSpPr>
            <p:nvPr/>
          </p:nvCxnSpPr>
          <p:spPr>
            <a:xfrm>
              <a:off x="436699" y="3647477"/>
              <a:ext cx="5249421" cy="4163"/>
            </a:xfrm>
            <a:prstGeom prst="straightConnector1">
              <a:avLst/>
            </a:prstGeom>
            <a:noFill/>
            <a:ln w="19050" cap="flat" cmpd="sng" algn="ctr">
              <a:solidFill>
                <a:srgbClr val="1D1D1A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256" name="椭圆 255">
              <a:extLst>
                <a:ext uri="{FF2B5EF4-FFF2-40B4-BE49-F238E27FC236}">
                  <a16:creationId xmlns:a16="http://schemas.microsoft.com/office/drawing/2014/main" id="{9961781F-4D8A-491E-842F-A1DCEA26084E}"/>
                </a:ext>
              </a:extLst>
            </p:cNvPr>
            <p:cNvSpPr/>
            <p:nvPr/>
          </p:nvSpPr>
          <p:spPr>
            <a:xfrm>
              <a:off x="999238" y="3231582"/>
              <a:ext cx="179930" cy="179930"/>
            </a:xfrm>
            <a:prstGeom prst="ellipse">
              <a:avLst/>
            </a:prstGeom>
            <a:solidFill>
              <a:srgbClr val="7F000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746">
                <a:defRPr/>
              </a:pPr>
              <a:r>
                <a:rPr lang="en-US" altLang="zh-CN" sz="1200" b="1" kern="0">
                  <a:solidFill>
                    <a:srgbClr val="FFFFFF"/>
                  </a:solidFill>
                  <a:latin typeface="微软雅黑" panose="020B0503020204020204" pitchFamily="34" charset="-122"/>
                  <a:ea typeface="等线" panose="02010600030101010101" pitchFamily="2" charset="-122"/>
                </a:rPr>
                <a:t>3</a:t>
              </a:r>
              <a:endParaRPr lang="zh-CN" altLang="en-US" sz="1200" b="1" kern="0">
                <a:solidFill>
                  <a:srgbClr val="FFFFFF"/>
                </a:solidFill>
                <a:latin typeface="微软雅黑" panose="020B0503020204020204" pitchFamily="34" charset="-122"/>
                <a:ea typeface="等线" panose="02010600030101010101" pitchFamily="2" charset="-122"/>
              </a:endParaRPr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B1B87CAA-96CD-484B-B0E4-1DC6054452D0}"/>
              </a:ext>
            </a:extLst>
          </p:cNvPr>
          <p:cNvSpPr/>
          <p:nvPr/>
        </p:nvSpPr>
        <p:spPr>
          <a:xfrm>
            <a:off x="10546781" y="74462"/>
            <a:ext cx="731234" cy="209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endParaRPr lang="zh-CN" altLang="en-US" sz="1799">
              <a:solidFill>
                <a:srgbClr val="666666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429004-33C9-492E-89CE-E06996E0401D}"/>
              </a:ext>
            </a:extLst>
          </p:cNvPr>
          <p:cNvSpPr/>
          <p:nvPr/>
        </p:nvSpPr>
        <p:spPr>
          <a:xfrm>
            <a:off x="10824651" y="1339"/>
            <a:ext cx="833607" cy="2922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endParaRPr lang="zh-CN" altLang="en-US" sz="1799">
              <a:solidFill>
                <a:srgbClr val="666666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A2943FA5-D4F6-4960-A3D2-878DF80E300E}"/>
              </a:ext>
            </a:extLst>
          </p:cNvPr>
          <p:cNvSpPr/>
          <p:nvPr/>
        </p:nvSpPr>
        <p:spPr>
          <a:xfrm>
            <a:off x="-67093" y="3454142"/>
            <a:ext cx="555632" cy="215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3303">
              <a:defRPr/>
            </a:pPr>
            <a:r>
              <a:rPr lang="en-US" altLang="zh-CN" sz="800" b="1" kern="0">
                <a:solidFill>
                  <a:srgbClr val="C00000"/>
                </a:solidFill>
                <a:latin typeface="微软雅黑" panose="020B0503020204020204" pitchFamily="34" charset="-122"/>
                <a:ea typeface="等线" panose="02010600030101010101" pitchFamily="2" charset="-122"/>
              </a:rPr>
              <a:t>Python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E19863B-B0FA-E281-050F-AAF66C8616DF}"/>
              </a:ext>
            </a:extLst>
          </p:cNvPr>
          <p:cNvGrpSpPr/>
          <p:nvPr/>
        </p:nvGrpSpPr>
        <p:grpSpPr>
          <a:xfrm>
            <a:off x="8929894" y="20107"/>
            <a:ext cx="3248665" cy="171065"/>
            <a:chOff x="8932105" y="17441"/>
            <a:chExt cx="3251204" cy="171199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CBFF317-8C81-3A21-07CA-0A33E3E8494E}"/>
                </a:ext>
              </a:extLst>
            </p:cNvPr>
            <p:cNvSpPr/>
            <p:nvPr/>
          </p:nvSpPr>
          <p:spPr bwMode="auto">
            <a:xfrm>
              <a:off x="10588289" y="17441"/>
              <a:ext cx="802932" cy="171199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3668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 b="1" i="1" kern="0">
                  <a:solidFill>
                    <a:srgbClr val="FFFFFF"/>
                  </a:solidFill>
                  <a:latin typeface="微软雅黑" panose="020B0503020204020204" pitchFamily="34" charset="-122"/>
                  <a:ea typeface="微软雅黑"/>
                </a:rPr>
                <a:t>技术构想</a:t>
              </a:r>
              <a:endParaRPr lang="en-US" sz="1050" b="1" i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D06F237-6EE6-68BC-DDCA-5EE391CDB66C}"/>
                </a:ext>
              </a:extLst>
            </p:cNvPr>
            <p:cNvSpPr/>
            <p:nvPr/>
          </p:nvSpPr>
          <p:spPr bwMode="auto">
            <a:xfrm>
              <a:off x="9796201" y="17441"/>
              <a:ext cx="802932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3668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/>
                </a:rPr>
                <a:t>洞察分析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6ABDD95F-2103-C5E4-516A-7520BECC5242}"/>
                </a:ext>
              </a:extLst>
            </p:cNvPr>
            <p:cNvSpPr/>
            <p:nvPr/>
          </p:nvSpPr>
          <p:spPr bwMode="auto">
            <a:xfrm>
              <a:off x="8932105" y="17441"/>
              <a:ext cx="868316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3668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/>
                </a:rPr>
                <a:t>任务书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1F81B2EA-3430-4C00-E1B5-E4FE8848F8AC}"/>
                </a:ext>
              </a:extLst>
            </p:cNvPr>
            <p:cNvSpPr/>
            <p:nvPr/>
          </p:nvSpPr>
          <p:spPr bwMode="auto">
            <a:xfrm>
              <a:off x="11380377" y="17441"/>
              <a:ext cx="802932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3668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/>
                </a:rPr>
                <a:t>执行策略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</p:grpSp>
      <p:sp>
        <p:nvSpPr>
          <p:cNvPr id="74" name="矩形 73">
            <a:extLst>
              <a:ext uri="{FF2B5EF4-FFF2-40B4-BE49-F238E27FC236}">
                <a16:creationId xmlns:a16="http://schemas.microsoft.com/office/drawing/2014/main" id="{549AF6ED-BB0D-4950-A1E1-D1944CBAE312}"/>
              </a:ext>
            </a:extLst>
          </p:cNvPr>
          <p:cNvSpPr/>
          <p:nvPr/>
        </p:nvSpPr>
        <p:spPr>
          <a:xfrm>
            <a:off x="2085064" y="6503381"/>
            <a:ext cx="2757816" cy="301661"/>
          </a:xfrm>
          <a:prstGeom prst="rect">
            <a:avLst/>
          </a:prstGeom>
          <a:solidFill>
            <a:srgbClr val="E9002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sz="1200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竞争力：并行算子下发优化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E27D5E9F-A3C7-46E9-8D04-949B1D69B7FD}"/>
              </a:ext>
            </a:extLst>
          </p:cNvPr>
          <p:cNvSpPr/>
          <p:nvPr/>
        </p:nvSpPr>
        <p:spPr>
          <a:xfrm>
            <a:off x="37420" y="6327064"/>
            <a:ext cx="1705797" cy="464473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b="1" kern="0" dirty="0">
                <a:solidFill>
                  <a:srgbClr val="C00000"/>
                </a:solidFill>
                <a:latin typeface="微软雅黑" panose="020B0503020204020204" pitchFamily="34" charset="-122"/>
                <a:ea typeface="等线" panose="02010600030101010101" pitchFamily="2" charset="-122"/>
              </a:rPr>
              <a:t>周永哲</a:t>
            </a:r>
          </a:p>
        </p:txBody>
      </p:sp>
    </p:spTree>
    <p:extLst>
      <p:ext uri="{BB962C8B-B14F-4D97-AF65-F5344CB8AC3E}">
        <p14:creationId xmlns:p14="http://schemas.microsoft.com/office/powerpoint/2010/main" val="2368680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5675A15C-2D41-4F22-8B1B-17E2772A903F}"/>
              </a:ext>
            </a:extLst>
          </p:cNvPr>
          <p:cNvSpPr txBox="1"/>
          <p:nvPr/>
        </p:nvSpPr>
        <p:spPr>
          <a:xfrm>
            <a:off x="634179" y="3711679"/>
            <a:ext cx="6925417" cy="383721"/>
          </a:xfrm>
          <a:prstGeom prst="rect">
            <a:avLst/>
          </a:prstGeom>
          <a:solidFill>
            <a:srgbClr val="FFFFFF"/>
          </a:solidFill>
          <a:ln>
            <a:solidFill>
              <a:srgbClr val="DDDDDD">
                <a:lumMod val="90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1944" tIns="0" rIns="35972" bIns="0" rtlCol="0" anchor="ctr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endParaRPr lang="zh-CN" altLang="en-US" sz="1398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5D40E49-7F5A-4102-BADB-75B21CF34E5F}"/>
              </a:ext>
            </a:extLst>
          </p:cNvPr>
          <p:cNvSpPr txBox="1"/>
          <p:nvPr/>
        </p:nvSpPr>
        <p:spPr>
          <a:xfrm>
            <a:off x="651375" y="5773747"/>
            <a:ext cx="6925417" cy="476582"/>
          </a:xfrm>
          <a:prstGeom prst="rect">
            <a:avLst/>
          </a:prstGeom>
          <a:solidFill>
            <a:srgbClr val="FFFFFF"/>
          </a:solidFill>
          <a:ln>
            <a:solidFill>
              <a:srgbClr val="DDDDDD">
                <a:lumMod val="90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1944" tIns="0" rIns="35972" bIns="0" rtlCol="0" anchor="ctr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endParaRPr lang="zh-CN" altLang="en-US" sz="1398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F1FBA60-2F06-4087-A6A2-8A3296EF79D5}"/>
              </a:ext>
            </a:extLst>
          </p:cNvPr>
          <p:cNvSpPr txBox="1"/>
          <p:nvPr/>
        </p:nvSpPr>
        <p:spPr>
          <a:xfrm>
            <a:off x="7770185" y="1024117"/>
            <a:ext cx="4124544" cy="5226213"/>
          </a:xfrm>
          <a:prstGeom prst="rect">
            <a:avLst/>
          </a:prstGeom>
          <a:noFill/>
          <a:ln>
            <a:solidFill>
              <a:srgbClr val="F6B78C"/>
            </a:solidFill>
          </a:ln>
        </p:spPr>
        <p:txBody>
          <a:bodyPr wrap="square" lIns="71944" tIns="0" rIns="35972" bIns="0" rtlCol="0" anchor="ctr">
            <a:noAutofit/>
          </a:bodyPr>
          <a:lstStyle/>
          <a:p>
            <a:pPr defTabSz="913746">
              <a:spcBef>
                <a:spcPts val="600"/>
              </a:spcBef>
              <a:defRPr/>
            </a:pPr>
            <a:endParaRPr lang="zh-CN" altLang="en-US" sz="120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C0D682-C174-48E4-9C8D-9F2C5F658935}"/>
              </a:ext>
            </a:extLst>
          </p:cNvPr>
          <p:cNvSpPr txBox="1"/>
          <p:nvPr/>
        </p:nvSpPr>
        <p:spPr>
          <a:xfrm>
            <a:off x="7766624" y="1466026"/>
            <a:ext cx="4065614" cy="4401936"/>
          </a:xfrm>
          <a:prstGeom prst="rect">
            <a:avLst/>
          </a:prstGeom>
          <a:noFill/>
          <a:ln>
            <a:noFill/>
          </a:ln>
        </p:spPr>
        <p:txBody>
          <a:bodyPr wrap="square" lIns="71944" tIns="0" rIns="35972" bIns="0" rtlCol="0" anchor="ctr">
            <a:noAutofit/>
          </a:bodyPr>
          <a:lstStyle/>
          <a:p>
            <a:pPr marL="228418" indent="-228418" defTabSz="913746">
              <a:lnSpc>
                <a:spcPct val="150000"/>
              </a:lnSpc>
              <a:spcAft>
                <a:spcPts val="600"/>
              </a:spcAft>
              <a:buFontTx/>
              <a:buAutoNum type="arabicPeriod"/>
              <a:defRPr/>
            </a:pP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 </a:t>
            </a:r>
            <a:r>
              <a:rPr lang="zh-CN" altLang="en-US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 </a:t>
            </a: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Interface</a:t>
            </a:r>
            <a:r>
              <a:rPr lang="zh-CN" altLang="en-US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 </a:t>
            </a:r>
            <a:r>
              <a:rPr lang="zh-CN" altLang="en-US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是引擎 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：包括 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Daft 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sglang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lance 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等项目在内，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ML/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数据工具的标准双栈范式，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 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 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 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接入层和能力拓展层，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 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是性能核心层，通过 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PyO3 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等提供 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FFI 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桥接。</a:t>
            </a:r>
            <a:endParaRPr lang="en-US" altLang="zh-CN" sz="12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418" indent="-228418" defTabSz="913746">
              <a:lnSpc>
                <a:spcPct val="150000"/>
              </a:lnSpc>
              <a:spcAft>
                <a:spcPts val="600"/>
              </a:spcAft>
              <a:buFontTx/>
              <a:buAutoNum type="arabicPeriod"/>
              <a:defRPr/>
            </a:pPr>
            <a:r>
              <a:rPr lang="zh-CN" altLang="en-US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社区优化主要针对 </a:t>
            </a: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X86</a:t>
            </a:r>
            <a:r>
              <a:rPr lang="zh-CN" altLang="en-US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b="1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Kenpeng</a:t>
            </a: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Arm </a:t>
            </a:r>
            <a:r>
              <a:rPr lang="zh-CN" altLang="en-US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优化较少：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Daft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Polars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simd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-json 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等库存在大量 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#[cfg(target_arch=x86_64)] 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热路径优化，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arm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目标则通过普通指令实现，依赖下游编译器优化。</a:t>
            </a:r>
            <a:endParaRPr lang="en-US" altLang="zh-CN" sz="1200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418" indent="-228418" defTabSz="913746">
              <a:lnSpc>
                <a:spcPct val="150000"/>
              </a:lnSpc>
              <a:spcAft>
                <a:spcPts val="600"/>
              </a:spcAft>
              <a:buFontTx/>
              <a:buAutoNum type="arabicPeriod"/>
              <a:defRPr/>
            </a:pPr>
            <a:r>
              <a:rPr lang="zh-CN" altLang="en-US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系统基础设施从 </a:t>
            </a: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C/C++ </a:t>
            </a:r>
            <a:r>
              <a:rPr lang="zh-CN" altLang="en-US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 </a:t>
            </a: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 </a:t>
            </a:r>
            <a:r>
              <a:rPr lang="zh-CN" altLang="en-US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迁移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：安全性是 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 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的核心优势，除此之外 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Cargo 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使用体验优于 </a:t>
            </a:r>
            <a:r>
              <a:rPr lang="en-US" altLang="zh-CN" sz="12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Cmake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2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Makefiel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，良好的 过程宏 定义，优秀的 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LSP 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支持，都是吸引社区转向的原因。</a:t>
            </a:r>
            <a:endParaRPr lang="en-US" altLang="zh-CN" sz="12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418" indent="-228418" defTabSz="913746">
              <a:lnSpc>
                <a:spcPct val="150000"/>
              </a:lnSpc>
              <a:spcAft>
                <a:spcPts val="600"/>
              </a:spcAft>
              <a:buFontTx/>
              <a:buAutoNum type="arabicPeriod"/>
              <a:defRPr/>
            </a:pPr>
            <a:r>
              <a:rPr lang="en-US" altLang="zh-CN" sz="1200" b="1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Tokio</a:t>
            </a: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已经成为 </a:t>
            </a: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 </a:t>
            </a:r>
            <a:r>
              <a:rPr lang="zh-CN" altLang="en-US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异步协程事实标准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Daft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axum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CuteSandBox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均大量使用 基于 </a:t>
            </a:r>
            <a:r>
              <a:rPr lang="en-US" altLang="zh-CN" sz="12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tokio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的异步仓库，由于 </a:t>
            </a:r>
            <a:r>
              <a:rPr lang="en-US" altLang="zh-CN" sz="12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asnyc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语法传染性，</a:t>
            </a:r>
            <a:r>
              <a:rPr lang="en-US" altLang="zh-CN" sz="12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Tokio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成为唯一选择。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8370F1F-060F-4F49-B811-AD23FE2B27E1}"/>
              </a:ext>
            </a:extLst>
          </p:cNvPr>
          <p:cNvSpPr txBox="1"/>
          <p:nvPr/>
        </p:nvSpPr>
        <p:spPr>
          <a:xfrm>
            <a:off x="5406113" y="1570155"/>
            <a:ext cx="2158073" cy="2042744"/>
          </a:xfrm>
          <a:prstGeom prst="rect">
            <a:avLst/>
          </a:prstGeom>
          <a:solidFill>
            <a:srgbClr val="FFFFFF"/>
          </a:solidFill>
          <a:ln>
            <a:solidFill>
              <a:srgbClr val="DDDDDD">
                <a:lumMod val="90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1944" tIns="0" rIns="35972" bIns="0" rtlCol="0" anchor="ctr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endParaRPr lang="zh-CN" altLang="en-US" sz="1398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EEEE560-B463-4708-94C6-3FB45C5A464C}"/>
              </a:ext>
            </a:extLst>
          </p:cNvPr>
          <p:cNvSpPr txBox="1"/>
          <p:nvPr/>
        </p:nvSpPr>
        <p:spPr>
          <a:xfrm>
            <a:off x="3122869" y="1570155"/>
            <a:ext cx="2158073" cy="2042744"/>
          </a:xfrm>
          <a:prstGeom prst="rect">
            <a:avLst/>
          </a:prstGeom>
          <a:solidFill>
            <a:srgbClr val="FFFFFF"/>
          </a:solidFill>
          <a:ln>
            <a:solidFill>
              <a:srgbClr val="DDDDDD">
                <a:lumMod val="90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1944" tIns="0" rIns="35972" bIns="0" rtlCol="0" anchor="ctr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endParaRPr lang="zh-CN" altLang="en-US" sz="1398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E8343A4-427A-474D-BCAE-48FA5873CE1C}"/>
              </a:ext>
            </a:extLst>
          </p:cNvPr>
          <p:cNvSpPr txBox="1"/>
          <p:nvPr/>
        </p:nvSpPr>
        <p:spPr>
          <a:xfrm>
            <a:off x="638768" y="1570155"/>
            <a:ext cx="2369381" cy="2042744"/>
          </a:xfrm>
          <a:prstGeom prst="rect">
            <a:avLst/>
          </a:prstGeom>
          <a:solidFill>
            <a:srgbClr val="FFFFFF"/>
          </a:solidFill>
          <a:ln>
            <a:solidFill>
              <a:srgbClr val="DDDDDD">
                <a:lumMod val="90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1944" tIns="0" rIns="35972" bIns="0" rtlCol="0" anchor="ctr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endParaRPr lang="zh-CN" altLang="en-US" sz="1398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130C6C9-8740-4D32-98C4-E2A2FC247EC3}"/>
              </a:ext>
            </a:extLst>
          </p:cNvPr>
          <p:cNvSpPr txBox="1"/>
          <p:nvPr/>
        </p:nvSpPr>
        <p:spPr>
          <a:xfrm>
            <a:off x="638769" y="4221878"/>
            <a:ext cx="6925417" cy="1433213"/>
          </a:xfrm>
          <a:prstGeom prst="rect">
            <a:avLst/>
          </a:prstGeom>
          <a:solidFill>
            <a:srgbClr val="FFFFFF"/>
          </a:solidFill>
          <a:ln>
            <a:solidFill>
              <a:srgbClr val="DDDDDD">
                <a:lumMod val="90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1944" tIns="0" rIns="35972" bIns="0" rtlCol="0" anchor="ctr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endParaRPr lang="zh-CN" altLang="en-US" sz="1398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AB21713B-6E04-4096-A729-D69EB846A24A}"/>
              </a:ext>
            </a:extLst>
          </p:cNvPr>
          <p:cNvSpPr txBox="1"/>
          <p:nvPr/>
        </p:nvSpPr>
        <p:spPr>
          <a:xfrm>
            <a:off x="167053" y="198698"/>
            <a:ext cx="12009132" cy="537128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R="0" lvl="0" indent="0" defTabSz="1184950" fontAlgn="auto">
              <a:lnSpc>
                <a:spcPct val="90000"/>
              </a:lnSpc>
              <a:spcBef>
                <a:spcPts val="1293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398" b="1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</a:defRPr>
            </a:lvl1pPr>
          </a:lstStyle>
          <a:p>
            <a:pPr defTabSz="1184002">
              <a:spcBef>
                <a:spcPts val="1291"/>
              </a:spcBef>
              <a:defRPr/>
            </a:pPr>
            <a:r>
              <a:rPr lang="en-US" altLang="zh-CN" sz="1998" kern="0" dirty="0"/>
              <a:t>Rust</a:t>
            </a:r>
            <a:r>
              <a:rPr lang="zh-CN" altLang="en-US" sz="1998" kern="0" dirty="0"/>
              <a:t>应用场景分析：主要应用集中在极致性能，内存安全，低历史包袱领域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21FDFB0-4793-4511-B2E9-2F3286F62047}"/>
              </a:ext>
            </a:extLst>
          </p:cNvPr>
          <p:cNvSpPr txBox="1"/>
          <p:nvPr/>
        </p:nvSpPr>
        <p:spPr>
          <a:xfrm>
            <a:off x="738899" y="4335532"/>
            <a:ext cx="4305165" cy="1220482"/>
          </a:xfrm>
          <a:prstGeom prst="rect">
            <a:avLst/>
          </a:prstGeom>
          <a:solidFill>
            <a:srgbClr val="61B230">
              <a:lumMod val="20000"/>
              <a:lumOff val="80000"/>
            </a:srgbClr>
          </a:solidFill>
          <a:ln>
            <a:noFill/>
          </a:ln>
        </p:spPr>
        <p:txBody>
          <a:bodyPr wrap="square" lIns="71944" tIns="35972" rIns="35972" bIns="0" rtlCol="0" anchor="t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r>
              <a:rPr lang="en-US" altLang="zh-CN" sz="1200" b="1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Rustlang</a:t>
            </a:r>
            <a:r>
              <a:rPr lang="zh-CN" altLang="en-US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920B VS 9654</a:t>
            </a:r>
            <a:r>
              <a:rPr lang="zh-CN" altLang="en-US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BD4EB24-EAE2-40E2-817C-EFEE3B33BB3C}"/>
              </a:ext>
            </a:extLst>
          </p:cNvPr>
          <p:cNvSpPr txBox="1"/>
          <p:nvPr/>
        </p:nvSpPr>
        <p:spPr>
          <a:xfrm>
            <a:off x="721826" y="1669012"/>
            <a:ext cx="2195045" cy="1864286"/>
          </a:xfrm>
          <a:prstGeom prst="rect">
            <a:avLst/>
          </a:prstGeom>
          <a:solidFill>
            <a:srgbClr val="DFF3D2"/>
          </a:solidFill>
          <a:ln>
            <a:noFill/>
          </a:ln>
        </p:spPr>
        <p:txBody>
          <a:bodyPr wrap="square" lIns="71944" tIns="0" rIns="35972" bIns="0" rtlCol="0" anchor="t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DAFT</a:t>
            </a:r>
            <a:endParaRPr lang="zh-CN" altLang="en-US" sz="12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90573BD-B474-45C3-959F-60C9EDDCC54A}"/>
              </a:ext>
            </a:extLst>
          </p:cNvPr>
          <p:cNvSpPr txBox="1"/>
          <p:nvPr/>
        </p:nvSpPr>
        <p:spPr>
          <a:xfrm>
            <a:off x="3217999" y="1659787"/>
            <a:ext cx="1994775" cy="1873513"/>
          </a:xfrm>
          <a:prstGeom prst="rect">
            <a:avLst/>
          </a:prstGeom>
          <a:solidFill>
            <a:srgbClr val="DFF3D2"/>
          </a:solidFill>
          <a:ln>
            <a:noFill/>
          </a:ln>
        </p:spPr>
        <p:txBody>
          <a:bodyPr wrap="square" lIns="71944" tIns="0" rIns="35972" bIns="0" rtlCol="0" anchor="t">
            <a:noAutofit/>
          </a:bodyPr>
          <a:lstStyle>
            <a:defPPr>
              <a:defRPr lang="en-US"/>
            </a:defPPr>
            <a:lvl1pPr algn="ctr" defTabSz="913746">
              <a:spcBef>
                <a:spcPts val="600"/>
              </a:spcBef>
              <a:defRPr sz="1200" b="1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CubeSandbox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1D5719F-B05E-464E-B7E9-B22B3C506D7C}"/>
              </a:ext>
            </a:extLst>
          </p:cNvPr>
          <p:cNvSpPr txBox="1"/>
          <p:nvPr/>
        </p:nvSpPr>
        <p:spPr>
          <a:xfrm>
            <a:off x="5502044" y="1669015"/>
            <a:ext cx="1976383" cy="186428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71944" tIns="35972" rIns="35972" bIns="0" rtlCol="0" anchor="t">
            <a:noAutofit/>
          </a:bodyPr>
          <a:lstStyle>
            <a:defPPr>
              <a:defRPr lang="zh-CN"/>
            </a:defPPr>
            <a:lvl1pPr marR="0" lvl="0" indent="0" algn="ctr" defTabSz="914112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kern="0" cap="none" spc="0" normalizeH="0" baseline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3746">
              <a:defRPr/>
            </a:pPr>
            <a:r>
              <a:rPr lang="en-US" altLang="zh-CN" dirty="0" err="1"/>
              <a:t>sglang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B4D1D85-6DF4-4B2D-B8BE-62ADA450AF03}"/>
              </a:ext>
            </a:extLst>
          </p:cNvPr>
          <p:cNvSpPr txBox="1"/>
          <p:nvPr/>
        </p:nvSpPr>
        <p:spPr>
          <a:xfrm>
            <a:off x="4946143" y="5839235"/>
            <a:ext cx="2532283" cy="320495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txBody>
          <a:bodyPr wrap="square" lIns="71944" tIns="0" rIns="35972" bIns="0" rtlCol="0" anchor="ctr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r>
              <a:rPr lang="zh-CN" altLang="en-US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</a:t>
            </a: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生态：</a:t>
            </a:r>
            <a:r>
              <a:rPr lang="en-US" altLang="zh-CN" sz="1200" b="1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xuanwu</a:t>
            </a:r>
            <a:r>
              <a:rPr lang="zh-CN" altLang="en-US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内源社区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4EC3B2F-FD2B-4B21-A17B-30512877BF4E}"/>
              </a:ext>
            </a:extLst>
          </p:cNvPr>
          <p:cNvSpPr txBox="1"/>
          <p:nvPr/>
        </p:nvSpPr>
        <p:spPr>
          <a:xfrm>
            <a:off x="24320" y="908768"/>
            <a:ext cx="634006" cy="537128"/>
          </a:xfrm>
          <a:prstGeom prst="rect">
            <a:avLst/>
          </a:prstGeom>
          <a:noFill/>
          <a:ln>
            <a:noFill/>
          </a:ln>
        </p:spPr>
        <p:txBody>
          <a:bodyPr wrap="square" lIns="71944" tIns="0" rIns="35972" bIns="0" rtlCol="0" anchor="ctr">
            <a:noAutofit/>
          </a:bodyPr>
          <a:lstStyle/>
          <a:p>
            <a:pPr algn="ctr" defTabSz="913746">
              <a:defRPr/>
            </a:pPr>
            <a:r>
              <a:rPr lang="zh-CN" altLang="en-US" sz="1598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</a:t>
            </a:r>
            <a:endParaRPr lang="en-US" altLang="zh-CN" sz="1598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3746">
              <a:defRPr/>
            </a:pPr>
            <a:r>
              <a:rPr lang="zh-CN" altLang="en-US" sz="1598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景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34182D3-B982-4648-BAAC-7A156B9327B8}"/>
              </a:ext>
            </a:extLst>
          </p:cNvPr>
          <p:cNvSpPr txBox="1"/>
          <p:nvPr/>
        </p:nvSpPr>
        <p:spPr>
          <a:xfrm>
            <a:off x="24320" y="1757794"/>
            <a:ext cx="634006" cy="1516377"/>
          </a:xfrm>
          <a:prstGeom prst="rect">
            <a:avLst/>
          </a:prstGeom>
          <a:noFill/>
          <a:ln>
            <a:noFill/>
          </a:ln>
        </p:spPr>
        <p:txBody>
          <a:bodyPr wrap="square" lIns="71944" tIns="0" rIns="35972" bIns="0" rtlCol="0" anchor="ctr">
            <a:noAutofit/>
          </a:bodyPr>
          <a:lstStyle/>
          <a:p>
            <a:pPr algn="ctr" defTabSz="913746">
              <a:defRPr/>
            </a:pPr>
            <a:r>
              <a:rPr lang="zh-CN" altLang="en-US" sz="1598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</a:t>
            </a:r>
            <a:endParaRPr lang="en-US" altLang="zh-CN" sz="1598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3746">
              <a:defRPr/>
            </a:pPr>
            <a:r>
              <a:rPr lang="zh-CN" altLang="en-US" sz="1598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endParaRPr lang="en-US" altLang="zh-CN" sz="1598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3746">
              <a:defRPr/>
            </a:pPr>
            <a:r>
              <a:rPr lang="zh-CN" altLang="en-US" sz="1598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</a:t>
            </a:r>
            <a:endParaRPr lang="en-US" altLang="zh-CN" sz="1598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3746">
              <a:defRPr/>
            </a:pPr>
            <a:r>
              <a:rPr lang="zh-CN" altLang="en-US" sz="1598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</a:t>
            </a:r>
            <a:endParaRPr lang="en-US" altLang="zh-CN" sz="1598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F130CBF-7AED-42E7-91F3-64E3D5B4891A}"/>
              </a:ext>
            </a:extLst>
          </p:cNvPr>
          <p:cNvSpPr txBox="1"/>
          <p:nvPr/>
        </p:nvSpPr>
        <p:spPr>
          <a:xfrm>
            <a:off x="24320" y="4355973"/>
            <a:ext cx="634006" cy="1179597"/>
          </a:xfrm>
          <a:prstGeom prst="rect">
            <a:avLst/>
          </a:prstGeom>
          <a:noFill/>
          <a:ln>
            <a:noFill/>
          </a:ln>
        </p:spPr>
        <p:txBody>
          <a:bodyPr vert="eaVert" wrap="square" lIns="71944" tIns="0" rIns="35972" bIns="0" rtlCol="0" anchor="ctr">
            <a:noAutofit/>
          </a:bodyPr>
          <a:lstStyle/>
          <a:p>
            <a:pPr algn="ctr" defTabSz="913746">
              <a:defRPr/>
            </a:pPr>
            <a:r>
              <a:rPr lang="zh-CN" altLang="en-US" sz="1598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标准库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2135DEA-2F35-4F55-89EA-2EED3B6E1A49}"/>
              </a:ext>
            </a:extLst>
          </p:cNvPr>
          <p:cNvSpPr/>
          <p:nvPr/>
        </p:nvSpPr>
        <p:spPr>
          <a:xfrm>
            <a:off x="634180" y="888638"/>
            <a:ext cx="2373968" cy="577388"/>
          </a:xfrm>
          <a:prstGeom prst="rect">
            <a:avLst/>
          </a:prstGeom>
          <a:gradFill>
            <a:gsLst>
              <a:gs pos="0">
                <a:srgbClr val="FFFFFF">
                  <a:lumMod val="85000"/>
                </a:srgbClr>
              </a:gs>
              <a:gs pos="55000">
                <a:srgbClr val="FFFFFF"/>
              </a:gs>
              <a:gs pos="100000">
                <a:srgbClr val="FFFFFF"/>
              </a:gs>
            </a:gsLst>
            <a:lin ang="2700000" scaled="0"/>
          </a:gradFill>
          <a:ln w="317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srgbClr val="1D1D1A">
                <a:alpha val="30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3303">
              <a:defRPr/>
            </a:pPr>
            <a:r>
              <a:rPr lang="en-US" altLang="zh-CN" sz="1398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LLM </a:t>
            </a:r>
            <a:r>
              <a:rPr lang="zh-CN" altLang="en-US" sz="1398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训练数据底座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2C5DB87-27E5-42F6-9082-0FB58A45CDE8}"/>
              </a:ext>
            </a:extLst>
          </p:cNvPr>
          <p:cNvSpPr/>
          <p:nvPr/>
        </p:nvSpPr>
        <p:spPr>
          <a:xfrm>
            <a:off x="3128075" y="888638"/>
            <a:ext cx="2152867" cy="577388"/>
          </a:xfrm>
          <a:prstGeom prst="rect">
            <a:avLst/>
          </a:prstGeom>
          <a:gradFill>
            <a:gsLst>
              <a:gs pos="0">
                <a:srgbClr val="FFFFFF">
                  <a:lumMod val="85000"/>
                </a:srgbClr>
              </a:gs>
              <a:gs pos="55000">
                <a:srgbClr val="FFFFFF"/>
              </a:gs>
              <a:gs pos="100000">
                <a:srgbClr val="FFFFFF"/>
              </a:gs>
            </a:gsLst>
            <a:lin ang="2700000" scaled="0"/>
          </a:gradFill>
          <a:ln w="317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srgbClr val="1D1D1A">
                <a:alpha val="30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3303">
              <a:defRPr/>
            </a:pPr>
            <a:r>
              <a:rPr lang="en-US" altLang="zh-CN" sz="1398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Agent </a:t>
            </a:r>
            <a:r>
              <a:rPr lang="zh-CN" altLang="en-US" sz="1398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沙箱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C80CB2C-5B81-42A3-B1E2-D9BA84BE3DB8}"/>
              </a:ext>
            </a:extLst>
          </p:cNvPr>
          <p:cNvSpPr/>
          <p:nvPr/>
        </p:nvSpPr>
        <p:spPr>
          <a:xfrm>
            <a:off x="5420364" y="888638"/>
            <a:ext cx="2152867" cy="577388"/>
          </a:xfrm>
          <a:prstGeom prst="rect">
            <a:avLst/>
          </a:prstGeom>
          <a:gradFill>
            <a:gsLst>
              <a:gs pos="0">
                <a:srgbClr val="FFFFFF">
                  <a:lumMod val="85000"/>
                </a:srgbClr>
              </a:gs>
              <a:gs pos="55000">
                <a:srgbClr val="FFFFFF"/>
              </a:gs>
              <a:gs pos="100000">
                <a:srgbClr val="FFFFFF"/>
              </a:gs>
            </a:gsLst>
            <a:lin ang="2700000" scaled="0"/>
          </a:gradFill>
          <a:ln w="317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srgbClr val="1D1D1A">
                <a:alpha val="30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3303">
              <a:defRPr/>
            </a:pPr>
            <a:r>
              <a:rPr lang="en-US" altLang="zh-CN" sz="1398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K+X/K+A/</a:t>
            </a:r>
            <a:r>
              <a:rPr lang="zh-CN" altLang="en-US" sz="1398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纯</a:t>
            </a:r>
            <a:r>
              <a:rPr lang="en-US" altLang="zh-CN" sz="1398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K</a:t>
            </a:r>
            <a:r>
              <a:rPr lang="zh-CN" altLang="en-US" sz="1398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推理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D25A055-4E72-48F9-A4C1-EDB3E6374693}"/>
              </a:ext>
            </a:extLst>
          </p:cNvPr>
          <p:cNvSpPr txBox="1"/>
          <p:nvPr/>
        </p:nvSpPr>
        <p:spPr>
          <a:xfrm>
            <a:off x="915421" y="4604292"/>
            <a:ext cx="1151100" cy="864022"/>
          </a:xfrm>
          <a:prstGeom prst="rect">
            <a:avLst/>
          </a:prstGeom>
          <a:solidFill>
            <a:srgbClr val="61B230">
              <a:lumMod val="40000"/>
              <a:lumOff val="60000"/>
            </a:srgbClr>
          </a:solidFill>
          <a:ln>
            <a:noFill/>
          </a:ln>
        </p:spPr>
        <p:txBody>
          <a:bodyPr wrap="square" lIns="71944" tIns="0" rIns="35972" bIns="0" rtlCol="0" anchor="t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endParaRPr lang="zh-CN" altLang="en-US" sz="12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F7D0B5D-F938-460E-B79E-2AA07A697C49}"/>
              </a:ext>
            </a:extLst>
          </p:cNvPr>
          <p:cNvSpPr txBox="1"/>
          <p:nvPr/>
        </p:nvSpPr>
        <p:spPr>
          <a:xfrm>
            <a:off x="816556" y="5051447"/>
            <a:ext cx="1259016" cy="431662"/>
          </a:xfrm>
          <a:prstGeom prst="rect">
            <a:avLst/>
          </a:prstGeom>
          <a:noFill/>
          <a:ln>
            <a:noFill/>
          </a:ln>
        </p:spPr>
        <p:txBody>
          <a:bodyPr wrap="square" lIns="71944" tIns="0" rIns="35972" bIns="0" rtlCol="0" anchor="ctr">
            <a:noAutofit/>
          </a:bodyPr>
          <a:lstStyle/>
          <a:p>
            <a:pPr algn="ctr" defTabSz="913746">
              <a:defRPr/>
            </a:pP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std</a:t>
            </a:r>
          </a:p>
          <a:p>
            <a:pPr algn="ctr" defTabSz="913746">
              <a:defRPr/>
            </a:pPr>
            <a:r>
              <a:rPr lang="zh-CN" altLang="en-US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</a:t>
            </a: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79%</a:t>
            </a:r>
            <a:endParaRPr lang="zh-CN" altLang="en-US" sz="1200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126B187-6B56-4376-BC11-1D9E17125B95}"/>
              </a:ext>
            </a:extLst>
          </p:cNvPr>
          <p:cNvSpPr txBox="1"/>
          <p:nvPr/>
        </p:nvSpPr>
        <p:spPr>
          <a:xfrm>
            <a:off x="2324295" y="4604292"/>
            <a:ext cx="1151100" cy="864022"/>
          </a:xfrm>
          <a:prstGeom prst="rect">
            <a:avLst/>
          </a:prstGeom>
          <a:solidFill>
            <a:srgbClr val="61B230">
              <a:lumMod val="40000"/>
              <a:lumOff val="60000"/>
            </a:srgbClr>
          </a:solidFill>
          <a:ln>
            <a:noFill/>
          </a:ln>
        </p:spPr>
        <p:txBody>
          <a:bodyPr wrap="square" lIns="71944" tIns="0" rIns="35972" bIns="0" rtlCol="0" anchor="t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endParaRPr lang="zh-CN" altLang="en-US" sz="12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E68CFD6-0C06-469B-A7C0-290D4F12A02A}"/>
              </a:ext>
            </a:extLst>
          </p:cNvPr>
          <p:cNvSpPr txBox="1"/>
          <p:nvPr/>
        </p:nvSpPr>
        <p:spPr>
          <a:xfrm>
            <a:off x="844724" y="4618136"/>
            <a:ext cx="1259016" cy="431662"/>
          </a:xfrm>
          <a:prstGeom prst="rect">
            <a:avLst/>
          </a:prstGeom>
          <a:noFill/>
          <a:ln>
            <a:noFill/>
          </a:ln>
        </p:spPr>
        <p:txBody>
          <a:bodyPr wrap="square" lIns="71944" tIns="0" rIns="35972" bIns="0" rtlCol="0" anchor="ctr">
            <a:noAutofit/>
          </a:bodyPr>
          <a:lstStyle/>
          <a:p>
            <a:pPr algn="ctr" defTabSz="913746">
              <a:defRPr/>
            </a:pP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stdbenches</a:t>
            </a:r>
          </a:p>
          <a:p>
            <a:pPr algn="ctr" defTabSz="913746">
              <a:defRPr/>
            </a:pPr>
            <a:r>
              <a:rPr lang="zh-CN" altLang="en-US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</a:t>
            </a: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81%</a:t>
            </a:r>
            <a:endParaRPr lang="zh-CN" altLang="en-US" sz="1200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B3F74E1-DABB-48B2-AE12-6C5D37D25DB7}"/>
              </a:ext>
            </a:extLst>
          </p:cNvPr>
          <p:cNvSpPr txBox="1"/>
          <p:nvPr/>
        </p:nvSpPr>
        <p:spPr>
          <a:xfrm>
            <a:off x="3733172" y="4604293"/>
            <a:ext cx="1151100" cy="864023"/>
          </a:xfrm>
          <a:prstGeom prst="rect">
            <a:avLst/>
          </a:prstGeom>
          <a:solidFill>
            <a:srgbClr val="61B230">
              <a:lumMod val="40000"/>
              <a:lumOff val="60000"/>
            </a:srgbClr>
          </a:solidFill>
          <a:ln>
            <a:noFill/>
          </a:ln>
        </p:spPr>
        <p:txBody>
          <a:bodyPr wrap="square" lIns="71944" tIns="0" rIns="35972" bIns="0" rtlCol="0" anchor="t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endParaRPr lang="zh-CN" altLang="en-US" sz="12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E8F0A97-BF65-45F6-9323-AB155B093CC2}"/>
              </a:ext>
            </a:extLst>
          </p:cNvPr>
          <p:cNvSpPr txBox="1"/>
          <p:nvPr/>
        </p:nvSpPr>
        <p:spPr>
          <a:xfrm>
            <a:off x="2261971" y="4804224"/>
            <a:ext cx="1259016" cy="431662"/>
          </a:xfrm>
          <a:prstGeom prst="rect">
            <a:avLst/>
          </a:prstGeom>
          <a:noFill/>
          <a:ln>
            <a:noFill/>
          </a:ln>
        </p:spPr>
        <p:txBody>
          <a:bodyPr wrap="square" lIns="71944" tIns="0" rIns="35972" bIns="0" rtlCol="0" anchor="ctr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r>
              <a:rPr lang="en-US" altLang="zh-CN" sz="1200" b="1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corebenches</a:t>
            </a:r>
            <a:endParaRPr lang="en-US" altLang="zh-CN" sz="1200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3746">
              <a:spcBef>
                <a:spcPts val="600"/>
              </a:spcBef>
              <a:defRPr/>
            </a:pPr>
            <a:r>
              <a:rPr lang="zh-CN" altLang="en-US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</a:t>
            </a: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78%</a:t>
            </a:r>
            <a:endParaRPr lang="zh-CN" altLang="en-US" sz="1200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13319BF-3D57-47A8-B0F6-D0CCF1F33470}"/>
              </a:ext>
            </a:extLst>
          </p:cNvPr>
          <p:cNvSpPr txBox="1"/>
          <p:nvPr/>
        </p:nvSpPr>
        <p:spPr>
          <a:xfrm>
            <a:off x="3655649" y="4997524"/>
            <a:ext cx="1259016" cy="431662"/>
          </a:xfrm>
          <a:prstGeom prst="rect">
            <a:avLst/>
          </a:prstGeom>
          <a:noFill/>
          <a:ln>
            <a:noFill/>
          </a:ln>
        </p:spPr>
        <p:txBody>
          <a:bodyPr wrap="square" lIns="71944" tIns="0" rIns="35972" bIns="0" rtlCol="0" anchor="ctr">
            <a:noAutofit/>
          </a:bodyPr>
          <a:lstStyle/>
          <a:p>
            <a:pPr algn="ctr" defTabSz="913746">
              <a:defRPr/>
            </a:pP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allocbenches</a:t>
            </a:r>
          </a:p>
          <a:p>
            <a:pPr algn="ctr" defTabSz="913746">
              <a:defRPr/>
            </a:pPr>
            <a:r>
              <a:rPr lang="zh-CN" altLang="en-US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</a:t>
            </a: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86%</a:t>
            </a:r>
            <a:endParaRPr lang="zh-CN" altLang="en-US" sz="1200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4841B59-A11F-4FFA-ACC1-318EDD49841C}"/>
              </a:ext>
            </a:extLst>
          </p:cNvPr>
          <p:cNvSpPr txBox="1"/>
          <p:nvPr/>
        </p:nvSpPr>
        <p:spPr>
          <a:xfrm>
            <a:off x="3661506" y="4604294"/>
            <a:ext cx="1259016" cy="431662"/>
          </a:xfrm>
          <a:prstGeom prst="rect">
            <a:avLst/>
          </a:prstGeom>
          <a:noFill/>
          <a:ln>
            <a:noFill/>
          </a:ln>
        </p:spPr>
        <p:txBody>
          <a:bodyPr wrap="square" lIns="71944" tIns="0" rIns="35972" bIns="0" rtlCol="0" anchor="ctr">
            <a:noAutofit/>
          </a:bodyPr>
          <a:lstStyle/>
          <a:p>
            <a:pPr algn="ctr" defTabSz="913746">
              <a:defRPr/>
            </a:pP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alloctests</a:t>
            </a:r>
          </a:p>
          <a:p>
            <a:pPr algn="ctr" defTabSz="913746">
              <a:defRPr/>
            </a:pPr>
            <a:r>
              <a:rPr lang="zh-CN" altLang="en-US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</a:t>
            </a: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89%</a:t>
            </a:r>
            <a:endParaRPr lang="zh-CN" altLang="en-US" sz="1200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613D61A-4345-4761-8096-A5D57FD3E3C6}"/>
              </a:ext>
            </a:extLst>
          </p:cNvPr>
          <p:cNvSpPr txBox="1"/>
          <p:nvPr/>
        </p:nvSpPr>
        <p:spPr>
          <a:xfrm>
            <a:off x="5571740" y="1946771"/>
            <a:ext cx="1845749" cy="186155"/>
          </a:xfrm>
          <a:prstGeom prst="rect">
            <a:avLst/>
          </a:prstGeom>
          <a:solidFill>
            <a:srgbClr val="FEFEFF"/>
          </a:solidFill>
          <a:ln>
            <a:noFill/>
          </a:ln>
        </p:spPr>
        <p:txBody>
          <a:bodyPr wrap="square" lIns="71944" tIns="35972" rIns="35972" bIns="0" rtlCol="0" anchor="ctr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r>
              <a:rPr lang="en-US" altLang="zh-CN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占比</a:t>
            </a:r>
            <a:r>
              <a:rPr lang="en-US" altLang="zh-CN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73.3%</a:t>
            </a:r>
            <a:endParaRPr lang="zh-CN" altLang="en-US" sz="10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0F53CB0-175E-4130-A9D2-6CF98BFBBABE}"/>
              </a:ext>
            </a:extLst>
          </p:cNvPr>
          <p:cNvSpPr txBox="1"/>
          <p:nvPr/>
        </p:nvSpPr>
        <p:spPr>
          <a:xfrm>
            <a:off x="5571740" y="2172727"/>
            <a:ext cx="1845749" cy="186155"/>
          </a:xfrm>
          <a:prstGeom prst="rect">
            <a:avLst/>
          </a:prstGeom>
          <a:solidFill>
            <a:srgbClr val="FEFEFF"/>
          </a:solidFill>
          <a:ln>
            <a:noFill/>
          </a:ln>
        </p:spPr>
        <p:txBody>
          <a:bodyPr wrap="square" lIns="71944" tIns="35972" rIns="35972" bIns="0" rtlCol="0" anchor="ctr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r>
              <a:rPr lang="en-US" altLang="zh-CN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占比</a:t>
            </a:r>
            <a:r>
              <a:rPr lang="en-US" altLang="zh-CN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15.2%</a:t>
            </a:r>
            <a:endParaRPr lang="zh-CN" altLang="en-US" sz="10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839B11E-711F-4C10-80E1-194728B9A70F}"/>
              </a:ext>
            </a:extLst>
          </p:cNvPr>
          <p:cNvSpPr txBox="1"/>
          <p:nvPr/>
        </p:nvSpPr>
        <p:spPr>
          <a:xfrm>
            <a:off x="3292512" y="1946771"/>
            <a:ext cx="1845749" cy="186155"/>
          </a:xfrm>
          <a:prstGeom prst="rect">
            <a:avLst/>
          </a:prstGeom>
          <a:solidFill>
            <a:srgbClr val="BEE7A6"/>
          </a:solidFill>
          <a:ln>
            <a:noFill/>
          </a:ln>
        </p:spPr>
        <p:txBody>
          <a:bodyPr wrap="square" lIns="71944" tIns="35972" rIns="35972" bIns="0" rtlCol="0" anchor="ctr">
            <a:noAutofit/>
          </a:bodyPr>
          <a:lstStyle>
            <a:defPPr>
              <a:defRPr lang="en-US"/>
            </a:defPPr>
            <a:lvl1pPr algn="ctr" defTabSz="913746">
              <a:spcBef>
                <a:spcPts val="600"/>
              </a:spcBef>
              <a:defRPr sz="1000" b="1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Python</a:t>
            </a:r>
            <a:r>
              <a:rPr lang="zh-CN" altLang="en-US" dirty="0"/>
              <a:t>占比 </a:t>
            </a:r>
            <a:r>
              <a:rPr lang="en-US" altLang="zh-CN" dirty="0"/>
              <a:t>2.4%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FEE176C-3DBD-483E-B147-80155A8E33EC}"/>
              </a:ext>
            </a:extLst>
          </p:cNvPr>
          <p:cNvSpPr txBox="1"/>
          <p:nvPr/>
        </p:nvSpPr>
        <p:spPr>
          <a:xfrm>
            <a:off x="3292512" y="2178146"/>
            <a:ext cx="1845749" cy="186155"/>
          </a:xfrm>
          <a:prstGeom prst="rect">
            <a:avLst/>
          </a:prstGeom>
          <a:solidFill>
            <a:srgbClr val="BEE7A6"/>
          </a:solidFill>
          <a:ln>
            <a:noFill/>
          </a:ln>
        </p:spPr>
        <p:txBody>
          <a:bodyPr wrap="square" lIns="71944" tIns="35972" rIns="35972" bIns="0" rtlCol="0" anchor="ctr">
            <a:noAutofit/>
          </a:bodyPr>
          <a:lstStyle>
            <a:defPPr>
              <a:defRPr lang="en-US"/>
            </a:defPPr>
            <a:lvl1pPr algn="ctr" defTabSz="913746">
              <a:spcBef>
                <a:spcPts val="600"/>
              </a:spcBef>
              <a:defRPr sz="1000" b="1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Rust</a:t>
            </a:r>
            <a:r>
              <a:rPr lang="zh-CN" altLang="en-US" dirty="0"/>
              <a:t>占比 </a:t>
            </a:r>
            <a:r>
              <a:rPr lang="en-US" altLang="zh-CN" dirty="0"/>
              <a:t>33.4%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545AB19-45B1-40C0-858B-300BC01986F6}"/>
              </a:ext>
            </a:extLst>
          </p:cNvPr>
          <p:cNvSpPr txBox="1"/>
          <p:nvPr/>
        </p:nvSpPr>
        <p:spPr>
          <a:xfrm>
            <a:off x="889590" y="1942592"/>
            <a:ext cx="1845749" cy="186155"/>
          </a:xfrm>
          <a:prstGeom prst="rect">
            <a:avLst/>
          </a:prstGeom>
          <a:solidFill>
            <a:srgbClr val="BEE7A6"/>
          </a:solidFill>
          <a:ln>
            <a:noFill/>
          </a:ln>
        </p:spPr>
        <p:txBody>
          <a:bodyPr wrap="square" lIns="71944" tIns="35972" rIns="35972" bIns="0" rtlCol="0" anchor="ctr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r>
              <a:rPr lang="en-US" altLang="zh-CN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占比</a:t>
            </a:r>
            <a:r>
              <a:rPr lang="en-US" altLang="zh-CN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54.7%</a:t>
            </a:r>
            <a:endParaRPr lang="zh-CN" altLang="en-US" sz="10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3F67925-37BD-40CA-930C-DFBF639F6CF8}"/>
              </a:ext>
            </a:extLst>
          </p:cNvPr>
          <p:cNvSpPr txBox="1"/>
          <p:nvPr/>
        </p:nvSpPr>
        <p:spPr>
          <a:xfrm>
            <a:off x="889590" y="2178146"/>
            <a:ext cx="1845749" cy="186155"/>
          </a:xfrm>
          <a:prstGeom prst="rect">
            <a:avLst/>
          </a:prstGeom>
          <a:solidFill>
            <a:srgbClr val="BEE7A6"/>
          </a:solidFill>
          <a:ln>
            <a:noFill/>
          </a:ln>
        </p:spPr>
        <p:txBody>
          <a:bodyPr wrap="square" lIns="71944" tIns="35972" rIns="35972" bIns="0" rtlCol="0" anchor="ctr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r>
              <a:rPr lang="en-US" altLang="zh-CN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占比</a:t>
            </a:r>
            <a:r>
              <a:rPr lang="en-US" altLang="zh-CN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27.0%</a:t>
            </a:r>
            <a:endParaRPr lang="zh-CN" altLang="en-US" sz="10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5011C92-0040-489D-BBE1-F9E45BB86D3F}"/>
              </a:ext>
            </a:extLst>
          </p:cNvPr>
          <p:cNvSpPr txBox="1"/>
          <p:nvPr/>
        </p:nvSpPr>
        <p:spPr>
          <a:xfrm>
            <a:off x="5571740" y="2403985"/>
            <a:ext cx="1845749" cy="1037386"/>
          </a:xfrm>
          <a:prstGeom prst="rect">
            <a:avLst/>
          </a:prstGeom>
          <a:solidFill>
            <a:srgbClr val="FEFEFF"/>
          </a:solidFill>
          <a:ln>
            <a:noFill/>
          </a:ln>
        </p:spPr>
        <p:txBody>
          <a:bodyPr wrap="square" lIns="71944" tIns="0" rIns="35972" bIns="0" rtlCol="0" anchor="t">
            <a:noAutofit/>
          </a:bodyPr>
          <a:lstStyle/>
          <a:p>
            <a:pPr defTabSz="913746"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代码比例</a:t>
            </a:r>
            <a:r>
              <a:rPr lang="zh-CN" altLang="en-US" sz="11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呈上升趋势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，选择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重构核心路由性能敏感模块，路由处理速度相比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1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</a:t>
            </a:r>
            <a:r>
              <a:rPr lang="en-US" altLang="zh-CN" sz="11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1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倍。</a:t>
            </a:r>
            <a:endParaRPr lang="en-US" altLang="zh-CN" sz="1100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79AFC282-333B-4900-99B3-3EA92B19E582}"/>
              </a:ext>
            </a:extLst>
          </p:cNvPr>
          <p:cNvSpPr txBox="1"/>
          <p:nvPr/>
        </p:nvSpPr>
        <p:spPr>
          <a:xfrm>
            <a:off x="3292512" y="2410763"/>
            <a:ext cx="1845749" cy="1037386"/>
          </a:xfrm>
          <a:prstGeom prst="rect">
            <a:avLst/>
          </a:prstGeom>
          <a:solidFill>
            <a:srgbClr val="BEE7A6"/>
          </a:solidFill>
          <a:ln>
            <a:noFill/>
          </a:ln>
        </p:spPr>
        <p:txBody>
          <a:bodyPr wrap="square" lIns="71944" tIns="0" rIns="35972" bIns="0" rtlCol="0" anchor="t">
            <a:noAutofit/>
          </a:bodyPr>
          <a:lstStyle>
            <a:defPPr>
              <a:defRPr lang="en-US"/>
            </a:defPPr>
            <a:lvl1pPr defTabSz="913746">
              <a:lnSpc>
                <a:spcPct val="150000"/>
              </a:lnSpc>
              <a:spcAft>
                <a:spcPts val="600"/>
              </a:spcAft>
              <a:defRPr sz="110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 err="1"/>
              <a:t>CubeSanbox</a:t>
            </a:r>
            <a:r>
              <a:rPr lang="en-US" altLang="zh-CN" dirty="0"/>
              <a:t> </a:t>
            </a:r>
            <a:r>
              <a:rPr lang="zh-CN" altLang="en-US" dirty="0"/>
              <a:t>是腾讯云开发的 </a:t>
            </a:r>
            <a:r>
              <a:rPr lang="en-US" altLang="zh-CN" dirty="0"/>
              <a:t>AI Agent </a:t>
            </a:r>
            <a:r>
              <a:rPr lang="zh-CN" altLang="en-US" dirty="0"/>
              <a:t>安全沙箱，用于构建 </a:t>
            </a:r>
            <a:r>
              <a:rPr lang="en-US" altLang="zh-CN" dirty="0" err="1"/>
              <a:t>MicroVM</a:t>
            </a:r>
            <a:r>
              <a:rPr lang="en-US" altLang="zh-CN" dirty="0"/>
              <a:t> </a:t>
            </a:r>
            <a:r>
              <a:rPr lang="zh-CN" altLang="en-US" dirty="0"/>
              <a:t>，</a:t>
            </a:r>
            <a:r>
              <a:rPr lang="zh-CN" altLang="en-US" b="1" dirty="0"/>
              <a:t>防止 </a:t>
            </a:r>
            <a:r>
              <a:rPr lang="en-US" altLang="zh-CN" b="1" dirty="0"/>
              <a:t>AI Agent </a:t>
            </a:r>
            <a:r>
              <a:rPr lang="zh-CN" altLang="en-US" b="1" dirty="0"/>
              <a:t>逃逸。</a:t>
            </a:r>
            <a:endParaRPr lang="en-US" altLang="zh-CN" b="1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5552E75-7C66-4DF5-8870-89F21DA204FD}"/>
              </a:ext>
            </a:extLst>
          </p:cNvPr>
          <p:cNvSpPr txBox="1"/>
          <p:nvPr/>
        </p:nvSpPr>
        <p:spPr>
          <a:xfrm>
            <a:off x="889590" y="2410763"/>
            <a:ext cx="1845749" cy="1037386"/>
          </a:xfrm>
          <a:prstGeom prst="rect">
            <a:avLst/>
          </a:prstGeom>
          <a:solidFill>
            <a:srgbClr val="BEE7A6"/>
          </a:solidFill>
          <a:ln>
            <a:noFill/>
          </a:ln>
        </p:spPr>
        <p:txBody>
          <a:bodyPr wrap="square" lIns="71944" tIns="0" rIns="35972" bIns="0" rtlCol="0" anchor="t">
            <a:noAutofit/>
          </a:bodyPr>
          <a:lstStyle/>
          <a:p>
            <a:pPr defTabSz="913746">
              <a:lnSpc>
                <a:spcPct val="150000"/>
              </a:lnSpc>
              <a:spcAft>
                <a:spcPts val="600"/>
              </a:spcAft>
              <a:defRPr/>
            </a:pP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互联网在大规模数据处理存在由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PySpark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1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PyFlink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转向使用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Daft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趋势，有明显</a:t>
            </a:r>
            <a:r>
              <a:rPr lang="zh-CN" altLang="en-US" sz="11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性能收益以及易用性提升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100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8C94DB5-1168-4BF4-BC0F-C00F20650A78}"/>
              </a:ext>
            </a:extLst>
          </p:cNvPr>
          <p:cNvSpPr/>
          <p:nvPr/>
        </p:nvSpPr>
        <p:spPr>
          <a:xfrm>
            <a:off x="7902048" y="1024118"/>
            <a:ext cx="3992680" cy="371418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746">
              <a:spcAft>
                <a:spcPts val="600"/>
              </a:spcAft>
              <a:defRPr/>
            </a:pPr>
            <a:r>
              <a:rPr lang="zh-CN" altLang="en-US" sz="1598" b="1" kern="0" dirty="0">
                <a:solidFill>
                  <a:srgbClr val="C700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</a:t>
            </a:r>
            <a:r>
              <a:rPr lang="en-US" altLang="zh-CN" sz="1598" b="1" kern="0" dirty="0">
                <a:solidFill>
                  <a:srgbClr val="C700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 </a:t>
            </a:r>
            <a:r>
              <a:rPr lang="zh-CN" altLang="en-US" sz="1598" b="1" kern="0" dirty="0">
                <a:solidFill>
                  <a:srgbClr val="C700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语言应用场景和演化趋势</a:t>
            </a:r>
            <a:endParaRPr lang="en-US" altLang="zh-CN" sz="1598" b="1" kern="0" dirty="0">
              <a:solidFill>
                <a:srgbClr val="C7000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53EFE07-93BD-44B2-8748-73E8AA6D7F52}"/>
              </a:ext>
            </a:extLst>
          </p:cNvPr>
          <p:cNvSpPr txBox="1"/>
          <p:nvPr/>
        </p:nvSpPr>
        <p:spPr>
          <a:xfrm>
            <a:off x="738899" y="5852221"/>
            <a:ext cx="1890383" cy="320495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txBody>
          <a:bodyPr wrap="square" lIns="71944" tIns="0" rIns="35972" bIns="0" rtlCol="0" anchor="ctr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生态：原生社区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824E236-6094-4BCC-B0D0-11862D7F0B7C}"/>
              </a:ext>
            </a:extLst>
          </p:cNvPr>
          <p:cNvSpPr txBox="1"/>
          <p:nvPr/>
        </p:nvSpPr>
        <p:spPr>
          <a:xfrm>
            <a:off x="31587" y="5669361"/>
            <a:ext cx="634006" cy="685354"/>
          </a:xfrm>
          <a:prstGeom prst="rect">
            <a:avLst/>
          </a:prstGeom>
          <a:noFill/>
          <a:ln>
            <a:noFill/>
          </a:ln>
        </p:spPr>
        <p:txBody>
          <a:bodyPr wrap="square" lIns="71944" tIns="0" rIns="35972" bIns="0" rtlCol="0" anchor="ctr">
            <a:noAutofit/>
          </a:bodyPr>
          <a:lstStyle/>
          <a:p>
            <a:pPr algn="ctr" defTabSz="913746">
              <a:defRPr/>
            </a:pPr>
            <a:r>
              <a:rPr lang="zh-CN" altLang="en-US" sz="1598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</a:t>
            </a:r>
            <a:endParaRPr lang="en-US" altLang="zh-CN" sz="1598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3746">
              <a:defRPr/>
            </a:pPr>
            <a:r>
              <a:rPr lang="zh-CN" altLang="en-US" sz="1598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态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A90810A-D090-40A7-9EB3-6045D8D6C9C2}"/>
              </a:ext>
            </a:extLst>
          </p:cNvPr>
          <p:cNvSpPr txBox="1"/>
          <p:nvPr/>
        </p:nvSpPr>
        <p:spPr>
          <a:xfrm>
            <a:off x="2769195" y="5851671"/>
            <a:ext cx="2045734" cy="320495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txBody>
          <a:bodyPr wrap="square" lIns="71944" tIns="0" rIns="35972" bIns="0" rtlCol="0" anchor="ctr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r>
              <a:rPr lang="zh-CN" altLang="en-US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</a:t>
            </a: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生态：旋武社区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11159684-84C3-4986-95B2-59AC3509C437}"/>
              </a:ext>
            </a:extLst>
          </p:cNvPr>
          <p:cNvSpPr txBox="1"/>
          <p:nvPr/>
        </p:nvSpPr>
        <p:spPr>
          <a:xfrm>
            <a:off x="24320" y="3429000"/>
            <a:ext cx="634006" cy="901582"/>
          </a:xfrm>
          <a:prstGeom prst="rect">
            <a:avLst/>
          </a:prstGeom>
          <a:noFill/>
          <a:ln>
            <a:noFill/>
          </a:ln>
        </p:spPr>
        <p:txBody>
          <a:bodyPr wrap="square" lIns="71944" tIns="0" rIns="35972" bIns="0" rtlCol="0" anchor="ctr">
            <a:noAutofit/>
          </a:bodyPr>
          <a:lstStyle/>
          <a:p>
            <a:pPr algn="ctr" defTabSz="913746">
              <a:defRPr/>
            </a:pPr>
            <a:r>
              <a:rPr lang="zh-CN" altLang="en-US" sz="1598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</a:t>
            </a:r>
            <a:endParaRPr lang="en-US" altLang="zh-CN" sz="1598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3746">
              <a:defRPr/>
            </a:pPr>
            <a:r>
              <a:rPr lang="zh-CN" altLang="en-US" sz="1598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础</a:t>
            </a:r>
            <a:endParaRPr lang="en-US" altLang="zh-CN" sz="1598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3746">
              <a:defRPr/>
            </a:pPr>
            <a:r>
              <a:rPr lang="zh-CN" altLang="en-US" sz="1598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F7E4226B-2ED8-46DC-9AEF-57B774E12093}"/>
              </a:ext>
            </a:extLst>
          </p:cNvPr>
          <p:cNvSpPr txBox="1"/>
          <p:nvPr/>
        </p:nvSpPr>
        <p:spPr>
          <a:xfrm>
            <a:off x="2270509" y="3788019"/>
            <a:ext cx="1685118" cy="240590"/>
          </a:xfrm>
          <a:prstGeom prst="rect">
            <a:avLst/>
          </a:prstGeom>
          <a:solidFill>
            <a:srgbClr val="BEE7A6"/>
          </a:solidFill>
          <a:ln>
            <a:noFill/>
          </a:ln>
        </p:spPr>
        <p:txBody>
          <a:bodyPr wrap="square" lIns="71944" tIns="35972" rIns="35972" bIns="0" rtlCol="0" anchor="ctr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r>
              <a:rPr lang="zh-CN" altLang="en-US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跨语言接口 </a:t>
            </a:r>
            <a:r>
              <a:rPr lang="en-US" altLang="zh-CN" sz="1000" b="1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xFFI</a:t>
            </a:r>
            <a:r>
              <a:rPr lang="en-US" altLang="zh-CN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/PyO3</a:t>
            </a:r>
            <a:endParaRPr lang="zh-CN" altLang="en-US" sz="10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1EDD8465-68E8-4DD3-961E-E6D41A1A9D9A}"/>
              </a:ext>
            </a:extLst>
          </p:cNvPr>
          <p:cNvSpPr txBox="1"/>
          <p:nvPr/>
        </p:nvSpPr>
        <p:spPr>
          <a:xfrm>
            <a:off x="738899" y="3783244"/>
            <a:ext cx="1459970" cy="240590"/>
          </a:xfrm>
          <a:prstGeom prst="rect">
            <a:avLst/>
          </a:prstGeom>
          <a:solidFill>
            <a:srgbClr val="BEE7A6"/>
          </a:solidFill>
          <a:ln>
            <a:noFill/>
          </a:ln>
        </p:spPr>
        <p:txBody>
          <a:bodyPr wrap="square" lIns="71944" tIns="35972" rIns="35972" bIns="0" rtlCol="0" anchor="ctr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r>
              <a:rPr lang="zh-CN" altLang="en-US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协程</a:t>
            </a:r>
            <a:r>
              <a:rPr lang="en-US" altLang="zh-CN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异步</a:t>
            </a:r>
            <a:r>
              <a:rPr lang="en-US" altLang="zh-CN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 </a:t>
            </a:r>
            <a:r>
              <a:rPr lang="en-US" altLang="zh-CN" sz="1000" b="1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tokio</a:t>
            </a:r>
            <a:endParaRPr lang="zh-CN" altLang="en-US" sz="10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8D3EE0E-0457-4778-B859-601908C49779}"/>
              </a:ext>
            </a:extLst>
          </p:cNvPr>
          <p:cNvSpPr txBox="1"/>
          <p:nvPr/>
        </p:nvSpPr>
        <p:spPr>
          <a:xfrm>
            <a:off x="4027267" y="3785545"/>
            <a:ext cx="1685118" cy="240590"/>
          </a:xfrm>
          <a:prstGeom prst="rect">
            <a:avLst/>
          </a:prstGeom>
          <a:solidFill>
            <a:srgbClr val="BEE7A6"/>
          </a:solidFill>
          <a:ln>
            <a:noFill/>
          </a:ln>
        </p:spPr>
        <p:txBody>
          <a:bodyPr wrap="square" lIns="71944" tIns="35972" rIns="35972" bIns="0" rtlCol="0" anchor="ctr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r>
              <a:rPr lang="en-US" altLang="zh-CN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 </a:t>
            </a:r>
            <a:r>
              <a:rPr lang="zh-CN" altLang="en-US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 </a:t>
            </a:r>
            <a:r>
              <a:rPr lang="en-US" altLang="zh-CN" sz="1000" b="1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Pingora</a:t>
            </a:r>
            <a:r>
              <a:rPr lang="en-US" altLang="zh-CN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000" b="1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axum</a:t>
            </a:r>
            <a:endParaRPr lang="zh-CN" altLang="en-US" sz="10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7F588F3A-214C-470F-B155-64E9B65F038B}"/>
              </a:ext>
            </a:extLst>
          </p:cNvPr>
          <p:cNvSpPr txBox="1"/>
          <p:nvPr/>
        </p:nvSpPr>
        <p:spPr>
          <a:xfrm>
            <a:off x="5784025" y="3782764"/>
            <a:ext cx="1685118" cy="240590"/>
          </a:xfrm>
          <a:prstGeom prst="rect">
            <a:avLst/>
          </a:prstGeom>
          <a:solidFill>
            <a:srgbClr val="BEE7A6"/>
          </a:solidFill>
          <a:ln>
            <a:noFill/>
          </a:ln>
        </p:spPr>
        <p:txBody>
          <a:bodyPr wrap="square" lIns="71944" tIns="35972" rIns="35972" bIns="0" rtlCol="0" anchor="ctr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r>
              <a:rPr lang="zh-CN" altLang="en-US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 </a:t>
            </a:r>
            <a:r>
              <a:rPr lang="en-US" altLang="zh-CN" sz="10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Lance/</a:t>
            </a:r>
            <a:r>
              <a:rPr lang="en-US" altLang="zh-CN" sz="1000" b="1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TiKV</a:t>
            </a:r>
            <a:endParaRPr lang="zh-CN" altLang="en-US" sz="10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8C34F3C9-B8C8-4AE9-AF1C-15F840E4B47B}"/>
              </a:ext>
            </a:extLst>
          </p:cNvPr>
          <p:cNvSpPr txBox="1"/>
          <p:nvPr/>
        </p:nvSpPr>
        <p:spPr>
          <a:xfrm>
            <a:off x="5114761" y="4341439"/>
            <a:ext cx="2289147" cy="1220482"/>
          </a:xfrm>
          <a:prstGeom prst="rect">
            <a:avLst/>
          </a:prstGeom>
          <a:solidFill>
            <a:srgbClr val="61B230">
              <a:lumMod val="20000"/>
              <a:lumOff val="80000"/>
            </a:srgbClr>
          </a:solidFill>
          <a:ln>
            <a:noFill/>
          </a:ln>
        </p:spPr>
        <p:txBody>
          <a:bodyPr wrap="square" lIns="71944" tIns="35972" rIns="35972" bIns="0" rtlCol="0" anchor="t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r>
              <a:rPr lang="zh-CN" altLang="en-US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向量指令支持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47EF6DD-EBE0-4511-9E8D-EBDE3A15F569}"/>
              </a:ext>
            </a:extLst>
          </p:cNvPr>
          <p:cNvSpPr txBox="1"/>
          <p:nvPr/>
        </p:nvSpPr>
        <p:spPr>
          <a:xfrm>
            <a:off x="5198722" y="4671548"/>
            <a:ext cx="1059838" cy="864022"/>
          </a:xfrm>
          <a:prstGeom prst="rect">
            <a:avLst/>
          </a:prstGeom>
          <a:solidFill>
            <a:srgbClr val="61B230">
              <a:lumMod val="40000"/>
              <a:lumOff val="60000"/>
            </a:srgbClr>
          </a:solidFill>
          <a:ln>
            <a:noFill/>
          </a:ln>
        </p:spPr>
        <p:txBody>
          <a:bodyPr wrap="square" lIns="71944" tIns="0" rIns="35972" bIns="0" rtlCol="0" anchor="ctr" anchorCtr="1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r>
              <a:rPr lang="zh-CN" altLang="en-US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自适应</a:t>
            </a:r>
            <a:r>
              <a:rPr lang="en-US" altLang="zh-CN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SIMD</a:t>
            </a:r>
          </a:p>
          <a:p>
            <a:pPr algn="ctr" defTabSz="913746">
              <a:spcBef>
                <a:spcPts val="600"/>
              </a:spcBef>
              <a:defRPr/>
            </a:pP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std::</a:t>
            </a:r>
            <a:r>
              <a:rPr lang="en-US" altLang="zh-CN" sz="1200" b="1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simd</a:t>
            </a:r>
            <a:b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b="1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llvm</a:t>
            </a: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endParaRPr lang="en-US" altLang="zh-CN" sz="12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8E38421A-6D4D-4175-A058-334FB1F55D02}"/>
              </a:ext>
            </a:extLst>
          </p:cNvPr>
          <p:cNvSpPr txBox="1"/>
          <p:nvPr/>
        </p:nvSpPr>
        <p:spPr>
          <a:xfrm>
            <a:off x="6307689" y="4671548"/>
            <a:ext cx="1059838" cy="864022"/>
          </a:xfrm>
          <a:prstGeom prst="rect">
            <a:avLst/>
          </a:prstGeom>
          <a:solidFill>
            <a:srgbClr val="61B230">
              <a:lumMod val="40000"/>
              <a:lumOff val="60000"/>
            </a:srgbClr>
          </a:solidFill>
          <a:ln>
            <a:noFill/>
          </a:ln>
        </p:spPr>
        <p:txBody>
          <a:bodyPr wrap="square" lIns="71944" tIns="0" rIns="35972" bIns="0" rtlCol="0" anchor="ctr" anchorCtr="1">
            <a:noAutofit/>
          </a:bodyPr>
          <a:lstStyle/>
          <a:p>
            <a:pPr algn="ctr" defTabSz="913746">
              <a:spcBef>
                <a:spcPts val="600"/>
              </a:spcBef>
              <a:defRPr/>
            </a:pPr>
            <a:r>
              <a:rPr lang="zh-CN" altLang="en-US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手工适应</a:t>
            </a:r>
            <a:r>
              <a:rPr lang="en-US" altLang="zh-CN" sz="11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SIMD</a:t>
            </a:r>
          </a:p>
          <a:p>
            <a:pPr algn="ctr" defTabSz="913746">
              <a:spcBef>
                <a:spcPts val="600"/>
              </a:spcBef>
              <a:defRPr/>
            </a:pP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std::arch</a:t>
            </a:r>
            <a:b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b="1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asm</a:t>
            </a:r>
            <a:r>
              <a:rPr lang="en-US" altLang="zh-CN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  <a:endParaRPr lang="zh-CN" altLang="en-US" sz="12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80861815-A57C-4B12-B2A8-72FC5A1CC82A}"/>
              </a:ext>
            </a:extLst>
          </p:cNvPr>
          <p:cNvSpPr txBox="1"/>
          <p:nvPr/>
        </p:nvSpPr>
        <p:spPr>
          <a:xfrm>
            <a:off x="578544" y="6574270"/>
            <a:ext cx="644945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生态目标：聚焦字节</a:t>
            </a:r>
            <a:r>
              <a:rPr lang="en-US" altLang="zh-CN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腾讯等</a:t>
            </a:r>
            <a:r>
              <a:rPr lang="en-US" altLang="zh-CN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</a:t>
            </a:r>
            <a:r>
              <a:rPr lang="zh-CN" altLang="en-US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客户自有或优选的基础</a:t>
            </a:r>
            <a:r>
              <a:rPr lang="en-US" altLang="zh-CN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项目，投入贡献鲲鹏亲和特性</a:t>
            </a:r>
            <a:r>
              <a:rPr lang="en-US" altLang="zh-CN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endParaRPr lang="en-US" altLang="zh-CN" sz="12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1565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0843282F-4B33-47E8-8945-B71ECF1B1A2F}"/>
              </a:ext>
            </a:extLst>
          </p:cNvPr>
          <p:cNvSpPr/>
          <p:nvPr/>
        </p:nvSpPr>
        <p:spPr>
          <a:xfrm>
            <a:off x="528125" y="6192959"/>
            <a:ext cx="3515007" cy="579864"/>
          </a:xfrm>
          <a:prstGeom prst="rect">
            <a:avLst/>
          </a:prstGeom>
          <a:solidFill>
            <a:schemeClr val="tx2"/>
          </a:solidFill>
          <a:ln>
            <a:solidFill>
              <a:schemeClr val="bg1">
                <a:lumMod val="20000"/>
                <a:lumOff val="8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9BFCE46-2BF2-4CCB-85BB-61209485C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 dirty="0"/>
              <a:t>以 </a:t>
            </a:r>
            <a:r>
              <a:rPr lang="en-US" altLang="zh-CN" sz="2400" dirty="0"/>
              <a:t>Daft + Lance </a:t>
            </a:r>
            <a:r>
              <a:rPr lang="zh-CN" altLang="en-US" sz="2400" dirty="0"/>
              <a:t>场景为主导，提升 </a:t>
            </a:r>
            <a:r>
              <a:rPr lang="en-US" altLang="zh-CN" sz="2400" dirty="0"/>
              <a:t>Rust </a:t>
            </a:r>
            <a:r>
              <a:rPr lang="zh-CN" altLang="en-US" sz="2400" dirty="0"/>
              <a:t>软件开箱性能表现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A82D6ED-933C-450D-A8B2-F0AA3A417EAB}"/>
              </a:ext>
            </a:extLst>
          </p:cNvPr>
          <p:cNvSpPr/>
          <p:nvPr/>
        </p:nvSpPr>
        <p:spPr>
          <a:xfrm>
            <a:off x="478724" y="851746"/>
            <a:ext cx="706020" cy="1086679"/>
          </a:xfrm>
          <a:prstGeom prst="rect">
            <a:avLst/>
          </a:prstGeom>
          <a:solidFill>
            <a:srgbClr val="C7000A"/>
          </a:solidFill>
          <a:ln w="3175" cap="flat">
            <a:noFill/>
            <a:miter lim="400000"/>
          </a:ln>
          <a:effectLst/>
        </p:spPr>
        <p:txBody>
          <a:bodyPr wrap="square" lIns="35944" tIns="35944" rIns="35944" bIns="35944" numCol="1" anchor="ctr">
            <a:noAutofit/>
          </a:bodyPr>
          <a:lstStyle/>
          <a:p>
            <a:pPr marL="0" marR="0" lvl="0" indent="0" algn="ctr" defTabSz="171825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/>
              </a:rPr>
              <a:t>生态</a:t>
            </a:r>
            <a:endParaRPr kumimoji="0" lang="en-US" altLang="zh-CN" sz="1599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Calibri"/>
            </a:endParaRPr>
          </a:p>
          <a:p>
            <a:pPr marL="0" marR="0" lvl="0" indent="0" algn="ctr" defTabSz="171825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/>
              </a:rPr>
              <a:t>目标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E336F49-83D9-4894-BAD7-F300B48E8F90}"/>
              </a:ext>
            </a:extLst>
          </p:cNvPr>
          <p:cNvSpPr/>
          <p:nvPr/>
        </p:nvSpPr>
        <p:spPr>
          <a:xfrm>
            <a:off x="1216949" y="851746"/>
            <a:ext cx="10501089" cy="1086679"/>
          </a:xfrm>
          <a:prstGeom prst="rect">
            <a:avLst/>
          </a:prstGeom>
          <a:solidFill>
            <a:srgbClr val="FFFFFF">
              <a:lumMod val="95000"/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42900" marR="0" lvl="0" indent="-342900" algn="l" defTabSz="914034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提升训练数据预处理场景开箱性能，实现相对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AMD 9755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性能提升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7%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，相对优化前版本自提升约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10%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1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7F0000">
                  <a:lumMod val="60000"/>
                  <a:lumOff val="4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034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联合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2012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编译器实验室，发布内嵌 </a:t>
            </a:r>
            <a:r>
              <a:rPr kumimoji="1" lang="en-US" altLang="zh-CN" sz="1400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openEuler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 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LLVM 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 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编译工具链，增强编译后端针对 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Kunpeng 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亲和。</a:t>
            </a:r>
            <a:endParaRPr kumimoji="1" lang="en-US" altLang="zh-CN" sz="1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034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加强和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/>
              </a:rPr>
              <a:t>公共开发部合作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，提升华为在社区关键特性参与度，全技术栈有效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issue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提交数量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以上，代码合入数量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5KLoc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以上。逐步推进参与重要特性设计和构建，从源头开始布局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Kunpeng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亲和性。</a:t>
            </a:r>
            <a:endParaRPr kumimoji="1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7F0000">
                  <a:lumMod val="60000"/>
                  <a:lumOff val="4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CC93A25-EF48-4A41-B4E5-C0FB002282F9}"/>
              </a:ext>
            </a:extLst>
          </p:cNvPr>
          <p:cNvSpPr/>
          <p:nvPr/>
        </p:nvSpPr>
        <p:spPr>
          <a:xfrm>
            <a:off x="6130934" y="2024460"/>
            <a:ext cx="5587104" cy="2006744"/>
          </a:xfrm>
          <a:prstGeom prst="rect">
            <a:avLst/>
          </a:prstGeom>
          <a:solidFill>
            <a:srgbClr val="FAFAFA"/>
          </a:solidFill>
          <a:ln w="9525" cap="flat" cmpd="sng" algn="ctr">
            <a:gradFill flip="none" rotWithShape="1">
              <a:gsLst>
                <a:gs pos="94000">
                  <a:srgbClr val="FFFFFF"/>
                </a:gs>
                <a:gs pos="100000">
                  <a:srgbClr val="C7000B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108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挑战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5DE689E-D049-40C8-AD7D-88CA60A67C8E}"/>
              </a:ext>
            </a:extLst>
          </p:cNvPr>
          <p:cNvSpPr/>
          <p:nvPr/>
        </p:nvSpPr>
        <p:spPr>
          <a:xfrm>
            <a:off x="6142746" y="4127687"/>
            <a:ext cx="5587104" cy="2691806"/>
          </a:xfrm>
          <a:prstGeom prst="rect">
            <a:avLst/>
          </a:prstGeom>
          <a:solidFill>
            <a:srgbClr val="FAFAFA"/>
          </a:solidFill>
          <a:ln w="9525" cap="flat" cmpd="sng" algn="ctr">
            <a:gradFill flip="none" rotWithShape="1">
              <a:gsLst>
                <a:gs pos="94000">
                  <a:srgbClr val="FFFFFF"/>
                </a:gs>
                <a:gs pos="100000">
                  <a:srgbClr val="C7000B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108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关键措施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8B2DF6A-8CA4-4F0D-83C4-180CB9FEC892}"/>
              </a:ext>
            </a:extLst>
          </p:cNvPr>
          <p:cNvSpPr txBox="1"/>
          <p:nvPr/>
        </p:nvSpPr>
        <p:spPr>
          <a:xfrm>
            <a:off x="6225221" y="4442239"/>
            <a:ext cx="5356512" cy="23772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基于 </a:t>
            </a:r>
            <a:r>
              <a:rPr kumimoji="1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Daft+Lance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场景，通过调用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SVE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优化 </a:t>
            </a:r>
            <a:r>
              <a:rPr kumimoji="1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xxHash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/ Gather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等实现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，发挥架构优势提升性能。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针对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SVE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场景手写 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asm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导致破坏内存安全，适配不同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困难问题，开发 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simd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功能封装仓库，供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Daft / Lance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优化使用。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使能 </a:t>
            </a:r>
            <a:r>
              <a:rPr kumimoji="1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CuteSandbox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Kunpeng CPU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上表现，优化沙箱密度，启动时间等关键参数。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编译器修改直接合入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Xuanwu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社区，逐步向上游合入。并发布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Xuanwu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社区版本 </a:t>
            </a:r>
            <a:r>
              <a:rPr kumimoji="1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Rustc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，内置 </a:t>
            </a:r>
            <a:r>
              <a:rPr kumimoji="1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openEuler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版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LLVM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，方便用户使用。</a:t>
            </a:r>
          </a:p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优先对标准库，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pyo3/FFI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等跨语言混合编程中高频使用的功能优化，使尽可能多场景受益。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EE7C1BB-CB45-4F94-91C3-1B3F5AD365C9}"/>
              </a:ext>
            </a:extLst>
          </p:cNvPr>
          <p:cNvSpPr txBox="1"/>
          <p:nvPr/>
        </p:nvSpPr>
        <p:spPr>
          <a:xfrm>
            <a:off x="9139582" y="66261"/>
            <a:ext cx="2897809" cy="307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需要承载关键技术的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8E1B1C2-8B6C-4694-9B02-3EB5D8AEFDB2}"/>
              </a:ext>
            </a:extLst>
          </p:cNvPr>
          <p:cNvSpPr/>
          <p:nvPr/>
        </p:nvSpPr>
        <p:spPr>
          <a:xfrm>
            <a:off x="539557" y="2024460"/>
            <a:ext cx="1617385" cy="45854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多模态数据湖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52FFE72-A7AA-4195-A47B-DE8EEBEB19CA}"/>
              </a:ext>
            </a:extLst>
          </p:cNvPr>
          <p:cNvSpPr/>
          <p:nvPr/>
        </p:nvSpPr>
        <p:spPr>
          <a:xfrm>
            <a:off x="4097552" y="2026999"/>
            <a:ext cx="1957814" cy="4560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特征工程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3DF9BC1-066B-42C8-8B70-2872606D5C87}"/>
              </a:ext>
            </a:extLst>
          </p:cNvPr>
          <p:cNvSpPr/>
          <p:nvPr/>
        </p:nvSpPr>
        <p:spPr>
          <a:xfrm>
            <a:off x="2240303" y="2030247"/>
            <a:ext cx="1792607" cy="45600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OS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基础设施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8025B44A-6E29-42BE-BA24-1B2115B7EDBF}"/>
              </a:ext>
            </a:extLst>
          </p:cNvPr>
          <p:cNvSpPr/>
          <p:nvPr/>
        </p:nvSpPr>
        <p:spPr>
          <a:xfrm>
            <a:off x="112005" y="2518814"/>
            <a:ext cx="366719" cy="683021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应用库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5499FEF7-A5A5-406E-B9E9-25236F3B4625}"/>
              </a:ext>
            </a:extLst>
          </p:cNvPr>
          <p:cNvSpPr/>
          <p:nvPr/>
        </p:nvSpPr>
        <p:spPr>
          <a:xfrm>
            <a:off x="539557" y="2518814"/>
            <a:ext cx="5519850" cy="68302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6B039AF4-5152-4304-9927-3BC98D4A17A7}"/>
              </a:ext>
            </a:extLst>
          </p:cNvPr>
          <p:cNvSpPr/>
          <p:nvPr/>
        </p:nvSpPr>
        <p:spPr>
          <a:xfrm>
            <a:off x="671526" y="2664794"/>
            <a:ext cx="1210174" cy="4155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Daft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1D91D253-2948-4911-A0CA-30C0CC30295D}"/>
              </a:ext>
            </a:extLst>
          </p:cNvPr>
          <p:cNvSpPr/>
          <p:nvPr/>
        </p:nvSpPr>
        <p:spPr>
          <a:xfrm>
            <a:off x="2012901" y="2664794"/>
            <a:ext cx="1210174" cy="4155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Lance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C2193252-AB63-430F-A3BD-2B0823A8D7A3}"/>
              </a:ext>
            </a:extLst>
          </p:cNvPr>
          <p:cNvSpPr/>
          <p:nvPr/>
        </p:nvSpPr>
        <p:spPr>
          <a:xfrm>
            <a:off x="3354276" y="2664794"/>
            <a:ext cx="1210174" cy="4155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CubeSandbox</a:t>
            </a:r>
            <a:endParaRPr lang="zh-CN" altLang="en-US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462D76F8-A3BC-4C45-BEEB-4E66A64550F3}"/>
              </a:ext>
            </a:extLst>
          </p:cNvPr>
          <p:cNvGrpSpPr/>
          <p:nvPr/>
        </p:nvGrpSpPr>
        <p:grpSpPr>
          <a:xfrm>
            <a:off x="108841" y="4043674"/>
            <a:ext cx="5957451" cy="1203972"/>
            <a:chOff x="175643" y="2720450"/>
            <a:chExt cx="5848293" cy="1042911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3A56C169-20E8-46D4-BC88-1CD8DBA87834}"/>
                </a:ext>
              </a:extLst>
            </p:cNvPr>
            <p:cNvSpPr/>
            <p:nvPr/>
          </p:nvSpPr>
          <p:spPr>
            <a:xfrm>
              <a:off x="610434" y="2729985"/>
              <a:ext cx="5413502" cy="1033376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4" name="矩形 19">
              <a:extLst>
                <a:ext uri="{FF2B5EF4-FFF2-40B4-BE49-F238E27FC236}">
                  <a16:creationId xmlns:a16="http://schemas.microsoft.com/office/drawing/2014/main" id="{85701E3A-8C53-46A2-A6BB-041670E9C111}"/>
                </a:ext>
              </a:extLst>
            </p:cNvPr>
            <p:cNvSpPr/>
            <p:nvPr/>
          </p:nvSpPr>
          <p:spPr>
            <a:xfrm>
              <a:off x="686241" y="3102552"/>
              <a:ext cx="5289456" cy="267349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rustc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27311D24-9AB7-4506-8183-CB782CE30EE0}"/>
                </a:ext>
              </a:extLst>
            </p:cNvPr>
            <p:cNvSpPr/>
            <p:nvPr/>
          </p:nvSpPr>
          <p:spPr>
            <a:xfrm>
              <a:off x="2019385" y="2793224"/>
              <a:ext cx="1260000" cy="25121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std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92482E79-B929-40EC-8BA2-D0024D5767F8}"/>
                </a:ext>
              </a:extLst>
            </p:cNvPr>
            <p:cNvSpPr/>
            <p:nvPr/>
          </p:nvSpPr>
          <p:spPr>
            <a:xfrm>
              <a:off x="677361" y="2793224"/>
              <a:ext cx="1260000" cy="25121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core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431918BA-79FE-431C-B5AE-1800CFFE1CAC}"/>
                </a:ext>
              </a:extLst>
            </p:cNvPr>
            <p:cNvSpPr/>
            <p:nvPr/>
          </p:nvSpPr>
          <p:spPr>
            <a:xfrm>
              <a:off x="3361409" y="2793224"/>
              <a:ext cx="1260000" cy="24047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alloc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8" name="矩形 23">
              <a:extLst>
                <a:ext uri="{FF2B5EF4-FFF2-40B4-BE49-F238E27FC236}">
                  <a16:creationId xmlns:a16="http://schemas.microsoft.com/office/drawing/2014/main" id="{7A47E57F-956D-4C77-AEEF-E9279635BBBF}"/>
                </a:ext>
              </a:extLst>
            </p:cNvPr>
            <p:cNvSpPr/>
            <p:nvPr/>
          </p:nvSpPr>
          <p:spPr>
            <a:xfrm>
              <a:off x="673980" y="3434463"/>
              <a:ext cx="5289455" cy="23145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llvm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14A23242-114C-4B2D-80C9-A4D7846B9960}"/>
                </a:ext>
              </a:extLst>
            </p:cNvPr>
            <p:cNvSpPr/>
            <p:nvPr/>
          </p:nvSpPr>
          <p:spPr>
            <a:xfrm>
              <a:off x="175643" y="2720450"/>
              <a:ext cx="360000" cy="1033377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编译器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BB61C143-6F4C-49D8-AC26-74B10AB578F5}"/>
                </a:ext>
              </a:extLst>
            </p:cNvPr>
            <p:cNvSpPr/>
            <p:nvPr/>
          </p:nvSpPr>
          <p:spPr>
            <a:xfrm>
              <a:off x="4703434" y="2793224"/>
              <a:ext cx="1260000" cy="24047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algn="ctr"/>
              <a:r>
                <a:rPr lang="en-US" altLang="zh-CN" sz="1100" dirty="0" err="1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simd</a:t>
              </a:r>
              <a:endPara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241B6FCB-6E35-4434-816F-6BF20DAC5978}"/>
              </a:ext>
            </a:extLst>
          </p:cNvPr>
          <p:cNvGrpSpPr/>
          <p:nvPr/>
        </p:nvGrpSpPr>
        <p:grpSpPr>
          <a:xfrm>
            <a:off x="106869" y="3291420"/>
            <a:ext cx="5959423" cy="712566"/>
            <a:chOff x="178915" y="1723962"/>
            <a:chExt cx="5850229" cy="617244"/>
          </a:xfrm>
        </p:grpSpPr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70B4DF74-4E18-43E3-9095-AC90B46EAB98}"/>
                </a:ext>
              </a:extLst>
            </p:cNvPr>
            <p:cNvSpPr/>
            <p:nvPr/>
          </p:nvSpPr>
          <p:spPr>
            <a:xfrm>
              <a:off x="610434" y="1729225"/>
              <a:ext cx="5418710" cy="611981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F6E29D2F-DD7E-48A5-99DD-F7CED4CD9BF0}"/>
                </a:ext>
              </a:extLst>
            </p:cNvPr>
            <p:cNvSpPr/>
            <p:nvPr/>
          </p:nvSpPr>
          <p:spPr>
            <a:xfrm>
              <a:off x="178915" y="1723962"/>
              <a:ext cx="360000" cy="611919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基础库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46F68B82-F9C9-4502-8D4B-8BBF6E811E8A}"/>
                </a:ext>
              </a:extLst>
            </p:cNvPr>
            <p:cNvSpPr/>
            <p:nvPr/>
          </p:nvSpPr>
          <p:spPr>
            <a:xfrm>
              <a:off x="2785375" y="1777583"/>
              <a:ext cx="954190" cy="396000"/>
            </a:xfrm>
            <a:prstGeom prst="rect">
              <a:avLst/>
            </a:prstGeom>
            <a:solidFill>
              <a:schemeClr val="tx2">
                <a:lumMod val="85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algn="ctr"/>
              <a:r>
                <a:rPr lang="en-US" altLang="zh-CN" sz="11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arrow-</a:t>
              </a:r>
              <a:r>
                <a:rPr lang="en-US" altLang="zh-CN" sz="1100" dirty="0" err="1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rs</a:t>
              </a:r>
              <a:endPara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4C1CB769-232D-4749-B14D-52245827CAE6}"/>
                </a:ext>
              </a:extLst>
            </p:cNvPr>
            <p:cNvSpPr/>
            <p:nvPr/>
          </p:nvSpPr>
          <p:spPr>
            <a:xfrm>
              <a:off x="1730759" y="1777583"/>
              <a:ext cx="954190" cy="396000"/>
            </a:xfrm>
            <a:prstGeom prst="rect">
              <a:avLst/>
            </a:prstGeom>
            <a:solidFill>
              <a:schemeClr val="tx2">
                <a:lumMod val="85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algn="ctr"/>
              <a:r>
                <a:rPr lang="en-US" altLang="zh-CN" sz="11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parquet</a:t>
              </a: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2818E018-FD41-4230-86FC-43CFA0A596B0}"/>
                </a:ext>
              </a:extLst>
            </p:cNvPr>
            <p:cNvSpPr/>
            <p:nvPr/>
          </p:nvSpPr>
          <p:spPr>
            <a:xfrm>
              <a:off x="3839990" y="1777583"/>
              <a:ext cx="954190" cy="396000"/>
            </a:xfrm>
            <a:prstGeom prst="rect">
              <a:avLst/>
            </a:prstGeom>
            <a:solidFill>
              <a:schemeClr val="tx2">
                <a:lumMod val="85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algn="ctr"/>
              <a:r>
                <a:rPr lang="en-US" altLang="zh-CN" sz="11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snap</a:t>
              </a: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A7EC34DF-D81E-4CD7-996B-EF6236261478}"/>
                </a:ext>
              </a:extLst>
            </p:cNvPr>
            <p:cNvSpPr/>
            <p:nvPr/>
          </p:nvSpPr>
          <p:spPr>
            <a:xfrm>
              <a:off x="4894606" y="1777583"/>
              <a:ext cx="954190" cy="396000"/>
            </a:xfrm>
            <a:prstGeom prst="rect">
              <a:avLst/>
            </a:prstGeom>
            <a:solidFill>
              <a:schemeClr val="tx2">
                <a:lumMod val="85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algn="ctr"/>
              <a:r>
                <a:rPr lang="en-US" altLang="zh-CN" sz="1100" dirty="0" err="1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tokio</a:t>
              </a:r>
              <a:endPara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E2D3F94B-49CB-4DC9-9769-EB48CAB52662}"/>
                </a:ext>
              </a:extLst>
            </p:cNvPr>
            <p:cNvSpPr/>
            <p:nvPr/>
          </p:nvSpPr>
          <p:spPr>
            <a:xfrm>
              <a:off x="676143" y="1777583"/>
              <a:ext cx="954190" cy="396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pyo3</a:t>
              </a:r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77C14780-CA41-4A5F-A1BE-C2B7A12B943F}"/>
              </a:ext>
            </a:extLst>
          </p:cNvPr>
          <p:cNvGrpSpPr/>
          <p:nvPr/>
        </p:nvGrpSpPr>
        <p:grpSpPr>
          <a:xfrm>
            <a:off x="87864" y="5282475"/>
            <a:ext cx="5976058" cy="706424"/>
            <a:chOff x="175643" y="4197837"/>
            <a:chExt cx="5866559" cy="611922"/>
          </a:xfrm>
        </p:grpSpPr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C58B4086-6B35-44EB-AD59-B6519CE09C97}"/>
                </a:ext>
              </a:extLst>
            </p:cNvPr>
            <p:cNvSpPr/>
            <p:nvPr/>
          </p:nvSpPr>
          <p:spPr>
            <a:xfrm>
              <a:off x="610434" y="4197837"/>
              <a:ext cx="5431768" cy="611919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6C9662AA-EC2B-4B6C-AA57-5FAA4EB8FF6D}"/>
                </a:ext>
              </a:extLst>
            </p:cNvPr>
            <p:cNvSpPr/>
            <p:nvPr/>
          </p:nvSpPr>
          <p:spPr>
            <a:xfrm>
              <a:off x="175643" y="4197840"/>
              <a:ext cx="360000" cy="611919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eaVert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生态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1" name="矩形 23">
              <a:extLst>
                <a:ext uri="{FF2B5EF4-FFF2-40B4-BE49-F238E27FC236}">
                  <a16:creationId xmlns:a16="http://schemas.microsoft.com/office/drawing/2014/main" id="{EDF2E525-1A7B-49BA-BAC5-0515A5967D0D}"/>
                </a:ext>
              </a:extLst>
            </p:cNvPr>
            <p:cNvSpPr/>
            <p:nvPr/>
          </p:nvSpPr>
          <p:spPr>
            <a:xfrm>
              <a:off x="4468889" y="4266917"/>
              <a:ext cx="1494543" cy="427323"/>
            </a:xfrm>
            <a:prstGeom prst="rect">
              <a:avLst/>
            </a:prstGeom>
            <a:solidFill>
              <a:schemeClr val="tx2">
                <a:lumMod val="85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algn="ctr"/>
              <a:r>
                <a:rPr lang="en-US" altLang="zh-CN" sz="110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Xuanwu </a:t>
              </a:r>
              <a:r>
                <a:rPr lang="zh-CN" altLang="en-US" sz="110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社区</a:t>
              </a:r>
              <a:endPara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矩形 23">
              <a:extLst>
                <a:ext uri="{FF2B5EF4-FFF2-40B4-BE49-F238E27FC236}">
                  <a16:creationId xmlns:a16="http://schemas.microsoft.com/office/drawing/2014/main" id="{1F9270CB-1724-4A40-BD6C-31691860026E}"/>
                </a:ext>
              </a:extLst>
            </p:cNvPr>
            <p:cNvSpPr/>
            <p:nvPr/>
          </p:nvSpPr>
          <p:spPr>
            <a:xfrm>
              <a:off x="2572517" y="4266917"/>
              <a:ext cx="1485921" cy="427323"/>
            </a:xfrm>
            <a:prstGeom prst="rect">
              <a:avLst/>
            </a:prstGeom>
            <a:solidFill>
              <a:schemeClr val="tx2">
                <a:lumMod val="85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algn="ctr"/>
              <a:r>
                <a:rPr lang="en-US" altLang="zh-CN" sz="110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Rust</a:t>
              </a:r>
              <a:r>
                <a:rPr lang="zh-CN" altLang="en-US" sz="110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基金会</a:t>
              </a:r>
              <a:endPara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矩形 23">
              <a:extLst>
                <a:ext uri="{FF2B5EF4-FFF2-40B4-BE49-F238E27FC236}">
                  <a16:creationId xmlns:a16="http://schemas.microsoft.com/office/drawing/2014/main" id="{1ED99435-D386-4B8A-AA62-D9E924D95DE8}"/>
                </a:ext>
              </a:extLst>
            </p:cNvPr>
            <p:cNvSpPr/>
            <p:nvPr/>
          </p:nvSpPr>
          <p:spPr>
            <a:xfrm>
              <a:off x="676145" y="4266917"/>
              <a:ext cx="1485921" cy="427323"/>
            </a:xfrm>
            <a:prstGeom prst="rect">
              <a:avLst/>
            </a:prstGeom>
            <a:solidFill>
              <a:schemeClr val="tx2">
                <a:lumMod val="85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algn="ctr"/>
              <a:r>
                <a:rPr lang="en-US" altLang="zh-CN" sz="11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Rust </a:t>
              </a:r>
              <a:r>
                <a:rPr lang="zh-CN" altLang="en-US" sz="11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原生社区</a:t>
              </a:r>
              <a:endPara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7" name="矩形 96">
            <a:extLst>
              <a:ext uri="{FF2B5EF4-FFF2-40B4-BE49-F238E27FC236}">
                <a16:creationId xmlns:a16="http://schemas.microsoft.com/office/drawing/2014/main" id="{110ECED4-650A-4148-8463-70E7BFF52904}"/>
              </a:ext>
            </a:extLst>
          </p:cNvPr>
          <p:cNvSpPr/>
          <p:nvPr/>
        </p:nvSpPr>
        <p:spPr>
          <a:xfrm>
            <a:off x="4695651" y="2664794"/>
            <a:ext cx="1210174" cy="415596"/>
          </a:xfrm>
          <a:prstGeom prst="rect">
            <a:avLst/>
          </a:prstGeom>
          <a:solidFill>
            <a:schemeClr val="tx2">
              <a:lumMod val="8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tokenizers</a:t>
            </a: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CEADF6F9-2F4C-42C0-8701-FBEB9EEFE28C}"/>
              </a:ext>
            </a:extLst>
          </p:cNvPr>
          <p:cNvSpPr txBox="1"/>
          <p:nvPr/>
        </p:nvSpPr>
        <p:spPr>
          <a:xfrm>
            <a:off x="6225221" y="2405974"/>
            <a:ext cx="5356512" cy="15350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开源社区性能敏感场景主要针对 </a:t>
            </a:r>
            <a:r>
              <a:rPr kumimoji="1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x86 </a:t>
            </a:r>
            <a:r>
              <a:rPr kumimoji="1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架构性能优化，字节</a:t>
            </a:r>
            <a:r>
              <a:rPr kumimoji="1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LAS</a:t>
            </a:r>
            <a:r>
              <a:rPr kumimoji="1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场景的</a:t>
            </a:r>
            <a:r>
              <a:rPr kumimoji="1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Benchmark</a:t>
            </a:r>
            <a:r>
              <a:rPr kumimoji="1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1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950 </a:t>
            </a:r>
            <a:r>
              <a:rPr kumimoji="1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处理时间是 </a:t>
            </a:r>
            <a:r>
              <a:rPr kumimoji="1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9654 </a:t>
            </a:r>
            <a:r>
              <a:rPr kumimoji="1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的约 </a:t>
            </a:r>
            <a:r>
              <a:rPr kumimoji="1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1.42 </a:t>
            </a:r>
            <a:r>
              <a:rPr kumimoji="1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倍。</a:t>
            </a:r>
            <a:endParaRPr kumimoji="1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 </a:t>
            </a:r>
            <a:r>
              <a:rPr kumimoji="1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使用 </a:t>
            </a:r>
            <a:r>
              <a:rPr kumimoji="1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LLVM </a:t>
            </a:r>
            <a:r>
              <a:rPr kumimoji="1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社区版本，当前 </a:t>
            </a:r>
            <a:r>
              <a:rPr kumimoji="1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Euler </a:t>
            </a:r>
            <a:r>
              <a:rPr kumimoji="1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社区版 </a:t>
            </a:r>
            <a:r>
              <a:rPr kumimoji="1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LLVM </a:t>
            </a:r>
            <a:r>
              <a:rPr kumimoji="1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需要手工替换，影响用户使用意愿。</a:t>
            </a:r>
            <a:endParaRPr kumimoji="1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当前应用场景，用户使用场景差异较大，如字节</a:t>
            </a:r>
            <a:r>
              <a:rPr kumimoji="1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LAS</a:t>
            </a:r>
            <a:r>
              <a:rPr kumimoji="1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使用本地</a:t>
            </a:r>
            <a:r>
              <a:rPr kumimoji="1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GPU</a:t>
            </a:r>
            <a:r>
              <a:rPr kumimoji="1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做推导，而基模产线则通过</a:t>
            </a:r>
            <a:r>
              <a:rPr kumimoji="1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RPC</a:t>
            </a:r>
            <a:r>
              <a:rPr kumimoji="1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调用外部服务，导致性能优化通用性差。</a:t>
            </a:r>
            <a:endParaRPr kumimoji="1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ABF1824-5439-45B5-851E-86AD50053852}"/>
              </a:ext>
            </a:extLst>
          </p:cNvPr>
          <p:cNvSpPr/>
          <p:nvPr/>
        </p:nvSpPr>
        <p:spPr>
          <a:xfrm>
            <a:off x="7939669" y="48954"/>
            <a:ext cx="1145962" cy="2705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隋致远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v3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B7BE643-8785-4FCF-9C73-9A9708F91F86}"/>
              </a:ext>
            </a:extLst>
          </p:cNvPr>
          <p:cNvSpPr txBox="1"/>
          <p:nvPr/>
        </p:nvSpPr>
        <p:spPr>
          <a:xfrm>
            <a:off x="671526" y="2618952"/>
            <a:ext cx="23083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F0000">
                    <a:lumMod val="60000"/>
                    <a:lumOff val="4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①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7334B71-BDE5-4B52-AE78-F458C5CA2192}"/>
              </a:ext>
            </a:extLst>
          </p:cNvPr>
          <p:cNvSpPr txBox="1"/>
          <p:nvPr/>
        </p:nvSpPr>
        <p:spPr>
          <a:xfrm>
            <a:off x="2041526" y="2631575"/>
            <a:ext cx="23083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F0000">
                    <a:lumMod val="60000"/>
                    <a:lumOff val="4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③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4FEB22FF-25B9-46D8-BD8F-482880C25CF1}"/>
              </a:ext>
            </a:extLst>
          </p:cNvPr>
          <p:cNvSpPr txBox="1"/>
          <p:nvPr/>
        </p:nvSpPr>
        <p:spPr>
          <a:xfrm>
            <a:off x="567936" y="4658209"/>
            <a:ext cx="23083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F0000">
                    <a:lumMod val="60000"/>
                    <a:lumOff val="4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④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599E2F46-8142-4E2B-BADA-A3C1DB76FE3F}"/>
              </a:ext>
            </a:extLst>
          </p:cNvPr>
          <p:cNvSpPr txBox="1"/>
          <p:nvPr/>
        </p:nvSpPr>
        <p:spPr>
          <a:xfrm>
            <a:off x="628969" y="3333450"/>
            <a:ext cx="23083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>
                <a:solidFill>
                  <a:srgbClr val="7F0000">
                    <a:lumMod val="60000"/>
                    <a:lumOff val="4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⑤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7F0000">
                  <a:lumMod val="60000"/>
                  <a:lumOff val="40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3" name="矩形 23">
            <a:extLst>
              <a:ext uri="{FF2B5EF4-FFF2-40B4-BE49-F238E27FC236}">
                <a16:creationId xmlns:a16="http://schemas.microsoft.com/office/drawing/2014/main" id="{F4A9B30A-ED11-401C-9B86-71F38870222D}"/>
              </a:ext>
            </a:extLst>
          </p:cNvPr>
          <p:cNvSpPr/>
          <p:nvPr/>
        </p:nvSpPr>
        <p:spPr>
          <a:xfrm>
            <a:off x="591925" y="6271151"/>
            <a:ext cx="1095753" cy="40745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合入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OpenEuler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社区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D813D66-A7B5-432A-A838-7ED05EEE0420}"/>
              </a:ext>
            </a:extLst>
          </p:cNvPr>
          <p:cNvSpPr txBox="1"/>
          <p:nvPr/>
        </p:nvSpPr>
        <p:spPr>
          <a:xfrm>
            <a:off x="217783" y="6413644"/>
            <a:ext cx="41118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图例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E98AB29-4CED-44DC-ADB9-075D376D5891}"/>
              </a:ext>
            </a:extLst>
          </p:cNvPr>
          <p:cNvSpPr/>
          <p:nvPr/>
        </p:nvSpPr>
        <p:spPr>
          <a:xfrm>
            <a:off x="2765769" y="6316965"/>
            <a:ext cx="1556509" cy="264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0" name="矩形 23">
            <a:extLst>
              <a:ext uri="{FF2B5EF4-FFF2-40B4-BE49-F238E27FC236}">
                <a16:creationId xmlns:a16="http://schemas.microsoft.com/office/drawing/2014/main" id="{66B68BC9-844C-4D5E-A2EC-AEF1917E1520}"/>
              </a:ext>
            </a:extLst>
          </p:cNvPr>
          <p:cNvSpPr/>
          <p:nvPr/>
        </p:nvSpPr>
        <p:spPr>
          <a:xfrm>
            <a:off x="1740640" y="6279166"/>
            <a:ext cx="1095753" cy="40745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合入原生社区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1" name="矩形 23">
            <a:extLst>
              <a:ext uri="{FF2B5EF4-FFF2-40B4-BE49-F238E27FC236}">
                <a16:creationId xmlns:a16="http://schemas.microsoft.com/office/drawing/2014/main" id="{15850043-8835-4C91-8203-BE5F5356A3A9}"/>
              </a:ext>
            </a:extLst>
          </p:cNvPr>
          <p:cNvSpPr/>
          <p:nvPr/>
        </p:nvSpPr>
        <p:spPr>
          <a:xfrm>
            <a:off x="2889355" y="6279165"/>
            <a:ext cx="1095753" cy="4074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合入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Xuanwu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社区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CE940567-FB5B-4745-A335-2C15F3DEB083}"/>
              </a:ext>
            </a:extLst>
          </p:cNvPr>
          <p:cNvSpPr txBox="1"/>
          <p:nvPr/>
        </p:nvSpPr>
        <p:spPr>
          <a:xfrm>
            <a:off x="4732571" y="4099647"/>
            <a:ext cx="23083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>
                <a:solidFill>
                  <a:srgbClr val="7F0000">
                    <a:lumMod val="60000"/>
                    <a:lumOff val="4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②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7F0000">
                  <a:lumMod val="60000"/>
                  <a:lumOff val="40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15877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590061AB-946A-4D6B-9BD0-3BB35E760AED}"/>
              </a:ext>
            </a:extLst>
          </p:cNvPr>
          <p:cNvSpPr/>
          <p:nvPr/>
        </p:nvSpPr>
        <p:spPr>
          <a:xfrm>
            <a:off x="704047" y="2001140"/>
            <a:ext cx="5150812" cy="827538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EF43451-78B5-4EAA-92BF-0D9A5931EFBA}"/>
              </a:ext>
            </a:extLst>
          </p:cNvPr>
          <p:cNvSpPr/>
          <p:nvPr/>
        </p:nvSpPr>
        <p:spPr>
          <a:xfrm>
            <a:off x="750002" y="3114612"/>
            <a:ext cx="5104857" cy="1029910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7E54768-EC7F-4C88-BDAC-9D0E4AB8EB28}"/>
              </a:ext>
            </a:extLst>
          </p:cNvPr>
          <p:cNvSpPr/>
          <p:nvPr/>
        </p:nvSpPr>
        <p:spPr>
          <a:xfrm>
            <a:off x="766636" y="4271357"/>
            <a:ext cx="5088223" cy="1511646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C93702C-4A4E-41E3-8B33-BD0DA7C7F82C}"/>
              </a:ext>
            </a:extLst>
          </p:cNvPr>
          <p:cNvCxnSpPr>
            <a:cxnSpLocks/>
          </p:cNvCxnSpPr>
          <p:nvPr/>
        </p:nvCxnSpPr>
        <p:spPr>
          <a:xfrm>
            <a:off x="373427" y="2991850"/>
            <a:ext cx="5354603" cy="0"/>
          </a:xfrm>
          <a:prstGeom prst="line">
            <a:avLst/>
          </a:prstGeom>
          <a:ln w="12700">
            <a:solidFill>
              <a:schemeClr val="tx2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19BFCE46-2BF2-4CCB-85BB-61209485C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 dirty="0"/>
              <a:t>以 </a:t>
            </a:r>
            <a:r>
              <a:rPr lang="en-US" altLang="zh-CN" sz="2400" dirty="0"/>
              <a:t>Daft + Lance </a:t>
            </a:r>
            <a:r>
              <a:rPr lang="zh-CN" altLang="en-US" sz="2400" dirty="0"/>
              <a:t>为核心用例，优化 </a:t>
            </a:r>
            <a:r>
              <a:rPr lang="en-US" altLang="zh-CN" sz="2400" dirty="0"/>
              <a:t>Rust </a:t>
            </a:r>
            <a:r>
              <a:rPr lang="zh-CN" altLang="en-US" sz="2400" dirty="0"/>
              <a:t>编译产物在 </a:t>
            </a:r>
            <a:r>
              <a:rPr lang="en-US" altLang="zh-CN" sz="2400" dirty="0"/>
              <a:t>Kunpeng CPU </a:t>
            </a:r>
            <a:r>
              <a:rPr lang="zh-CN" altLang="en-US" sz="2400" dirty="0"/>
              <a:t>性能表现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A82D6ED-933C-450D-A8B2-F0AA3A417EAB}"/>
              </a:ext>
            </a:extLst>
          </p:cNvPr>
          <p:cNvSpPr/>
          <p:nvPr/>
        </p:nvSpPr>
        <p:spPr>
          <a:xfrm>
            <a:off x="478724" y="851746"/>
            <a:ext cx="706020" cy="813611"/>
          </a:xfrm>
          <a:prstGeom prst="rect">
            <a:avLst/>
          </a:prstGeom>
          <a:solidFill>
            <a:srgbClr val="C7000A"/>
          </a:solidFill>
          <a:ln w="3175" cap="flat">
            <a:noFill/>
            <a:miter lim="400000"/>
          </a:ln>
          <a:effectLst/>
        </p:spPr>
        <p:txBody>
          <a:bodyPr wrap="square" lIns="35944" tIns="35944" rIns="35944" bIns="35944" numCol="1" anchor="ctr">
            <a:noAutofit/>
          </a:bodyPr>
          <a:lstStyle/>
          <a:p>
            <a:pPr marL="0" marR="0" lvl="0" indent="0" algn="ctr" defTabSz="171825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/>
              </a:rPr>
              <a:t>关键</a:t>
            </a:r>
            <a:endParaRPr kumimoji="0" lang="en-US" altLang="zh-CN" sz="1599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Calibri"/>
            </a:endParaRPr>
          </a:p>
          <a:p>
            <a:pPr marL="0" marR="0" lvl="0" indent="0" algn="ctr" defTabSz="171825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/>
              </a:rPr>
              <a:t>目标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E336F49-83D9-4894-BAD7-F300B48E8F90}"/>
              </a:ext>
            </a:extLst>
          </p:cNvPr>
          <p:cNvSpPr/>
          <p:nvPr/>
        </p:nvSpPr>
        <p:spPr>
          <a:xfrm>
            <a:off x="1216949" y="851746"/>
            <a:ext cx="10501089" cy="813611"/>
          </a:xfrm>
          <a:prstGeom prst="rect">
            <a:avLst/>
          </a:prstGeom>
          <a:solidFill>
            <a:srgbClr val="FFFFFF">
              <a:lumMod val="95000"/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42900" marR="0" lvl="0" indent="-342900" algn="l" defTabSz="914034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选择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Daft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Lance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使用最频繁标准库功能，针对其中差距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Top 50 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Bench 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优化，使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950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达到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9755 </a:t>
            </a:r>
            <a:r>
              <a:rPr kumimoji="1" lang="zh-CN" altLang="en-US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 </a:t>
            </a: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70%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1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034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针对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Lance/Daft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等 </a:t>
            </a:r>
            <a:r>
              <a:rPr kumimoji="1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Python+Rust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模式库， 优化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PyO3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Kunpeng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上表现，使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PyO3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基准测试 在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950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相对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9755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提升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10 % 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1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CC93A25-EF48-4A41-B4E5-C0FB002282F9}"/>
              </a:ext>
            </a:extLst>
          </p:cNvPr>
          <p:cNvSpPr/>
          <p:nvPr/>
        </p:nvSpPr>
        <p:spPr>
          <a:xfrm>
            <a:off x="6130934" y="1972481"/>
            <a:ext cx="5587104" cy="1388463"/>
          </a:xfrm>
          <a:prstGeom prst="rect">
            <a:avLst/>
          </a:prstGeom>
          <a:solidFill>
            <a:srgbClr val="FAFAFA"/>
          </a:solidFill>
          <a:ln w="9525" cap="flat" cmpd="sng" algn="ctr">
            <a:gradFill flip="none" rotWithShape="1">
              <a:gsLst>
                <a:gs pos="94000">
                  <a:srgbClr val="FFFFFF"/>
                </a:gs>
                <a:gs pos="100000">
                  <a:srgbClr val="C7000B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108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挑战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5DE689E-D049-40C8-AD7D-88CA60A67C8E}"/>
              </a:ext>
            </a:extLst>
          </p:cNvPr>
          <p:cNvSpPr/>
          <p:nvPr/>
        </p:nvSpPr>
        <p:spPr>
          <a:xfrm>
            <a:off x="6126901" y="3485848"/>
            <a:ext cx="5587104" cy="2748667"/>
          </a:xfrm>
          <a:prstGeom prst="rect">
            <a:avLst/>
          </a:prstGeom>
          <a:solidFill>
            <a:srgbClr val="FAFAFA"/>
          </a:solidFill>
          <a:ln w="9525" cap="flat" cmpd="sng" algn="ctr">
            <a:gradFill flip="none" rotWithShape="1">
              <a:gsLst>
                <a:gs pos="94000">
                  <a:srgbClr val="FFFFFF"/>
                </a:gs>
                <a:gs pos="100000">
                  <a:srgbClr val="C7000B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108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关键技术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8B2DF6A-8CA4-4F0D-83C4-180CB9FEC892}"/>
              </a:ext>
            </a:extLst>
          </p:cNvPr>
          <p:cNvSpPr txBox="1"/>
          <p:nvPr/>
        </p:nvSpPr>
        <p:spPr>
          <a:xfrm>
            <a:off x="6242197" y="3909237"/>
            <a:ext cx="5356512" cy="21371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封装 </a:t>
            </a:r>
            <a:r>
              <a:rPr kumimoji="1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protalable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simd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仓库，适配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920 920B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950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和通用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x86,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根据运行环境选择合理指令实现向量加速。 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利用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所有权机制，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fire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编译器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no-alias mark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，优化非交叉数据访问的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load/store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命令。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LSE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同步原语支持，检查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atomic Arc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等线程同步原语实现，确保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LL/SC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实现正确替换为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LSE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实现。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利用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DC ZVA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优化 </a:t>
            </a:r>
            <a:r>
              <a:rPr kumimoji="1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alloc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后清理内存操作，减少方寸，利用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LSE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优化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free-list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arena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状态控制，提高吞吐。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分析标准库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PyO3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实现，通过手写 </a:t>
            </a:r>
            <a:r>
              <a:rPr kumimoji="1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sidepath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sve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指令优化数据转换性能。 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EE7C1BB-CB45-4F94-91C3-1B3F5AD365C9}"/>
              </a:ext>
            </a:extLst>
          </p:cNvPr>
          <p:cNvSpPr txBox="1"/>
          <p:nvPr/>
        </p:nvSpPr>
        <p:spPr>
          <a:xfrm>
            <a:off x="3957983" y="66261"/>
            <a:ext cx="8079409" cy="30777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承载关键技术的，除了上面的生态目标，再加技术目标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9FE9208-F5FF-4075-A6CF-53DDFA638A4D}"/>
              </a:ext>
            </a:extLst>
          </p:cNvPr>
          <p:cNvSpPr/>
          <p:nvPr/>
        </p:nvSpPr>
        <p:spPr>
          <a:xfrm>
            <a:off x="2437418" y="2237520"/>
            <a:ext cx="1499394" cy="3566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Daft API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716085C-55B8-44EE-8AB1-0F65AA25521E}"/>
              </a:ext>
            </a:extLst>
          </p:cNvPr>
          <p:cNvSpPr/>
          <p:nvPr/>
        </p:nvSpPr>
        <p:spPr>
          <a:xfrm>
            <a:off x="789218" y="2237520"/>
            <a:ext cx="1499394" cy="3679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Lance API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箭头: 上下 22">
            <a:extLst>
              <a:ext uri="{FF2B5EF4-FFF2-40B4-BE49-F238E27FC236}">
                <a16:creationId xmlns:a16="http://schemas.microsoft.com/office/drawing/2014/main" id="{BC5DFBE8-134A-492A-85B4-6C07C98789DA}"/>
              </a:ext>
            </a:extLst>
          </p:cNvPr>
          <p:cNvSpPr/>
          <p:nvPr/>
        </p:nvSpPr>
        <p:spPr>
          <a:xfrm>
            <a:off x="2165731" y="2707407"/>
            <a:ext cx="1792252" cy="568885"/>
          </a:xfrm>
          <a:prstGeom prst="upDownArrow">
            <a:avLst>
              <a:gd name="adj1" fmla="val 47599"/>
              <a:gd name="adj2" fmla="val 28785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PyO3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628DAA5-E964-42EE-82C8-D10727AE5511}"/>
              </a:ext>
            </a:extLst>
          </p:cNvPr>
          <p:cNvSpPr/>
          <p:nvPr/>
        </p:nvSpPr>
        <p:spPr>
          <a:xfrm>
            <a:off x="1997989" y="3358023"/>
            <a:ext cx="1128896" cy="3176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 微软雅黑"/>
                <a:ea typeface="等线" panose="02010600030101010101" pitchFamily="2" charset="-122"/>
              </a:rPr>
              <a:t>调度规划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AD0331B-1561-4DDA-A8A4-5831FBE20AA2}"/>
              </a:ext>
            </a:extLst>
          </p:cNvPr>
          <p:cNvSpPr/>
          <p:nvPr/>
        </p:nvSpPr>
        <p:spPr>
          <a:xfrm>
            <a:off x="788642" y="3360944"/>
            <a:ext cx="1128896" cy="6741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 微软雅黑"/>
                <a:ea typeface="等线" panose="02010600030101010101" pitchFamily="2" charset="-122"/>
              </a:rPr>
              <a:t>计划优化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275DE0F-666D-4063-8D55-01A7022081ED}"/>
              </a:ext>
            </a:extLst>
          </p:cNvPr>
          <p:cNvSpPr/>
          <p:nvPr/>
        </p:nvSpPr>
        <p:spPr>
          <a:xfrm>
            <a:off x="3235490" y="3373323"/>
            <a:ext cx="1128896" cy="6741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 微软雅黑"/>
                <a:ea typeface="等线" panose="02010600030101010101" pitchFamily="2" charset="-122"/>
              </a:rPr>
              <a:t>分析执行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0229C57-DA07-4F4B-946E-380F417F2DA7}"/>
              </a:ext>
            </a:extLst>
          </p:cNvPr>
          <p:cNvSpPr/>
          <p:nvPr/>
        </p:nvSpPr>
        <p:spPr>
          <a:xfrm>
            <a:off x="4085617" y="2237520"/>
            <a:ext cx="1642413" cy="3519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Ray API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E2E1058-663D-4E37-9D2B-5F97F764B8C3}"/>
              </a:ext>
            </a:extLst>
          </p:cNvPr>
          <p:cNvSpPr/>
          <p:nvPr/>
        </p:nvSpPr>
        <p:spPr>
          <a:xfrm>
            <a:off x="4422034" y="3373328"/>
            <a:ext cx="1384284" cy="6741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 微软雅黑"/>
                <a:ea typeface="等线" panose="02010600030101010101" pitchFamily="2" charset="-122"/>
              </a:rPr>
              <a:t>元数据管理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CAE11F1-E18E-493E-8754-1B3D702A3663}"/>
              </a:ext>
            </a:extLst>
          </p:cNvPr>
          <p:cNvSpPr/>
          <p:nvPr/>
        </p:nvSpPr>
        <p:spPr>
          <a:xfrm>
            <a:off x="1995295" y="3729841"/>
            <a:ext cx="1128896" cy="31765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 微软雅黑"/>
                <a:ea typeface="等线" panose="02010600030101010101" pitchFamily="2" charset="-122"/>
              </a:rPr>
              <a:t>Shuffle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 微软雅黑"/>
              <a:ea typeface="等线" panose="02010600030101010101" pitchFamily="2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A56D68C-573D-47F6-8FFA-63921F7A3AAA}"/>
              </a:ext>
            </a:extLst>
          </p:cNvPr>
          <p:cNvSpPr/>
          <p:nvPr/>
        </p:nvSpPr>
        <p:spPr>
          <a:xfrm>
            <a:off x="828830" y="4389315"/>
            <a:ext cx="1128896" cy="48814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core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EE58346-994A-4F0D-81F8-1E5C5D2C2CA7}"/>
              </a:ext>
            </a:extLst>
          </p:cNvPr>
          <p:cNvSpPr/>
          <p:nvPr/>
        </p:nvSpPr>
        <p:spPr>
          <a:xfrm>
            <a:off x="2076983" y="4389315"/>
            <a:ext cx="1128896" cy="48814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std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A2EE587-1AA4-4963-AD30-5C6B78D7CD2E}"/>
              </a:ext>
            </a:extLst>
          </p:cNvPr>
          <p:cNvSpPr/>
          <p:nvPr/>
        </p:nvSpPr>
        <p:spPr>
          <a:xfrm>
            <a:off x="4573289" y="4389315"/>
            <a:ext cx="1128896" cy="48814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algn="ctr"/>
            <a:r>
              <a:rPr lang="en-US" altLang="zh-CN" dirty="0" err="1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rPr>
              <a:t>simd</a:t>
            </a:r>
            <a:endParaRPr lang="zh-CN" altLang="en-US" dirty="0">
              <a:solidFill>
                <a:srgbClr val="666666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0FA9339-D357-4AC5-97A0-DF705C23E1E1}"/>
              </a:ext>
            </a:extLst>
          </p:cNvPr>
          <p:cNvSpPr/>
          <p:nvPr/>
        </p:nvSpPr>
        <p:spPr>
          <a:xfrm>
            <a:off x="3325136" y="4389315"/>
            <a:ext cx="1128896" cy="48814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alloca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11769B6-640E-4E80-A208-DC85C01A6637}"/>
              </a:ext>
            </a:extLst>
          </p:cNvPr>
          <p:cNvSpPr/>
          <p:nvPr/>
        </p:nvSpPr>
        <p:spPr>
          <a:xfrm>
            <a:off x="824413" y="5414460"/>
            <a:ext cx="4877772" cy="31439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LLVM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8E0B206-1BD9-4DCD-A165-76629A4878E3}"/>
              </a:ext>
            </a:extLst>
          </p:cNvPr>
          <p:cNvSpPr/>
          <p:nvPr/>
        </p:nvSpPr>
        <p:spPr>
          <a:xfrm>
            <a:off x="758318" y="5870167"/>
            <a:ext cx="5104857" cy="3643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Kunpeng CPU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DA6B831-8EB7-4B77-B849-AAFA25ED7320}"/>
              </a:ext>
            </a:extLst>
          </p:cNvPr>
          <p:cNvSpPr/>
          <p:nvPr/>
        </p:nvSpPr>
        <p:spPr>
          <a:xfrm>
            <a:off x="182873" y="2002319"/>
            <a:ext cx="471162" cy="827537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Python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2C77BF7-54C8-4A70-8FB2-8560769520AC}"/>
              </a:ext>
            </a:extLst>
          </p:cNvPr>
          <p:cNvSpPr/>
          <p:nvPr/>
        </p:nvSpPr>
        <p:spPr>
          <a:xfrm>
            <a:off x="170235" y="3103929"/>
            <a:ext cx="471162" cy="102991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Daft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3CAE452-751F-4AA7-BAB2-956E2FE4661C}"/>
              </a:ext>
            </a:extLst>
          </p:cNvPr>
          <p:cNvSpPr/>
          <p:nvPr/>
        </p:nvSpPr>
        <p:spPr>
          <a:xfrm>
            <a:off x="170235" y="4245917"/>
            <a:ext cx="471162" cy="1537086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eaVert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Rust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5C41E77-2B37-44A1-9DFA-048FB9BECBD8}"/>
              </a:ext>
            </a:extLst>
          </p:cNvPr>
          <p:cNvSpPr txBox="1"/>
          <p:nvPr/>
        </p:nvSpPr>
        <p:spPr>
          <a:xfrm>
            <a:off x="6257763" y="2357086"/>
            <a:ext cx="5356512" cy="9368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标准库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core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功能繁杂松散，社区性能优化主要针对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x86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架构，当前性能差距较大，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个用例性能差距超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100%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22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个用例差距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50%-100%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PyO3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传递复杂数据过程中，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内存模型和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内存模型间兼容性导致部分情况需要内存拷贝，目前基准测试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950 vs 9755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相差约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30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F0000">
                    <a:lumMod val="60000"/>
                    <a:lumOff val="4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65DACB7-CC79-411E-9C43-C51213D74787}"/>
              </a:ext>
            </a:extLst>
          </p:cNvPr>
          <p:cNvSpPr/>
          <p:nvPr/>
        </p:nvSpPr>
        <p:spPr>
          <a:xfrm>
            <a:off x="10772079" y="77862"/>
            <a:ext cx="1265314" cy="2705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隋致远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v3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1B507108-AECB-4F0A-8BA3-B5DE63AD3990}"/>
              </a:ext>
            </a:extLst>
          </p:cNvPr>
          <p:cNvSpPr txBox="1"/>
          <p:nvPr/>
        </p:nvSpPr>
        <p:spPr>
          <a:xfrm>
            <a:off x="2206586" y="4474923"/>
            <a:ext cx="23083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F0000">
                    <a:lumMod val="60000"/>
                    <a:lumOff val="4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③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C6342E6E-C647-4813-90CE-ADDEF5C3C459}"/>
              </a:ext>
            </a:extLst>
          </p:cNvPr>
          <p:cNvSpPr txBox="1"/>
          <p:nvPr/>
        </p:nvSpPr>
        <p:spPr>
          <a:xfrm>
            <a:off x="2362896" y="2825516"/>
            <a:ext cx="23083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F0000">
                    <a:lumMod val="60000"/>
                    <a:lumOff val="4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④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AF09BD2-65CB-43FE-B92D-FD28C8F4434A}"/>
              </a:ext>
            </a:extLst>
          </p:cNvPr>
          <p:cNvSpPr/>
          <p:nvPr/>
        </p:nvSpPr>
        <p:spPr>
          <a:xfrm>
            <a:off x="824413" y="4957391"/>
            <a:ext cx="4877772" cy="3643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Rustc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483834D-696D-405A-A674-6E82D4714B07}"/>
              </a:ext>
            </a:extLst>
          </p:cNvPr>
          <p:cNvSpPr txBox="1"/>
          <p:nvPr/>
        </p:nvSpPr>
        <p:spPr>
          <a:xfrm>
            <a:off x="4662300" y="4474923"/>
            <a:ext cx="23083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F0000">
                    <a:lumMod val="60000"/>
                    <a:lumOff val="4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①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33DEE6BC-C3BC-4F12-A07A-50E5A41B5E8F}"/>
              </a:ext>
            </a:extLst>
          </p:cNvPr>
          <p:cNvSpPr txBox="1"/>
          <p:nvPr/>
        </p:nvSpPr>
        <p:spPr>
          <a:xfrm>
            <a:off x="2763180" y="4983348"/>
            <a:ext cx="23083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F0000">
                    <a:lumMod val="60000"/>
                    <a:lumOff val="4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②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0410FAE-B6AB-4D84-A068-1B5E60B00350}"/>
              </a:ext>
            </a:extLst>
          </p:cNvPr>
          <p:cNvSpPr txBox="1"/>
          <p:nvPr/>
        </p:nvSpPr>
        <p:spPr>
          <a:xfrm>
            <a:off x="3379573" y="4501926"/>
            <a:ext cx="23083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F0000">
                    <a:lumMod val="60000"/>
                    <a:lumOff val="4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④</a:t>
            </a:r>
          </a:p>
        </p:txBody>
      </p:sp>
    </p:spTree>
    <p:extLst>
      <p:ext uri="{BB962C8B-B14F-4D97-AF65-F5344CB8AC3E}">
        <p14:creationId xmlns:p14="http://schemas.microsoft.com/office/powerpoint/2010/main" val="28351752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86417E-DB22-4D1B-8FB2-9A5D815F8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84F49DF-2BA6-452D-BF0F-3426C4445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1135"/>
            <a:ext cx="12196763" cy="3275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4407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arrow&quot;,&quot;Name&quot;:&quot;GuidesStyle_Narrow&quot;,&quot;Kind&quot;:&quot;System&quot;,&quot;OldGuidesSetting&quot;:{&quot;HeaderHeight&quot;:10.0,&quot;FooterHeight&quot;:5.0,&quot;SideMargin&quot;:2.5,&quot;TopMargin&quot;:0.0,&quot;BottomMargin&quot;:0.0,&quot;IntervalMargin&quot;:1.0}}"/>
</p:tagLst>
</file>

<file path=ppt/theme/theme1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40000"/>
            <a:lumOff val="60000"/>
          </a:schemeClr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<a:noAutofit/>
      </a:bodyPr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sz="1100" dirty="0" err="1">
            <a:solidFill>
              <a:srgbClr val="1D1D1A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目录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chemeClr val="dk1"/>
          </a:solidFill>
          <a:prstDash val="solid"/>
          <a:round/>
          <a:headEnd type="none" w="med" len="med"/>
          <a:tailEnd type="none" w="med" len="me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dk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358AC06C-4CE3-4A3F-B594-9738C68624A0}" vid="{9E3EAF68-ABE1-42CC-9EED-BC9EE9E8453C}"/>
    </a:ext>
  </a:extLst>
</a:theme>
</file>

<file path=ppt/theme/theme5.xml><?xml version="1.0" encoding="utf-8"?>
<a:theme xmlns:a="http://schemas.openxmlformats.org/drawingml/2006/main" name="2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6.xml><?xml version="1.0" encoding="utf-8"?>
<a:theme xmlns:a="http://schemas.openxmlformats.org/drawingml/2006/main" name="7_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8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11236</TotalTime>
  <Words>14790</Words>
  <Application>Microsoft Office PowerPoint</Application>
  <PresentationFormat>自定义</PresentationFormat>
  <Paragraphs>1744</Paragraphs>
  <Slides>33</Slides>
  <Notes>21</Notes>
  <HiddenSlides>1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33</vt:i4>
      </vt:variant>
    </vt:vector>
  </HeadingPairs>
  <TitlesOfParts>
    <vt:vector size="53" baseType="lpstr">
      <vt:lpstr> 微软雅黑</vt:lpstr>
      <vt:lpstr>.AppleSystemUIFont</vt:lpstr>
      <vt:lpstr>Helvetica Neue</vt:lpstr>
      <vt:lpstr>Huawei Sans</vt:lpstr>
      <vt:lpstr>Mona Sans VF</vt:lpstr>
      <vt:lpstr>SFMono-Regular</vt:lpstr>
      <vt:lpstr>等线</vt:lpstr>
      <vt:lpstr>Microsoft YaHei</vt:lpstr>
      <vt:lpstr>Microsoft YaHei</vt:lpstr>
      <vt:lpstr>Arial</vt:lpstr>
      <vt:lpstr>Calibri</vt:lpstr>
      <vt:lpstr>UbuntuMono Nerd Font Propo</vt:lpstr>
      <vt:lpstr>Wingdings</vt:lpstr>
      <vt:lpstr>封面页_图片版 </vt:lpstr>
      <vt:lpstr>结束页</vt:lpstr>
      <vt:lpstr>目录页</vt:lpstr>
      <vt:lpstr>章节页</vt:lpstr>
      <vt:lpstr>2_章节页</vt:lpstr>
      <vt:lpstr>7_封面页_图片版 </vt:lpstr>
      <vt:lpstr>8_章节页</vt:lpstr>
      <vt:lpstr>Rust软件生态技术项目中期规划</vt:lpstr>
      <vt:lpstr>目录</vt:lpstr>
      <vt:lpstr>遗留问题闭环情况</vt:lpstr>
      <vt:lpstr>PowerPoint 演示文稿</vt:lpstr>
      <vt:lpstr>AI 推理场景安全加固沙箱优化，实现大规模 Harness 验证环境</vt:lpstr>
      <vt:lpstr>CubeSandbox 当前对接为腾讯，应用场景集中在 Agent 代码执行、多租户隔离与 RL 训练等场景</vt:lpstr>
      <vt:lpstr>PowerPoint 演示文稿</vt:lpstr>
      <vt:lpstr>当前沙箱场景，有多个团队从不同角度投入，需仔细选择发力点</vt:lpstr>
      <vt:lpstr>初步分析Rust占比，以及可能的优化点穿刺</vt:lpstr>
      <vt:lpstr>定制线程调度方案，降低 K+A/K+X 场景 NPU/GPU 空闲等待间隔</vt:lpstr>
      <vt:lpstr>定制线程调度方案，降低 K+A/K+X 场景 NPU/GPU 空闲等待间隔</vt:lpstr>
      <vt:lpstr>优化AI推理前端框架 SGLang &amp; vLLM ，提升 Kunpeng 训练机头优势</vt:lpstr>
      <vt:lpstr>客户使用 GLM 场景，重点关注采购比拼场景</vt:lpstr>
      <vt:lpstr>PowerPoint 演示文稿</vt:lpstr>
      <vt:lpstr>PowerPoint 演示文稿</vt:lpstr>
      <vt:lpstr>PowerPoint 演示文稿</vt:lpstr>
      <vt:lpstr>AI 推理场景安全加固沙箱优化，实现大规模 Harness 验证环境</vt:lpstr>
      <vt:lpstr>PowerPoint 演示文稿</vt:lpstr>
      <vt:lpstr>PowerPoint 演示文稿</vt:lpstr>
      <vt:lpstr>以 Daft + Lance 场景为主导，提升 Rust 软件开箱性能表现</vt:lpstr>
      <vt:lpstr>Portable-Simd 实现向量指令优化原生支持 Arm 架构</vt:lpstr>
      <vt:lpstr>优化 Rust 生态通用基础库，提升 Rust 开箱表现（PyO3 &amp; rust-std）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Python：基于python Free-Threaded使能并行算子下发，降低卡侧Free时间20%，提升模型吞吐5%</vt:lpstr>
      <vt:lpstr>PowerPoint 演示文稿</vt:lpstr>
      <vt:lpstr>以 Daft + Lance 场景为主导，提升 Rust 软件开箱性能表现</vt:lpstr>
      <vt:lpstr>以 Daft + Lance 为核心用例，优化 Rust 编译产物在 Kunpeng CPU 性能表现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OpenTileIR技术项目</dc:title>
  <dc:creator>xueyao</dc:creator>
  <cp:lastModifiedBy>suizhiyuan</cp:lastModifiedBy>
  <cp:revision>723</cp:revision>
  <dcterms:created xsi:type="dcterms:W3CDTF">2026-04-16T01:31:29Z</dcterms:created>
  <dcterms:modified xsi:type="dcterms:W3CDTF">2026-09-28T01:08:48Z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(3)jYYNeYqg9URZpIMFTCIdCeNVquPuEel+nDIRQAPIrqxIM5/g5oBljBFaM7g0G3UnNz5I+Lxl
3XzinOb8XrntK+5cii2s/5KHPjVzf2+eT3mkXei0qIqPydT3E9AVL+q4EyN8GFi16B7wafrk
4kKM5b+QlkGvEvrZjPSJu+gnMw7e5TCMMA4EFmF63Ml0dr3+nOPNvAa9KZcwTzlYVuij6jfG
g8y1IjQWMDwHw00j5e</vt:lpwstr>
  </property>
  <property fmtid="{D5CDD505-2E9C-101B-9397-08002B2CF9AE}" pid="3" name="_2015_ms_pID_7253431">
    <vt:lpwstr>H7ij+MfWkrtIywe4S+a0D9BcavELomSG2Ib18xpyvB9q0hdvxoTFcA
gBSOtSnelc6axUseSTlTOvrYN0dRtpTwq9jai4mvc90zFnFZ95NvYO9xJufYr9daOcrVzTqA
GLaIfnqxEKsMJa+WZsbxcLXVnwjEyMOlQVTIeSsuPg293uwzAsm52yuhwds5TG3iH8g9FsCF
fj4i37YlF4KE29z1CbP/AqQpgHM7wlZTKoEN</vt:lpwstr>
  </property>
  <property fmtid="{D5CDD505-2E9C-101B-9397-08002B2CF9AE}" pid="4" name="_2015_ms_pID_7253432">
    <vt:lpwstr>9g==</vt:lpwstr>
  </property>
  <property fmtid="{D5CDD505-2E9C-101B-9397-08002B2CF9AE}" pid="5" name="ICV">
    <vt:lpwstr/>
  </property>
  <property fmtid="{D5CDD505-2E9C-101B-9397-08002B2CF9AE}" pid="6" name="KSOProductBuildVer">
    <vt:lpwstr>2052-0.0.0.0</vt:lpwstr>
  </property>
  <property fmtid="{D5CDD505-2E9C-101B-9397-08002B2CF9AE}" pid="7" name="_readonly">
    <vt:lpwstr/>
  </property>
  <property fmtid="{D5CDD505-2E9C-101B-9397-08002B2CF9AE}" pid="8" name="_change">
    <vt:lpwstr/>
  </property>
  <property fmtid="{D5CDD505-2E9C-101B-9397-08002B2CF9AE}" pid="9" name="_full-control">
    <vt:lpwstr/>
  </property>
  <property fmtid="{D5CDD505-2E9C-101B-9397-08002B2CF9AE}" pid="10" name="sflag">
    <vt:lpwstr>1770605412</vt:lpwstr>
  </property>
</Properties>
</file>